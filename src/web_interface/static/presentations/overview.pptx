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8ad1cdd-7f91-933c-1e82-50c6e5a4c51c}">
          <p14:sldIdLst>
            <p14:sldId id="256"/>
            <p14:sldId id="257"/>
          </p14:sldIdLst>
        </p14:section>
        <p14:section name="Modules" id="{bf5c1d51-9547-58b2-59bf-ae01f129545f}">
          <p14:sldIdLst>
            <p14:sldId id="258"/>
            <p14:sldId id="259"/>
            <p14:sldId id="260"/>
            <p14:sldId id="261"/>
            <p14:sldId id="262"/>
            <p14:sldId id="263"/>
            <p14:sldId id="264"/>
            <p14:sldId id="265"/>
            <p14:sldId id="266"/>
            <p14:sldId id="267"/>
          </p14:sldIdLst>
        </p14:section>
        <p14:section name="Teams" id="{2e520006-c6da-8f7e-e147-98dec18c85f3}">
          <p14:sldIdLst>
            <p14:sldId id="268"/>
          </p14:sldIdLst>
        </p14:section>
        <p14:section name="Platform" id="{9f076266-3f70-8197-919a-2aadaa66708b}">
          <p14:sldIdLst>
            <p14:sldId id="269"/>
          </p14:sldIdLst>
        </p14:section>
        <p14:section name="Roadmap" id="{efd36b0b-4c21-80c3-ad9f-a57fb1d7c153}">
          <p14:sldIdLst>
            <p14:sldId id="270"/>
          </p14:sldIdLst>
        </p14:section>
        <p14:section name="In one slide" id="{40ad9042-1e55-896e-e071-223288764a94}">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DriveTest Analyzer turns the drive-test CDRs of every campaign into benchmarking scores, network insights, follow-up of every failed call and ready-to-share reports, for every team, in one web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upload the CDRs once; the platform normalises them, maps vendors and regions and adds calculated fields; every module analyses the same data; reports come out as PowerPoint and Word, on demand or on schedule; and teams act on them with the NQ follow-up and the Ticket Center. It ingests CDRs, Network Inventories, Vendor Mappings and Geographical polygons; the figures are live from the UK workspace.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modules around one workspace, in the order of the tool: CDR Analysis, the template-driven PPT Dashboards, the scores and GAPs of Scoring &amp; GAP Analysis, the radio and network view of Network Insights, the follow-up of every Non-Qualified Call, Reporting, the Chart and Query Builders and the Ticket Center. They all read the same processed CDRs.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CDR Analysis studies one processed CDR at a time: choose its metrics and filters, update the analysis and read the CDF curves (up to eight, by operator, vendor or city), the group benchmark, the metric cards and percentiles and every processed record; then export it to PowerPoint or Word, in seven themes. The chart uses illustrative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PPT Dashboards turns a saved Report Template, its slides, charts, KPIs and splits, into an interactive Dashboard of every slide, prepared in the background and cached, with its scope, filters and comments, a presentation mode and the dataset behind every chart; then the whole deck becomes a PowerPoint in one click, in your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&amp; GAP Analysis scores every operator with the NetCheck Best Network methodology, and Most Reliable when the methodology has it, in NSA, SA or NSA vs SA, per environment, city, region and campaign. Each result shows where every operator stands with its Voice and Data points, its change since the previous campaign and its GAP to the reference; its position in every environment and service; and the trend of the last campaigns. Seven views of every result, from the Summary to the Points Lost, all exported to PowerPoint and Word in seven themes. The figures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point an operator loses is traced: to the KPIs where matching the reference wins most (the biggest levers), to how it is lost (failed tests, tests below a threshold, quality shortfall), to the areas of the Points Lost Map, to the performance owners of Where to act, to the RAN vendor and kind of the serving sites, to the sites to review and to the stretches of each Connecting Roads route. The figures and the map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 Insights shows the network behind the measured performance: RSRP and SINR, weak-coverage and high-interference areas on a map, the serving cells, 5G availability, the network snapshot, NNS and eMOCN deployment and the spectrum. Radio views come from the CDRs alone; inventories, KMZ cell configuration and licensed spectrum complete the rest. The map is an illustration.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Voice, Speech and Data CDR is indexed in the background: 48,138 Non-Qualified calls in 9 campaigns of the UK workspace, out of 4.0 M calls and tests. Each call keeps its follow-up by its NetCheck JOIN_ID through six sections; the root cause comes from the NetCheck RCA, the Ericsson RCA and the analysts; status, team and assignee follow rules or are set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Bundle Report Template composes one PowerPoint or Word document from the sections of PPT Dashboards, Scoring, Network Insights, NQ Calls and CDR Analysis. Reporting Jobs run it, or any artifact, on demand or on a schedule and email it; the Run History stops, reruns and resumes runs. Seven themes take the same report from the operator brand to the boardroom.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Builders explore the CDRs without changing any template. Chart Builder draws any KPI of the chosen CDRs as a chart, split by rows and columns, with the Filter Builder, its legend and title. Query Builder runs read-only SQL on them, built with Assistance Mode or written in SQL Mode; queries are saved, exported and their results copied or downloaded as CSV. Charts and results use illustrative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Ticket Center collects the bugs, improvements and new features of the users, with their screenshots and the version they were opened with, from New to Resolved, Closed or Rejected, each with its priority from P1 to P5 and a timeline of comments and changes; its dashboard counts the open tickets, those created and resolved every week and the age of the oldest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Benchmarking scores operators with Scoring &amp; GAP Analysis and shares PPT Dashboards and reports; the NQ team follows every failed call; troubleshooting reads coverage, interference and serving cells in Network Insights with CDR Analysis and the Builders; technical and executive reports come from the same modules, scheduled in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DriveTest Analyzer runs on AWS as a Docker container, with images for AMD64 and ARM64 and persistent volumes. Each workspace keeps its own database and files. Four roles, Modules Profiles and Workspace Groups decide who sees and changes what, from App Config up to Super Admin. Backups run on a schedule, full and light, with retention by day, week and month. The Ticket Center collects bugs, improvements and requests, and the Help has 25 chapters.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eight modules in production on the UK workspace, and a first pilot campaign in Germany. Next: adapt the ingestion and scoring to Umlaut CDRs, support the Active Tests community, so that the tool builds the KPI and Scoring reports they produce today, and take Non-Qualified Calls out of Alpha. Soon: scale out on AWS with an external worker queue, and durable analytical caches. Later: PostgreSQL instead of SQLite, a database for hundreds of concurrent users, Smart Orchestrator Logs, and health monitoring: alerts on runs that take too long and automatic checks after every deployment. These are intentions, not dated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DriveTest Analyzer in one slide. Data in: CDRs (7.5 M rows in 27 CDRs of 9 campaigns of the UK workspace), network inventories, vendor mappings and regions and clusters. On one shared workspace, eight modules: CDR Analysis, PPT Dashboards, Scoring &amp; GAP Analysis, Network Insights, Non-Qualified Calls (48,138 NQ calls), Reporting, the Builders and the Ticket Center. They serve benchmarking, the NQ team, troubleshooting and technical and executive reporting, on an enterprise platform on AWS with roles, isolated workspaces, automated backups, a Ticket Center, a 25-chapter Help and 1,895 automated tests. Roadmap: Umlaut CDRs and the Active Tests community next, then scale-out on AWS and speed, then PostgreSQL for hundreds of concurrent users and health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00000"/>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var/folders/pl/_b6qn8zs2_lc59t589_46cyc0000gn/T/drivetest-presentations-rNxAPW/ericsson-logo-black.png">    </p:cNvPr>
          <p:cNvPicPr>
            <a:picLocks noChangeAspect="1"/>
          </p:cNvPicPr>
          <p:nvPr/>
        </p:nvPicPr>
        <p:blipFill>
          <a:blip r:embed="rId1"/>
          <a:stretch>
            <a:fillRect/>
          </a:stretch>
        </p:blipFill>
        <p:spPr>
          <a:xfrm>
            <a:off x="11219688" y="384048"/>
            <a:ext cx="484632" cy="425196"/>
          </a:xfrm>
          <a:prstGeom prst="rect">
            <a:avLst/>
          </a:prstGeom>
        </p:spPr>
      </p:pic>
      <p:sp>
        <p:nvSpPr>
          <p:cNvPr id="3" name="Text 0"/>
          <p:cNvSpPr/>
          <p:nvPr/>
        </p:nvSpPr>
        <p:spPr>
          <a:xfrm>
            <a:off x="914400" y="6400800"/>
            <a:ext cx="3657600" cy="256032"/>
          </a:xfrm>
          <a:prstGeom prst="rect">
            <a:avLst/>
          </a:prstGeom>
          <a:noFill/>
          <a:ln/>
        </p:spPr>
        <p:txBody>
          <a:bodyPr wrap="square" lIns="0" tIns="0" rIns="0" bIns="0" rtlCol="0" anchor="ctr"/>
          <a:lstStyle/>
          <a:p>
            <a:pPr indent="0" marL="0">
              <a:buNone/>
            </a:pPr>
            <a:r>
              <a:rPr lang="en-US" sz="900" dirty="0">
                <a:solidFill>
                  <a:srgbClr val="767676"/>
                </a:solidFill>
                <a:latin typeface="Arial" pitchFamily="34" charset="0"/>
                <a:ea typeface="Arial" pitchFamily="34" charset="-122"/>
                <a:cs typeface="Arial" pitchFamily="34" charset="-120"/>
              </a:rPr>
              <a:t>DriveTest Analyzer</a:t>
            </a:r>
            <a:endParaRPr lang="en-US" sz="900" dirty="0"/>
          </a:p>
        </p:txBody>
      </p:sp>
      <p:sp>
        <p:nvSpPr>
          <p:cNvPr id="4" name="Text 1"/>
          <p:cNvSpPr/>
          <p:nvPr>
            <p:ph idx="102" type="title" hasCustomPrompt="1"/>
          </p:nvPr>
        </p:nvSpPr>
        <p:spPr>
          <a:xfrm>
            <a:off x="548640" y="384048"/>
            <a:ext cx="10424160" cy="658368"/>
          </a:xfrm>
          <a:prstGeom prst="rect">
            <a:avLst/>
          </a:prstGeom>
          <a:noFill/>
          <a:ln/>
        </p:spPr>
        <p:txBody>
          <a:bodyPr wrap="square" rtlCol="0"/>
          <a:lstStyle>
            <a:lvl1pPr algn="l" indent="0" marL="0">
              <a:buNone/>
              <a:defRPr lang="en-US" sz="3000" dirty="0">
                <a:solidFill>
                  <a:srgbClr val="000000"/>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548640" y="640080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67676"/>
                </a:solidFill>
                <a:latin typeface="Arial"/>
                <a:ea typeface="Arial"/>
                <a:cs typeface="Aria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NGLE">
    <p:bg>
      <p:bgPr>
        <a:solidFill>
          <a:srgbClr val="FFFFFF"/>
        </a:solidFill>
      </p:bgPr>
    </p:bg>
    <p:spTree>
      <p:nvGrpSpPr>
        <p:cNvPr id="1" name=""/>
        <p:cNvGrpSpPr/>
        <p:nvPr/>
      </p:nvGrpSpPr>
      <p:grpSpPr>
        <a:xfrm>
          <a:off x="0" y="0"/>
          <a:ext cx="0" cy="0"/>
          <a:chOff x="0" y="0"/>
          <a:chExt cx="0" cy="0"/>
        </a:xfrm>
      </p:grpSpPr>
      <p:pic>
        <p:nvPicPr>
          <p:cNvPr id="2" name="Image 0" descr="/var/folders/pl/_b6qn8zs2_lc59t589_46cyc0000gn/T/drivetest-presentations-rNxAPW/ericsson-logo-black.png">    </p:cNvPr>
          <p:cNvPicPr>
            <a:picLocks noChangeAspect="1"/>
          </p:cNvPicPr>
          <p:nvPr/>
        </p:nvPicPr>
        <p:blipFill>
          <a:blip r:embed="rId1"/>
          <a:stretch>
            <a:fillRect/>
          </a:stretch>
        </p:blipFill>
        <p:spPr>
          <a:xfrm>
            <a:off x="11219688" y="384048"/>
            <a:ext cx="484632" cy="425196"/>
          </a:xfrm>
          <a:prstGeom prst="rect">
            <a:avLst/>
          </a:prstGeom>
        </p:spPr>
      </p:pic>
      <p:sp>
        <p:nvSpPr>
          <p:cNvPr id="3" name="Text 0"/>
          <p:cNvSpPr/>
          <p:nvPr/>
        </p:nvSpPr>
        <p:spPr>
          <a:xfrm>
            <a:off x="914400" y="6400800"/>
            <a:ext cx="3657600" cy="256032"/>
          </a:xfrm>
          <a:prstGeom prst="rect">
            <a:avLst/>
          </a:prstGeom>
          <a:noFill/>
          <a:ln/>
        </p:spPr>
        <p:txBody>
          <a:bodyPr wrap="square" lIns="0" tIns="0" rIns="0" bIns="0" rtlCol="0" anchor="ctr"/>
          <a:lstStyle/>
          <a:p>
            <a:pPr indent="0" marL="0">
              <a:buNone/>
            </a:pPr>
            <a:r>
              <a:rPr lang="en-US" sz="900" dirty="0">
                <a:solidFill>
                  <a:srgbClr val="767676"/>
                </a:solidFill>
                <a:latin typeface="Arial" pitchFamily="34" charset="0"/>
                <a:ea typeface="Arial" pitchFamily="34" charset="-122"/>
                <a:cs typeface="Arial" pitchFamily="34" charset="-120"/>
              </a:rPr>
              <a:t>DriveTest Analyzer</a:t>
            </a:r>
            <a:endParaRPr lang="en-US" sz="900" dirty="0"/>
          </a:p>
        </p:txBody>
      </p:sp>
      <p:sp>
        <p:nvSpPr>
          <p:cNvPr id="4" name="Text 1"/>
          <p:cNvSpPr/>
          <p:nvPr>
            <p:ph idx="102" type="title" hasCustomPrompt="1"/>
          </p:nvPr>
        </p:nvSpPr>
        <p:spPr>
          <a:xfrm>
            <a:off x="548640" y="384048"/>
            <a:ext cx="10424160" cy="658368"/>
          </a:xfrm>
          <a:prstGeom prst="rect">
            <a:avLst/>
          </a:prstGeom>
          <a:noFill/>
          <a:ln/>
        </p:spPr>
        <p:txBody>
          <a:bodyPr wrap="square" rtlCol="0"/>
          <a:lstStyle>
            <a:lvl1pPr algn="l" indent="0" marL="0">
              <a:buNone/>
              <a:defRPr lang="en-US" sz="3000" dirty="0">
                <a:solidFill>
                  <a:srgbClr val="000000"/>
                </a:solidFill>
                <a:latin typeface="Arial" pitchFamily="34" charset="0"/>
                <a:ea typeface="Arial" pitchFamily="34" charset="-122"/>
                <a:cs typeface="Arial" pitchFamily="34" charset="-120"/>
              </a:defRPr>
            </a:lvl1pPr>
          </a:lstStyle>
          <a:p>
            <a:pPr algn="l"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40080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67676"/>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3.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3.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3.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slideLayout" Target="../slideLayouts/slideLayout3.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3.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3.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3.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slideLayout" Target="../slideLayouts/slideLayout3.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slideLayout" Target="../slideLayouts/slideLayout3.xml"/><Relationship Id="rId1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slideLayout" Target="../slideLayouts/slideLayout3.xml"/><Relationship Id="rId1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image" Target="../media/image-15-12.png"/><Relationship Id="rId13" Type="http://schemas.openxmlformats.org/officeDocument/2006/relationships/image" Target="../media/image-15-13.png"/><Relationship Id="rId14" Type="http://schemas.openxmlformats.org/officeDocument/2006/relationships/image" Target="../media/image-15-14.png"/><Relationship Id="rId15" Type="http://schemas.openxmlformats.org/officeDocument/2006/relationships/image" Target="../media/image-15-15.png"/><Relationship Id="rId16" Type="http://schemas.openxmlformats.org/officeDocument/2006/relationships/slideLayout" Target="../slideLayouts/slideLayout3.xml"/><Relationship Id="rId1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image" Target="../media/image-16-12.png"/><Relationship Id="rId13" Type="http://schemas.openxmlformats.org/officeDocument/2006/relationships/image" Target="../media/image-16-13.png"/><Relationship Id="rId14" Type="http://schemas.openxmlformats.org/officeDocument/2006/relationships/image" Target="../media/image-16-14.png"/><Relationship Id="rId15" Type="http://schemas.openxmlformats.org/officeDocument/2006/relationships/image" Target="../media/image-16-15.png"/><Relationship Id="rId16" Type="http://schemas.openxmlformats.org/officeDocument/2006/relationships/image" Target="../media/image-16-16.png"/><Relationship Id="rId17" Type="http://schemas.openxmlformats.org/officeDocument/2006/relationships/image" Target="../media/image-16-17.png"/><Relationship Id="rId18" Type="http://schemas.openxmlformats.org/officeDocument/2006/relationships/image" Target="../media/image-16-18.png"/><Relationship Id="rId19" Type="http://schemas.openxmlformats.org/officeDocument/2006/relationships/image" Target="../media/image-16-19.png"/><Relationship Id="rId20" Type="http://schemas.openxmlformats.org/officeDocument/2006/relationships/image" Target="../media/image-16-20.png"/><Relationship Id="rId21" Type="http://schemas.openxmlformats.org/officeDocument/2006/relationships/image" Target="../media/image-16-21.png"/><Relationship Id="rId22" Type="http://schemas.openxmlformats.org/officeDocument/2006/relationships/image" Target="../media/image-16-22.png"/><Relationship Id="rId23" Type="http://schemas.openxmlformats.org/officeDocument/2006/relationships/image" Target="../media/image-16-23.png"/><Relationship Id="rId24" Type="http://schemas.openxmlformats.org/officeDocument/2006/relationships/image" Target="../media/image-16-24.png"/><Relationship Id="rId25" Type="http://schemas.openxmlformats.org/officeDocument/2006/relationships/image" Target="../media/image-16-25.png"/><Relationship Id="rId26" Type="http://schemas.openxmlformats.org/officeDocument/2006/relationships/image" Target="../media/image-16-26.png"/><Relationship Id="rId27" Type="http://schemas.openxmlformats.org/officeDocument/2006/relationships/image" Target="../media/image-16-27.png"/><Relationship Id="rId28" Type="http://schemas.openxmlformats.org/officeDocument/2006/relationships/image" Target="../media/image-16-28.png"/><Relationship Id="rId29" Type="http://schemas.openxmlformats.org/officeDocument/2006/relationships/image" Target="../media/image-16-29.png"/><Relationship Id="rId30" Type="http://schemas.openxmlformats.org/officeDocument/2006/relationships/slideLayout" Target="../slideLayouts/slideLayout3.xml"/><Relationship Id="rId31"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art" descr="/var/folders/pl/_b6qn8zs2_lc59t589_46cyc0000gn/T/drivetest-presentations-rNxAPW/cover-art.png">    </p:cNvPr>
          <p:cNvPicPr>
            <a:picLocks noChangeAspect="1"/>
          </p:cNvPicPr>
          <p:nvPr/>
        </p:nvPicPr>
        <p:blipFill>
          <a:blip r:embed="rId1"/>
          <a:stretch>
            <a:fillRect/>
          </a:stretch>
        </p:blipFill>
        <p:spPr>
          <a:xfrm>
            <a:off x="5760720" y="0"/>
            <a:ext cx="6428232" cy="6858000"/>
          </a:xfrm>
          <a:prstGeom prst="rect">
            <a:avLst/>
          </a:prstGeom>
        </p:spPr>
      </p:pic>
      <p:pic>
        <p:nvPicPr>
          <p:cNvPr id="3" name="Ericsson logo" descr="/Users/jaimetur/PycharmProjects/DriveTestAnalyzer/src/web_interface/static/img/ericsson-logo-white.png">    </p:cNvPr>
          <p:cNvPicPr>
            <a:picLocks noChangeAspect="1"/>
          </p:cNvPicPr>
          <p:nvPr/>
        </p:nvPicPr>
        <p:blipFill>
          <a:blip r:embed="rId2"/>
          <a:stretch>
            <a:fillRect/>
          </a:stretch>
        </p:blipFill>
        <p:spPr>
          <a:xfrm>
            <a:off x="10899648" y="502920"/>
            <a:ext cx="649224" cy="566928"/>
          </a:xfrm>
          <a:prstGeom prst="rect">
            <a:avLst/>
          </a:prstGeom>
        </p:spPr>
      </p:pic>
      <p:sp>
        <p:nvSpPr>
          <p:cNvPr id="4" name="text-1"/>
          <p:cNvSpPr txBox="1"/>
          <p:nvPr/>
        </p:nvSpPr>
        <p:spPr>
          <a:xfrm>
            <a:off x="640080" y="1965960"/>
            <a:ext cx="5486400" cy="320040"/>
          </a:xfrm>
          <a:prstGeom prst="rect">
            <a:avLst/>
          </a:prstGeom>
          <a:noFill/>
          <a:ln/>
        </p:spPr>
        <p:txBody>
          <a:bodyPr wrap="square" lIns="0" tIns="0" rIns="0" bIns="0" rtlCol="0" anchor="ctr"/>
          <a:lstStyle/>
          <a:p>
            <a:pPr indent="0" marL="0">
              <a:buNone/>
            </a:pPr>
            <a:r>
              <a:rPr lang="en-US" sz="1300" b="1" spc="200" kern="0" dirty="0">
                <a:solidFill>
                  <a:srgbClr val="0082F0"/>
                </a:solidFill>
                <a:latin typeface="Arial" pitchFamily="34" charset="0"/>
                <a:ea typeface="Arial" pitchFamily="34" charset="-122"/>
                <a:cs typeface="Arial" pitchFamily="34" charset="-120"/>
              </a:rPr>
              <a:t>DRIVE-TEST ANALYTICS PLATFORM</a:t>
            </a:r>
            <a:endParaRPr lang="en-US" sz="1300" dirty="0"/>
          </a:p>
        </p:txBody>
      </p:sp>
      <p:sp>
        <p:nvSpPr>
          <p:cNvPr id="5" name="text-2"/>
          <p:cNvSpPr txBox="1"/>
          <p:nvPr/>
        </p:nvSpPr>
        <p:spPr>
          <a:xfrm>
            <a:off x="640080" y="2331720"/>
            <a:ext cx="5669280" cy="1874520"/>
          </a:xfrm>
          <a:prstGeom prst="rect">
            <a:avLst/>
          </a:prstGeom>
          <a:noFill/>
          <a:ln/>
        </p:spPr>
        <p:txBody>
          <a:bodyPr wrap="square" lIns="0" tIns="0" rIns="0" bIns="0" rtlCol="0" anchor="t"/>
          <a:lstStyle/>
          <a:p>
            <a:pPr indent="0" marL="0">
              <a:lnSpc>
                <a:spcPct val="95000"/>
              </a:lnSpc>
              <a:buNone/>
            </a:pPr>
            <a:r>
              <a:rPr lang="en-US" sz="6400" dirty="0">
                <a:solidFill>
                  <a:srgbClr val="FFFFFF"/>
                </a:solidFill>
                <a:latin typeface="Arial" pitchFamily="34" charset="0"/>
                <a:ea typeface="Arial" pitchFamily="34" charset="-122"/>
                <a:cs typeface="Arial" pitchFamily="34" charset="-120"/>
              </a:rPr>
              <a:t>DriveTest</a:t>
            </a:r>
            <a:endParaRPr lang="en-US" sz="6400" dirty="0"/>
          </a:p>
          <a:p>
            <a:pPr indent="0" marL="0">
              <a:lnSpc>
                <a:spcPct val="95000"/>
              </a:lnSpc>
              <a:buNone/>
            </a:pPr>
            <a:r>
              <a:rPr lang="en-US" sz="6400" b="1" dirty="0">
                <a:solidFill>
                  <a:srgbClr val="0082F0"/>
                </a:solidFill>
                <a:latin typeface="Arial" pitchFamily="34" charset="0"/>
                <a:ea typeface="Arial" pitchFamily="34" charset="-122"/>
                <a:cs typeface="Arial" pitchFamily="34" charset="-120"/>
              </a:rPr>
              <a:t>Analyzer</a:t>
            </a:r>
            <a:endParaRPr lang="en-US" sz="6400" dirty="0"/>
          </a:p>
        </p:txBody>
      </p:sp>
      <p:sp>
        <p:nvSpPr>
          <p:cNvPr id="6" name="text-3"/>
          <p:cNvSpPr txBox="1"/>
          <p:nvPr/>
        </p:nvSpPr>
        <p:spPr>
          <a:xfrm>
            <a:off x="640080" y="4297680"/>
            <a:ext cx="5120640" cy="822960"/>
          </a:xfrm>
          <a:prstGeom prst="rect">
            <a:avLst/>
          </a:prstGeom>
          <a:noFill/>
          <a:ln/>
        </p:spPr>
        <p:txBody>
          <a:bodyPr wrap="square" lIns="0" tIns="0" rIns="0" bIns="0" rtlCol="0" anchor="ctr"/>
          <a:lstStyle/>
          <a:p>
            <a:pPr indent="0" marL="0">
              <a:buNone/>
            </a:pPr>
            <a:r>
              <a:rPr lang="en-US" sz="2000" dirty="0">
                <a:solidFill>
                  <a:srgbClr val="E0E0E0"/>
                </a:solidFill>
                <a:latin typeface="Arial" pitchFamily="34" charset="0"/>
                <a:ea typeface="Arial" pitchFamily="34" charset="-122"/>
                <a:cs typeface="Arial" pitchFamily="34" charset="-120"/>
              </a:rPr>
              <a:t>From drive-test CDRs to network decisions, in one platform</a:t>
            </a:r>
            <a:endParaRPr lang="en-US" sz="2000" dirty="0"/>
          </a:p>
        </p:txBody>
      </p:sp>
      <p:sp>
        <p:nvSpPr>
          <p:cNvPr id="7" name="shape-4"/>
          <p:cNvSpPr/>
          <p:nvPr/>
        </p:nvSpPr>
        <p:spPr>
          <a:xfrm>
            <a:off x="640080" y="5349240"/>
            <a:ext cx="1444752" cy="384048"/>
          </a:xfrm>
          <a:prstGeom prst="roundRect">
            <a:avLst>
              <a:gd name="adj" fmla="val 50000"/>
            </a:avLst>
          </a:prstGeom>
          <a:solidFill>
            <a:srgbClr val="000000"/>
          </a:solidFill>
          <a:ln w="12700">
            <a:solidFill>
              <a:srgbClr val="4D4D4D"/>
            </a:solidFill>
            <a:prstDash val="solid"/>
          </a:ln>
        </p:spPr>
      </p:sp>
      <p:sp>
        <p:nvSpPr>
          <p:cNvPr id="8" name="text-5"/>
          <p:cNvSpPr txBox="1"/>
          <p:nvPr/>
        </p:nvSpPr>
        <p:spPr>
          <a:xfrm>
            <a:off x="640080" y="5349240"/>
            <a:ext cx="1444752" cy="384048"/>
          </a:xfrm>
          <a:prstGeom prst="rect">
            <a:avLst/>
          </a:prstGeom>
          <a:noFill/>
          <a:ln/>
        </p:spPr>
        <p:txBody>
          <a:bodyPr wrap="square" lIns="0" tIns="0" rIns="0" bIns="0"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Benchmarking</a:t>
            </a:r>
            <a:endParaRPr lang="en-US" sz="1200" dirty="0"/>
          </a:p>
        </p:txBody>
      </p:sp>
      <p:sp>
        <p:nvSpPr>
          <p:cNvPr id="9" name="shape-6"/>
          <p:cNvSpPr/>
          <p:nvPr/>
        </p:nvSpPr>
        <p:spPr>
          <a:xfrm>
            <a:off x="2212848" y="5349240"/>
            <a:ext cx="1060704" cy="384048"/>
          </a:xfrm>
          <a:prstGeom prst="roundRect">
            <a:avLst>
              <a:gd name="adj" fmla="val 50000"/>
            </a:avLst>
          </a:prstGeom>
          <a:solidFill>
            <a:srgbClr val="000000"/>
          </a:solidFill>
          <a:ln w="12700">
            <a:solidFill>
              <a:srgbClr val="4D4D4D"/>
            </a:solidFill>
            <a:prstDash val="solid"/>
          </a:ln>
        </p:spPr>
      </p:sp>
      <p:sp>
        <p:nvSpPr>
          <p:cNvPr id="10" name="text-7"/>
          <p:cNvSpPr txBox="1"/>
          <p:nvPr/>
        </p:nvSpPr>
        <p:spPr>
          <a:xfrm>
            <a:off x="2212848" y="5349240"/>
            <a:ext cx="1060704" cy="384048"/>
          </a:xfrm>
          <a:prstGeom prst="rect">
            <a:avLst/>
          </a:prstGeom>
          <a:noFill/>
          <a:ln/>
        </p:spPr>
        <p:txBody>
          <a:bodyPr wrap="square" lIns="0" tIns="0" rIns="0" bIns="0"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NQ Calls</a:t>
            </a:r>
            <a:endParaRPr lang="en-US" sz="1200" dirty="0"/>
          </a:p>
        </p:txBody>
      </p:sp>
      <p:sp>
        <p:nvSpPr>
          <p:cNvPr id="11" name="shape-8"/>
          <p:cNvSpPr/>
          <p:nvPr/>
        </p:nvSpPr>
        <p:spPr>
          <a:xfrm>
            <a:off x="3401568" y="5349240"/>
            <a:ext cx="1732788" cy="384048"/>
          </a:xfrm>
          <a:prstGeom prst="roundRect">
            <a:avLst>
              <a:gd name="adj" fmla="val 50000"/>
            </a:avLst>
          </a:prstGeom>
          <a:solidFill>
            <a:srgbClr val="000000"/>
          </a:solidFill>
          <a:ln w="12700">
            <a:solidFill>
              <a:srgbClr val="4D4D4D"/>
            </a:solidFill>
            <a:prstDash val="solid"/>
          </a:ln>
        </p:spPr>
      </p:sp>
      <p:sp>
        <p:nvSpPr>
          <p:cNvPr id="12" name="text-9"/>
          <p:cNvSpPr txBox="1"/>
          <p:nvPr/>
        </p:nvSpPr>
        <p:spPr>
          <a:xfrm>
            <a:off x="3401568" y="5349240"/>
            <a:ext cx="173278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Troubleshooting</a:t>
            </a:r>
            <a:endParaRPr lang="en-US" sz="1200" dirty="0"/>
          </a:p>
        </p:txBody>
      </p:sp>
      <p:sp>
        <p:nvSpPr>
          <p:cNvPr id="13" name="shape-10"/>
          <p:cNvSpPr/>
          <p:nvPr/>
        </p:nvSpPr>
        <p:spPr>
          <a:xfrm>
            <a:off x="5262372" y="5349240"/>
            <a:ext cx="1156716" cy="384048"/>
          </a:xfrm>
          <a:prstGeom prst="roundRect">
            <a:avLst>
              <a:gd name="adj" fmla="val 50000"/>
            </a:avLst>
          </a:prstGeom>
          <a:solidFill>
            <a:srgbClr val="000000"/>
          </a:solidFill>
          <a:ln w="12700">
            <a:solidFill>
              <a:srgbClr val="4D4D4D"/>
            </a:solidFill>
            <a:prstDash val="solid"/>
          </a:ln>
        </p:spPr>
      </p:sp>
      <p:sp>
        <p:nvSpPr>
          <p:cNvPr id="14" name="text-11"/>
          <p:cNvSpPr txBox="1"/>
          <p:nvPr/>
        </p:nvSpPr>
        <p:spPr>
          <a:xfrm>
            <a:off x="5262372" y="5349240"/>
            <a:ext cx="1156716" cy="384048"/>
          </a:xfrm>
          <a:prstGeom prst="rect">
            <a:avLst/>
          </a:prstGeom>
          <a:noFill/>
          <a:ln/>
        </p:spPr>
        <p:txBody>
          <a:bodyPr wrap="square" lIns="0" tIns="0" rIns="0" bIns="0"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Reporting</a:t>
            </a:r>
            <a:endParaRPr lang="en-US" sz="1200" dirty="0"/>
          </a:p>
        </p:txBody>
      </p:sp>
      <p:sp>
        <p:nvSpPr>
          <p:cNvPr id="15" name="text-12"/>
          <p:cNvSpPr txBox="1"/>
          <p:nvPr/>
        </p:nvSpPr>
        <p:spPr>
          <a:xfrm>
            <a:off x="640080" y="6172200"/>
            <a:ext cx="2743200" cy="274320"/>
          </a:xfrm>
          <a:prstGeom prst="rect">
            <a:avLst/>
          </a:prstGeom>
          <a:noFill/>
          <a:ln/>
        </p:spPr>
        <p:txBody>
          <a:bodyPr wrap="square" lIns="0" tIns="0" rIns="0" bIns="0" rtlCol="0" anchor="ctr"/>
          <a:lstStyle/>
          <a:p>
            <a:pPr indent="0" marL="0">
              <a:buNone/>
            </a:pPr>
            <a:r>
              <a:rPr lang="en-US" sz="1100" dirty="0">
                <a:solidFill>
                  <a:srgbClr val="A0A0A0"/>
                </a:solidFill>
                <a:latin typeface="Arial" pitchFamily="34" charset="0"/>
                <a:ea typeface="Arial" pitchFamily="34" charset="-122"/>
                <a:cs typeface="Arial" pitchFamily="34" charset="-120"/>
              </a:rPr>
              <a:t>October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0424160" cy="658368"/>
          </a:xfrm>
          <a:prstGeom prst="rect">
            <a:avLst/>
          </a:prstGeom>
          <a:noFill/>
          <a:ln/>
        </p:spPr>
        <p:txBody>
          <a:bodyPr wrap="square" lIns="0" tIns="0" rIns="0" bIns="0" rtlCol="0" anchor="ctr"/>
          <a:lstStyle/>
          <a:p>
            <a:pPr algn="l" indent="0" marL="0">
              <a:buNone/>
            </a:pPr>
            <a:r>
              <a:rPr lang="en-US" sz="3000" dirty="0">
                <a:solidFill>
                  <a:srgbClr val="000000"/>
                </a:solidFill>
                <a:latin typeface="Arial" pitchFamily="34" charset="0"/>
                <a:ea typeface="Arial" pitchFamily="34" charset="-122"/>
                <a:cs typeface="Arial" pitchFamily="34" charset="-120"/>
              </a:rPr>
              <a:t>One platform, </a:t>
            </a:r>
            <a:pPr algn="l" indent="0" marL="0">
              <a:buNone/>
            </a:pPr>
            <a:r>
              <a:rPr lang="en-US" sz="3000" b="1" dirty="0">
                <a:solidFill>
                  <a:srgbClr val="0068BF"/>
                </a:solidFill>
                <a:latin typeface="Arial" pitchFamily="34" charset="0"/>
                <a:ea typeface="Arial" pitchFamily="34" charset="-122"/>
                <a:cs typeface="Arial" pitchFamily="34" charset="-120"/>
              </a:rPr>
              <a:t>from CDRs to decisions</a:t>
            </a:r>
            <a:endParaRPr lang="en-US" sz="3000" dirty="0"/>
          </a:p>
        </p:txBody>
      </p:sp>
      <p:sp>
        <p:nvSpPr>
          <p:cNvPr id="3" name="text-13"/>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dirty="0">
                <a:solidFill>
                  <a:srgbClr val="767676"/>
                </a:solidFill>
                <a:latin typeface="Arial" pitchFamily="34" charset="0"/>
                <a:ea typeface="Arial" pitchFamily="34" charset="-122"/>
                <a:cs typeface="Arial" pitchFamily="34" charset="-120"/>
              </a:rPr>
              <a:t>Ingest once, analyse in every module, report and act, all in the same workspace</a:t>
            </a:r>
            <a:endParaRPr lang="en-US" sz="1500" dirty="0"/>
          </a:p>
        </p:txBody>
      </p:sp>
      <p:sp>
        <p:nvSpPr>
          <p:cNvPr id="4" name="shape-14"/>
          <p:cNvSpPr/>
          <p:nvPr/>
        </p:nvSpPr>
        <p:spPr>
          <a:xfrm>
            <a:off x="1051560" y="1572768"/>
            <a:ext cx="868680" cy="868680"/>
          </a:xfrm>
          <a:prstGeom prst="ellipse">
            <a:avLst/>
          </a:prstGeom>
          <a:solidFill>
            <a:srgbClr val="4DA8F5"/>
          </a:solidFill>
          <a:ln w="12700">
            <a:solidFill>
              <a:srgbClr val="4DA8F5"/>
            </a:solidFill>
            <a:prstDash val="solid"/>
          </a:ln>
        </p:spPr>
      </p:sp>
      <p:pic>
        <p:nvPicPr>
          <p:cNvPr id="5" name="icon-15" descr="preencoded.png">    </p:cNvPr>
          <p:cNvPicPr>
            <a:picLocks noChangeAspect="1"/>
          </p:cNvPicPr>
          <p:nvPr/>
        </p:nvPicPr>
        <p:blipFill>
          <a:blip r:embed="rId1"/>
          <a:stretch>
            <a:fillRect/>
          </a:stretch>
        </p:blipFill>
        <p:spPr>
          <a:xfrm>
            <a:off x="1242670" y="1763878"/>
            <a:ext cx="486461" cy="486461"/>
          </a:xfrm>
          <a:prstGeom prst="rect">
            <a:avLst/>
          </a:prstGeom>
        </p:spPr>
      </p:pic>
      <p:sp>
        <p:nvSpPr>
          <p:cNvPr id="6" name="text-16"/>
          <p:cNvSpPr txBox="1"/>
          <p:nvPr/>
        </p:nvSpPr>
        <p:spPr>
          <a:xfrm>
            <a:off x="548640" y="2542032"/>
            <a:ext cx="1874520" cy="365760"/>
          </a:xfrm>
          <a:prstGeom prst="rect">
            <a:avLst/>
          </a:prstGeom>
          <a:noFill/>
          <a:ln/>
        </p:spPr>
        <p:txBody>
          <a:bodyPr wrap="square" lIns="0" tIns="0" rIns="0" bIns="0" rtlCol="0" anchor="ctr"/>
          <a:lstStyle/>
          <a:p>
            <a:pPr algn="ctr" indent="0" marL="0">
              <a:buNone/>
            </a:pPr>
            <a:r>
              <a:rPr lang="en-US" sz="1800" b="1" dirty="0">
                <a:solidFill>
                  <a:srgbClr val="242424"/>
                </a:solidFill>
                <a:latin typeface="Arial" pitchFamily="34" charset="0"/>
                <a:ea typeface="Arial" pitchFamily="34" charset="-122"/>
                <a:cs typeface="Arial" pitchFamily="34" charset="-120"/>
              </a:rPr>
              <a:t>Ingest</a:t>
            </a:r>
            <a:endParaRPr lang="en-US" sz="1800" dirty="0"/>
          </a:p>
        </p:txBody>
      </p:sp>
      <p:sp>
        <p:nvSpPr>
          <p:cNvPr id="7" name="text-17"/>
          <p:cNvSpPr txBox="1"/>
          <p:nvPr/>
        </p:nvSpPr>
        <p:spPr>
          <a:xfrm>
            <a:off x="548640" y="2926080"/>
            <a:ext cx="1874520" cy="566928"/>
          </a:xfrm>
          <a:prstGeom prst="rect">
            <a:avLst/>
          </a:prstGeom>
          <a:noFill/>
          <a:ln/>
        </p:spPr>
        <p:txBody>
          <a:bodyPr wrap="square" lIns="0" tIns="0" rIns="0" bIns="0" rtlCol="0" anchor="ctr"/>
          <a:lstStyle/>
          <a:p>
            <a:pPr algn="ctr" indent="0" marL="0">
              <a:buNone/>
            </a:pPr>
            <a:r>
              <a:rPr lang="en-US" sz="1250" dirty="0">
                <a:solidFill>
                  <a:srgbClr val="767676"/>
                </a:solidFill>
                <a:latin typeface="Arial" pitchFamily="34" charset="0"/>
                <a:ea typeface="Arial" pitchFamily="34" charset="-122"/>
                <a:cs typeface="Arial" pitchFamily="34" charset="-120"/>
              </a:rPr>
              <a:t>Data, Voice &amp; Speech</a:t>
            </a:r>
            <a:endParaRPr lang="en-US" sz="1250" dirty="0"/>
          </a:p>
          <a:p>
            <a:pPr algn="ctr" indent="0" marL="0">
              <a:buNone/>
            </a:pPr>
            <a:r>
              <a:rPr lang="en-US" sz="1250" dirty="0">
                <a:solidFill>
                  <a:srgbClr val="767676"/>
                </a:solidFill>
                <a:latin typeface="Arial" pitchFamily="34" charset="0"/>
                <a:ea typeface="Arial" pitchFamily="34" charset="-122"/>
                <a:cs typeface="Arial" pitchFamily="34" charset="-120"/>
              </a:rPr>
              <a:t>Maps &amp; inventories</a:t>
            </a:r>
            <a:endParaRPr lang="en-US" sz="1250" dirty="0"/>
          </a:p>
        </p:txBody>
      </p:sp>
      <p:sp>
        <p:nvSpPr>
          <p:cNvPr id="8" name="shape-18"/>
          <p:cNvSpPr/>
          <p:nvPr/>
        </p:nvSpPr>
        <p:spPr>
          <a:xfrm>
            <a:off x="2029968" y="2007108"/>
            <a:ext cx="1261872" cy="0"/>
          </a:xfrm>
          <a:prstGeom prst="line">
            <a:avLst/>
          </a:prstGeom>
          <a:noFill/>
          <a:ln w="22225">
            <a:solidFill>
              <a:srgbClr val="A0A0A0"/>
            </a:solidFill>
            <a:prstDash val="solid"/>
            <a:tailEnd type="triangle"/>
          </a:ln>
        </p:spPr>
      </p:sp>
      <p:sp>
        <p:nvSpPr>
          <p:cNvPr id="9" name="shape-19"/>
          <p:cNvSpPr/>
          <p:nvPr/>
        </p:nvSpPr>
        <p:spPr>
          <a:xfrm>
            <a:off x="3355848" y="1572768"/>
            <a:ext cx="868680" cy="868680"/>
          </a:xfrm>
          <a:prstGeom prst="ellipse">
            <a:avLst/>
          </a:prstGeom>
          <a:solidFill>
            <a:srgbClr val="2E96F2"/>
          </a:solidFill>
          <a:ln w="12700">
            <a:solidFill>
              <a:srgbClr val="2E96F2"/>
            </a:solidFill>
            <a:prstDash val="solid"/>
          </a:ln>
        </p:spPr>
      </p:sp>
      <p:pic>
        <p:nvPicPr>
          <p:cNvPr id="10" name="icon-20" descr="preencoded.png">    </p:cNvPr>
          <p:cNvPicPr>
            <a:picLocks noChangeAspect="1"/>
          </p:cNvPicPr>
          <p:nvPr/>
        </p:nvPicPr>
        <p:blipFill>
          <a:blip r:embed="rId2"/>
          <a:stretch>
            <a:fillRect/>
          </a:stretch>
        </p:blipFill>
        <p:spPr>
          <a:xfrm>
            <a:off x="3546958" y="1763878"/>
            <a:ext cx="486461" cy="486461"/>
          </a:xfrm>
          <a:prstGeom prst="rect">
            <a:avLst/>
          </a:prstGeom>
        </p:spPr>
      </p:pic>
      <p:sp>
        <p:nvSpPr>
          <p:cNvPr id="11" name="text-21"/>
          <p:cNvSpPr txBox="1"/>
          <p:nvPr/>
        </p:nvSpPr>
        <p:spPr>
          <a:xfrm>
            <a:off x="2852928" y="2542032"/>
            <a:ext cx="1874520" cy="365760"/>
          </a:xfrm>
          <a:prstGeom prst="rect">
            <a:avLst/>
          </a:prstGeom>
          <a:noFill/>
          <a:ln/>
        </p:spPr>
        <p:txBody>
          <a:bodyPr wrap="square" lIns="0" tIns="0" rIns="0" bIns="0" rtlCol="0" anchor="ctr"/>
          <a:lstStyle/>
          <a:p>
            <a:pPr algn="ctr" indent="0" marL="0">
              <a:buNone/>
            </a:pPr>
            <a:r>
              <a:rPr lang="en-US" sz="1800" b="1" dirty="0">
                <a:solidFill>
                  <a:srgbClr val="242424"/>
                </a:solidFill>
                <a:latin typeface="Arial" pitchFamily="34" charset="0"/>
                <a:ea typeface="Arial" pitchFamily="34" charset="-122"/>
                <a:cs typeface="Arial" pitchFamily="34" charset="-120"/>
              </a:rPr>
              <a:t>Process</a:t>
            </a:r>
            <a:endParaRPr lang="en-US" sz="1800" dirty="0"/>
          </a:p>
        </p:txBody>
      </p:sp>
      <p:sp>
        <p:nvSpPr>
          <p:cNvPr id="12" name="text-22"/>
          <p:cNvSpPr txBox="1"/>
          <p:nvPr/>
        </p:nvSpPr>
        <p:spPr>
          <a:xfrm>
            <a:off x="2852928" y="2926080"/>
            <a:ext cx="1874520" cy="566928"/>
          </a:xfrm>
          <a:prstGeom prst="rect">
            <a:avLst/>
          </a:prstGeom>
          <a:noFill/>
          <a:ln/>
        </p:spPr>
        <p:txBody>
          <a:bodyPr wrap="square" lIns="0" tIns="0" rIns="0" bIns="0" rtlCol="0" anchor="ctr"/>
          <a:lstStyle/>
          <a:p>
            <a:pPr algn="ctr" indent="0" marL="0">
              <a:buNone/>
            </a:pPr>
            <a:r>
              <a:rPr lang="en-US" sz="1250" dirty="0">
                <a:solidFill>
                  <a:srgbClr val="767676"/>
                </a:solidFill>
                <a:latin typeface="Arial" pitchFamily="34" charset="0"/>
                <a:ea typeface="Arial" pitchFamily="34" charset="-122"/>
                <a:cs typeface="Arial" pitchFamily="34" charset="-120"/>
              </a:rPr>
              <a:t>Normalise, map, enrich</a:t>
            </a:r>
            <a:endParaRPr lang="en-US" sz="1250" dirty="0"/>
          </a:p>
          <a:p>
            <a:pPr algn="ctr" indent="0" marL="0">
              <a:buNone/>
            </a:pPr>
            <a:r>
              <a:rPr lang="en-US" sz="1250" dirty="0">
                <a:solidFill>
                  <a:srgbClr val="767676"/>
                </a:solidFill>
                <a:latin typeface="Arial" pitchFamily="34" charset="0"/>
                <a:ea typeface="Arial" pitchFamily="34" charset="-122"/>
                <a:cs typeface="Arial" pitchFamily="34" charset="-120"/>
              </a:rPr>
              <a:t>Auto-calculated fields</a:t>
            </a:r>
            <a:endParaRPr lang="en-US" sz="1250" dirty="0"/>
          </a:p>
        </p:txBody>
      </p:sp>
      <p:sp>
        <p:nvSpPr>
          <p:cNvPr id="13" name="shape-23"/>
          <p:cNvSpPr/>
          <p:nvPr/>
        </p:nvSpPr>
        <p:spPr>
          <a:xfrm>
            <a:off x="4334256" y="2007108"/>
            <a:ext cx="1261872" cy="0"/>
          </a:xfrm>
          <a:prstGeom prst="line">
            <a:avLst/>
          </a:prstGeom>
          <a:noFill/>
          <a:ln w="22225">
            <a:solidFill>
              <a:srgbClr val="A0A0A0"/>
            </a:solidFill>
            <a:prstDash val="solid"/>
            <a:tailEnd type="triangle"/>
          </a:ln>
        </p:spPr>
      </p:sp>
      <p:sp>
        <p:nvSpPr>
          <p:cNvPr id="14" name="shape-24"/>
          <p:cNvSpPr/>
          <p:nvPr/>
        </p:nvSpPr>
        <p:spPr>
          <a:xfrm>
            <a:off x="5660136" y="1572768"/>
            <a:ext cx="868680" cy="868680"/>
          </a:xfrm>
          <a:prstGeom prst="ellipse">
            <a:avLst/>
          </a:prstGeom>
          <a:solidFill>
            <a:srgbClr val="0082F0"/>
          </a:solidFill>
          <a:ln w="12700">
            <a:solidFill>
              <a:srgbClr val="0082F0"/>
            </a:solidFill>
            <a:prstDash val="solid"/>
          </a:ln>
        </p:spPr>
      </p:sp>
      <p:pic>
        <p:nvPicPr>
          <p:cNvPr id="15" name="icon-25" descr="preencoded.png">    </p:cNvPr>
          <p:cNvPicPr>
            <a:picLocks noChangeAspect="1"/>
          </p:cNvPicPr>
          <p:nvPr/>
        </p:nvPicPr>
        <p:blipFill>
          <a:blip r:embed="rId3"/>
          <a:stretch>
            <a:fillRect/>
          </a:stretch>
        </p:blipFill>
        <p:spPr>
          <a:xfrm>
            <a:off x="5851246" y="1763878"/>
            <a:ext cx="486461" cy="486461"/>
          </a:xfrm>
          <a:prstGeom prst="rect">
            <a:avLst/>
          </a:prstGeom>
        </p:spPr>
      </p:pic>
      <p:sp>
        <p:nvSpPr>
          <p:cNvPr id="16" name="text-26"/>
          <p:cNvSpPr txBox="1"/>
          <p:nvPr/>
        </p:nvSpPr>
        <p:spPr>
          <a:xfrm>
            <a:off x="5157216" y="2542032"/>
            <a:ext cx="1874520" cy="365760"/>
          </a:xfrm>
          <a:prstGeom prst="rect">
            <a:avLst/>
          </a:prstGeom>
          <a:noFill/>
          <a:ln/>
        </p:spPr>
        <p:txBody>
          <a:bodyPr wrap="square" lIns="0" tIns="0" rIns="0" bIns="0" rtlCol="0" anchor="ctr"/>
          <a:lstStyle/>
          <a:p>
            <a:pPr algn="ctr" indent="0" marL="0">
              <a:buNone/>
            </a:pPr>
            <a:r>
              <a:rPr lang="en-US" sz="1800" b="1" dirty="0">
                <a:solidFill>
                  <a:srgbClr val="242424"/>
                </a:solidFill>
                <a:latin typeface="Arial" pitchFamily="34" charset="0"/>
                <a:ea typeface="Arial" pitchFamily="34" charset="-122"/>
                <a:cs typeface="Arial" pitchFamily="34" charset="-120"/>
              </a:rPr>
              <a:t>Analyse</a:t>
            </a:r>
            <a:endParaRPr lang="en-US" sz="1800" dirty="0"/>
          </a:p>
        </p:txBody>
      </p:sp>
      <p:sp>
        <p:nvSpPr>
          <p:cNvPr id="17" name="text-27"/>
          <p:cNvSpPr txBox="1"/>
          <p:nvPr/>
        </p:nvSpPr>
        <p:spPr>
          <a:xfrm>
            <a:off x="5157216" y="2926080"/>
            <a:ext cx="1874520" cy="566928"/>
          </a:xfrm>
          <a:prstGeom prst="rect">
            <a:avLst/>
          </a:prstGeom>
          <a:noFill/>
          <a:ln/>
        </p:spPr>
        <p:txBody>
          <a:bodyPr wrap="square" lIns="0" tIns="0" rIns="0" bIns="0" rtlCol="0" anchor="ctr"/>
          <a:lstStyle/>
          <a:p>
            <a:pPr algn="ctr" indent="0" marL="0">
              <a:buNone/>
            </a:pPr>
            <a:r>
              <a:rPr lang="en-US" sz="1250" dirty="0">
                <a:solidFill>
                  <a:srgbClr val="767676"/>
                </a:solidFill>
                <a:latin typeface="Arial" pitchFamily="34" charset="0"/>
                <a:ea typeface="Arial" pitchFamily="34" charset="-122"/>
                <a:cs typeface="Arial" pitchFamily="34" charset="-120"/>
              </a:rPr>
              <a:t>Scoring · NI · NQ · KPIs</a:t>
            </a:r>
            <a:endParaRPr lang="en-US" sz="1250" dirty="0"/>
          </a:p>
          <a:p>
            <a:pPr algn="ctr" indent="0" marL="0">
              <a:buNone/>
            </a:pPr>
            <a:r>
              <a:rPr lang="en-US" sz="1250" dirty="0">
                <a:solidFill>
                  <a:srgbClr val="767676"/>
                </a:solidFill>
                <a:latin typeface="Arial" pitchFamily="34" charset="0"/>
                <a:ea typeface="Arial" pitchFamily="34" charset="-122"/>
                <a:cs typeface="Arial" pitchFamily="34" charset="-120"/>
              </a:rPr>
              <a:t>Ad-hoc charts &amp; SQL</a:t>
            </a:r>
            <a:endParaRPr lang="en-US" sz="1250" dirty="0"/>
          </a:p>
        </p:txBody>
      </p:sp>
      <p:sp>
        <p:nvSpPr>
          <p:cNvPr id="18" name="shape-28"/>
          <p:cNvSpPr/>
          <p:nvPr/>
        </p:nvSpPr>
        <p:spPr>
          <a:xfrm>
            <a:off x="6638544" y="2007108"/>
            <a:ext cx="1261872" cy="0"/>
          </a:xfrm>
          <a:prstGeom prst="line">
            <a:avLst/>
          </a:prstGeom>
          <a:noFill/>
          <a:ln w="22225">
            <a:solidFill>
              <a:srgbClr val="A0A0A0"/>
            </a:solidFill>
            <a:prstDash val="solid"/>
            <a:tailEnd type="triangle"/>
          </a:ln>
        </p:spPr>
      </p:sp>
      <p:sp>
        <p:nvSpPr>
          <p:cNvPr id="19" name="shape-29"/>
          <p:cNvSpPr/>
          <p:nvPr/>
        </p:nvSpPr>
        <p:spPr>
          <a:xfrm>
            <a:off x="7964424" y="1572768"/>
            <a:ext cx="868680" cy="868680"/>
          </a:xfrm>
          <a:prstGeom prst="ellipse">
            <a:avLst/>
          </a:prstGeom>
          <a:solidFill>
            <a:srgbClr val="0068BF"/>
          </a:solidFill>
          <a:ln w="12700">
            <a:solidFill>
              <a:srgbClr val="0068BF"/>
            </a:solidFill>
            <a:prstDash val="solid"/>
          </a:ln>
        </p:spPr>
      </p:sp>
      <p:pic>
        <p:nvPicPr>
          <p:cNvPr id="20" name="icon-30" descr="preencoded.png">    </p:cNvPr>
          <p:cNvPicPr>
            <a:picLocks noChangeAspect="1"/>
          </p:cNvPicPr>
          <p:nvPr/>
        </p:nvPicPr>
        <p:blipFill>
          <a:blip r:embed="rId4"/>
          <a:stretch>
            <a:fillRect/>
          </a:stretch>
        </p:blipFill>
        <p:spPr>
          <a:xfrm>
            <a:off x="8155534" y="1763878"/>
            <a:ext cx="486461" cy="486461"/>
          </a:xfrm>
          <a:prstGeom prst="rect">
            <a:avLst/>
          </a:prstGeom>
        </p:spPr>
      </p:pic>
      <p:sp>
        <p:nvSpPr>
          <p:cNvPr id="21" name="text-31"/>
          <p:cNvSpPr txBox="1"/>
          <p:nvPr/>
        </p:nvSpPr>
        <p:spPr>
          <a:xfrm>
            <a:off x="7461504" y="2542032"/>
            <a:ext cx="1874520" cy="365760"/>
          </a:xfrm>
          <a:prstGeom prst="rect">
            <a:avLst/>
          </a:prstGeom>
          <a:noFill/>
          <a:ln/>
        </p:spPr>
        <p:txBody>
          <a:bodyPr wrap="square" lIns="0" tIns="0" rIns="0" bIns="0" rtlCol="0" anchor="ctr"/>
          <a:lstStyle/>
          <a:p>
            <a:pPr algn="ctr" indent="0" marL="0">
              <a:buNone/>
            </a:pPr>
            <a:r>
              <a:rPr lang="en-US" sz="1800" b="1" dirty="0">
                <a:solidFill>
                  <a:srgbClr val="242424"/>
                </a:solidFill>
                <a:latin typeface="Arial" pitchFamily="34" charset="0"/>
                <a:ea typeface="Arial" pitchFamily="34" charset="-122"/>
                <a:cs typeface="Arial" pitchFamily="34" charset="-120"/>
              </a:rPr>
              <a:t>Report</a:t>
            </a:r>
            <a:endParaRPr lang="en-US" sz="1800" dirty="0"/>
          </a:p>
        </p:txBody>
      </p:sp>
      <p:sp>
        <p:nvSpPr>
          <p:cNvPr id="22" name="text-32"/>
          <p:cNvSpPr txBox="1"/>
          <p:nvPr/>
        </p:nvSpPr>
        <p:spPr>
          <a:xfrm>
            <a:off x="7461504" y="2926080"/>
            <a:ext cx="1874520" cy="566928"/>
          </a:xfrm>
          <a:prstGeom prst="rect">
            <a:avLst/>
          </a:prstGeom>
          <a:noFill/>
          <a:ln/>
        </p:spPr>
        <p:txBody>
          <a:bodyPr wrap="square" lIns="0" tIns="0" rIns="0" bIns="0" rtlCol="0" anchor="ctr"/>
          <a:lstStyle/>
          <a:p>
            <a:pPr algn="ctr" indent="0" marL="0">
              <a:buNone/>
            </a:pPr>
            <a:r>
              <a:rPr lang="en-US" sz="1250" dirty="0">
                <a:solidFill>
                  <a:srgbClr val="767676"/>
                </a:solidFill>
                <a:latin typeface="Arial" pitchFamily="34" charset="0"/>
                <a:ea typeface="Arial" pitchFamily="34" charset="-122"/>
                <a:cs typeface="Arial" pitchFamily="34" charset="-120"/>
              </a:rPr>
              <a:t>PowerPoint &amp; Word</a:t>
            </a:r>
            <a:endParaRPr lang="en-US" sz="1250" dirty="0"/>
          </a:p>
          <a:p>
            <a:pPr algn="ctr" indent="0" marL="0">
              <a:buNone/>
            </a:pPr>
            <a:r>
              <a:rPr lang="en-US" sz="1250" dirty="0">
                <a:solidFill>
                  <a:srgbClr val="767676"/>
                </a:solidFill>
                <a:latin typeface="Arial" pitchFamily="34" charset="0"/>
                <a:ea typeface="Arial" pitchFamily="34" charset="-122"/>
                <a:cs typeface="Arial" pitchFamily="34" charset="-120"/>
              </a:rPr>
              <a:t>Scheduled &amp; emailed</a:t>
            </a:r>
            <a:endParaRPr lang="en-US" sz="1250" dirty="0"/>
          </a:p>
        </p:txBody>
      </p:sp>
      <p:sp>
        <p:nvSpPr>
          <p:cNvPr id="23" name="shape-33"/>
          <p:cNvSpPr/>
          <p:nvPr/>
        </p:nvSpPr>
        <p:spPr>
          <a:xfrm>
            <a:off x="8942832" y="2007108"/>
            <a:ext cx="1261872" cy="0"/>
          </a:xfrm>
          <a:prstGeom prst="line">
            <a:avLst/>
          </a:prstGeom>
          <a:noFill/>
          <a:ln w="22225">
            <a:solidFill>
              <a:srgbClr val="A0A0A0"/>
            </a:solidFill>
            <a:prstDash val="solid"/>
            <a:tailEnd type="triangle"/>
          </a:ln>
        </p:spPr>
      </p:sp>
      <p:sp>
        <p:nvSpPr>
          <p:cNvPr id="24" name="shape-34"/>
          <p:cNvSpPr/>
          <p:nvPr/>
        </p:nvSpPr>
        <p:spPr>
          <a:xfrm>
            <a:off x="10268712" y="1572768"/>
            <a:ext cx="868680" cy="868680"/>
          </a:xfrm>
          <a:prstGeom prst="ellipse">
            <a:avLst/>
          </a:prstGeom>
          <a:solidFill>
            <a:srgbClr val="004E8F"/>
          </a:solidFill>
          <a:ln w="12700">
            <a:solidFill>
              <a:srgbClr val="004E8F"/>
            </a:solidFill>
            <a:prstDash val="solid"/>
          </a:ln>
        </p:spPr>
      </p:sp>
      <p:pic>
        <p:nvPicPr>
          <p:cNvPr id="25" name="icon-35" descr="preencoded.png">    </p:cNvPr>
          <p:cNvPicPr>
            <a:picLocks noChangeAspect="1"/>
          </p:cNvPicPr>
          <p:nvPr/>
        </p:nvPicPr>
        <p:blipFill>
          <a:blip r:embed="rId5"/>
          <a:stretch>
            <a:fillRect/>
          </a:stretch>
        </p:blipFill>
        <p:spPr>
          <a:xfrm>
            <a:off x="10459822" y="1763878"/>
            <a:ext cx="486461" cy="486461"/>
          </a:xfrm>
          <a:prstGeom prst="rect">
            <a:avLst/>
          </a:prstGeom>
        </p:spPr>
      </p:pic>
      <p:sp>
        <p:nvSpPr>
          <p:cNvPr id="26" name="text-36"/>
          <p:cNvSpPr txBox="1"/>
          <p:nvPr/>
        </p:nvSpPr>
        <p:spPr>
          <a:xfrm>
            <a:off x="9765792" y="2542032"/>
            <a:ext cx="1874520" cy="365760"/>
          </a:xfrm>
          <a:prstGeom prst="rect">
            <a:avLst/>
          </a:prstGeom>
          <a:noFill/>
          <a:ln/>
        </p:spPr>
        <p:txBody>
          <a:bodyPr wrap="square" lIns="0" tIns="0" rIns="0" bIns="0" rtlCol="0" anchor="ctr"/>
          <a:lstStyle/>
          <a:p>
            <a:pPr algn="ctr" indent="0" marL="0">
              <a:buNone/>
            </a:pPr>
            <a:r>
              <a:rPr lang="en-US" sz="1800" b="1" dirty="0">
                <a:solidFill>
                  <a:srgbClr val="242424"/>
                </a:solidFill>
                <a:latin typeface="Arial" pitchFamily="34" charset="0"/>
                <a:ea typeface="Arial" pitchFamily="34" charset="-122"/>
                <a:cs typeface="Arial" pitchFamily="34" charset="-120"/>
              </a:rPr>
              <a:t>Act</a:t>
            </a:r>
            <a:endParaRPr lang="en-US" sz="1800" dirty="0"/>
          </a:p>
        </p:txBody>
      </p:sp>
      <p:sp>
        <p:nvSpPr>
          <p:cNvPr id="27" name="text-37"/>
          <p:cNvSpPr txBox="1"/>
          <p:nvPr/>
        </p:nvSpPr>
        <p:spPr>
          <a:xfrm>
            <a:off x="9765792" y="2926080"/>
            <a:ext cx="1874520" cy="566928"/>
          </a:xfrm>
          <a:prstGeom prst="rect">
            <a:avLst/>
          </a:prstGeom>
          <a:noFill/>
          <a:ln/>
        </p:spPr>
        <p:txBody>
          <a:bodyPr wrap="square" lIns="0" tIns="0" rIns="0" bIns="0" rtlCol="0" anchor="ctr"/>
          <a:lstStyle/>
          <a:p>
            <a:pPr algn="ctr" indent="0" marL="0">
              <a:buNone/>
            </a:pPr>
            <a:r>
              <a:rPr lang="en-US" sz="1250" dirty="0">
                <a:solidFill>
                  <a:srgbClr val="767676"/>
                </a:solidFill>
                <a:latin typeface="Arial" pitchFamily="34" charset="0"/>
                <a:ea typeface="Arial" pitchFamily="34" charset="-122"/>
                <a:cs typeface="Arial" pitchFamily="34" charset="-120"/>
              </a:rPr>
              <a:t>Root cause &amp; follow-up</a:t>
            </a:r>
            <a:endParaRPr lang="en-US" sz="1250" dirty="0"/>
          </a:p>
          <a:p>
            <a:pPr algn="ctr" indent="0" marL="0">
              <a:buNone/>
            </a:pPr>
            <a:r>
              <a:rPr lang="en-US" sz="1250" dirty="0">
                <a:solidFill>
                  <a:srgbClr val="767676"/>
                </a:solidFill>
                <a:latin typeface="Arial" pitchFamily="34" charset="0"/>
                <a:ea typeface="Arial" pitchFamily="34" charset="-122"/>
                <a:cs typeface="Arial" pitchFamily="34" charset="-120"/>
              </a:rPr>
              <a:t>Tickets to closure</a:t>
            </a:r>
            <a:endParaRPr lang="en-US" sz="1250" dirty="0"/>
          </a:p>
        </p:txBody>
      </p:sp>
      <p:sp>
        <p:nvSpPr>
          <p:cNvPr id="28" name="text-38"/>
          <p:cNvSpPr txBox="1"/>
          <p:nvPr/>
        </p:nvSpPr>
        <p:spPr>
          <a:xfrm>
            <a:off x="548640" y="3657600"/>
            <a:ext cx="5486400" cy="274320"/>
          </a:xfrm>
          <a:prstGeom prst="rect">
            <a:avLst/>
          </a:prstGeom>
          <a:noFill/>
          <a:ln/>
        </p:spPr>
        <p:txBody>
          <a:bodyPr wrap="square" lIns="0" tIns="0" rIns="0" bIns="0" rtlCol="0" anchor="ctr"/>
          <a:lstStyle/>
          <a:p>
            <a:pPr indent="0" marL="0">
              <a:buNone/>
            </a:pPr>
            <a:r>
              <a:rPr lang="en-US" sz="1100" b="1" spc="100" kern="0" dirty="0">
                <a:solidFill>
                  <a:srgbClr val="767676"/>
                </a:solidFill>
                <a:latin typeface="Arial" pitchFamily="34" charset="0"/>
                <a:ea typeface="Arial" pitchFamily="34" charset="-122"/>
                <a:cs typeface="Arial" pitchFamily="34" charset="-120"/>
              </a:rPr>
              <a:t>DATASETS IT INGESTS</a:t>
            </a:r>
            <a:endParaRPr lang="en-US" sz="1100" dirty="0"/>
          </a:p>
        </p:txBody>
      </p:sp>
      <p:sp>
        <p:nvSpPr>
          <p:cNvPr id="29" name="shape-39"/>
          <p:cNvSpPr/>
          <p:nvPr/>
        </p:nvSpPr>
        <p:spPr>
          <a:xfrm>
            <a:off x="548640" y="3977640"/>
            <a:ext cx="2651760" cy="1920240"/>
          </a:xfrm>
          <a:prstGeom prst="roundRect">
            <a:avLst>
              <a:gd name="adj" fmla="val 5714"/>
            </a:avLst>
          </a:prstGeom>
          <a:solidFill>
            <a:srgbClr val="F2F2F2"/>
          </a:solidFill>
          <a:ln w="12700">
            <a:solidFill>
              <a:srgbClr val="F2F2F2"/>
            </a:solidFill>
            <a:prstDash val="solid"/>
          </a:ln>
        </p:spPr>
      </p:sp>
      <p:sp>
        <p:nvSpPr>
          <p:cNvPr id="30" name="shape-40"/>
          <p:cNvSpPr/>
          <p:nvPr/>
        </p:nvSpPr>
        <p:spPr>
          <a:xfrm>
            <a:off x="749808" y="4160520"/>
            <a:ext cx="457200" cy="457200"/>
          </a:xfrm>
          <a:prstGeom prst="ellipse">
            <a:avLst/>
          </a:prstGeom>
          <a:solidFill>
            <a:srgbClr val="0068BF"/>
          </a:solidFill>
          <a:ln w="12700">
            <a:solidFill>
              <a:srgbClr val="0068BF"/>
            </a:solidFill>
            <a:prstDash val="solid"/>
          </a:ln>
        </p:spPr>
      </p:sp>
      <p:pic>
        <p:nvPicPr>
          <p:cNvPr id="31" name="icon-41" descr="preencoded.png">    </p:cNvPr>
          <p:cNvPicPr>
            <a:picLocks noChangeAspect="1"/>
          </p:cNvPicPr>
          <p:nvPr/>
        </p:nvPicPr>
        <p:blipFill>
          <a:blip r:embed="rId6"/>
          <a:stretch>
            <a:fillRect/>
          </a:stretch>
        </p:blipFill>
        <p:spPr>
          <a:xfrm>
            <a:off x="850392" y="4261104"/>
            <a:ext cx="256032" cy="256032"/>
          </a:xfrm>
          <a:prstGeom prst="rect">
            <a:avLst/>
          </a:prstGeom>
        </p:spPr>
      </p:pic>
      <p:sp>
        <p:nvSpPr>
          <p:cNvPr id="32" name="text-42"/>
          <p:cNvSpPr txBox="1"/>
          <p:nvPr/>
        </p:nvSpPr>
        <p:spPr>
          <a:xfrm>
            <a:off x="1325880" y="4160520"/>
            <a:ext cx="1783080" cy="457200"/>
          </a:xfrm>
          <a:prstGeom prst="rect">
            <a:avLst/>
          </a:prstGeom>
          <a:noFill/>
          <a:ln/>
        </p:spPr>
        <p:txBody>
          <a:bodyPr wrap="square" lIns="0" tIns="0" rIns="0" bIns="0" rtlCol="0" anchor="ctr"/>
          <a:lstStyle/>
          <a:p>
            <a:pPr indent="0" marL="0">
              <a:buNone/>
            </a:pPr>
            <a:r>
              <a:rPr lang="en-US" sz="1500" b="1" dirty="0">
                <a:solidFill>
                  <a:srgbClr val="242424"/>
                </a:solidFill>
                <a:latin typeface="Arial" pitchFamily="34" charset="0"/>
                <a:ea typeface="Arial" pitchFamily="34" charset="-122"/>
                <a:cs typeface="Arial" pitchFamily="34" charset="-120"/>
              </a:rPr>
              <a:t>CDRs</a:t>
            </a:r>
            <a:endParaRPr lang="en-US" sz="1500" dirty="0"/>
          </a:p>
        </p:txBody>
      </p:sp>
      <p:sp>
        <p:nvSpPr>
          <p:cNvPr id="33" name="text-43"/>
          <p:cNvSpPr txBox="1"/>
          <p:nvPr/>
        </p:nvSpPr>
        <p:spPr>
          <a:xfrm>
            <a:off x="749808" y="4709160"/>
            <a:ext cx="2286000" cy="548640"/>
          </a:xfrm>
          <a:prstGeom prst="rect">
            <a:avLst/>
          </a:prstGeom>
          <a:noFill/>
          <a:ln/>
        </p:spPr>
        <p:txBody>
          <a:bodyPr wrap="square" lIns="0" tIns="0" rIns="0" bIns="0" rtlCol="0" anchor="t"/>
          <a:lstStyle/>
          <a:p>
            <a:pPr indent="0" marL="0">
              <a:buNone/>
            </a:pPr>
            <a:r>
              <a:rPr lang="en-US" sz="1150" dirty="0">
                <a:solidFill>
                  <a:srgbClr val="767676"/>
                </a:solidFill>
                <a:latin typeface="Arial" pitchFamily="34" charset="0"/>
                <a:ea typeface="Arial" pitchFamily="34" charset="-122"/>
                <a:cs typeface="Arial" pitchFamily="34" charset="-120"/>
              </a:rPr>
              <a:t>Data, Voice &amp; Speech, NSA &amp; SA, by campaign</a:t>
            </a:r>
            <a:endParaRPr lang="en-US" sz="1150" dirty="0"/>
          </a:p>
        </p:txBody>
      </p:sp>
      <p:sp>
        <p:nvSpPr>
          <p:cNvPr id="34" name="text-44"/>
          <p:cNvSpPr txBox="1"/>
          <p:nvPr/>
        </p:nvSpPr>
        <p:spPr>
          <a:xfrm>
            <a:off x="749808" y="5303520"/>
            <a:ext cx="2331720" cy="457200"/>
          </a:xfrm>
          <a:prstGeom prst="rect">
            <a:avLst/>
          </a:prstGeom>
          <a:noFill/>
          <a:ln/>
        </p:spPr>
        <p:txBody>
          <a:bodyPr wrap="square" lIns="0" tIns="0" rIns="0" bIns="0" rtlCol="0" anchor="ctr"/>
          <a:lstStyle/>
          <a:p>
            <a:pPr indent="0" marL="0">
              <a:buNone/>
            </a:pPr>
            <a:r>
              <a:rPr lang="en-US" sz="2200" b="1" dirty="0">
                <a:solidFill>
                  <a:srgbClr val="0068BF"/>
                </a:solidFill>
                <a:latin typeface="Arial" pitchFamily="34" charset="0"/>
                <a:ea typeface="Arial" pitchFamily="34" charset="-122"/>
                <a:cs typeface="Arial" pitchFamily="34" charset="-120"/>
              </a:rPr>
              <a:t>7.5 M </a:t>
            </a:r>
            <a:pPr indent="0" marL="0">
              <a:buNone/>
            </a:pPr>
            <a:r>
              <a:rPr lang="en-US" sz="1150" dirty="0">
                <a:solidFill>
                  <a:srgbClr val="767676"/>
                </a:solidFill>
                <a:latin typeface="Arial" pitchFamily="34" charset="0"/>
                <a:ea typeface="Arial" pitchFamily="34" charset="-122"/>
                <a:cs typeface="Arial" pitchFamily="34" charset="-120"/>
              </a:rPr>
              <a:t>rows in 27 CDRs</a:t>
            </a:r>
            <a:endParaRPr lang="en-US" sz="2200" dirty="0"/>
          </a:p>
        </p:txBody>
      </p:sp>
      <p:sp>
        <p:nvSpPr>
          <p:cNvPr id="35" name="shape-45"/>
          <p:cNvSpPr/>
          <p:nvPr/>
        </p:nvSpPr>
        <p:spPr>
          <a:xfrm>
            <a:off x="3362249" y="3977640"/>
            <a:ext cx="2651760" cy="1920240"/>
          </a:xfrm>
          <a:prstGeom prst="roundRect">
            <a:avLst>
              <a:gd name="adj" fmla="val 5714"/>
            </a:avLst>
          </a:prstGeom>
          <a:solidFill>
            <a:srgbClr val="F2F2F2"/>
          </a:solidFill>
          <a:ln w="12700">
            <a:solidFill>
              <a:srgbClr val="F2F2F2"/>
            </a:solidFill>
            <a:prstDash val="solid"/>
          </a:ln>
        </p:spPr>
      </p:sp>
      <p:sp>
        <p:nvSpPr>
          <p:cNvPr id="36" name="shape-46"/>
          <p:cNvSpPr/>
          <p:nvPr/>
        </p:nvSpPr>
        <p:spPr>
          <a:xfrm>
            <a:off x="3563417" y="4160520"/>
            <a:ext cx="457200" cy="457200"/>
          </a:xfrm>
          <a:prstGeom prst="ellipse">
            <a:avLst/>
          </a:prstGeom>
          <a:solidFill>
            <a:srgbClr val="0C9B5B"/>
          </a:solidFill>
          <a:ln w="12700">
            <a:solidFill>
              <a:srgbClr val="0C9B5B"/>
            </a:solidFill>
            <a:prstDash val="solid"/>
          </a:ln>
        </p:spPr>
      </p:sp>
      <p:pic>
        <p:nvPicPr>
          <p:cNvPr id="37" name="icon-47" descr="preencoded.png">    </p:cNvPr>
          <p:cNvPicPr>
            <a:picLocks noChangeAspect="1"/>
          </p:cNvPicPr>
          <p:nvPr/>
        </p:nvPicPr>
        <p:blipFill>
          <a:blip r:embed="rId7"/>
          <a:stretch>
            <a:fillRect/>
          </a:stretch>
        </p:blipFill>
        <p:spPr>
          <a:xfrm>
            <a:off x="3664001" y="4261104"/>
            <a:ext cx="256032" cy="256032"/>
          </a:xfrm>
          <a:prstGeom prst="rect">
            <a:avLst/>
          </a:prstGeom>
        </p:spPr>
      </p:pic>
      <p:sp>
        <p:nvSpPr>
          <p:cNvPr id="38" name="text-48"/>
          <p:cNvSpPr txBox="1"/>
          <p:nvPr/>
        </p:nvSpPr>
        <p:spPr>
          <a:xfrm>
            <a:off x="4139489" y="4160520"/>
            <a:ext cx="1783080" cy="457200"/>
          </a:xfrm>
          <a:prstGeom prst="rect">
            <a:avLst/>
          </a:prstGeom>
          <a:noFill/>
          <a:ln/>
        </p:spPr>
        <p:txBody>
          <a:bodyPr wrap="square" lIns="0" tIns="0" rIns="0" bIns="0" rtlCol="0" anchor="ctr"/>
          <a:lstStyle/>
          <a:p>
            <a:pPr indent="0" marL="0">
              <a:buNone/>
            </a:pPr>
            <a:r>
              <a:rPr lang="en-US" sz="1500" b="1" dirty="0">
                <a:solidFill>
                  <a:srgbClr val="242424"/>
                </a:solidFill>
                <a:latin typeface="Arial" pitchFamily="34" charset="0"/>
                <a:ea typeface="Arial" pitchFamily="34" charset="-122"/>
                <a:cs typeface="Arial" pitchFamily="34" charset="-120"/>
              </a:rPr>
              <a:t>Network Inventories</a:t>
            </a:r>
            <a:endParaRPr lang="en-US" sz="1500" dirty="0"/>
          </a:p>
        </p:txBody>
      </p:sp>
      <p:sp>
        <p:nvSpPr>
          <p:cNvPr id="39" name="text-49"/>
          <p:cNvSpPr txBox="1"/>
          <p:nvPr/>
        </p:nvSpPr>
        <p:spPr>
          <a:xfrm>
            <a:off x="3563417" y="4709160"/>
            <a:ext cx="2286000" cy="548640"/>
          </a:xfrm>
          <a:prstGeom prst="rect">
            <a:avLst/>
          </a:prstGeom>
          <a:noFill/>
          <a:ln/>
        </p:spPr>
        <p:txBody>
          <a:bodyPr wrap="square" lIns="0" tIns="0" rIns="0" bIns="0" rtlCol="0" anchor="t"/>
          <a:lstStyle/>
          <a:p>
            <a:pPr indent="0" marL="0">
              <a:buNone/>
            </a:pPr>
            <a:r>
              <a:rPr lang="en-US" sz="1150" dirty="0">
                <a:solidFill>
                  <a:srgbClr val="767676"/>
                </a:solidFill>
                <a:latin typeface="Arial" pitchFamily="34" charset="0"/>
                <a:ea typeface="Arial" pitchFamily="34" charset="-122"/>
                <a:cs typeface="Arial" pitchFamily="34" charset="-120"/>
              </a:rPr>
              <a:t>Cells of any operator, tables or KMZ cell configuration</a:t>
            </a:r>
            <a:endParaRPr lang="en-US" sz="1150" dirty="0"/>
          </a:p>
        </p:txBody>
      </p:sp>
      <p:sp>
        <p:nvSpPr>
          <p:cNvPr id="40" name="text-50"/>
          <p:cNvSpPr txBox="1"/>
          <p:nvPr/>
        </p:nvSpPr>
        <p:spPr>
          <a:xfrm>
            <a:off x="3563417" y="5303520"/>
            <a:ext cx="2331720" cy="457200"/>
          </a:xfrm>
          <a:prstGeom prst="rect">
            <a:avLst/>
          </a:prstGeom>
          <a:noFill/>
          <a:ln/>
        </p:spPr>
        <p:txBody>
          <a:bodyPr wrap="square" lIns="0" tIns="0" rIns="0" bIns="0" rtlCol="0" anchor="ctr"/>
          <a:lstStyle/>
          <a:p>
            <a:pPr indent="0" marL="0">
              <a:buNone/>
            </a:pPr>
            <a:r>
              <a:rPr lang="en-US" sz="2200" b="1" dirty="0">
                <a:solidFill>
                  <a:srgbClr val="0068BF"/>
                </a:solidFill>
                <a:latin typeface="Arial" pitchFamily="34" charset="0"/>
                <a:ea typeface="Arial" pitchFamily="34" charset="-122"/>
                <a:cs typeface="Arial" pitchFamily="34" charset="-120"/>
              </a:rPr>
              <a:t>519 k </a:t>
            </a:r>
            <a:pPr indent="0" marL="0">
              <a:buNone/>
            </a:pPr>
            <a:r>
              <a:rPr lang="en-US" sz="1150" dirty="0">
                <a:solidFill>
                  <a:srgbClr val="767676"/>
                </a:solidFill>
                <a:latin typeface="Arial" pitchFamily="34" charset="0"/>
                <a:ea typeface="Arial" pitchFamily="34" charset="-122"/>
                <a:cs typeface="Arial" pitchFamily="34" charset="-120"/>
              </a:rPr>
              <a:t>inventory rows</a:t>
            </a:r>
            <a:endParaRPr lang="en-US" sz="2200" dirty="0"/>
          </a:p>
        </p:txBody>
      </p:sp>
      <p:sp>
        <p:nvSpPr>
          <p:cNvPr id="41" name="shape-51"/>
          <p:cNvSpPr/>
          <p:nvPr/>
        </p:nvSpPr>
        <p:spPr>
          <a:xfrm>
            <a:off x="6175858" y="3977640"/>
            <a:ext cx="2651760" cy="1920240"/>
          </a:xfrm>
          <a:prstGeom prst="roundRect">
            <a:avLst>
              <a:gd name="adj" fmla="val 5714"/>
            </a:avLst>
          </a:prstGeom>
          <a:solidFill>
            <a:srgbClr val="F2F2F2"/>
          </a:solidFill>
          <a:ln w="12700">
            <a:solidFill>
              <a:srgbClr val="F2F2F2"/>
            </a:solidFill>
            <a:prstDash val="solid"/>
          </a:ln>
        </p:spPr>
      </p:sp>
      <p:sp>
        <p:nvSpPr>
          <p:cNvPr id="42" name="shape-52"/>
          <p:cNvSpPr/>
          <p:nvPr/>
        </p:nvSpPr>
        <p:spPr>
          <a:xfrm>
            <a:off x="6377026" y="4160520"/>
            <a:ext cx="457200" cy="457200"/>
          </a:xfrm>
          <a:prstGeom prst="ellipse">
            <a:avLst/>
          </a:prstGeom>
          <a:solidFill>
            <a:srgbClr val="E07800"/>
          </a:solidFill>
          <a:ln w="12700">
            <a:solidFill>
              <a:srgbClr val="E07800"/>
            </a:solidFill>
            <a:prstDash val="solid"/>
          </a:ln>
        </p:spPr>
      </p:sp>
      <p:pic>
        <p:nvPicPr>
          <p:cNvPr id="43" name="icon-53" descr="preencoded.png">    </p:cNvPr>
          <p:cNvPicPr>
            <a:picLocks noChangeAspect="1"/>
          </p:cNvPicPr>
          <p:nvPr/>
        </p:nvPicPr>
        <p:blipFill>
          <a:blip r:embed="rId8"/>
          <a:stretch>
            <a:fillRect/>
          </a:stretch>
        </p:blipFill>
        <p:spPr>
          <a:xfrm>
            <a:off x="6477610" y="4261104"/>
            <a:ext cx="256032" cy="256032"/>
          </a:xfrm>
          <a:prstGeom prst="rect">
            <a:avLst/>
          </a:prstGeom>
        </p:spPr>
      </p:pic>
      <p:sp>
        <p:nvSpPr>
          <p:cNvPr id="44" name="text-54"/>
          <p:cNvSpPr txBox="1"/>
          <p:nvPr/>
        </p:nvSpPr>
        <p:spPr>
          <a:xfrm>
            <a:off x="6953098" y="4160520"/>
            <a:ext cx="1783080" cy="457200"/>
          </a:xfrm>
          <a:prstGeom prst="rect">
            <a:avLst/>
          </a:prstGeom>
          <a:noFill/>
          <a:ln/>
        </p:spPr>
        <p:txBody>
          <a:bodyPr wrap="square" lIns="0" tIns="0" rIns="0" bIns="0" rtlCol="0" anchor="ctr"/>
          <a:lstStyle/>
          <a:p>
            <a:pPr indent="0" marL="0">
              <a:buNone/>
            </a:pPr>
            <a:r>
              <a:rPr lang="en-US" sz="1500" b="1" dirty="0">
                <a:solidFill>
                  <a:srgbClr val="242424"/>
                </a:solidFill>
                <a:latin typeface="Arial" pitchFamily="34" charset="0"/>
                <a:ea typeface="Arial" pitchFamily="34" charset="-122"/>
                <a:cs typeface="Arial" pitchFamily="34" charset="-120"/>
              </a:rPr>
              <a:t>Vendor Mappings</a:t>
            </a:r>
            <a:endParaRPr lang="en-US" sz="1500" dirty="0"/>
          </a:p>
        </p:txBody>
      </p:sp>
      <p:sp>
        <p:nvSpPr>
          <p:cNvPr id="45" name="text-55"/>
          <p:cNvSpPr txBox="1"/>
          <p:nvPr/>
        </p:nvSpPr>
        <p:spPr>
          <a:xfrm>
            <a:off x="6377026" y="4709160"/>
            <a:ext cx="2286000" cy="548640"/>
          </a:xfrm>
          <a:prstGeom prst="rect">
            <a:avLst/>
          </a:prstGeom>
          <a:noFill/>
          <a:ln/>
        </p:spPr>
        <p:txBody>
          <a:bodyPr wrap="square" lIns="0" tIns="0" rIns="0" bIns="0" rtlCol="0" anchor="t"/>
          <a:lstStyle/>
          <a:p>
            <a:pPr indent="0" marL="0">
              <a:buNone/>
            </a:pPr>
            <a:r>
              <a:rPr lang="en-US" sz="1150" dirty="0">
                <a:solidFill>
                  <a:srgbClr val="767676"/>
                </a:solidFill>
                <a:latin typeface="Arial" pitchFamily="34" charset="0"/>
                <a:ea typeface="Arial" pitchFamily="34" charset="-122"/>
                <a:cs typeface="Arial" pitchFamily="34" charset="-120"/>
              </a:rPr>
              <a:t>Multivendor VFUK &amp; 3UK, and vendor polygons</a:t>
            </a:r>
            <a:endParaRPr lang="en-US" sz="1150" dirty="0"/>
          </a:p>
        </p:txBody>
      </p:sp>
      <p:sp>
        <p:nvSpPr>
          <p:cNvPr id="46" name="text-56"/>
          <p:cNvSpPr txBox="1"/>
          <p:nvPr/>
        </p:nvSpPr>
        <p:spPr>
          <a:xfrm>
            <a:off x="6377026" y="5303520"/>
            <a:ext cx="2331720" cy="457200"/>
          </a:xfrm>
          <a:prstGeom prst="rect">
            <a:avLst/>
          </a:prstGeom>
          <a:noFill/>
          <a:ln/>
        </p:spPr>
        <p:txBody>
          <a:bodyPr wrap="square" lIns="0" tIns="0" rIns="0" bIns="0" rtlCol="0" anchor="ctr"/>
          <a:lstStyle/>
          <a:p>
            <a:pPr indent="0" marL="0">
              <a:buNone/>
            </a:pPr>
            <a:r>
              <a:rPr lang="en-US" sz="2200" b="1" dirty="0">
                <a:solidFill>
                  <a:srgbClr val="0068BF"/>
                </a:solidFill>
                <a:latin typeface="Arial" pitchFamily="34" charset="0"/>
                <a:ea typeface="Arial" pitchFamily="34" charset="-122"/>
                <a:cs typeface="Arial" pitchFamily="34" charset="-120"/>
              </a:rPr>
              <a:t>1.1 M </a:t>
            </a:r>
            <a:pPr indent="0" marL="0">
              <a:buNone/>
            </a:pPr>
            <a:r>
              <a:rPr lang="en-US" sz="1150" dirty="0">
                <a:solidFill>
                  <a:srgbClr val="767676"/>
                </a:solidFill>
                <a:latin typeface="Arial" pitchFamily="34" charset="0"/>
                <a:ea typeface="Arial" pitchFamily="34" charset="-122"/>
                <a:cs typeface="Arial" pitchFamily="34" charset="-120"/>
              </a:rPr>
              <a:t>mapping rows</a:t>
            </a:r>
            <a:endParaRPr lang="en-US" sz="2200" dirty="0"/>
          </a:p>
        </p:txBody>
      </p:sp>
      <p:sp>
        <p:nvSpPr>
          <p:cNvPr id="47" name="shape-57"/>
          <p:cNvSpPr/>
          <p:nvPr/>
        </p:nvSpPr>
        <p:spPr>
          <a:xfrm>
            <a:off x="8989466" y="3977640"/>
            <a:ext cx="2651760" cy="1920240"/>
          </a:xfrm>
          <a:prstGeom prst="roundRect">
            <a:avLst>
              <a:gd name="adj" fmla="val 5714"/>
            </a:avLst>
          </a:prstGeom>
          <a:solidFill>
            <a:srgbClr val="F2F2F2"/>
          </a:solidFill>
          <a:ln w="12700">
            <a:solidFill>
              <a:srgbClr val="F2F2F2"/>
            </a:solidFill>
            <a:prstDash val="solid"/>
          </a:ln>
        </p:spPr>
      </p:sp>
      <p:sp>
        <p:nvSpPr>
          <p:cNvPr id="48" name="shape-58"/>
          <p:cNvSpPr/>
          <p:nvPr/>
        </p:nvSpPr>
        <p:spPr>
          <a:xfrm>
            <a:off x="9190634" y="4160520"/>
            <a:ext cx="457200" cy="457200"/>
          </a:xfrm>
          <a:prstGeom prst="ellipse">
            <a:avLst/>
          </a:prstGeom>
          <a:solidFill>
            <a:srgbClr val="8C60A8"/>
          </a:solidFill>
          <a:ln w="12700">
            <a:solidFill>
              <a:srgbClr val="8C60A8"/>
            </a:solidFill>
            <a:prstDash val="solid"/>
          </a:ln>
        </p:spPr>
      </p:sp>
      <p:pic>
        <p:nvPicPr>
          <p:cNvPr id="49" name="icon-59" descr="preencoded.png">    </p:cNvPr>
          <p:cNvPicPr>
            <a:picLocks noChangeAspect="1"/>
          </p:cNvPicPr>
          <p:nvPr/>
        </p:nvPicPr>
        <p:blipFill>
          <a:blip r:embed="rId9"/>
          <a:stretch>
            <a:fillRect/>
          </a:stretch>
        </p:blipFill>
        <p:spPr>
          <a:xfrm>
            <a:off x="9291218" y="4261104"/>
            <a:ext cx="256032" cy="256032"/>
          </a:xfrm>
          <a:prstGeom prst="rect">
            <a:avLst/>
          </a:prstGeom>
        </p:spPr>
      </p:pic>
      <p:sp>
        <p:nvSpPr>
          <p:cNvPr id="50" name="text-60"/>
          <p:cNvSpPr txBox="1"/>
          <p:nvPr/>
        </p:nvSpPr>
        <p:spPr>
          <a:xfrm>
            <a:off x="9766706" y="4160520"/>
            <a:ext cx="1783080" cy="457200"/>
          </a:xfrm>
          <a:prstGeom prst="rect">
            <a:avLst/>
          </a:prstGeom>
          <a:noFill/>
          <a:ln/>
        </p:spPr>
        <p:txBody>
          <a:bodyPr wrap="square" lIns="0" tIns="0" rIns="0" bIns="0" rtlCol="0" anchor="ctr"/>
          <a:lstStyle/>
          <a:p>
            <a:pPr indent="0" marL="0">
              <a:buNone/>
            </a:pPr>
            <a:r>
              <a:rPr lang="en-US" sz="1500" b="1" dirty="0">
                <a:solidFill>
                  <a:srgbClr val="242424"/>
                </a:solidFill>
                <a:latin typeface="Arial" pitchFamily="34" charset="0"/>
                <a:ea typeface="Arial" pitchFamily="34" charset="-122"/>
                <a:cs typeface="Arial" pitchFamily="34" charset="-120"/>
              </a:rPr>
              <a:t>Geographical</a:t>
            </a:r>
            <a:endParaRPr lang="en-US" sz="1500" dirty="0"/>
          </a:p>
        </p:txBody>
      </p:sp>
      <p:sp>
        <p:nvSpPr>
          <p:cNvPr id="51" name="text-61"/>
          <p:cNvSpPr txBox="1"/>
          <p:nvPr/>
        </p:nvSpPr>
        <p:spPr>
          <a:xfrm>
            <a:off x="9190634" y="4709160"/>
            <a:ext cx="2286000" cy="548640"/>
          </a:xfrm>
          <a:prstGeom prst="rect">
            <a:avLst/>
          </a:prstGeom>
          <a:noFill/>
          <a:ln/>
        </p:spPr>
        <p:txBody>
          <a:bodyPr wrap="square" lIns="0" tIns="0" rIns="0" bIns="0" rtlCol="0" anchor="t"/>
          <a:lstStyle/>
          <a:p>
            <a:pPr indent="0" marL="0">
              <a:buNone/>
            </a:pPr>
            <a:r>
              <a:rPr lang="en-US" sz="1150" dirty="0">
                <a:solidFill>
                  <a:srgbClr val="767676"/>
                </a:solidFill>
                <a:latin typeface="Arial" pitchFamily="34" charset="0"/>
                <a:ea typeface="Arial" pitchFamily="34" charset="-122"/>
                <a:cs typeface="Arial" pitchFamily="34" charset="-120"/>
              </a:rPr>
              <a:t>Regions &amp; Clusters as polygons, for splits and maps</a:t>
            </a:r>
            <a:endParaRPr lang="en-US" sz="1150" dirty="0"/>
          </a:p>
        </p:txBody>
      </p:sp>
      <p:sp>
        <p:nvSpPr>
          <p:cNvPr id="52" name="text-62"/>
          <p:cNvSpPr txBox="1"/>
          <p:nvPr/>
        </p:nvSpPr>
        <p:spPr>
          <a:xfrm>
            <a:off x="9190634" y="5303520"/>
            <a:ext cx="2331720" cy="457200"/>
          </a:xfrm>
          <a:prstGeom prst="rect">
            <a:avLst/>
          </a:prstGeom>
          <a:noFill/>
          <a:ln/>
        </p:spPr>
        <p:txBody>
          <a:bodyPr wrap="square" lIns="0" tIns="0" rIns="0" bIns="0" rtlCol="0" anchor="ctr"/>
          <a:lstStyle/>
          <a:p>
            <a:pPr indent="0" marL="0">
              <a:buNone/>
            </a:pPr>
            <a:r>
              <a:rPr lang="en-US" sz="2200" b="1" dirty="0">
                <a:solidFill>
                  <a:srgbClr val="0068BF"/>
                </a:solidFill>
                <a:latin typeface="Arial" pitchFamily="34" charset="0"/>
                <a:ea typeface="Arial" pitchFamily="34" charset="-122"/>
                <a:cs typeface="Arial" pitchFamily="34" charset="-120"/>
              </a:rPr>
              <a:t>2 levels </a:t>
            </a:r>
            <a:pPr indent="0" marL="0">
              <a:buNone/>
            </a:pPr>
            <a:r>
              <a:rPr lang="en-US" sz="1150" dirty="0">
                <a:solidFill>
                  <a:srgbClr val="767676"/>
                </a:solidFill>
                <a:latin typeface="Arial" pitchFamily="34" charset="0"/>
                <a:ea typeface="Arial" pitchFamily="34" charset="-122"/>
                <a:cs typeface="Arial" pitchFamily="34" charset="-120"/>
              </a:rPr>
              <a:t>Region &amp; Cluster</a:t>
            </a:r>
            <a:endParaRPr lang="en-US" sz="2200" dirty="0"/>
          </a:p>
        </p:txBody>
      </p:sp>
      <p:sp>
        <p:nvSpPr>
          <p:cNvPr id="53" name="text-63"/>
          <p:cNvSpPr txBox="1"/>
          <p:nvPr/>
        </p:nvSpPr>
        <p:spPr>
          <a:xfrm>
            <a:off x="548640" y="5989320"/>
            <a:ext cx="8229600" cy="256032"/>
          </a:xfrm>
          <a:prstGeom prst="rect">
            <a:avLst/>
          </a:prstGeom>
          <a:noFill/>
          <a:ln/>
        </p:spPr>
        <p:txBody>
          <a:bodyPr wrap="square" lIns="0" tIns="0" rIns="0" bIns="0" rtlCol="0" anchor="ctr"/>
          <a:lstStyle/>
          <a:p>
            <a:pPr indent="0" marL="0">
              <a:buNone/>
            </a:pPr>
            <a:r>
              <a:rPr lang="en-US" sz="1000" dirty="0">
                <a:solidFill>
                  <a:srgbClr val="A0A0A0"/>
                </a:solidFill>
                <a:latin typeface="Arial" pitchFamily="34" charset="0"/>
                <a:ea typeface="Arial" pitchFamily="34" charset="-122"/>
                <a:cs typeface="Arial" pitchFamily="34" charset="-120"/>
              </a:rPr>
              <a:t>Live figures of the UK workspace, 9 campaigns, October 2026</a:t>
            </a:r>
            <a:endParaRPr lang="en-US" sz="1000" dirty="0"/>
          </a:p>
        </p:txBody>
      </p:sp>
      <p:sp>
        <p:nvSpPr>
          <p:cNvPr id="25" name="Slide Number Placeholder 0"/>
          <p:cNvSpPr>
            <a:spLocks noGrp="1"/>
          </p:cNvSpPr>
          <p:nvPr>
            <p:ph type="sldNum" sz="quarter" idx="4294967295"/>
          </p:nvPr>
        </p:nvSpPr>
        <p:spPr>
          <a:xfrm>
            <a:off x="548640" y="640080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67676"/>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0424160" cy="658368"/>
          </a:xfrm>
          <a:prstGeom prst="rect">
            <a:avLst/>
          </a:prstGeom>
          <a:noFill/>
          <a:ln/>
        </p:spPr>
        <p:txBody>
          <a:bodyPr wrap="square" lIns="0" tIns="0" rIns="0" bIns="0" rtlCol="0" anchor="ctr"/>
          <a:lstStyle/>
          <a:p>
            <a:pPr algn="l" indent="0" marL="0">
              <a:buNone/>
            </a:pPr>
            <a:r>
              <a:rPr lang="en-US" sz="3000" dirty="0">
                <a:solidFill>
                  <a:srgbClr val="000000"/>
                </a:solidFill>
                <a:latin typeface="Arial" pitchFamily="34" charset="0"/>
                <a:ea typeface="Arial" pitchFamily="34" charset="-122"/>
                <a:cs typeface="Arial" pitchFamily="34" charset="-120"/>
              </a:rPr>
              <a:t>Eight modules, </a:t>
            </a:r>
            <a:pPr algn="l" indent="0" marL="0">
              <a:buNone/>
            </a:pPr>
            <a:r>
              <a:rPr lang="en-US" sz="3000" b="1" dirty="0">
                <a:solidFill>
                  <a:srgbClr val="0068BF"/>
                </a:solidFill>
                <a:latin typeface="Arial" pitchFamily="34" charset="0"/>
                <a:ea typeface="Arial" pitchFamily="34" charset="-122"/>
                <a:cs typeface="Arial" pitchFamily="34" charset="-120"/>
              </a:rPr>
              <a:t>one shared workspace</a:t>
            </a:r>
            <a:endParaRPr lang="en-US" sz="3000" dirty="0"/>
          </a:p>
        </p:txBody>
      </p:sp>
      <p:sp>
        <p:nvSpPr>
          <p:cNvPr id="3" name="text-64"/>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dirty="0">
                <a:solidFill>
                  <a:srgbClr val="767676"/>
                </a:solidFill>
                <a:latin typeface="Arial" pitchFamily="34" charset="0"/>
                <a:ea typeface="Arial" pitchFamily="34" charset="-122"/>
                <a:cs typeface="Arial" pitchFamily="34" charset="-120"/>
              </a:rPr>
              <a:t>Every module reads the same processed CDRs, mappings and inventories</a:t>
            </a:r>
            <a:endParaRPr lang="en-US" sz="1500" dirty="0"/>
          </a:p>
        </p:txBody>
      </p:sp>
      <p:sp>
        <p:nvSpPr>
          <p:cNvPr id="4" name="shape-65"/>
          <p:cNvSpPr/>
          <p:nvPr/>
        </p:nvSpPr>
        <p:spPr>
          <a:xfrm>
            <a:off x="2898648" y="2103120"/>
            <a:ext cx="6400800" cy="3749040"/>
          </a:xfrm>
          <a:prstGeom prst="ellipse">
            <a:avLst/>
          </a:prstGeom>
          <a:ln w="12700">
            <a:solidFill>
              <a:srgbClr val="E0E0E0"/>
            </a:solidFill>
            <a:prstDash val="dash"/>
          </a:ln>
        </p:spPr>
      </p:sp>
      <p:sp>
        <p:nvSpPr>
          <p:cNvPr id="5" name="shape-66"/>
          <p:cNvSpPr/>
          <p:nvPr/>
        </p:nvSpPr>
        <p:spPr>
          <a:xfrm>
            <a:off x="4874308" y="2245809"/>
            <a:ext cx="1224740" cy="1731831"/>
          </a:xfrm>
          <a:prstGeom prst="line">
            <a:avLst/>
          </a:prstGeom>
          <a:noFill/>
          <a:ln w="19050">
            <a:solidFill>
              <a:srgbClr val="E0E0E0"/>
            </a:solidFill>
            <a:prstDash val="solid"/>
          </a:ln>
        </p:spPr>
      </p:sp>
      <p:sp>
        <p:nvSpPr>
          <p:cNvPr id="6" name="shape-67"/>
          <p:cNvSpPr/>
          <p:nvPr/>
        </p:nvSpPr>
        <p:spPr>
          <a:xfrm flipV="1">
            <a:off x="6099048" y="2245809"/>
            <a:ext cx="1224740" cy="1731831"/>
          </a:xfrm>
          <a:prstGeom prst="line">
            <a:avLst/>
          </a:prstGeom>
          <a:noFill/>
          <a:ln w="19050">
            <a:solidFill>
              <a:srgbClr val="E0E0E0"/>
            </a:solidFill>
            <a:prstDash val="solid"/>
          </a:ln>
        </p:spPr>
      </p:sp>
      <p:sp>
        <p:nvSpPr>
          <p:cNvPr id="7" name="shape-68"/>
          <p:cNvSpPr/>
          <p:nvPr/>
        </p:nvSpPr>
        <p:spPr>
          <a:xfrm flipV="1">
            <a:off x="6099048" y="3260292"/>
            <a:ext cx="2956784" cy="717348"/>
          </a:xfrm>
          <a:prstGeom prst="line">
            <a:avLst/>
          </a:prstGeom>
          <a:noFill/>
          <a:ln w="19050">
            <a:solidFill>
              <a:srgbClr val="E0E0E0"/>
            </a:solidFill>
            <a:prstDash val="solid"/>
          </a:ln>
        </p:spPr>
      </p:sp>
      <p:sp>
        <p:nvSpPr>
          <p:cNvPr id="8" name="shape-69"/>
          <p:cNvSpPr/>
          <p:nvPr/>
        </p:nvSpPr>
        <p:spPr>
          <a:xfrm>
            <a:off x="6099048" y="3977640"/>
            <a:ext cx="2956784" cy="717348"/>
          </a:xfrm>
          <a:prstGeom prst="line">
            <a:avLst/>
          </a:prstGeom>
          <a:noFill/>
          <a:ln w="19050">
            <a:solidFill>
              <a:srgbClr val="E0E0E0"/>
            </a:solidFill>
            <a:prstDash val="solid"/>
          </a:ln>
        </p:spPr>
      </p:sp>
      <p:sp>
        <p:nvSpPr>
          <p:cNvPr id="9" name="shape-70"/>
          <p:cNvSpPr/>
          <p:nvPr/>
        </p:nvSpPr>
        <p:spPr>
          <a:xfrm>
            <a:off x="6099048" y="3977640"/>
            <a:ext cx="1224740" cy="1731831"/>
          </a:xfrm>
          <a:prstGeom prst="line">
            <a:avLst/>
          </a:prstGeom>
          <a:noFill/>
          <a:ln w="19050">
            <a:solidFill>
              <a:srgbClr val="E0E0E0"/>
            </a:solidFill>
            <a:prstDash val="solid"/>
          </a:ln>
        </p:spPr>
      </p:sp>
      <p:sp>
        <p:nvSpPr>
          <p:cNvPr id="10" name="shape-71"/>
          <p:cNvSpPr/>
          <p:nvPr/>
        </p:nvSpPr>
        <p:spPr>
          <a:xfrm flipV="1">
            <a:off x="4874308" y="3977640"/>
            <a:ext cx="1224740" cy="1731831"/>
          </a:xfrm>
          <a:prstGeom prst="line">
            <a:avLst/>
          </a:prstGeom>
          <a:noFill/>
          <a:ln w="19050">
            <a:solidFill>
              <a:srgbClr val="E0E0E0"/>
            </a:solidFill>
            <a:prstDash val="solid"/>
          </a:ln>
        </p:spPr>
      </p:sp>
      <p:sp>
        <p:nvSpPr>
          <p:cNvPr id="11" name="shape-72"/>
          <p:cNvSpPr/>
          <p:nvPr/>
        </p:nvSpPr>
        <p:spPr>
          <a:xfrm flipV="1">
            <a:off x="3142264" y="3977640"/>
            <a:ext cx="2956784" cy="717348"/>
          </a:xfrm>
          <a:prstGeom prst="line">
            <a:avLst/>
          </a:prstGeom>
          <a:noFill/>
          <a:ln w="19050">
            <a:solidFill>
              <a:srgbClr val="E0E0E0"/>
            </a:solidFill>
            <a:prstDash val="solid"/>
          </a:ln>
        </p:spPr>
      </p:sp>
      <p:sp>
        <p:nvSpPr>
          <p:cNvPr id="12" name="shape-73"/>
          <p:cNvSpPr/>
          <p:nvPr/>
        </p:nvSpPr>
        <p:spPr>
          <a:xfrm>
            <a:off x="3142264" y="3260292"/>
            <a:ext cx="2956784" cy="717348"/>
          </a:xfrm>
          <a:prstGeom prst="line">
            <a:avLst/>
          </a:prstGeom>
          <a:noFill/>
          <a:ln w="19050">
            <a:solidFill>
              <a:srgbClr val="E0E0E0"/>
            </a:solidFill>
            <a:prstDash val="solid"/>
          </a:ln>
        </p:spPr>
      </p:sp>
      <p:sp>
        <p:nvSpPr>
          <p:cNvPr id="13" name="shape-74"/>
          <p:cNvSpPr/>
          <p:nvPr/>
        </p:nvSpPr>
        <p:spPr>
          <a:xfrm>
            <a:off x="5207508" y="3086100"/>
            <a:ext cx="1783080" cy="1783080"/>
          </a:xfrm>
          <a:prstGeom prst="ellipse">
            <a:avLst/>
          </a:prstGeom>
          <a:solidFill>
            <a:srgbClr val="000000"/>
          </a:solidFill>
          <a:ln w="12700">
            <a:solidFill>
              <a:srgbClr val="000000"/>
            </a:solidFill>
            <a:prstDash val="solid"/>
          </a:ln>
        </p:spPr>
      </p:sp>
      <p:sp>
        <p:nvSpPr>
          <p:cNvPr id="14" name="text-75"/>
          <p:cNvSpPr txBox="1"/>
          <p:nvPr/>
        </p:nvSpPr>
        <p:spPr>
          <a:xfrm>
            <a:off x="5276088" y="3520440"/>
            <a:ext cx="1645920" cy="91440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Workspace</a:t>
            </a:r>
            <a:endParaRPr lang="en-US" sz="1700" dirty="0"/>
          </a:p>
          <a:p>
            <a:pPr algn="ctr" indent="0" marL="0">
              <a:buNone/>
            </a:pPr>
            <a:r>
              <a:rPr lang="en-US" sz="1050" dirty="0">
                <a:solidFill>
                  <a:srgbClr val="A0A0A0"/>
                </a:solidFill>
                <a:latin typeface="Arial" pitchFamily="34" charset="0"/>
                <a:ea typeface="Arial" pitchFamily="34" charset="-122"/>
                <a:cs typeface="Arial" pitchFamily="34" charset="-120"/>
              </a:rPr>
              <a:t>CDRs · maps · inventories</a:t>
            </a:r>
            <a:endParaRPr lang="en-US" sz="1700" dirty="0"/>
          </a:p>
        </p:txBody>
      </p:sp>
      <p:sp>
        <p:nvSpPr>
          <p:cNvPr id="15" name="shape-76"/>
          <p:cNvSpPr/>
          <p:nvPr/>
        </p:nvSpPr>
        <p:spPr>
          <a:xfrm>
            <a:off x="4462828" y="1834329"/>
            <a:ext cx="822960" cy="822960"/>
          </a:xfrm>
          <a:prstGeom prst="ellipse">
            <a:avLst/>
          </a:prstGeom>
          <a:solidFill>
            <a:srgbClr val="4D4D4D"/>
          </a:solidFill>
          <a:ln w="12700">
            <a:solidFill>
              <a:srgbClr val="4D4D4D"/>
            </a:solidFill>
            <a:prstDash val="solid"/>
          </a:ln>
        </p:spPr>
      </p:sp>
      <p:pic>
        <p:nvPicPr>
          <p:cNvPr id="16" name="icon-77" descr="preencoded.png">    </p:cNvPr>
          <p:cNvPicPr>
            <a:picLocks noChangeAspect="1"/>
          </p:cNvPicPr>
          <p:nvPr/>
        </p:nvPicPr>
        <p:blipFill>
          <a:blip r:embed="rId1"/>
          <a:stretch>
            <a:fillRect/>
          </a:stretch>
        </p:blipFill>
        <p:spPr>
          <a:xfrm>
            <a:off x="4643879" y="2015381"/>
            <a:ext cx="460858" cy="460858"/>
          </a:xfrm>
          <a:prstGeom prst="rect">
            <a:avLst/>
          </a:prstGeom>
        </p:spPr>
      </p:pic>
      <p:sp>
        <p:nvSpPr>
          <p:cNvPr id="17" name="text-78"/>
          <p:cNvSpPr txBox="1"/>
          <p:nvPr/>
        </p:nvSpPr>
        <p:spPr>
          <a:xfrm>
            <a:off x="2313988" y="1880049"/>
            <a:ext cx="2057400" cy="731520"/>
          </a:xfrm>
          <a:prstGeom prst="rect">
            <a:avLst/>
          </a:prstGeom>
          <a:noFill/>
          <a:ln/>
        </p:spPr>
        <p:txBody>
          <a:bodyPr wrap="square" lIns="0" tIns="0" rIns="0" bIns="0" rtlCol="0" anchor="ctr"/>
          <a:lstStyle/>
          <a:p>
            <a:pPr algn="r" indent="0" marL="0">
              <a:buNone/>
            </a:pPr>
            <a:r>
              <a:rPr lang="en-US" sz="1350" b="1" dirty="0">
                <a:solidFill>
                  <a:srgbClr val="242424"/>
                </a:solidFill>
                <a:latin typeface="Arial" pitchFamily="34" charset="0"/>
                <a:ea typeface="Arial" pitchFamily="34" charset="-122"/>
                <a:cs typeface="Arial" pitchFamily="34" charset="-120"/>
              </a:rPr>
              <a:t>CDR Analysis</a:t>
            </a:r>
            <a:endParaRPr lang="en-US" sz="1350" dirty="0"/>
          </a:p>
          <a:p>
            <a:pPr algn="r" indent="0" marL="0">
              <a:buNone/>
            </a:pPr>
            <a:r>
              <a:rPr lang="en-US" sz="1100" dirty="0">
                <a:solidFill>
                  <a:srgbClr val="767676"/>
                </a:solidFill>
                <a:latin typeface="Arial" pitchFamily="34" charset="0"/>
                <a:ea typeface="Arial" pitchFamily="34" charset="-122"/>
                <a:cs typeface="Arial" pitchFamily="34" charset="-120"/>
              </a:rPr>
              <a:t>Deep dive into one CDR</a:t>
            </a:r>
            <a:endParaRPr lang="en-US" sz="1350" dirty="0"/>
          </a:p>
        </p:txBody>
      </p:sp>
      <p:sp>
        <p:nvSpPr>
          <p:cNvPr id="18" name="shape-79"/>
          <p:cNvSpPr/>
          <p:nvPr/>
        </p:nvSpPr>
        <p:spPr>
          <a:xfrm>
            <a:off x="6912308" y="1834329"/>
            <a:ext cx="822960" cy="822960"/>
          </a:xfrm>
          <a:prstGeom prst="ellipse">
            <a:avLst/>
          </a:prstGeom>
          <a:solidFill>
            <a:srgbClr val="E07800"/>
          </a:solidFill>
          <a:ln w="12700">
            <a:solidFill>
              <a:srgbClr val="E07800"/>
            </a:solidFill>
            <a:prstDash val="solid"/>
          </a:ln>
        </p:spPr>
      </p:sp>
      <p:pic>
        <p:nvPicPr>
          <p:cNvPr id="19" name="icon-80" descr="preencoded.png">    </p:cNvPr>
          <p:cNvPicPr>
            <a:picLocks noChangeAspect="1"/>
          </p:cNvPicPr>
          <p:nvPr/>
        </p:nvPicPr>
        <p:blipFill>
          <a:blip r:embed="rId2"/>
          <a:stretch>
            <a:fillRect/>
          </a:stretch>
        </p:blipFill>
        <p:spPr>
          <a:xfrm>
            <a:off x="7093359" y="2015381"/>
            <a:ext cx="460858" cy="460858"/>
          </a:xfrm>
          <a:prstGeom prst="rect">
            <a:avLst/>
          </a:prstGeom>
        </p:spPr>
      </p:pic>
      <p:sp>
        <p:nvSpPr>
          <p:cNvPr id="20" name="text-81"/>
          <p:cNvSpPr txBox="1"/>
          <p:nvPr/>
        </p:nvSpPr>
        <p:spPr>
          <a:xfrm>
            <a:off x="7826708" y="1880049"/>
            <a:ext cx="2057400" cy="731520"/>
          </a:xfrm>
          <a:prstGeom prst="rect">
            <a:avLst/>
          </a:prstGeom>
          <a:noFill/>
          <a:ln/>
        </p:spPr>
        <p:txBody>
          <a:bodyPr wrap="square" lIns="0" tIns="0" rIns="0" bIns="0" rtlCol="0" anchor="ctr"/>
          <a:lstStyle/>
          <a:p>
            <a:pPr algn="l" indent="0" marL="0">
              <a:buNone/>
            </a:pPr>
            <a:r>
              <a:rPr lang="en-US" sz="1350" b="1" dirty="0">
                <a:solidFill>
                  <a:srgbClr val="242424"/>
                </a:solidFill>
                <a:latin typeface="Arial" pitchFamily="34" charset="0"/>
                <a:ea typeface="Arial" pitchFamily="34" charset="-122"/>
                <a:cs typeface="Arial" pitchFamily="34" charset="-120"/>
              </a:rPr>
              <a:t>PPT Dashboards</a:t>
            </a:r>
            <a:endParaRPr lang="en-US" sz="1350" dirty="0"/>
          </a:p>
          <a:p>
            <a:pPr algn="l" indent="0" marL="0">
              <a:buNone/>
            </a:pPr>
            <a:r>
              <a:rPr lang="en-US" sz="1100" dirty="0">
                <a:solidFill>
                  <a:srgbClr val="767676"/>
                </a:solidFill>
                <a:latin typeface="Arial" pitchFamily="34" charset="0"/>
                <a:ea typeface="Arial" pitchFamily="34" charset="-122"/>
                <a:cs typeface="Arial" pitchFamily="34" charset="-120"/>
              </a:rPr>
              <a:t>Template-driven KPI decks</a:t>
            </a:r>
            <a:endParaRPr lang="en-US" sz="1350" dirty="0"/>
          </a:p>
        </p:txBody>
      </p:sp>
      <p:sp>
        <p:nvSpPr>
          <p:cNvPr id="21" name="shape-82"/>
          <p:cNvSpPr/>
          <p:nvPr/>
        </p:nvSpPr>
        <p:spPr>
          <a:xfrm>
            <a:off x="8644352" y="2848812"/>
            <a:ext cx="822960" cy="822960"/>
          </a:xfrm>
          <a:prstGeom prst="ellipse">
            <a:avLst/>
          </a:prstGeom>
          <a:solidFill>
            <a:srgbClr val="0068BF"/>
          </a:solidFill>
          <a:ln w="12700">
            <a:solidFill>
              <a:srgbClr val="0068BF"/>
            </a:solidFill>
            <a:prstDash val="solid"/>
          </a:ln>
        </p:spPr>
      </p:sp>
      <p:pic>
        <p:nvPicPr>
          <p:cNvPr id="22" name="icon-83" descr="preencoded.png">    </p:cNvPr>
          <p:cNvPicPr>
            <a:picLocks noChangeAspect="1"/>
          </p:cNvPicPr>
          <p:nvPr/>
        </p:nvPicPr>
        <p:blipFill>
          <a:blip r:embed="rId3"/>
          <a:stretch>
            <a:fillRect/>
          </a:stretch>
        </p:blipFill>
        <p:spPr>
          <a:xfrm>
            <a:off x="8825403" y="3029863"/>
            <a:ext cx="460858" cy="460858"/>
          </a:xfrm>
          <a:prstGeom prst="rect">
            <a:avLst/>
          </a:prstGeom>
        </p:spPr>
      </p:pic>
      <p:sp>
        <p:nvSpPr>
          <p:cNvPr id="23" name="text-84"/>
          <p:cNvSpPr txBox="1"/>
          <p:nvPr/>
        </p:nvSpPr>
        <p:spPr>
          <a:xfrm>
            <a:off x="9558752" y="2894532"/>
            <a:ext cx="2057400" cy="731520"/>
          </a:xfrm>
          <a:prstGeom prst="rect">
            <a:avLst/>
          </a:prstGeom>
          <a:noFill/>
          <a:ln/>
        </p:spPr>
        <p:txBody>
          <a:bodyPr wrap="square" lIns="0" tIns="0" rIns="0" bIns="0" rtlCol="0" anchor="ctr"/>
          <a:lstStyle/>
          <a:p>
            <a:pPr algn="l" indent="0" marL="0">
              <a:buNone/>
            </a:pPr>
            <a:r>
              <a:rPr lang="en-US" sz="1350" b="1" dirty="0">
                <a:solidFill>
                  <a:srgbClr val="242424"/>
                </a:solidFill>
                <a:latin typeface="Arial" pitchFamily="34" charset="0"/>
                <a:ea typeface="Arial" pitchFamily="34" charset="-122"/>
                <a:cs typeface="Arial" pitchFamily="34" charset="-120"/>
              </a:rPr>
              <a:t>Scoring &amp; GAP</a:t>
            </a:r>
            <a:endParaRPr lang="en-US" sz="1350" dirty="0"/>
          </a:p>
          <a:p>
            <a:pPr algn="l" indent="0" marL="0">
              <a:buNone/>
            </a:pPr>
            <a:r>
              <a:rPr lang="en-US" sz="1100" dirty="0">
                <a:solidFill>
                  <a:srgbClr val="767676"/>
                </a:solidFill>
                <a:latin typeface="Arial" pitchFamily="34" charset="0"/>
                <a:ea typeface="Arial" pitchFamily="34" charset="-122"/>
                <a:cs typeface="Arial" pitchFamily="34" charset="-120"/>
              </a:rPr>
              <a:t>Scores &amp; GAP to reference</a:t>
            </a:r>
            <a:endParaRPr lang="en-US" sz="1350" dirty="0"/>
          </a:p>
        </p:txBody>
      </p:sp>
      <p:sp>
        <p:nvSpPr>
          <p:cNvPr id="24" name="shape-85"/>
          <p:cNvSpPr/>
          <p:nvPr/>
        </p:nvSpPr>
        <p:spPr>
          <a:xfrm>
            <a:off x="8644352" y="4283508"/>
            <a:ext cx="822960" cy="822960"/>
          </a:xfrm>
          <a:prstGeom prst="ellipse">
            <a:avLst/>
          </a:prstGeom>
          <a:solidFill>
            <a:srgbClr val="0C9B5B"/>
          </a:solidFill>
          <a:ln w="12700">
            <a:solidFill>
              <a:srgbClr val="0C9B5B"/>
            </a:solidFill>
            <a:prstDash val="solid"/>
          </a:ln>
        </p:spPr>
      </p:sp>
      <p:pic>
        <p:nvPicPr>
          <p:cNvPr id="25" name="icon-86" descr="preencoded.png">    </p:cNvPr>
          <p:cNvPicPr>
            <a:picLocks noChangeAspect="1"/>
          </p:cNvPicPr>
          <p:nvPr/>
        </p:nvPicPr>
        <p:blipFill>
          <a:blip r:embed="rId4"/>
          <a:stretch>
            <a:fillRect/>
          </a:stretch>
        </p:blipFill>
        <p:spPr>
          <a:xfrm>
            <a:off x="8825403" y="4464559"/>
            <a:ext cx="460858" cy="460858"/>
          </a:xfrm>
          <a:prstGeom prst="rect">
            <a:avLst/>
          </a:prstGeom>
        </p:spPr>
      </p:pic>
      <p:sp>
        <p:nvSpPr>
          <p:cNvPr id="26" name="text-87"/>
          <p:cNvSpPr txBox="1"/>
          <p:nvPr/>
        </p:nvSpPr>
        <p:spPr>
          <a:xfrm>
            <a:off x="9558752" y="4329228"/>
            <a:ext cx="2057400" cy="731520"/>
          </a:xfrm>
          <a:prstGeom prst="rect">
            <a:avLst/>
          </a:prstGeom>
          <a:noFill/>
          <a:ln/>
        </p:spPr>
        <p:txBody>
          <a:bodyPr wrap="square" lIns="0" tIns="0" rIns="0" bIns="0" rtlCol="0" anchor="ctr"/>
          <a:lstStyle/>
          <a:p>
            <a:pPr algn="l" indent="0" marL="0">
              <a:buNone/>
            </a:pPr>
            <a:r>
              <a:rPr lang="en-US" sz="1350" b="1" dirty="0">
                <a:solidFill>
                  <a:srgbClr val="242424"/>
                </a:solidFill>
                <a:latin typeface="Arial" pitchFamily="34" charset="0"/>
                <a:ea typeface="Arial" pitchFamily="34" charset="-122"/>
                <a:cs typeface="Arial" pitchFamily="34" charset="-120"/>
              </a:rPr>
              <a:t>Network Insights</a:t>
            </a:r>
            <a:endParaRPr lang="en-US" sz="1350" dirty="0"/>
          </a:p>
          <a:p>
            <a:pPr algn="l" indent="0" marL="0">
              <a:buNone/>
            </a:pPr>
            <a:r>
              <a:rPr lang="en-US" sz="1100" dirty="0">
                <a:solidFill>
                  <a:srgbClr val="767676"/>
                </a:solidFill>
                <a:latin typeface="Arial" pitchFamily="34" charset="0"/>
                <a:ea typeface="Arial" pitchFamily="34" charset="-122"/>
                <a:cs typeface="Arial" pitchFamily="34" charset="-120"/>
              </a:rPr>
              <a:t>Coverage, cells &amp; spectrum</a:t>
            </a:r>
            <a:endParaRPr lang="en-US" sz="1350" dirty="0"/>
          </a:p>
        </p:txBody>
      </p:sp>
      <p:sp>
        <p:nvSpPr>
          <p:cNvPr id="27" name="shape-88"/>
          <p:cNvSpPr/>
          <p:nvPr/>
        </p:nvSpPr>
        <p:spPr>
          <a:xfrm>
            <a:off x="6912308" y="5297991"/>
            <a:ext cx="822960" cy="822960"/>
          </a:xfrm>
          <a:prstGeom prst="ellipse">
            <a:avLst/>
          </a:prstGeom>
          <a:solidFill>
            <a:srgbClr val="D92B2B"/>
          </a:solidFill>
          <a:ln w="12700">
            <a:solidFill>
              <a:srgbClr val="D92B2B"/>
            </a:solidFill>
            <a:prstDash val="solid"/>
          </a:ln>
        </p:spPr>
      </p:sp>
      <p:pic>
        <p:nvPicPr>
          <p:cNvPr id="28" name="icon-89" descr="preencoded.png">    </p:cNvPr>
          <p:cNvPicPr>
            <a:picLocks noChangeAspect="1"/>
          </p:cNvPicPr>
          <p:nvPr/>
        </p:nvPicPr>
        <p:blipFill>
          <a:blip r:embed="rId5"/>
          <a:stretch>
            <a:fillRect/>
          </a:stretch>
        </p:blipFill>
        <p:spPr>
          <a:xfrm>
            <a:off x="7093359" y="5479042"/>
            <a:ext cx="460858" cy="460858"/>
          </a:xfrm>
          <a:prstGeom prst="rect">
            <a:avLst/>
          </a:prstGeom>
        </p:spPr>
      </p:pic>
      <p:sp>
        <p:nvSpPr>
          <p:cNvPr id="29" name="text-90"/>
          <p:cNvSpPr txBox="1"/>
          <p:nvPr/>
        </p:nvSpPr>
        <p:spPr>
          <a:xfrm>
            <a:off x="7826708" y="5343711"/>
            <a:ext cx="2057400" cy="731520"/>
          </a:xfrm>
          <a:prstGeom prst="rect">
            <a:avLst/>
          </a:prstGeom>
          <a:noFill/>
          <a:ln/>
        </p:spPr>
        <p:txBody>
          <a:bodyPr wrap="square" lIns="0" tIns="0" rIns="0" bIns="0" rtlCol="0" anchor="ctr"/>
          <a:lstStyle/>
          <a:p>
            <a:pPr algn="l" indent="0" marL="0">
              <a:buNone/>
            </a:pPr>
            <a:r>
              <a:rPr lang="en-US" sz="1350" b="1" dirty="0">
                <a:solidFill>
                  <a:srgbClr val="242424"/>
                </a:solidFill>
                <a:latin typeface="Arial" pitchFamily="34" charset="0"/>
                <a:ea typeface="Arial" pitchFamily="34" charset="-122"/>
                <a:cs typeface="Arial" pitchFamily="34" charset="-120"/>
              </a:rPr>
              <a:t>Non-Qualified Calls</a:t>
            </a:r>
            <a:endParaRPr lang="en-US" sz="1350" dirty="0"/>
          </a:p>
          <a:p>
            <a:pPr algn="l" indent="0" marL="0">
              <a:buNone/>
            </a:pPr>
            <a:r>
              <a:rPr lang="en-US" sz="1100" dirty="0">
                <a:solidFill>
                  <a:srgbClr val="767676"/>
                </a:solidFill>
                <a:latin typeface="Arial" pitchFamily="34" charset="0"/>
                <a:ea typeface="Arial" pitchFamily="34" charset="-122"/>
                <a:cs typeface="Arial" pitchFamily="34" charset="-120"/>
              </a:rPr>
              <a:t>Root cause &amp; follow-up</a:t>
            </a:r>
            <a:endParaRPr lang="en-US" sz="1350" dirty="0"/>
          </a:p>
        </p:txBody>
      </p:sp>
      <p:sp>
        <p:nvSpPr>
          <p:cNvPr id="30" name="shape-91"/>
          <p:cNvSpPr/>
          <p:nvPr/>
        </p:nvSpPr>
        <p:spPr>
          <a:xfrm>
            <a:off x="4462828" y="5297991"/>
            <a:ext cx="822960" cy="822960"/>
          </a:xfrm>
          <a:prstGeom prst="ellipse">
            <a:avLst/>
          </a:prstGeom>
          <a:solidFill>
            <a:srgbClr val="8C60A8"/>
          </a:solidFill>
          <a:ln w="12700">
            <a:solidFill>
              <a:srgbClr val="8C60A8"/>
            </a:solidFill>
            <a:prstDash val="solid"/>
          </a:ln>
        </p:spPr>
      </p:sp>
      <p:pic>
        <p:nvPicPr>
          <p:cNvPr id="31" name="icon-92" descr="preencoded.png">    </p:cNvPr>
          <p:cNvPicPr>
            <a:picLocks noChangeAspect="1"/>
          </p:cNvPicPr>
          <p:nvPr/>
        </p:nvPicPr>
        <p:blipFill>
          <a:blip r:embed="rId6"/>
          <a:stretch>
            <a:fillRect/>
          </a:stretch>
        </p:blipFill>
        <p:spPr>
          <a:xfrm>
            <a:off x="4643879" y="5479042"/>
            <a:ext cx="460858" cy="460858"/>
          </a:xfrm>
          <a:prstGeom prst="rect">
            <a:avLst/>
          </a:prstGeom>
        </p:spPr>
      </p:pic>
      <p:sp>
        <p:nvSpPr>
          <p:cNvPr id="32" name="text-93"/>
          <p:cNvSpPr txBox="1"/>
          <p:nvPr/>
        </p:nvSpPr>
        <p:spPr>
          <a:xfrm>
            <a:off x="2313988" y="5343711"/>
            <a:ext cx="2057400" cy="731520"/>
          </a:xfrm>
          <a:prstGeom prst="rect">
            <a:avLst/>
          </a:prstGeom>
          <a:noFill/>
          <a:ln/>
        </p:spPr>
        <p:txBody>
          <a:bodyPr wrap="square" lIns="0" tIns="0" rIns="0" bIns="0" rtlCol="0" anchor="ctr"/>
          <a:lstStyle/>
          <a:p>
            <a:pPr algn="r" indent="0" marL="0">
              <a:buNone/>
            </a:pPr>
            <a:r>
              <a:rPr lang="en-US" sz="1350" b="1" dirty="0">
                <a:solidFill>
                  <a:srgbClr val="242424"/>
                </a:solidFill>
                <a:latin typeface="Arial" pitchFamily="34" charset="0"/>
                <a:ea typeface="Arial" pitchFamily="34" charset="-122"/>
                <a:cs typeface="Arial" pitchFamily="34" charset="-120"/>
              </a:rPr>
              <a:t>Reporting</a:t>
            </a:r>
            <a:endParaRPr lang="en-US" sz="1350" dirty="0"/>
          </a:p>
          <a:p>
            <a:pPr algn="r" indent="0" marL="0">
              <a:buNone/>
            </a:pPr>
            <a:r>
              <a:rPr lang="en-US" sz="1100" dirty="0">
                <a:solidFill>
                  <a:srgbClr val="767676"/>
                </a:solidFill>
                <a:latin typeface="Arial" pitchFamily="34" charset="0"/>
                <a:ea typeface="Arial" pitchFamily="34" charset="-122"/>
                <a:cs typeface="Arial" pitchFamily="34" charset="-120"/>
              </a:rPr>
              <a:t>Bundle reports, scheduled</a:t>
            </a:r>
            <a:endParaRPr lang="en-US" sz="1350" dirty="0"/>
          </a:p>
        </p:txBody>
      </p:sp>
      <p:sp>
        <p:nvSpPr>
          <p:cNvPr id="33" name="shape-94"/>
          <p:cNvSpPr/>
          <p:nvPr/>
        </p:nvSpPr>
        <p:spPr>
          <a:xfrm>
            <a:off x="2730784" y="4283508"/>
            <a:ext cx="822960" cy="822960"/>
          </a:xfrm>
          <a:prstGeom prst="ellipse">
            <a:avLst/>
          </a:prstGeom>
          <a:solidFill>
            <a:srgbClr val="0082F0"/>
          </a:solidFill>
          <a:ln w="12700">
            <a:solidFill>
              <a:srgbClr val="0082F0"/>
            </a:solidFill>
            <a:prstDash val="solid"/>
          </a:ln>
        </p:spPr>
      </p:sp>
      <p:pic>
        <p:nvPicPr>
          <p:cNvPr id="34" name="icon-95" descr="preencoded.png">    </p:cNvPr>
          <p:cNvPicPr>
            <a:picLocks noChangeAspect="1"/>
          </p:cNvPicPr>
          <p:nvPr/>
        </p:nvPicPr>
        <p:blipFill>
          <a:blip r:embed="rId7"/>
          <a:stretch>
            <a:fillRect/>
          </a:stretch>
        </p:blipFill>
        <p:spPr>
          <a:xfrm>
            <a:off x="2911835" y="4464559"/>
            <a:ext cx="460858" cy="460858"/>
          </a:xfrm>
          <a:prstGeom prst="rect">
            <a:avLst/>
          </a:prstGeom>
        </p:spPr>
      </p:pic>
      <p:sp>
        <p:nvSpPr>
          <p:cNvPr id="35" name="text-96"/>
          <p:cNvSpPr txBox="1"/>
          <p:nvPr/>
        </p:nvSpPr>
        <p:spPr>
          <a:xfrm>
            <a:off x="581944" y="4329228"/>
            <a:ext cx="2057400" cy="731520"/>
          </a:xfrm>
          <a:prstGeom prst="rect">
            <a:avLst/>
          </a:prstGeom>
          <a:noFill/>
          <a:ln/>
        </p:spPr>
        <p:txBody>
          <a:bodyPr wrap="square" lIns="0" tIns="0" rIns="0" bIns="0" rtlCol="0" anchor="ctr"/>
          <a:lstStyle/>
          <a:p>
            <a:pPr algn="r" indent="0" marL="0">
              <a:buNone/>
            </a:pPr>
            <a:r>
              <a:rPr lang="en-US" sz="1350" b="1" dirty="0">
                <a:solidFill>
                  <a:srgbClr val="242424"/>
                </a:solidFill>
                <a:latin typeface="Arial" pitchFamily="34" charset="0"/>
                <a:ea typeface="Arial" pitchFamily="34" charset="-122"/>
                <a:cs typeface="Arial" pitchFamily="34" charset="-120"/>
              </a:rPr>
              <a:t>Builders</a:t>
            </a:r>
            <a:endParaRPr lang="en-US" sz="1350" dirty="0"/>
          </a:p>
          <a:p>
            <a:pPr algn="r" indent="0" marL="0">
              <a:buNone/>
            </a:pPr>
            <a:r>
              <a:rPr lang="en-US" sz="1100" dirty="0">
                <a:solidFill>
                  <a:srgbClr val="767676"/>
                </a:solidFill>
                <a:latin typeface="Arial" pitchFamily="34" charset="0"/>
                <a:ea typeface="Arial" pitchFamily="34" charset="-122"/>
                <a:cs typeface="Arial" pitchFamily="34" charset="-120"/>
              </a:rPr>
              <a:t>Ad-hoc charts &amp; SQL</a:t>
            </a:r>
            <a:endParaRPr lang="en-US" sz="1350" dirty="0"/>
          </a:p>
        </p:txBody>
      </p:sp>
      <p:sp>
        <p:nvSpPr>
          <p:cNvPr id="36" name="shape-97"/>
          <p:cNvSpPr/>
          <p:nvPr/>
        </p:nvSpPr>
        <p:spPr>
          <a:xfrm>
            <a:off x="2730784" y="2848812"/>
            <a:ext cx="822960" cy="822960"/>
          </a:xfrm>
          <a:prstGeom prst="ellipse">
            <a:avLst/>
          </a:prstGeom>
          <a:solidFill>
            <a:srgbClr val="FAD22D"/>
          </a:solidFill>
          <a:ln w="12700">
            <a:solidFill>
              <a:srgbClr val="FAD22D"/>
            </a:solidFill>
            <a:prstDash val="solid"/>
          </a:ln>
        </p:spPr>
      </p:sp>
      <p:pic>
        <p:nvPicPr>
          <p:cNvPr id="37" name="icon-98" descr="preencoded.png">    </p:cNvPr>
          <p:cNvPicPr>
            <a:picLocks noChangeAspect="1"/>
          </p:cNvPicPr>
          <p:nvPr/>
        </p:nvPicPr>
        <p:blipFill>
          <a:blip r:embed="rId8"/>
          <a:stretch>
            <a:fillRect/>
          </a:stretch>
        </p:blipFill>
        <p:spPr>
          <a:xfrm>
            <a:off x="2911835" y="3029863"/>
            <a:ext cx="460858" cy="460858"/>
          </a:xfrm>
          <a:prstGeom prst="rect">
            <a:avLst/>
          </a:prstGeom>
        </p:spPr>
      </p:pic>
      <p:sp>
        <p:nvSpPr>
          <p:cNvPr id="38" name="text-99"/>
          <p:cNvSpPr txBox="1"/>
          <p:nvPr/>
        </p:nvSpPr>
        <p:spPr>
          <a:xfrm>
            <a:off x="581944" y="2894532"/>
            <a:ext cx="2057400" cy="731520"/>
          </a:xfrm>
          <a:prstGeom prst="rect">
            <a:avLst/>
          </a:prstGeom>
          <a:noFill/>
          <a:ln/>
        </p:spPr>
        <p:txBody>
          <a:bodyPr wrap="square" lIns="0" tIns="0" rIns="0" bIns="0" rtlCol="0" anchor="ctr"/>
          <a:lstStyle/>
          <a:p>
            <a:pPr algn="r" indent="0" marL="0">
              <a:buNone/>
            </a:pPr>
            <a:r>
              <a:rPr lang="en-US" sz="1350" b="1" dirty="0">
                <a:solidFill>
                  <a:srgbClr val="242424"/>
                </a:solidFill>
                <a:latin typeface="Arial" pitchFamily="34" charset="0"/>
                <a:ea typeface="Arial" pitchFamily="34" charset="-122"/>
                <a:cs typeface="Arial" pitchFamily="34" charset="-120"/>
              </a:rPr>
              <a:t>Ticket Center</a:t>
            </a:r>
            <a:endParaRPr lang="en-US" sz="1350" dirty="0"/>
          </a:p>
          <a:p>
            <a:pPr algn="r" indent="0" marL="0">
              <a:buNone/>
            </a:pPr>
            <a:r>
              <a:rPr lang="en-US" sz="1100" dirty="0">
                <a:solidFill>
                  <a:srgbClr val="767676"/>
                </a:solidFill>
                <a:latin typeface="Arial" pitchFamily="34" charset="0"/>
                <a:ea typeface="Arial" pitchFamily="34" charset="-122"/>
                <a:cs typeface="Arial" pitchFamily="34" charset="-120"/>
              </a:rPr>
              <a:t>Bugs &amp; requests, tracked</a:t>
            </a:r>
            <a:endParaRPr lang="en-US" sz="1350" dirty="0"/>
          </a:p>
        </p:txBody>
      </p:sp>
      <p:sp>
        <p:nvSpPr>
          <p:cNvPr id="25" name="Slide Number Placeholder 0"/>
          <p:cNvSpPr>
            <a:spLocks noGrp="1"/>
          </p:cNvSpPr>
          <p:nvPr>
            <p:ph type="sldNum" sz="quarter" idx="4294967295"/>
          </p:nvPr>
        </p:nvSpPr>
        <p:spPr>
          <a:xfrm>
            <a:off x="548640" y="640080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67676"/>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0424160" cy="658368"/>
          </a:xfrm>
          <a:prstGeom prst="rect">
            <a:avLst/>
          </a:prstGeom>
          <a:noFill/>
          <a:ln/>
        </p:spPr>
        <p:txBody>
          <a:bodyPr wrap="square" lIns="0" tIns="0" rIns="0" bIns="0" rtlCol="0" anchor="ctr"/>
          <a:lstStyle/>
          <a:p>
            <a:pPr algn="l" indent="0" marL="0">
              <a:buNone/>
            </a:pPr>
            <a:r>
              <a:rPr lang="en-US" sz="3000" dirty="0">
                <a:solidFill>
                  <a:srgbClr val="000000"/>
                </a:solidFill>
                <a:latin typeface="Arial" pitchFamily="34" charset="0"/>
                <a:ea typeface="Arial" pitchFamily="34" charset="-122"/>
                <a:cs typeface="Arial" pitchFamily="34" charset="-120"/>
              </a:rPr>
              <a:t>CDR Analysis — </a:t>
            </a:r>
            <a:pPr algn="l" indent="0" marL="0">
              <a:buNone/>
            </a:pPr>
            <a:r>
              <a:rPr lang="en-US" sz="3000" b="1" dirty="0">
                <a:solidFill>
                  <a:srgbClr val="0068BF"/>
                </a:solidFill>
                <a:latin typeface="Arial" pitchFamily="34" charset="0"/>
                <a:ea typeface="Arial" pitchFamily="34" charset="-122"/>
                <a:cs typeface="Arial" pitchFamily="34" charset="-120"/>
              </a:rPr>
              <a:t>every KPI of one CDR, in depth</a:t>
            </a:r>
            <a:endParaRPr lang="en-US" sz="3000" dirty="0"/>
          </a:p>
        </p:txBody>
      </p:sp>
      <p:sp>
        <p:nvSpPr>
          <p:cNvPr id="3" name="text-100"/>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dirty="0">
                <a:solidFill>
                  <a:srgbClr val="767676"/>
                </a:solidFill>
                <a:latin typeface="Arial" pitchFamily="34" charset="0"/>
                <a:ea typeface="Arial" pitchFamily="34" charset="-122"/>
                <a:cs typeface="Arial" pitchFamily="34" charset="-120"/>
              </a:rPr>
              <a:t>On-demand KPI analysis of one processed Data, Voice or Speech CDR, exported to PowerPoint and Word</a:t>
            </a:r>
            <a:endParaRPr lang="en-US" sz="1500" dirty="0"/>
          </a:p>
        </p:txBody>
      </p:sp>
      <p:sp>
        <p:nvSpPr>
          <p:cNvPr id="4" name="shape-101"/>
          <p:cNvSpPr/>
          <p:nvPr/>
        </p:nvSpPr>
        <p:spPr>
          <a:xfrm>
            <a:off x="548640" y="1645920"/>
            <a:ext cx="6035040" cy="4526280"/>
          </a:xfrm>
          <a:prstGeom prst="roundRect">
            <a:avLst>
              <a:gd name="adj" fmla="val 2424"/>
            </a:avLst>
          </a:prstGeom>
          <a:solidFill>
            <a:srgbClr val="FFFFFF"/>
          </a:solidFill>
          <a:ln w="12700">
            <a:solidFill>
              <a:srgbClr val="E0E0E0"/>
            </a:solidFill>
            <a:prstDash val="solid"/>
          </a:ln>
        </p:spPr>
      </p:sp>
      <p:sp>
        <p:nvSpPr>
          <p:cNvPr id="5" name="text-102"/>
          <p:cNvSpPr txBox="1"/>
          <p:nvPr/>
        </p:nvSpPr>
        <p:spPr>
          <a:xfrm>
            <a:off x="777240" y="1755648"/>
            <a:ext cx="5577840" cy="274320"/>
          </a:xfrm>
          <a:prstGeom prst="rect">
            <a:avLst/>
          </a:prstGeom>
          <a:noFill/>
          <a:ln/>
        </p:spPr>
        <p:txBody>
          <a:bodyPr wrap="square" lIns="0" tIns="0" rIns="0" bIns="0" rtlCol="0" anchor="ctr"/>
          <a:lstStyle/>
          <a:p>
            <a:pPr algn="ctr" indent="0" marL="0">
              <a:buNone/>
            </a:pPr>
            <a:r>
              <a:rPr lang="en-US" sz="1300" dirty="0">
                <a:solidFill>
                  <a:srgbClr val="767676"/>
                </a:solidFill>
                <a:latin typeface="Arial" pitchFamily="34" charset="0"/>
                <a:ea typeface="Arial" pitchFamily="34" charset="-122"/>
                <a:cs typeface="Arial" pitchFamily="34" charset="-120"/>
              </a:rPr>
              <a:t>Global CDF comparison · DL throughput (Mbps)</a:t>
            </a:r>
            <a:endParaRPr lang="en-US" sz="1300" dirty="0"/>
          </a:p>
        </p:txBody>
      </p:sp>
      <p:pic>
        <p:nvPicPr>
          <p:cNvPr id="6" name="CDF curves" descr="/var/folders/pl/_b6qn8zs2_lc59t589_46cyc0000gn/T/drivetest-presentations-rNxAPW/cdf-curves.png">    </p:cNvPr>
          <p:cNvPicPr>
            <a:picLocks noChangeAspect="1"/>
          </p:cNvPicPr>
          <p:nvPr/>
        </p:nvPicPr>
        <p:blipFill>
          <a:blip r:embed="rId1"/>
          <a:stretch>
            <a:fillRect/>
          </a:stretch>
        </p:blipFill>
        <p:spPr>
          <a:xfrm>
            <a:off x="1234440" y="2176272"/>
            <a:ext cx="5074920" cy="3218688"/>
          </a:xfrm>
          <a:prstGeom prst="rect">
            <a:avLst/>
          </a:prstGeom>
        </p:spPr>
      </p:pic>
      <p:sp>
        <p:nvSpPr>
          <p:cNvPr id="7" name="text-103"/>
          <p:cNvSpPr txBox="1"/>
          <p:nvPr/>
        </p:nvSpPr>
        <p:spPr>
          <a:xfrm>
            <a:off x="713232" y="5294376"/>
            <a:ext cx="457200" cy="201168"/>
          </a:xfrm>
          <a:prstGeom prst="rect">
            <a:avLst/>
          </a:prstGeom>
          <a:noFill/>
          <a:ln/>
        </p:spPr>
        <p:txBody>
          <a:bodyPr wrap="square" lIns="0" tIns="0" rIns="0" bIns="0" rtlCol="0" anchor="ctr"/>
          <a:lstStyle/>
          <a:p>
            <a:pPr algn="r" indent="0" marL="0">
              <a:buNone/>
            </a:pPr>
            <a:r>
              <a:rPr lang="en-US" sz="1000" dirty="0">
                <a:solidFill>
                  <a:srgbClr val="767676"/>
                </a:solidFill>
                <a:latin typeface="Arial" pitchFamily="34" charset="0"/>
                <a:ea typeface="Arial" pitchFamily="34" charset="-122"/>
                <a:cs typeface="Arial" pitchFamily="34" charset="-120"/>
              </a:rPr>
              <a:t>0%</a:t>
            </a:r>
            <a:endParaRPr lang="en-US" sz="1000" dirty="0"/>
          </a:p>
        </p:txBody>
      </p:sp>
      <p:sp>
        <p:nvSpPr>
          <p:cNvPr id="8" name="text-104"/>
          <p:cNvSpPr txBox="1"/>
          <p:nvPr/>
        </p:nvSpPr>
        <p:spPr>
          <a:xfrm>
            <a:off x="713232" y="4489704"/>
            <a:ext cx="457200" cy="201168"/>
          </a:xfrm>
          <a:prstGeom prst="rect">
            <a:avLst/>
          </a:prstGeom>
          <a:noFill/>
          <a:ln/>
        </p:spPr>
        <p:txBody>
          <a:bodyPr wrap="square" lIns="0" tIns="0" rIns="0" bIns="0" rtlCol="0" anchor="ctr"/>
          <a:lstStyle/>
          <a:p>
            <a:pPr algn="r" indent="0" marL="0">
              <a:buNone/>
            </a:pPr>
            <a:r>
              <a:rPr lang="en-US" sz="1000" dirty="0">
                <a:solidFill>
                  <a:srgbClr val="767676"/>
                </a:solidFill>
                <a:latin typeface="Arial" pitchFamily="34" charset="0"/>
                <a:ea typeface="Arial" pitchFamily="34" charset="-122"/>
                <a:cs typeface="Arial" pitchFamily="34" charset="-120"/>
              </a:rPr>
              <a:t>25%</a:t>
            </a:r>
            <a:endParaRPr lang="en-US" sz="1000" dirty="0"/>
          </a:p>
        </p:txBody>
      </p:sp>
      <p:sp>
        <p:nvSpPr>
          <p:cNvPr id="9" name="text-105"/>
          <p:cNvSpPr txBox="1"/>
          <p:nvPr/>
        </p:nvSpPr>
        <p:spPr>
          <a:xfrm>
            <a:off x="713232" y="3685032"/>
            <a:ext cx="457200" cy="201168"/>
          </a:xfrm>
          <a:prstGeom prst="rect">
            <a:avLst/>
          </a:prstGeom>
          <a:noFill/>
          <a:ln/>
        </p:spPr>
        <p:txBody>
          <a:bodyPr wrap="square" lIns="0" tIns="0" rIns="0" bIns="0" rtlCol="0" anchor="ctr"/>
          <a:lstStyle/>
          <a:p>
            <a:pPr algn="r" indent="0" marL="0">
              <a:buNone/>
            </a:pPr>
            <a:r>
              <a:rPr lang="en-US" sz="1000" dirty="0">
                <a:solidFill>
                  <a:srgbClr val="767676"/>
                </a:solidFill>
                <a:latin typeface="Arial" pitchFamily="34" charset="0"/>
                <a:ea typeface="Arial" pitchFamily="34" charset="-122"/>
                <a:cs typeface="Arial" pitchFamily="34" charset="-120"/>
              </a:rPr>
              <a:t>50%</a:t>
            </a:r>
            <a:endParaRPr lang="en-US" sz="1000" dirty="0"/>
          </a:p>
        </p:txBody>
      </p:sp>
      <p:sp>
        <p:nvSpPr>
          <p:cNvPr id="10" name="text-106"/>
          <p:cNvSpPr txBox="1"/>
          <p:nvPr/>
        </p:nvSpPr>
        <p:spPr>
          <a:xfrm>
            <a:off x="713232" y="2880360"/>
            <a:ext cx="457200" cy="201168"/>
          </a:xfrm>
          <a:prstGeom prst="rect">
            <a:avLst/>
          </a:prstGeom>
          <a:noFill/>
          <a:ln/>
        </p:spPr>
        <p:txBody>
          <a:bodyPr wrap="square" lIns="0" tIns="0" rIns="0" bIns="0" rtlCol="0" anchor="ctr"/>
          <a:lstStyle/>
          <a:p>
            <a:pPr algn="r" indent="0" marL="0">
              <a:buNone/>
            </a:pPr>
            <a:r>
              <a:rPr lang="en-US" sz="1000" dirty="0">
                <a:solidFill>
                  <a:srgbClr val="767676"/>
                </a:solidFill>
                <a:latin typeface="Arial" pitchFamily="34" charset="0"/>
                <a:ea typeface="Arial" pitchFamily="34" charset="-122"/>
                <a:cs typeface="Arial" pitchFamily="34" charset="-120"/>
              </a:rPr>
              <a:t>75%</a:t>
            </a:r>
            <a:endParaRPr lang="en-US" sz="1000" dirty="0"/>
          </a:p>
        </p:txBody>
      </p:sp>
      <p:sp>
        <p:nvSpPr>
          <p:cNvPr id="11" name="text-107"/>
          <p:cNvSpPr txBox="1"/>
          <p:nvPr/>
        </p:nvSpPr>
        <p:spPr>
          <a:xfrm>
            <a:off x="713232" y="2075688"/>
            <a:ext cx="457200" cy="201168"/>
          </a:xfrm>
          <a:prstGeom prst="rect">
            <a:avLst/>
          </a:prstGeom>
          <a:noFill/>
          <a:ln/>
        </p:spPr>
        <p:txBody>
          <a:bodyPr wrap="square" lIns="0" tIns="0" rIns="0" bIns="0" rtlCol="0" anchor="ctr"/>
          <a:lstStyle/>
          <a:p>
            <a:pPr algn="r" indent="0" marL="0">
              <a:buNone/>
            </a:pPr>
            <a:r>
              <a:rPr lang="en-US" sz="1000" dirty="0">
                <a:solidFill>
                  <a:srgbClr val="767676"/>
                </a:solidFill>
                <a:latin typeface="Arial" pitchFamily="34" charset="0"/>
                <a:ea typeface="Arial" pitchFamily="34" charset="-122"/>
                <a:cs typeface="Arial" pitchFamily="34" charset="-120"/>
              </a:rPr>
              <a:t>100%</a:t>
            </a:r>
            <a:endParaRPr lang="en-US" sz="1000" dirty="0"/>
          </a:p>
        </p:txBody>
      </p:sp>
      <p:sp>
        <p:nvSpPr>
          <p:cNvPr id="12" name="text-108"/>
          <p:cNvSpPr txBox="1"/>
          <p:nvPr/>
        </p:nvSpPr>
        <p:spPr>
          <a:xfrm>
            <a:off x="960120" y="5449824"/>
            <a:ext cx="548640" cy="201168"/>
          </a:xfrm>
          <a:prstGeom prst="rect">
            <a:avLst/>
          </a:prstGeom>
          <a:noFill/>
          <a:ln/>
        </p:spPr>
        <p:txBody>
          <a:bodyPr wrap="square" lIns="0" tIns="0" rIns="0" bIns="0" rtlCol="0" anchor="ctr"/>
          <a:lstStyle/>
          <a:p>
            <a:pPr algn="ctr" indent="0" marL="0">
              <a:buNone/>
            </a:pPr>
            <a:r>
              <a:rPr lang="en-US" sz="1000" dirty="0">
                <a:solidFill>
                  <a:srgbClr val="767676"/>
                </a:solidFill>
                <a:latin typeface="Arial" pitchFamily="34" charset="0"/>
                <a:ea typeface="Arial" pitchFamily="34" charset="-122"/>
                <a:cs typeface="Arial" pitchFamily="34" charset="-120"/>
              </a:rPr>
              <a:t>0</a:t>
            </a:r>
            <a:endParaRPr lang="en-US" sz="1000" dirty="0"/>
          </a:p>
        </p:txBody>
      </p:sp>
      <p:sp>
        <p:nvSpPr>
          <p:cNvPr id="13" name="text-109"/>
          <p:cNvSpPr txBox="1"/>
          <p:nvPr/>
        </p:nvSpPr>
        <p:spPr>
          <a:xfrm>
            <a:off x="1975104" y="5449824"/>
            <a:ext cx="548640" cy="201168"/>
          </a:xfrm>
          <a:prstGeom prst="rect">
            <a:avLst/>
          </a:prstGeom>
          <a:noFill/>
          <a:ln/>
        </p:spPr>
        <p:txBody>
          <a:bodyPr wrap="square" lIns="0" tIns="0" rIns="0" bIns="0" rtlCol="0" anchor="ctr"/>
          <a:lstStyle/>
          <a:p>
            <a:pPr algn="ctr" indent="0" marL="0">
              <a:buNone/>
            </a:pPr>
            <a:r>
              <a:rPr lang="en-US" sz="1000" dirty="0">
                <a:solidFill>
                  <a:srgbClr val="767676"/>
                </a:solidFill>
                <a:latin typeface="Arial" pitchFamily="34" charset="0"/>
                <a:ea typeface="Arial" pitchFamily="34" charset="-122"/>
                <a:cs typeface="Arial" pitchFamily="34" charset="-120"/>
              </a:rPr>
              <a:t>50</a:t>
            </a:r>
            <a:endParaRPr lang="en-US" sz="1000" dirty="0"/>
          </a:p>
        </p:txBody>
      </p:sp>
      <p:sp>
        <p:nvSpPr>
          <p:cNvPr id="14" name="text-110"/>
          <p:cNvSpPr txBox="1"/>
          <p:nvPr/>
        </p:nvSpPr>
        <p:spPr>
          <a:xfrm>
            <a:off x="2990088" y="5449824"/>
            <a:ext cx="548640" cy="201168"/>
          </a:xfrm>
          <a:prstGeom prst="rect">
            <a:avLst/>
          </a:prstGeom>
          <a:noFill/>
          <a:ln/>
        </p:spPr>
        <p:txBody>
          <a:bodyPr wrap="square" lIns="0" tIns="0" rIns="0" bIns="0" rtlCol="0" anchor="ctr"/>
          <a:lstStyle/>
          <a:p>
            <a:pPr algn="ctr" indent="0" marL="0">
              <a:buNone/>
            </a:pPr>
            <a:r>
              <a:rPr lang="en-US" sz="1000" dirty="0">
                <a:solidFill>
                  <a:srgbClr val="767676"/>
                </a:solidFill>
                <a:latin typeface="Arial" pitchFamily="34" charset="0"/>
                <a:ea typeface="Arial" pitchFamily="34" charset="-122"/>
                <a:cs typeface="Arial" pitchFamily="34" charset="-120"/>
              </a:rPr>
              <a:t>100</a:t>
            </a:r>
            <a:endParaRPr lang="en-US" sz="1000" dirty="0"/>
          </a:p>
        </p:txBody>
      </p:sp>
      <p:sp>
        <p:nvSpPr>
          <p:cNvPr id="15" name="text-111"/>
          <p:cNvSpPr txBox="1"/>
          <p:nvPr/>
        </p:nvSpPr>
        <p:spPr>
          <a:xfrm>
            <a:off x="4005072" y="5449824"/>
            <a:ext cx="548640" cy="201168"/>
          </a:xfrm>
          <a:prstGeom prst="rect">
            <a:avLst/>
          </a:prstGeom>
          <a:noFill/>
          <a:ln/>
        </p:spPr>
        <p:txBody>
          <a:bodyPr wrap="square" lIns="0" tIns="0" rIns="0" bIns="0" rtlCol="0" anchor="ctr"/>
          <a:lstStyle/>
          <a:p>
            <a:pPr algn="ctr" indent="0" marL="0">
              <a:buNone/>
            </a:pPr>
            <a:r>
              <a:rPr lang="en-US" sz="1000" dirty="0">
                <a:solidFill>
                  <a:srgbClr val="767676"/>
                </a:solidFill>
                <a:latin typeface="Arial" pitchFamily="34" charset="0"/>
                <a:ea typeface="Arial" pitchFamily="34" charset="-122"/>
                <a:cs typeface="Arial" pitchFamily="34" charset="-120"/>
              </a:rPr>
              <a:t>150</a:t>
            </a:r>
            <a:endParaRPr lang="en-US" sz="1000" dirty="0"/>
          </a:p>
        </p:txBody>
      </p:sp>
      <p:sp>
        <p:nvSpPr>
          <p:cNvPr id="16" name="text-112"/>
          <p:cNvSpPr txBox="1"/>
          <p:nvPr/>
        </p:nvSpPr>
        <p:spPr>
          <a:xfrm>
            <a:off x="5020056" y="5449824"/>
            <a:ext cx="548640" cy="201168"/>
          </a:xfrm>
          <a:prstGeom prst="rect">
            <a:avLst/>
          </a:prstGeom>
          <a:noFill/>
          <a:ln/>
        </p:spPr>
        <p:txBody>
          <a:bodyPr wrap="square" lIns="0" tIns="0" rIns="0" bIns="0" rtlCol="0" anchor="ctr"/>
          <a:lstStyle/>
          <a:p>
            <a:pPr algn="ctr" indent="0" marL="0">
              <a:buNone/>
            </a:pPr>
            <a:r>
              <a:rPr lang="en-US" sz="1000" dirty="0">
                <a:solidFill>
                  <a:srgbClr val="767676"/>
                </a:solidFill>
                <a:latin typeface="Arial" pitchFamily="34" charset="0"/>
                <a:ea typeface="Arial" pitchFamily="34" charset="-122"/>
                <a:cs typeface="Arial" pitchFamily="34" charset="-120"/>
              </a:rPr>
              <a:t>200</a:t>
            </a:r>
            <a:endParaRPr lang="en-US" sz="1000" dirty="0"/>
          </a:p>
        </p:txBody>
      </p:sp>
      <p:sp>
        <p:nvSpPr>
          <p:cNvPr id="17" name="text-113"/>
          <p:cNvSpPr txBox="1"/>
          <p:nvPr/>
        </p:nvSpPr>
        <p:spPr>
          <a:xfrm>
            <a:off x="6035040" y="5449824"/>
            <a:ext cx="548640" cy="201168"/>
          </a:xfrm>
          <a:prstGeom prst="rect">
            <a:avLst/>
          </a:prstGeom>
          <a:noFill/>
          <a:ln/>
        </p:spPr>
        <p:txBody>
          <a:bodyPr wrap="square" lIns="0" tIns="0" rIns="0" bIns="0" rtlCol="0" anchor="ctr"/>
          <a:lstStyle/>
          <a:p>
            <a:pPr algn="ctr" indent="0" marL="0">
              <a:buNone/>
            </a:pPr>
            <a:r>
              <a:rPr lang="en-US" sz="1000" dirty="0">
                <a:solidFill>
                  <a:srgbClr val="767676"/>
                </a:solidFill>
                <a:latin typeface="Arial" pitchFamily="34" charset="0"/>
                <a:ea typeface="Arial" pitchFamily="34" charset="-122"/>
                <a:cs typeface="Arial" pitchFamily="34" charset="-120"/>
              </a:rPr>
              <a:t>250</a:t>
            </a:r>
            <a:endParaRPr lang="en-US" sz="1000" dirty="0"/>
          </a:p>
        </p:txBody>
      </p:sp>
      <p:sp>
        <p:nvSpPr>
          <p:cNvPr id="18" name="shape-114"/>
          <p:cNvSpPr/>
          <p:nvPr/>
        </p:nvSpPr>
        <p:spPr>
          <a:xfrm>
            <a:off x="1234440" y="5916168"/>
            <a:ext cx="274320" cy="0"/>
          </a:xfrm>
          <a:prstGeom prst="line">
            <a:avLst/>
          </a:prstGeom>
          <a:noFill/>
          <a:ln w="38100">
            <a:solidFill>
              <a:srgbClr val="0068BF"/>
            </a:solidFill>
            <a:prstDash val="solid"/>
          </a:ln>
        </p:spPr>
      </p:sp>
      <p:sp>
        <p:nvSpPr>
          <p:cNvPr id="19" name="text-115"/>
          <p:cNvSpPr txBox="1"/>
          <p:nvPr/>
        </p:nvSpPr>
        <p:spPr>
          <a:xfrm>
            <a:off x="1581912" y="5806440"/>
            <a:ext cx="960120" cy="219456"/>
          </a:xfrm>
          <a:prstGeom prst="rect">
            <a:avLst/>
          </a:prstGeom>
          <a:noFill/>
          <a:ln/>
        </p:spPr>
        <p:txBody>
          <a:bodyPr wrap="square" lIns="0" tIns="0" rIns="0" bIns="0" rtlCol="0" anchor="ctr"/>
          <a:lstStyle/>
          <a:p>
            <a:pPr indent="0" marL="0">
              <a:buNone/>
            </a:pPr>
            <a:r>
              <a:rPr lang="en-US" sz="1050" dirty="0">
                <a:solidFill>
                  <a:srgbClr val="242424"/>
                </a:solidFill>
                <a:latin typeface="Arial" pitchFamily="34" charset="0"/>
                <a:ea typeface="Arial" pitchFamily="34" charset="-122"/>
                <a:cs typeface="Arial" pitchFamily="34" charset="-120"/>
              </a:rPr>
              <a:t>Operator A</a:t>
            </a:r>
            <a:endParaRPr lang="en-US" sz="1050" dirty="0"/>
          </a:p>
        </p:txBody>
      </p:sp>
      <p:sp>
        <p:nvSpPr>
          <p:cNvPr id="20" name="shape-116"/>
          <p:cNvSpPr/>
          <p:nvPr/>
        </p:nvSpPr>
        <p:spPr>
          <a:xfrm>
            <a:off x="2560320" y="5916168"/>
            <a:ext cx="274320" cy="0"/>
          </a:xfrm>
          <a:prstGeom prst="line">
            <a:avLst/>
          </a:prstGeom>
          <a:noFill/>
          <a:ln w="38100">
            <a:solidFill>
              <a:srgbClr val="8C60A8"/>
            </a:solidFill>
            <a:prstDash val="solid"/>
          </a:ln>
        </p:spPr>
      </p:sp>
      <p:sp>
        <p:nvSpPr>
          <p:cNvPr id="21" name="text-117"/>
          <p:cNvSpPr txBox="1"/>
          <p:nvPr/>
        </p:nvSpPr>
        <p:spPr>
          <a:xfrm>
            <a:off x="2907792" y="5806440"/>
            <a:ext cx="960120" cy="219456"/>
          </a:xfrm>
          <a:prstGeom prst="rect">
            <a:avLst/>
          </a:prstGeom>
          <a:noFill/>
          <a:ln/>
        </p:spPr>
        <p:txBody>
          <a:bodyPr wrap="square" lIns="0" tIns="0" rIns="0" bIns="0" rtlCol="0" anchor="ctr"/>
          <a:lstStyle/>
          <a:p>
            <a:pPr indent="0" marL="0">
              <a:buNone/>
            </a:pPr>
            <a:r>
              <a:rPr lang="en-US" sz="1050" dirty="0">
                <a:solidFill>
                  <a:srgbClr val="242424"/>
                </a:solidFill>
                <a:latin typeface="Arial" pitchFamily="34" charset="0"/>
                <a:ea typeface="Arial" pitchFamily="34" charset="-122"/>
                <a:cs typeface="Arial" pitchFamily="34" charset="-120"/>
              </a:rPr>
              <a:t>Operator B</a:t>
            </a:r>
            <a:endParaRPr lang="en-US" sz="1050" dirty="0"/>
          </a:p>
        </p:txBody>
      </p:sp>
      <p:sp>
        <p:nvSpPr>
          <p:cNvPr id="22" name="shape-118"/>
          <p:cNvSpPr/>
          <p:nvPr/>
        </p:nvSpPr>
        <p:spPr>
          <a:xfrm>
            <a:off x="3886200" y="5916168"/>
            <a:ext cx="274320" cy="0"/>
          </a:xfrm>
          <a:prstGeom prst="line">
            <a:avLst/>
          </a:prstGeom>
          <a:noFill/>
          <a:ln w="38100">
            <a:solidFill>
              <a:srgbClr val="0C9B5B"/>
            </a:solidFill>
            <a:prstDash val="solid"/>
          </a:ln>
        </p:spPr>
      </p:sp>
      <p:sp>
        <p:nvSpPr>
          <p:cNvPr id="23" name="text-119"/>
          <p:cNvSpPr txBox="1"/>
          <p:nvPr/>
        </p:nvSpPr>
        <p:spPr>
          <a:xfrm>
            <a:off x="4233672" y="5806440"/>
            <a:ext cx="960120" cy="219456"/>
          </a:xfrm>
          <a:prstGeom prst="rect">
            <a:avLst/>
          </a:prstGeom>
          <a:noFill/>
          <a:ln/>
        </p:spPr>
        <p:txBody>
          <a:bodyPr wrap="square" lIns="0" tIns="0" rIns="0" bIns="0" rtlCol="0" anchor="ctr"/>
          <a:lstStyle/>
          <a:p>
            <a:pPr indent="0" marL="0">
              <a:buNone/>
            </a:pPr>
            <a:r>
              <a:rPr lang="en-US" sz="1050" dirty="0">
                <a:solidFill>
                  <a:srgbClr val="242424"/>
                </a:solidFill>
                <a:latin typeface="Arial" pitchFamily="34" charset="0"/>
                <a:ea typeface="Arial" pitchFamily="34" charset="-122"/>
                <a:cs typeface="Arial" pitchFamily="34" charset="-120"/>
              </a:rPr>
              <a:t>Operator C</a:t>
            </a:r>
            <a:endParaRPr lang="en-US" sz="1050" dirty="0"/>
          </a:p>
        </p:txBody>
      </p:sp>
      <p:sp>
        <p:nvSpPr>
          <p:cNvPr id="24" name="text-120"/>
          <p:cNvSpPr txBox="1"/>
          <p:nvPr/>
        </p:nvSpPr>
        <p:spPr>
          <a:xfrm>
            <a:off x="5074920" y="5806440"/>
            <a:ext cx="1280160" cy="219456"/>
          </a:xfrm>
          <a:prstGeom prst="rect">
            <a:avLst/>
          </a:prstGeom>
          <a:noFill/>
          <a:ln/>
        </p:spPr>
        <p:txBody>
          <a:bodyPr wrap="square" lIns="0" tIns="0" rIns="0" bIns="0" rtlCol="0" anchor="ctr"/>
          <a:lstStyle/>
          <a:p>
            <a:pPr algn="r" indent="0" marL="0">
              <a:buNone/>
            </a:pPr>
            <a:r>
              <a:rPr lang="en-US" sz="1000" dirty="0">
                <a:solidFill>
                  <a:srgbClr val="A0A0A0"/>
                </a:solidFill>
                <a:latin typeface="Arial" pitchFamily="34" charset="0"/>
                <a:ea typeface="Arial" pitchFamily="34" charset="-122"/>
                <a:cs typeface="Arial" pitchFamily="34" charset="-120"/>
              </a:rPr>
              <a:t>Illustrative data</a:t>
            </a:r>
            <a:endParaRPr lang="en-US" sz="1000" dirty="0"/>
          </a:p>
        </p:txBody>
      </p:sp>
      <p:sp>
        <p:nvSpPr>
          <p:cNvPr id="25" name="shape-121"/>
          <p:cNvSpPr/>
          <p:nvPr/>
        </p:nvSpPr>
        <p:spPr>
          <a:xfrm>
            <a:off x="6949440" y="1645920"/>
            <a:ext cx="2240280" cy="1161288"/>
          </a:xfrm>
          <a:prstGeom prst="roundRect">
            <a:avLst>
              <a:gd name="adj" fmla="val 9449"/>
            </a:avLst>
          </a:prstGeom>
          <a:solidFill>
            <a:srgbClr val="F2F2F2"/>
          </a:solidFill>
          <a:ln w="12700">
            <a:solidFill>
              <a:srgbClr val="F2F2F2"/>
            </a:solidFill>
            <a:prstDash val="solid"/>
          </a:ln>
        </p:spPr>
      </p:sp>
      <p:sp>
        <p:nvSpPr>
          <p:cNvPr id="26" name="shape-122"/>
          <p:cNvSpPr/>
          <p:nvPr/>
        </p:nvSpPr>
        <p:spPr>
          <a:xfrm>
            <a:off x="7114032" y="1810512"/>
            <a:ext cx="420624" cy="420624"/>
          </a:xfrm>
          <a:prstGeom prst="ellipse">
            <a:avLst/>
          </a:prstGeom>
          <a:solidFill>
            <a:srgbClr val="4D4D4D"/>
          </a:solidFill>
          <a:ln w="12700">
            <a:solidFill>
              <a:srgbClr val="4D4D4D"/>
            </a:solidFill>
            <a:prstDash val="solid"/>
          </a:ln>
        </p:spPr>
      </p:sp>
      <p:pic>
        <p:nvPicPr>
          <p:cNvPr id="27" name="icon-123" descr="preencoded.png">    </p:cNvPr>
          <p:cNvPicPr>
            <a:picLocks noChangeAspect="1"/>
          </p:cNvPicPr>
          <p:nvPr/>
        </p:nvPicPr>
        <p:blipFill>
          <a:blip r:embed="rId2"/>
          <a:stretch>
            <a:fillRect/>
          </a:stretch>
        </p:blipFill>
        <p:spPr>
          <a:xfrm>
            <a:off x="7206569" y="1903049"/>
            <a:ext cx="235549" cy="235549"/>
          </a:xfrm>
          <a:prstGeom prst="rect">
            <a:avLst/>
          </a:prstGeom>
        </p:spPr>
      </p:pic>
      <p:sp>
        <p:nvSpPr>
          <p:cNvPr id="28" name="text-124"/>
          <p:cNvSpPr txBox="1"/>
          <p:nvPr/>
        </p:nvSpPr>
        <p:spPr>
          <a:xfrm>
            <a:off x="7626096" y="1828800"/>
            <a:ext cx="1508760" cy="365760"/>
          </a:xfrm>
          <a:prstGeom prst="rect">
            <a:avLst/>
          </a:prstGeom>
          <a:noFill/>
          <a:ln/>
        </p:spPr>
        <p:txBody>
          <a:bodyPr wrap="square" lIns="0" tIns="0" rIns="0" bIns="0" rtlCol="0" anchor="ctr"/>
          <a:lstStyle/>
          <a:p>
            <a:pPr indent="0" marL="0">
              <a:buNone/>
            </a:pPr>
            <a:r>
              <a:rPr lang="en-US" sz="1350" b="1" dirty="0">
                <a:solidFill>
                  <a:srgbClr val="242424"/>
                </a:solidFill>
                <a:latin typeface="Arial" pitchFamily="34" charset="0"/>
                <a:ea typeface="Arial" pitchFamily="34" charset="-122"/>
                <a:cs typeface="Arial" pitchFamily="34" charset="-120"/>
              </a:rPr>
              <a:t>CDF curves</a:t>
            </a:r>
            <a:endParaRPr lang="en-US" sz="1350" dirty="0"/>
          </a:p>
        </p:txBody>
      </p:sp>
      <p:sp>
        <p:nvSpPr>
          <p:cNvPr id="29" name="text-125"/>
          <p:cNvSpPr txBox="1"/>
          <p:nvPr/>
        </p:nvSpPr>
        <p:spPr>
          <a:xfrm>
            <a:off x="7114032" y="2304288"/>
            <a:ext cx="2011680" cy="438912"/>
          </a:xfrm>
          <a:prstGeom prst="rect">
            <a:avLst/>
          </a:prstGeom>
          <a:noFill/>
          <a:ln/>
        </p:spPr>
        <p:txBody>
          <a:bodyPr wrap="square" lIns="0" tIns="0" rIns="0" bIns="0" rtlCol="0" anchor="ctr"/>
          <a:lstStyle/>
          <a:p>
            <a:pPr indent="0" marL="0">
              <a:buNone/>
            </a:pPr>
            <a:r>
              <a:rPr lang="en-US" sz="1050" dirty="0">
                <a:solidFill>
                  <a:srgbClr val="767676"/>
                </a:solidFill>
                <a:latin typeface="Arial" pitchFamily="34" charset="0"/>
                <a:ea typeface="Arial" pitchFamily="34" charset="-122"/>
                <a:cs typeface="Arial" pitchFamily="34" charset="-120"/>
              </a:rPr>
              <a:t>Up to eight, by operator, vendor or city</a:t>
            </a:r>
            <a:endParaRPr lang="en-US" sz="1050" dirty="0"/>
          </a:p>
        </p:txBody>
      </p:sp>
      <p:sp>
        <p:nvSpPr>
          <p:cNvPr id="30" name="shape-126"/>
          <p:cNvSpPr/>
          <p:nvPr/>
        </p:nvSpPr>
        <p:spPr>
          <a:xfrm>
            <a:off x="9372600" y="1645920"/>
            <a:ext cx="2240280" cy="1161288"/>
          </a:xfrm>
          <a:prstGeom prst="roundRect">
            <a:avLst>
              <a:gd name="adj" fmla="val 9449"/>
            </a:avLst>
          </a:prstGeom>
          <a:solidFill>
            <a:srgbClr val="F2F2F2"/>
          </a:solidFill>
          <a:ln w="12700">
            <a:solidFill>
              <a:srgbClr val="F2F2F2"/>
            </a:solidFill>
            <a:prstDash val="solid"/>
          </a:ln>
        </p:spPr>
      </p:sp>
      <p:sp>
        <p:nvSpPr>
          <p:cNvPr id="31" name="shape-127"/>
          <p:cNvSpPr/>
          <p:nvPr/>
        </p:nvSpPr>
        <p:spPr>
          <a:xfrm>
            <a:off x="9537192" y="1810512"/>
            <a:ext cx="420624" cy="420624"/>
          </a:xfrm>
          <a:prstGeom prst="ellipse">
            <a:avLst/>
          </a:prstGeom>
          <a:solidFill>
            <a:srgbClr val="4D4D4D"/>
          </a:solidFill>
          <a:ln w="12700">
            <a:solidFill>
              <a:srgbClr val="4D4D4D"/>
            </a:solidFill>
            <a:prstDash val="solid"/>
          </a:ln>
        </p:spPr>
      </p:sp>
      <p:pic>
        <p:nvPicPr>
          <p:cNvPr id="32" name="icon-128" descr="preencoded.png">    </p:cNvPr>
          <p:cNvPicPr>
            <a:picLocks noChangeAspect="1"/>
          </p:cNvPicPr>
          <p:nvPr/>
        </p:nvPicPr>
        <p:blipFill>
          <a:blip r:embed="rId3"/>
          <a:stretch>
            <a:fillRect/>
          </a:stretch>
        </p:blipFill>
        <p:spPr>
          <a:xfrm>
            <a:off x="9629729" y="1903049"/>
            <a:ext cx="235549" cy="235549"/>
          </a:xfrm>
          <a:prstGeom prst="rect">
            <a:avLst/>
          </a:prstGeom>
        </p:spPr>
      </p:pic>
      <p:sp>
        <p:nvSpPr>
          <p:cNvPr id="33" name="text-129"/>
          <p:cNvSpPr txBox="1"/>
          <p:nvPr/>
        </p:nvSpPr>
        <p:spPr>
          <a:xfrm>
            <a:off x="10049256" y="1828800"/>
            <a:ext cx="1508760" cy="365760"/>
          </a:xfrm>
          <a:prstGeom prst="rect">
            <a:avLst/>
          </a:prstGeom>
          <a:noFill/>
          <a:ln/>
        </p:spPr>
        <p:txBody>
          <a:bodyPr wrap="square" lIns="0" tIns="0" rIns="0" bIns="0" rtlCol="0" anchor="ctr"/>
          <a:lstStyle/>
          <a:p>
            <a:pPr indent="0" marL="0">
              <a:buNone/>
            </a:pPr>
            <a:r>
              <a:rPr lang="en-US" sz="1350" b="1" dirty="0">
                <a:solidFill>
                  <a:srgbClr val="242424"/>
                </a:solidFill>
                <a:latin typeface="Arial" pitchFamily="34" charset="0"/>
                <a:ea typeface="Arial" pitchFamily="34" charset="-122"/>
                <a:cs typeface="Arial" pitchFamily="34" charset="-120"/>
              </a:rPr>
              <a:t>Group benchmark</a:t>
            </a:r>
            <a:endParaRPr lang="en-US" sz="1350" dirty="0"/>
          </a:p>
        </p:txBody>
      </p:sp>
      <p:sp>
        <p:nvSpPr>
          <p:cNvPr id="34" name="text-130"/>
          <p:cNvSpPr txBox="1"/>
          <p:nvPr/>
        </p:nvSpPr>
        <p:spPr>
          <a:xfrm>
            <a:off x="9537192" y="2304288"/>
            <a:ext cx="2011680" cy="438912"/>
          </a:xfrm>
          <a:prstGeom prst="rect">
            <a:avLst/>
          </a:prstGeom>
          <a:noFill/>
          <a:ln/>
        </p:spPr>
        <p:txBody>
          <a:bodyPr wrap="square" lIns="0" tIns="0" rIns="0" bIns="0" rtlCol="0" anchor="ctr"/>
          <a:lstStyle/>
          <a:p>
            <a:pPr indent="0" marL="0">
              <a:buNone/>
            </a:pPr>
            <a:r>
              <a:rPr lang="en-US" sz="1050" dirty="0">
                <a:solidFill>
                  <a:srgbClr val="767676"/>
                </a:solidFill>
                <a:latin typeface="Arial" pitchFamily="34" charset="0"/>
                <a:ea typeface="Arial" pitchFamily="34" charset="-122"/>
                <a:cs typeface="Arial" pitchFamily="34" charset="-120"/>
              </a:rPr>
              <a:t>Bars of the aggregation you choose</a:t>
            </a:r>
            <a:endParaRPr lang="en-US" sz="1050" dirty="0"/>
          </a:p>
        </p:txBody>
      </p:sp>
      <p:sp>
        <p:nvSpPr>
          <p:cNvPr id="35" name="shape-131"/>
          <p:cNvSpPr/>
          <p:nvPr/>
        </p:nvSpPr>
        <p:spPr>
          <a:xfrm>
            <a:off x="6949440" y="2944368"/>
            <a:ext cx="2240280" cy="1161288"/>
          </a:xfrm>
          <a:prstGeom prst="roundRect">
            <a:avLst>
              <a:gd name="adj" fmla="val 9449"/>
            </a:avLst>
          </a:prstGeom>
          <a:solidFill>
            <a:srgbClr val="F2F2F2"/>
          </a:solidFill>
          <a:ln w="12700">
            <a:solidFill>
              <a:srgbClr val="F2F2F2"/>
            </a:solidFill>
            <a:prstDash val="solid"/>
          </a:ln>
        </p:spPr>
      </p:sp>
      <p:sp>
        <p:nvSpPr>
          <p:cNvPr id="36" name="shape-132"/>
          <p:cNvSpPr/>
          <p:nvPr/>
        </p:nvSpPr>
        <p:spPr>
          <a:xfrm>
            <a:off x="7114032" y="3108960"/>
            <a:ext cx="420624" cy="420624"/>
          </a:xfrm>
          <a:prstGeom prst="ellipse">
            <a:avLst/>
          </a:prstGeom>
          <a:solidFill>
            <a:srgbClr val="4D4D4D"/>
          </a:solidFill>
          <a:ln w="12700">
            <a:solidFill>
              <a:srgbClr val="4D4D4D"/>
            </a:solidFill>
            <a:prstDash val="solid"/>
          </a:ln>
        </p:spPr>
      </p:sp>
      <p:pic>
        <p:nvPicPr>
          <p:cNvPr id="37" name="icon-133" descr="preencoded.png">    </p:cNvPr>
          <p:cNvPicPr>
            <a:picLocks noChangeAspect="1"/>
          </p:cNvPicPr>
          <p:nvPr/>
        </p:nvPicPr>
        <p:blipFill>
          <a:blip r:embed="rId4"/>
          <a:stretch>
            <a:fillRect/>
          </a:stretch>
        </p:blipFill>
        <p:spPr>
          <a:xfrm>
            <a:off x="7206569" y="3201497"/>
            <a:ext cx="235549" cy="235549"/>
          </a:xfrm>
          <a:prstGeom prst="rect">
            <a:avLst/>
          </a:prstGeom>
        </p:spPr>
      </p:pic>
      <p:sp>
        <p:nvSpPr>
          <p:cNvPr id="38" name="text-134"/>
          <p:cNvSpPr txBox="1"/>
          <p:nvPr/>
        </p:nvSpPr>
        <p:spPr>
          <a:xfrm>
            <a:off x="7626096" y="3127248"/>
            <a:ext cx="1508760" cy="365760"/>
          </a:xfrm>
          <a:prstGeom prst="rect">
            <a:avLst/>
          </a:prstGeom>
          <a:noFill/>
          <a:ln/>
        </p:spPr>
        <p:txBody>
          <a:bodyPr wrap="square" lIns="0" tIns="0" rIns="0" bIns="0" rtlCol="0" anchor="ctr"/>
          <a:lstStyle/>
          <a:p>
            <a:pPr indent="0" marL="0">
              <a:buNone/>
            </a:pPr>
            <a:r>
              <a:rPr lang="en-US" sz="1350" b="1" dirty="0">
                <a:solidFill>
                  <a:srgbClr val="242424"/>
                </a:solidFill>
                <a:latin typeface="Arial" pitchFamily="34" charset="0"/>
                <a:ea typeface="Arial" pitchFamily="34" charset="-122"/>
                <a:cs typeface="Arial" pitchFamily="34" charset="-120"/>
              </a:rPr>
              <a:t>Scorecards</a:t>
            </a:r>
            <a:endParaRPr lang="en-US" sz="1350" dirty="0"/>
          </a:p>
        </p:txBody>
      </p:sp>
      <p:sp>
        <p:nvSpPr>
          <p:cNvPr id="39" name="text-135"/>
          <p:cNvSpPr txBox="1"/>
          <p:nvPr/>
        </p:nvSpPr>
        <p:spPr>
          <a:xfrm>
            <a:off x="7114032" y="3602736"/>
            <a:ext cx="2011680" cy="438912"/>
          </a:xfrm>
          <a:prstGeom prst="rect">
            <a:avLst/>
          </a:prstGeom>
          <a:noFill/>
          <a:ln/>
        </p:spPr>
        <p:txBody>
          <a:bodyPr wrap="square" lIns="0" tIns="0" rIns="0" bIns="0" rtlCol="0" anchor="ctr"/>
          <a:lstStyle/>
          <a:p>
            <a:pPr indent="0" marL="0">
              <a:buNone/>
            </a:pPr>
            <a:r>
              <a:rPr lang="en-US" sz="1050" dirty="0">
                <a:solidFill>
                  <a:srgbClr val="767676"/>
                </a:solidFill>
                <a:latin typeface="Arial" pitchFamily="34" charset="0"/>
                <a:ea typeface="Arial" pitchFamily="34" charset="-122"/>
                <a:cs typeface="Arial" pitchFamily="34" charset="-120"/>
              </a:rPr>
              <a:t>Metric cards and percentiles</a:t>
            </a:r>
            <a:endParaRPr lang="en-US" sz="1050" dirty="0"/>
          </a:p>
        </p:txBody>
      </p:sp>
      <p:sp>
        <p:nvSpPr>
          <p:cNvPr id="40" name="shape-136"/>
          <p:cNvSpPr/>
          <p:nvPr/>
        </p:nvSpPr>
        <p:spPr>
          <a:xfrm>
            <a:off x="9372600" y="2944368"/>
            <a:ext cx="2240280" cy="1161288"/>
          </a:xfrm>
          <a:prstGeom prst="roundRect">
            <a:avLst>
              <a:gd name="adj" fmla="val 9449"/>
            </a:avLst>
          </a:prstGeom>
          <a:solidFill>
            <a:srgbClr val="F2F2F2"/>
          </a:solidFill>
          <a:ln w="12700">
            <a:solidFill>
              <a:srgbClr val="F2F2F2"/>
            </a:solidFill>
            <a:prstDash val="solid"/>
          </a:ln>
        </p:spPr>
      </p:sp>
      <p:sp>
        <p:nvSpPr>
          <p:cNvPr id="41" name="shape-137"/>
          <p:cNvSpPr/>
          <p:nvPr/>
        </p:nvSpPr>
        <p:spPr>
          <a:xfrm>
            <a:off x="9537192" y="3108960"/>
            <a:ext cx="420624" cy="420624"/>
          </a:xfrm>
          <a:prstGeom prst="ellipse">
            <a:avLst/>
          </a:prstGeom>
          <a:solidFill>
            <a:srgbClr val="4D4D4D"/>
          </a:solidFill>
          <a:ln w="12700">
            <a:solidFill>
              <a:srgbClr val="4D4D4D"/>
            </a:solidFill>
            <a:prstDash val="solid"/>
          </a:ln>
        </p:spPr>
      </p:sp>
      <p:pic>
        <p:nvPicPr>
          <p:cNvPr id="42" name="icon-138" descr="preencoded.png">    </p:cNvPr>
          <p:cNvPicPr>
            <a:picLocks noChangeAspect="1"/>
          </p:cNvPicPr>
          <p:nvPr/>
        </p:nvPicPr>
        <p:blipFill>
          <a:blip r:embed="rId5"/>
          <a:stretch>
            <a:fillRect/>
          </a:stretch>
        </p:blipFill>
        <p:spPr>
          <a:xfrm>
            <a:off x="9629729" y="3201497"/>
            <a:ext cx="235549" cy="235549"/>
          </a:xfrm>
          <a:prstGeom prst="rect">
            <a:avLst/>
          </a:prstGeom>
        </p:spPr>
      </p:pic>
      <p:sp>
        <p:nvSpPr>
          <p:cNvPr id="43" name="text-139"/>
          <p:cNvSpPr txBox="1"/>
          <p:nvPr/>
        </p:nvSpPr>
        <p:spPr>
          <a:xfrm>
            <a:off x="10049256" y="3127248"/>
            <a:ext cx="1508760" cy="365760"/>
          </a:xfrm>
          <a:prstGeom prst="rect">
            <a:avLst/>
          </a:prstGeom>
          <a:noFill/>
          <a:ln/>
        </p:spPr>
        <p:txBody>
          <a:bodyPr wrap="square" lIns="0" tIns="0" rIns="0" bIns="0" rtlCol="0" anchor="ctr"/>
          <a:lstStyle/>
          <a:p>
            <a:pPr indent="0" marL="0">
              <a:buNone/>
            </a:pPr>
            <a:r>
              <a:rPr lang="en-US" sz="1350" b="1" dirty="0">
                <a:solidFill>
                  <a:srgbClr val="242424"/>
                </a:solidFill>
                <a:latin typeface="Arial" pitchFamily="34" charset="0"/>
                <a:ea typeface="Arial" pitchFamily="34" charset="-122"/>
                <a:cs typeface="Arial" pitchFamily="34" charset="-120"/>
              </a:rPr>
              <a:t>Processed metrics</a:t>
            </a:r>
            <a:endParaRPr lang="en-US" sz="1350" dirty="0"/>
          </a:p>
        </p:txBody>
      </p:sp>
      <p:sp>
        <p:nvSpPr>
          <p:cNvPr id="44" name="text-140"/>
          <p:cNvSpPr txBox="1"/>
          <p:nvPr/>
        </p:nvSpPr>
        <p:spPr>
          <a:xfrm>
            <a:off x="9537192" y="3602736"/>
            <a:ext cx="2011680" cy="438912"/>
          </a:xfrm>
          <a:prstGeom prst="rect">
            <a:avLst/>
          </a:prstGeom>
          <a:noFill/>
          <a:ln/>
        </p:spPr>
        <p:txBody>
          <a:bodyPr wrap="square" lIns="0" tIns="0" rIns="0" bIns="0" rtlCol="0" anchor="ctr"/>
          <a:lstStyle/>
          <a:p>
            <a:pPr indent="0" marL="0">
              <a:buNone/>
            </a:pPr>
            <a:r>
              <a:rPr lang="en-US" sz="1050" dirty="0">
                <a:solidFill>
                  <a:srgbClr val="767676"/>
                </a:solidFill>
                <a:latin typeface="Arial" pitchFamily="34" charset="0"/>
                <a:ea typeface="Arial" pitchFamily="34" charset="-122"/>
                <a:cs typeface="Arial" pitchFamily="34" charset="-120"/>
              </a:rPr>
              <a:t>Every calculated record, checked</a:t>
            </a:r>
            <a:endParaRPr lang="en-US" sz="1050" dirty="0"/>
          </a:p>
        </p:txBody>
      </p:sp>
      <p:sp>
        <p:nvSpPr>
          <p:cNvPr id="45" name="shape-141"/>
          <p:cNvSpPr/>
          <p:nvPr/>
        </p:nvSpPr>
        <p:spPr>
          <a:xfrm>
            <a:off x="7498080" y="4443984"/>
            <a:ext cx="3566160" cy="0"/>
          </a:xfrm>
          <a:prstGeom prst="line">
            <a:avLst/>
          </a:prstGeom>
          <a:noFill/>
          <a:ln w="25400">
            <a:solidFill>
              <a:srgbClr val="E0E0E0"/>
            </a:solidFill>
            <a:prstDash val="solid"/>
          </a:ln>
        </p:spPr>
      </p:sp>
      <p:sp>
        <p:nvSpPr>
          <p:cNvPr id="46" name="shape-142"/>
          <p:cNvSpPr/>
          <p:nvPr/>
        </p:nvSpPr>
        <p:spPr>
          <a:xfrm>
            <a:off x="7342632" y="4251960"/>
            <a:ext cx="384048" cy="384048"/>
          </a:xfrm>
          <a:prstGeom prst="ellipse">
            <a:avLst/>
          </a:prstGeom>
          <a:solidFill>
            <a:srgbClr val="FFFFFF"/>
          </a:solidFill>
          <a:ln w="19050">
            <a:solidFill>
              <a:srgbClr val="0068BF"/>
            </a:solidFill>
            <a:prstDash val="solid"/>
          </a:ln>
        </p:spPr>
      </p:sp>
      <p:sp>
        <p:nvSpPr>
          <p:cNvPr id="47" name="text-143"/>
          <p:cNvSpPr txBox="1"/>
          <p:nvPr/>
        </p:nvSpPr>
        <p:spPr>
          <a:xfrm>
            <a:off x="7342632" y="4251960"/>
            <a:ext cx="384048" cy="384048"/>
          </a:xfrm>
          <a:prstGeom prst="rect">
            <a:avLst/>
          </a:prstGeom>
          <a:noFill/>
          <a:ln/>
        </p:spPr>
        <p:txBody>
          <a:bodyPr wrap="square" lIns="0" tIns="0" rIns="0" bIns="0" rtlCol="0" anchor="ctr"/>
          <a:lstStyle/>
          <a:p>
            <a:pPr algn="ctr" indent="0" marL="0">
              <a:buNone/>
            </a:pPr>
            <a:r>
              <a:rPr lang="en-US" sz="1200" b="1" dirty="0">
                <a:solidFill>
                  <a:srgbClr val="0068BF"/>
                </a:solidFill>
                <a:latin typeface="Arial" pitchFamily="34" charset="0"/>
                <a:ea typeface="Arial" pitchFamily="34" charset="-122"/>
                <a:cs typeface="Arial" pitchFamily="34" charset="-120"/>
              </a:rPr>
              <a:t>1</a:t>
            </a:r>
            <a:endParaRPr lang="en-US" sz="1200" dirty="0"/>
          </a:p>
        </p:txBody>
      </p:sp>
      <p:sp>
        <p:nvSpPr>
          <p:cNvPr id="48" name="text-144"/>
          <p:cNvSpPr txBox="1"/>
          <p:nvPr/>
        </p:nvSpPr>
        <p:spPr>
          <a:xfrm>
            <a:off x="6949440" y="4681728"/>
            <a:ext cx="1170432" cy="411480"/>
          </a:xfrm>
          <a:prstGeom prst="rect">
            <a:avLst/>
          </a:prstGeom>
          <a:noFill/>
          <a:ln/>
        </p:spPr>
        <p:txBody>
          <a:bodyPr wrap="square" lIns="0" tIns="0" rIns="0" bIns="0" rtlCol="0" anchor="t"/>
          <a:lstStyle/>
          <a:p>
            <a:pPr algn="ctr" indent="0" marL="0">
              <a:buNone/>
            </a:pPr>
            <a:r>
              <a:rPr lang="en-US" sz="1050" b="1" dirty="0">
                <a:solidFill>
                  <a:srgbClr val="242424"/>
                </a:solidFill>
                <a:latin typeface="Arial" pitchFamily="34" charset="0"/>
                <a:ea typeface="Arial" pitchFamily="34" charset="-122"/>
                <a:cs typeface="Arial" pitchFamily="34" charset="-120"/>
              </a:rPr>
              <a:t>Pick a CDR</a:t>
            </a:r>
            <a:endParaRPr lang="en-US" sz="1050" dirty="0"/>
          </a:p>
        </p:txBody>
      </p:sp>
      <p:sp>
        <p:nvSpPr>
          <p:cNvPr id="49" name="shape-145"/>
          <p:cNvSpPr/>
          <p:nvPr/>
        </p:nvSpPr>
        <p:spPr>
          <a:xfrm>
            <a:off x="8531352" y="4251960"/>
            <a:ext cx="384048" cy="384048"/>
          </a:xfrm>
          <a:prstGeom prst="ellipse">
            <a:avLst/>
          </a:prstGeom>
          <a:solidFill>
            <a:srgbClr val="FFFFFF"/>
          </a:solidFill>
          <a:ln w="19050">
            <a:solidFill>
              <a:srgbClr val="0068BF"/>
            </a:solidFill>
            <a:prstDash val="solid"/>
          </a:ln>
        </p:spPr>
      </p:sp>
      <p:sp>
        <p:nvSpPr>
          <p:cNvPr id="50" name="text-146"/>
          <p:cNvSpPr txBox="1"/>
          <p:nvPr/>
        </p:nvSpPr>
        <p:spPr>
          <a:xfrm>
            <a:off x="8531352" y="4251960"/>
            <a:ext cx="384048" cy="384048"/>
          </a:xfrm>
          <a:prstGeom prst="rect">
            <a:avLst/>
          </a:prstGeom>
          <a:noFill/>
          <a:ln/>
        </p:spPr>
        <p:txBody>
          <a:bodyPr wrap="square" lIns="0" tIns="0" rIns="0" bIns="0" rtlCol="0" anchor="ctr"/>
          <a:lstStyle/>
          <a:p>
            <a:pPr algn="ctr" indent="0" marL="0">
              <a:buNone/>
            </a:pPr>
            <a:r>
              <a:rPr lang="en-US" sz="1200" b="1" dirty="0">
                <a:solidFill>
                  <a:srgbClr val="0068BF"/>
                </a:solidFill>
                <a:latin typeface="Arial" pitchFamily="34" charset="0"/>
                <a:ea typeface="Arial" pitchFamily="34" charset="-122"/>
                <a:cs typeface="Arial" pitchFamily="34" charset="-120"/>
              </a:rPr>
              <a:t>2</a:t>
            </a:r>
            <a:endParaRPr lang="en-US" sz="1200" dirty="0"/>
          </a:p>
        </p:txBody>
      </p:sp>
      <p:sp>
        <p:nvSpPr>
          <p:cNvPr id="51" name="text-147"/>
          <p:cNvSpPr txBox="1"/>
          <p:nvPr/>
        </p:nvSpPr>
        <p:spPr>
          <a:xfrm>
            <a:off x="8138160" y="4681728"/>
            <a:ext cx="1170432" cy="411480"/>
          </a:xfrm>
          <a:prstGeom prst="rect">
            <a:avLst/>
          </a:prstGeom>
          <a:noFill/>
          <a:ln/>
        </p:spPr>
        <p:txBody>
          <a:bodyPr wrap="square" lIns="0" tIns="0" rIns="0" bIns="0" rtlCol="0" anchor="t"/>
          <a:lstStyle/>
          <a:p>
            <a:pPr algn="ctr" indent="0" marL="0">
              <a:buNone/>
            </a:pPr>
            <a:r>
              <a:rPr lang="en-US" sz="1050" b="1" dirty="0">
                <a:solidFill>
                  <a:srgbClr val="242424"/>
                </a:solidFill>
                <a:latin typeface="Arial" pitchFamily="34" charset="0"/>
                <a:ea typeface="Arial" pitchFamily="34" charset="-122"/>
                <a:cs typeface="Arial" pitchFamily="34" charset="-120"/>
              </a:rPr>
              <a:t>Metrics &amp; filters</a:t>
            </a:r>
            <a:endParaRPr lang="en-US" sz="1050" dirty="0"/>
          </a:p>
        </p:txBody>
      </p:sp>
      <p:sp>
        <p:nvSpPr>
          <p:cNvPr id="52" name="shape-148"/>
          <p:cNvSpPr/>
          <p:nvPr/>
        </p:nvSpPr>
        <p:spPr>
          <a:xfrm>
            <a:off x="9720072" y="4251960"/>
            <a:ext cx="384048" cy="384048"/>
          </a:xfrm>
          <a:prstGeom prst="ellipse">
            <a:avLst/>
          </a:prstGeom>
          <a:solidFill>
            <a:srgbClr val="FFFFFF"/>
          </a:solidFill>
          <a:ln w="19050">
            <a:solidFill>
              <a:srgbClr val="0068BF"/>
            </a:solidFill>
            <a:prstDash val="solid"/>
          </a:ln>
        </p:spPr>
      </p:sp>
      <p:sp>
        <p:nvSpPr>
          <p:cNvPr id="53" name="text-149"/>
          <p:cNvSpPr txBox="1"/>
          <p:nvPr/>
        </p:nvSpPr>
        <p:spPr>
          <a:xfrm>
            <a:off x="9720072" y="4251960"/>
            <a:ext cx="384048" cy="384048"/>
          </a:xfrm>
          <a:prstGeom prst="rect">
            <a:avLst/>
          </a:prstGeom>
          <a:noFill/>
          <a:ln/>
        </p:spPr>
        <p:txBody>
          <a:bodyPr wrap="square" lIns="0" tIns="0" rIns="0" bIns="0" rtlCol="0" anchor="ctr"/>
          <a:lstStyle/>
          <a:p>
            <a:pPr algn="ctr" indent="0" marL="0">
              <a:buNone/>
            </a:pPr>
            <a:r>
              <a:rPr lang="en-US" sz="1200" b="1" dirty="0">
                <a:solidFill>
                  <a:srgbClr val="0068BF"/>
                </a:solidFill>
                <a:latin typeface="Arial" pitchFamily="34" charset="0"/>
                <a:ea typeface="Arial" pitchFamily="34" charset="-122"/>
                <a:cs typeface="Arial" pitchFamily="34" charset="-120"/>
              </a:rPr>
              <a:t>3</a:t>
            </a:r>
            <a:endParaRPr lang="en-US" sz="1200" dirty="0"/>
          </a:p>
        </p:txBody>
      </p:sp>
      <p:sp>
        <p:nvSpPr>
          <p:cNvPr id="54" name="text-150"/>
          <p:cNvSpPr txBox="1"/>
          <p:nvPr/>
        </p:nvSpPr>
        <p:spPr>
          <a:xfrm>
            <a:off x="9326880" y="4681728"/>
            <a:ext cx="1170432" cy="411480"/>
          </a:xfrm>
          <a:prstGeom prst="rect">
            <a:avLst/>
          </a:prstGeom>
          <a:noFill/>
          <a:ln/>
        </p:spPr>
        <p:txBody>
          <a:bodyPr wrap="square" lIns="0" tIns="0" rIns="0" bIns="0" rtlCol="0" anchor="t"/>
          <a:lstStyle/>
          <a:p>
            <a:pPr algn="ctr" indent="0" marL="0">
              <a:buNone/>
            </a:pPr>
            <a:r>
              <a:rPr lang="en-US" sz="1050" b="1" dirty="0">
                <a:solidFill>
                  <a:srgbClr val="242424"/>
                </a:solidFill>
                <a:latin typeface="Arial" pitchFamily="34" charset="0"/>
                <a:ea typeface="Arial" pitchFamily="34" charset="-122"/>
                <a:cs typeface="Arial" pitchFamily="34" charset="-120"/>
              </a:rPr>
              <a:t>Update Analysis</a:t>
            </a:r>
            <a:endParaRPr lang="en-US" sz="1050" dirty="0"/>
          </a:p>
        </p:txBody>
      </p:sp>
      <p:sp>
        <p:nvSpPr>
          <p:cNvPr id="55" name="shape-151"/>
          <p:cNvSpPr/>
          <p:nvPr/>
        </p:nvSpPr>
        <p:spPr>
          <a:xfrm>
            <a:off x="10908792" y="4251960"/>
            <a:ext cx="384048" cy="384048"/>
          </a:xfrm>
          <a:prstGeom prst="ellipse">
            <a:avLst/>
          </a:prstGeom>
          <a:solidFill>
            <a:srgbClr val="0068BF"/>
          </a:solidFill>
          <a:ln w="19050">
            <a:solidFill>
              <a:srgbClr val="0068BF"/>
            </a:solidFill>
            <a:prstDash val="solid"/>
          </a:ln>
        </p:spPr>
      </p:sp>
      <p:sp>
        <p:nvSpPr>
          <p:cNvPr id="56" name="text-152"/>
          <p:cNvSpPr txBox="1"/>
          <p:nvPr/>
        </p:nvSpPr>
        <p:spPr>
          <a:xfrm>
            <a:off x="10908792" y="42519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57" name="text-153"/>
          <p:cNvSpPr txBox="1"/>
          <p:nvPr/>
        </p:nvSpPr>
        <p:spPr>
          <a:xfrm>
            <a:off x="10515600" y="4681728"/>
            <a:ext cx="1170432" cy="411480"/>
          </a:xfrm>
          <a:prstGeom prst="rect">
            <a:avLst/>
          </a:prstGeom>
          <a:noFill/>
          <a:ln/>
        </p:spPr>
        <p:txBody>
          <a:bodyPr wrap="square" lIns="0" tIns="0" rIns="0" bIns="0" rtlCol="0" anchor="t"/>
          <a:lstStyle/>
          <a:p>
            <a:pPr algn="ctr" indent="0" marL="0">
              <a:buNone/>
            </a:pPr>
            <a:r>
              <a:rPr lang="en-US" sz="1050" b="1" dirty="0">
                <a:solidFill>
                  <a:srgbClr val="242424"/>
                </a:solidFill>
                <a:latin typeface="Arial" pitchFamily="34" charset="0"/>
                <a:ea typeface="Arial" pitchFamily="34" charset="-122"/>
                <a:cs typeface="Arial" pitchFamily="34" charset="-120"/>
              </a:rPr>
              <a:t>Export</a:t>
            </a:r>
            <a:endParaRPr lang="en-US" sz="1050" dirty="0"/>
          </a:p>
        </p:txBody>
      </p:sp>
      <p:sp>
        <p:nvSpPr>
          <p:cNvPr id="58" name="text-154"/>
          <p:cNvSpPr txBox="1"/>
          <p:nvPr/>
        </p:nvSpPr>
        <p:spPr>
          <a:xfrm>
            <a:off x="6949440" y="5349240"/>
            <a:ext cx="1828800" cy="237744"/>
          </a:xfrm>
          <a:prstGeom prst="rect">
            <a:avLst/>
          </a:prstGeom>
          <a:noFill/>
          <a:ln/>
        </p:spPr>
        <p:txBody>
          <a:bodyPr wrap="square" lIns="0" tIns="0" rIns="0" bIns="0" rtlCol="0" anchor="ctr"/>
          <a:lstStyle/>
          <a:p>
            <a:pPr indent="0" marL="0">
              <a:buNone/>
            </a:pPr>
            <a:r>
              <a:rPr lang="en-US" sz="1050" b="1" spc="100" kern="0" dirty="0">
                <a:solidFill>
                  <a:srgbClr val="767676"/>
                </a:solidFill>
                <a:latin typeface="Arial" pitchFamily="34" charset="0"/>
                <a:ea typeface="Arial" pitchFamily="34" charset="-122"/>
                <a:cs typeface="Arial" pitchFamily="34" charset="-120"/>
              </a:rPr>
              <a:t>EXPORTS</a:t>
            </a:r>
            <a:endParaRPr lang="en-US" sz="1050" dirty="0"/>
          </a:p>
        </p:txBody>
      </p:sp>
      <p:sp>
        <p:nvSpPr>
          <p:cNvPr id="59" name="shape-155"/>
          <p:cNvSpPr/>
          <p:nvPr/>
        </p:nvSpPr>
        <p:spPr>
          <a:xfrm>
            <a:off x="6949440" y="5650992"/>
            <a:ext cx="457200" cy="457200"/>
          </a:xfrm>
          <a:prstGeom prst="ellipse">
            <a:avLst/>
          </a:prstGeom>
          <a:solidFill>
            <a:srgbClr val="D35230"/>
          </a:solidFill>
          <a:ln w="12700">
            <a:solidFill>
              <a:srgbClr val="D35230"/>
            </a:solidFill>
            <a:prstDash val="solid"/>
          </a:ln>
        </p:spPr>
      </p:sp>
      <p:pic>
        <p:nvPicPr>
          <p:cNvPr id="60" name="icon-156" descr="preencoded.png">    </p:cNvPr>
          <p:cNvPicPr>
            <a:picLocks noChangeAspect="1"/>
          </p:cNvPicPr>
          <p:nvPr/>
        </p:nvPicPr>
        <p:blipFill>
          <a:blip r:embed="rId6"/>
          <a:stretch>
            <a:fillRect/>
          </a:stretch>
        </p:blipFill>
        <p:spPr>
          <a:xfrm>
            <a:off x="7050024" y="5751576"/>
            <a:ext cx="256032" cy="256032"/>
          </a:xfrm>
          <a:prstGeom prst="rect">
            <a:avLst/>
          </a:prstGeom>
        </p:spPr>
      </p:pic>
      <p:sp>
        <p:nvSpPr>
          <p:cNvPr id="61" name="shape-157"/>
          <p:cNvSpPr/>
          <p:nvPr/>
        </p:nvSpPr>
        <p:spPr>
          <a:xfrm>
            <a:off x="7498080" y="5650992"/>
            <a:ext cx="457200" cy="457200"/>
          </a:xfrm>
          <a:prstGeom prst="ellipse">
            <a:avLst/>
          </a:prstGeom>
          <a:solidFill>
            <a:srgbClr val="2B579A"/>
          </a:solidFill>
          <a:ln w="12700">
            <a:solidFill>
              <a:srgbClr val="2B579A"/>
            </a:solidFill>
            <a:prstDash val="solid"/>
          </a:ln>
        </p:spPr>
      </p:sp>
      <p:pic>
        <p:nvPicPr>
          <p:cNvPr id="62" name="icon-158" descr="preencoded.png">    </p:cNvPr>
          <p:cNvPicPr>
            <a:picLocks noChangeAspect="1"/>
          </p:cNvPicPr>
          <p:nvPr/>
        </p:nvPicPr>
        <p:blipFill>
          <a:blip r:embed="rId7"/>
          <a:stretch>
            <a:fillRect/>
          </a:stretch>
        </p:blipFill>
        <p:spPr>
          <a:xfrm>
            <a:off x="7598664" y="5751576"/>
            <a:ext cx="256032" cy="256032"/>
          </a:xfrm>
          <a:prstGeom prst="rect">
            <a:avLst/>
          </a:prstGeom>
        </p:spPr>
      </p:pic>
      <p:sp>
        <p:nvSpPr>
          <p:cNvPr id="63" name="text-159"/>
          <p:cNvSpPr txBox="1"/>
          <p:nvPr/>
        </p:nvSpPr>
        <p:spPr>
          <a:xfrm>
            <a:off x="8092440" y="5605272"/>
            <a:ext cx="3520440" cy="548640"/>
          </a:xfrm>
          <a:prstGeom prst="rect">
            <a:avLst/>
          </a:prstGeom>
          <a:noFill/>
          <a:ln/>
        </p:spPr>
        <p:txBody>
          <a:bodyPr wrap="square" lIns="0" tIns="0" rIns="0" bIns="0" rtlCol="0" anchor="ctr"/>
          <a:lstStyle/>
          <a:p>
            <a:pPr indent="0" marL="0">
              <a:buNone/>
            </a:pPr>
            <a:r>
              <a:rPr lang="en-US" sz="1150" dirty="0">
                <a:solidFill>
                  <a:srgbClr val="767676"/>
                </a:solidFill>
                <a:latin typeface="Arial" pitchFamily="34" charset="0"/>
                <a:ea typeface="Arial" pitchFamily="34" charset="-122"/>
                <a:cs typeface="Arial" pitchFamily="34" charset="-120"/>
              </a:rPr>
              <a:t>PowerPoint and Word of the analysis on screen, in seven themes</a:t>
            </a:r>
            <a:endParaRPr lang="en-US" sz="1150" dirty="0"/>
          </a:p>
        </p:txBody>
      </p:sp>
      <p:sp>
        <p:nvSpPr>
          <p:cNvPr id="25" name="Slide Number Placeholder 0"/>
          <p:cNvSpPr>
            <a:spLocks noGrp="1"/>
          </p:cNvSpPr>
          <p:nvPr>
            <p:ph type="sldNum" sz="quarter" idx="4294967295"/>
          </p:nvPr>
        </p:nvSpPr>
        <p:spPr>
          <a:xfrm>
            <a:off x="548640" y="640080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67676"/>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0424160" cy="658368"/>
          </a:xfrm>
          <a:prstGeom prst="rect">
            <a:avLst/>
          </a:prstGeom>
          <a:noFill/>
          <a:ln/>
        </p:spPr>
        <p:txBody>
          <a:bodyPr wrap="square" lIns="0" tIns="0" rIns="0" bIns="0" rtlCol="0" anchor="ctr"/>
          <a:lstStyle/>
          <a:p>
            <a:pPr algn="l" indent="0" marL="0">
              <a:buNone/>
            </a:pPr>
            <a:r>
              <a:rPr lang="en-US" sz="3000" dirty="0">
                <a:solidFill>
                  <a:srgbClr val="000000"/>
                </a:solidFill>
                <a:latin typeface="Arial" pitchFamily="34" charset="0"/>
                <a:ea typeface="Arial" pitchFamily="34" charset="-122"/>
                <a:cs typeface="Arial" pitchFamily="34" charset="-120"/>
              </a:rPr>
              <a:t>PPT Dashboards — </a:t>
            </a:r>
            <a:pPr algn="l" indent="0" marL="0">
              <a:buNone/>
            </a:pPr>
            <a:r>
              <a:rPr lang="en-US" sz="3000" b="1" dirty="0">
                <a:solidFill>
                  <a:srgbClr val="0068BF"/>
                </a:solidFill>
                <a:latin typeface="Arial" pitchFamily="34" charset="0"/>
                <a:ea typeface="Arial" pitchFamily="34" charset="-122"/>
                <a:cs typeface="Arial" pitchFamily="34" charset="-120"/>
              </a:rPr>
              <a:t>the KPI deck, live and in PowerPoint</a:t>
            </a:r>
            <a:endParaRPr lang="en-US" sz="3000" dirty="0"/>
          </a:p>
        </p:txBody>
      </p:sp>
      <p:sp>
        <p:nvSpPr>
          <p:cNvPr id="3" name="text-160"/>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dirty="0">
                <a:solidFill>
                  <a:srgbClr val="767676"/>
                </a:solidFill>
                <a:latin typeface="Arial" pitchFamily="34" charset="0"/>
                <a:ea typeface="Arial" pitchFamily="34" charset="-122"/>
                <a:cs typeface="Arial" pitchFamily="34" charset="-120"/>
              </a:rPr>
              <a:t>A saved Report Template becomes an interactive Dashboard of every slide, then a PowerPoint in one click</a:t>
            </a:r>
            <a:endParaRPr lang="en-US" sz="1500" dirty="0"/>
          </a:p>
        </p:txBody>
      </p:sp>
      <p:sp>
        <p:nvSpPr>
          <p:cNvPr id="4" name="shape-161"/>
          <p:cNvSpPr/>
          <p:nvPr/>
        </p:nvSpPr>
        <p:spPr>
          <a:xfrm>
            <a:off x="548640" y="1645920"/>
            <a:ext cx="3429000" cy="3291840"/>
          </a:xfrm>
          <a:prstGeom prst="roundRect">
            <a:avLst>
              <a:gd name="adj" fmla="val 3889"/>
            </a:avLst>
          </a:prstGeom>
          <a:solidFill>
            <a:srgbClr val="F2F2F2"/>
          </a:solidFill>
          <a:ln w="12700">
            <a:solidFill>
              <a:srgbClr val="F2F2F2"/>
            </a:solidFill>
            <a:prstDash val="solid"/>
          </a:ln>
        </p:spPr>
      </p:sp>
      <p:sp>
        <p:nvSpPr>
          <p:cNvPr id="5" name="shape-162"/>
          <p:cNvSpPr/>
          <p:nvPr/>
        </p:nvSpPr>
        <p:spPr>
          <a:xfrm>
            <a:off x="749808" y="1828800"/>
            <a:ext cx="384048" cy="384048"/>
          </a:xfrm>
          <a:prstGeom prst="ellipse">
            <a:avLst/>
          </a:prstGeom>
          <a:solidFill>
            <a:srgbClr val="E07800"/>
          </a:solidFill>
          <a:ln w="12700">
            <a:solidFill>
              <a:srgbClr val="E07800"/>
            </a:solidFill>
            <a:prstDash val="solid"/>
          </a:ln>
        </p:spPr>
      </p:sp>
      <p:sp>
        <p:nvSpPr>
          <p:cNvPr id="6" name="text-163"/>
          <p:cNvSpPr txBox="1"/>
          <p:nvPr/>
        </p:nvSpPr>
        <p:spPr>
          <a:xfrm>
            <a:off x="749808" y="1828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164"/>
          <p:cNvSpPr txBox="1"/>
          <p:nvPr/>
        </p:nvSpPr>
        <p:spPr>
          <a:xfrm>
            <a:off x="1261872" y="1828800"/>
            <a:ext cx="2606040" cy="384048"/>
          </a:xfrm>
          <a:prstGeom prst="rect">
            <a:avLst/>
          </a:prstGeom>
          <a:noFill/>
          <a:ln/>
        </p:spPr>
        <p:txBody>
          <a:bodyPr wrap="square" lIns="0" tIns="0" rIns="0" bIns="0" rtlCol="0" anchor="ctr"/>
          <a:lstStyle/>
          <a:p>
            <a:pPr indent="0" marL="0">
              <a:buNone/>
            </a:pPr>
            <a:r>
              <a:rPr lang="en-US" sz="1500" b="1" dirty="0">
                <a:solidFill>
                  <a:srgbClr val="242424"/>
                </a:solidFill>
                <a:latin typeface="Arial" pitchFamily="34" charset="0"/>
                <a:ea typeface="Arial" pitchFamily="34" charset="-122"/>
                <a:cs typeface="Arial" pitchFamily="34" charset="-120"/>
              </a:rPr>
              <a:t>Report Template</a:t>
            </a:r>
            <a:endParaRPr lang="en-US" sz="1500" dirty="0"/>
          </a:p>
        </p:txBody>
      </p:sp>
      <p:sp>
        <p:nvSpPr>
          <p:cNvPr id="8" name="text-165"/>
          <p:cNvSpPr txBox="1"/>
          <p:nvPr/>
        </p:nvSpPr>
        <p:spPr>
          <a:xfrm>
            <a:off x="749808" y="4315968"/>
            <a:ext cx="3063240" cy="502920"/>
          </a:xfrm>
          <a:prstGeom prst="rect">
            <a:avLst/>
          </a:prstGeom>
          <a:noFill/>
          <a:ln/>
        </p:spPr>
        <p:txBody>
          <a:bodyPr wrap="square" lIns="0" tIns="0" rIns="0" bIns="0" rtlCol="0" anchor="t"/>
          <a:lstStyle/>
          <a:p>
            <a:pPr indent="0" marL="0">
              <a:buNone/>
            </a:pPr>
            <a:r>
              <a:rPr lang="en-US" sz="1100" dirty="0">
                <a:solidFill>
                  <a:srgbClr val="767676"/>
                </a:solidFill>
                <a:latin typeface="Arial" pitchFamily="34" charset="0"/>
                <a:ea typeface="Arial" pitchFamily="34" charset="-122"/>
                <a:cs typeface="Arial" pitchFamily="34" charset="-120"/>
              </a:rPr>
              <a:t>Slides, charts, KPIs and splits, validated as you edit</a:t>
            </a:r>
            <a:endParaRPr lang="en-US" sz="1100" dirty="0"/>
          </a:p>
        </p:txBody>
      </p:sp>
      <p:sp>
        <p:nvSpPr>
          <p:cNvPr id="9" name="shape-166"/>
          <p:cNvSpPr/>
          <p:nvPr/>
        </p:nvSpPr>
        <p:spPr>
          <a:xfrm>
            <a:off x="4023360" y="3108960"/>
            <a:ext cx="310896" cy="0"/>
          </a:xfrm>
          <a:prstGeom prst="line">
            <a:avLst/>
          </a:prstGeom>
          <a:noFill/>
          <a:ln w="22225">
            <a:solidFill>
              <a:srgbClr val="A0A0A0"/>
            </a:solidFill>
            <a:prstDash val="solid"/>
            <a:tailEnd type="triangle"/>
          </a:ln>
        </p:spPr>
      </p:sp>
      <p:sp>
        <p:nvSpPr>
          <p:cNvPr id="10" name="shape-167"/>
          <p:cNvSpPr/>
          <p:nvPr/>
        </p:nvSpPr>
        <p:spPr>
          <a:xfrm>
            <a:off x="4379976" y="1645920"/>
            <a:ext cx="3429000" cy="3291840"/>
          </a:xfrm>
          <a:prstGeom prst="roundRect">
            <a:avLst>
              <a:gd name="adj" fmla="val 3889"/>
            </a:avLst>
          </a:prstGeom>
          <a:solidFill>
            <a:srgbClr val="F2F2F2"/>
          </a:solidFill>
          <a:ln w="12700">
            <a:solidFill>
              <a:srgbClr val="F2F2F2"/>
            </a:solidFill>
            <a:prstDash val="solid"/>
          </a:ln>
        </p:spPr>
      </p:sp>
      <p:sp>
        <p:nvSpPr>
          <p:cNvPr id="11" name="shape-168"/>
          <p:cNvSpPr/>
          <p:nvPr/>
        </p:nvSpPr>
        <p:spPr>
          <a:xfrm>
            <a:off x="4581144" y="1828800"/>
            <a:ext cx="384048" cy="384048"/>
          </a:xfrm>
          <a:prstGeom prst="ellipse">
            <a:avLst/>
          </a:prstGeom>
          <a:solidFill>
            <a:srgbClr val="E07800"/>
          </a:solidFill>
          <a:ln w="12700">
            <a:solidFill>
              <a:srgbClr val="E07800"/>
            </a:solidFill>
            <a:prstDash val="solid"/>
          </a:ln>
        </p:spPr>
      </p:sp>
      <p:sp>
        <p:nvSpPr>
          <p:cNvPr id="12" name="text-169"/>
          <p:cNvSpPr txBox="1"/>
          <p:nvPr/>
        </p:nvSpPr>
        <p:spPr>
          <a:xfrm>
            <a:off x="4581144" y="1828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text-170"/>
          <p:cNvSpPr txBox="1"/>
          <p:nvPr/>
        </p:nvSpPr>
        <p:spPr>
          <a:xfrm>
            <a:off x="5093208" y="1828800"/>
            <a:ext cx="2606040" cy="384048"/>
          </a:xfrm>
          <a:prstGeom prst="rect">
            <a:avLst/>
          </a:prstGeom>
          <a:noFill/>
          <a:ln/>
        </p:spPr>
        <p:txBody>
          <a:bodyPr wrap="square" lIns="0" tIns="0" rIns="0" bIns="0" rtlCol="0" anchor="ctr"/>
          <a:lstStyle/>
          <a:p>
            <a:pPr indent="0" marL="0">
              <a:buNone/>
            </a:pPr>
            <a:r>
              <a:rPr lang="en-US" sz="1500" b="1" dirty="0">
                <a:solidFill>
                  <a:srgbClr val="242424"/>
                </a:solidFill>
                <a:latin typeface="Arial" pitchFamily="34" charset="0"/>
                <a:ea typeface="Arial" pitchFamily="34" charset="-122"/>
                <a:cs typeface="Arial" pitchFamily="34" charset="-120"/>
              </a:rPr>
              <a:t>Interactive Dashboard</a:t>
            </a:r>
            <a:endParaRPr lang="en-US" sz="1500" dirty="0"/>
          </a:p>
        </p:txBody>
      </p:sp>
      <p:sp>
        <p:nvSpPr>
          <p:cNvPr id="14" name="text-171"/>
          <p:cNvSpPr txBox="1"/>
          <p:nvPr/>
        </p:nvSpPr>
        <p:spPr>
          <a:xfrm>
            <a:off x="4581144" y="4315968"/>
            <a:ext cx="3063240" cy="502920"/>
          </a:xfrm>
          <a:prstGeom prst="rect">
            <a:avLst/>
          </a:prstGeom>
          <a:noFill/>
          <a:ln/>
        </p:spPr>
        <p:txBody>
          <a:bodyPr wrap="square" lIns="0" tIns="0" rIns="0" bIns="0" rtlCol="0" anchor="t"/>
          <a:lstStyle/>
          <a:p>
            <a:pPr indent="0" marL="0">
              <a:buNone/>
            </a:pPr>
            <a:r>
              <a:rPr lang="en-US" sz="1100" dirty="0">
                <a:solidFill>
                  <a:srgbClr val="767676"/>
                </a:solidFill>
                <a:latin typeface="Arial" pitchFamily="34" charset="0"/>
                <a:ea typeface="Arial" pitchFamily="34" charset="-122"/>
                <a:cs typeface="Arial" pitchFamily="34" charset="-120"/>
              </a:rPr>
              <a:t>Every slide live, with its scope, filters and comments</a:t>
            </a:r>
            <a:endParaRPr lang="en-US" sz="1100" dirty="0"/>
          </a:p>
        </p:txBody>
      </p:sp>
      <p:sp>
        <p:nvSpPr>
          <p:cNvPr id="15" name="shape-172"/>
          <p:cNvSpPr/>
          <p:nvPr/>
        </p:nvSpPr>
        <p:spPr>
          <a:xfrm>
            <a:off x="7854696" y="3108960"/>
            <a:ext cx="310896" cy="0"/>
          </a:xfrm>
          <a:prstGeom prst="line">
            <a:avLst/>
          </a:prstGeom>
          <a:noFill/>
          <a:ln w="22225">
            <a:solidFill>
              <a:srgbClr val="A0A0A0"/>
            </a:solidFill>
            <a:prstDash val="solid"/>
            <a:tailEnd type="triangle"/>
          </a:ln>
        </p:spPr>
      </p:sp>
      <p:sp>
        <p:nvSpPr>
          <p:cNvPr id="16" name="shape-173"/>
          <p:cNvSpPr/>
          <p:nvPr/>
        </p:nvSpPr>
        <p:spPr>
          <a:xfrm>
            <a:off x="8211312" y="1645920"/>
            <a:ext cx="3429000" cy="3291840"/>
          </a:xfrm>
          <a:prstGeom prst="roundRect">
            <a:avLst>
              <a:gd name="adj" fmla="val 3889"/>
            </a:avLst>
          </a:prstGeom>
          <a:solidFill>
            <a:srgbClr val="F2F2F2"/>
          </a:solidFill>
          <a:ln w="12700">
            <a:solidFill>
              <a:srgbClr val="F2F2F2"/>
            </a:solidFill>
            <a:prstDash val="solid"/>
          </a:ln>
        </p:spPr>
      </p:sp>
      <p:sp>
        <p:nvSpPr>
          <p:cNvPr id="17" name="shape-174"/>
          <p:cNvSpPr/>
          <p:nvPr/>
        </p:nvSpPr>
        <p:spPr>
          <a:xfrm>
            <a:off x="8412480" y="1828800"/>
            <a:ext cx="384048" cy="384048"/>
          </a:xfrm>
          <a:prstGeom prst="ellipse">
            <a:avLst/>
          </a:prstGeom>
          <a:solidFill>
            <a:srgbClr val="E07800"/>
          </a:solidFill>
          <a:ln w="12700">
            <a:solidFill>
              <a:srgbClr val="E07800"/>
            </a:solidFill>
            <a:prstDash val="solid"/>
          </a:ln>
        </p:spPr>
      </p:sp>
      <p:sp>
        <p:nvSpPr>
          <p:cNvPr id="18" name="text-175"/>
          <p:cNvSpPr txBox="1"/>
          <p:nvPr/>
        </p:nvSpPr>
        <p:spPr>
          <a:xfrm>
            <a:off x="8412480" y="1828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9" name="text-176"/>
          <p:cNvSpPr txBox="1"/>
          <p:nvPr/>
        </p:nvSpPr>
        <p:spPr>
          <a:xfrm>
            <a:off x="8924544" y="1828800"/>
            <a:ext cx="2606040" cy="384048"/>
          </a:xfrm>
          <a:prstGeom prst="rect">
            <a:avLst/>
          </a:prstGeom>
          <a:noFill/>
          <a:ln/>
        </p:spPr>
        <p:txBody>
          <a:bodyPr wrap="square" lIns="0" tIns="0" rIns="0" bIns="0" rtlCol="0" anchor="ctr"/>
          <a:lstStyle/>
          <a:p>
            <a:pPr indent="0" marL="0">
              <a:buNone/>
            </a:pPr>
            <a:r>
              <a:rPr lang="en-US" sz="1500" b="1" dirty="0">
                <a:solidFill>
                  <a:srgbClr val="242424"/>
                </a:solidFill>
                <a:latin typeface="Arial" pitchFamily="34" charset="0"/>
                <a:ea typeface="Arial" pitchFamily="34" charset="-122"/>
                <a:cs typeface="Arial" pitchFamily="34" charset="-120"/>
              </a:rPr>
              <a:t>PowerPoint</a:t>
            </a:r>
            <a:endParaRPr lang="en-US" sz="1500" dirty="0"/>
          </a:p>
        </p:txBody>
      </p:sp>
      <p:sp>
        <p:nvSpPr>
          <p:cNvPr id="20" name="text-177"/>
          <p:cNvSpPr txBox="1"/>
          <p:nvPr/>
        </p:nvSpPr>
        <p:spPr>
          <a:xfrm>
            <a:off x="8412480" y="4315968"/>
            <a:ext cx="3063240" cy="502920"/>
          </a:xfrm>
          <a:prstGeom prst="rect">
            <a:avLst/>
          </a:prstGeom>
          <a:noFill/>
          <a:ln/>
        </p:spPr>
        <p:txBody>
          <a:bodyPr wrap="square" lIns="0" tIns="0" rIns="0" bIns="0" rtlCol="0" anchor="t"/>
          <a:lstStyle/>
          <a:p>
            <a:pPr indent="0" marL="0">
              <a:buNone/>
            </a:pPr>
            <a:r>
              <a:rPr lang="en-US" sz="1100" dirty="0">
                <a:solidFill>
                  <a:srgbClr val="767676"/>
                </a:solidFill>
                <a:latin typeface="Arial" pitchFamily="34" charset="0"/>
                <a:ea typeface="Arial" pitchFamily="34" charset="-122"/>
                <a:cs typeface="Arial" pitchFamily="34" charset="-120"/>
              </a:rPr>
              <a:t>The whole deck in your template, in one click</a:t>
            </a:r>
            <a:endParaRPr lang="en-US" sz="1100" dirty="0"/>
          </a:p>
        </p:txBody>
      </p:sp>
      <p:graphicFrame>
        <p:nvGraphicFramePr>
          <p:cNvPr id="6" name="Report Template rows"/>
          <p:cNvGraphicFramePr>
            <a:graphicFrameLocks noGrp="1"/>
          </p:cNvGraphicFramePr>
          <p:nvPr>
            <p:extLst>
              <p:ext uri="{D42A27DB-BD31-4B8C-83A1-F6EECF244321}">
                <p14:modId xmlns:p14="http://schemas.microsoft.com/office/powerpoint/2010/main" val="1579011935"/>
              </p:ext>
            </p:extLst>
          </p:nvPr>
        </p:nvGraphicFramePr>
        <p:xfrm>
          <a:off x="749808" y="2395728"/>
          <a:ext cx="3026664" cy="914400"/>
        </p:xfrm>
        <a:graphic>
          <a:graphicData uri="http://schemas.openxmlformats.org/drawingml/2006/table">
            <a:tbl>
              <a:tblPr/>
              <a:tblGrid>
                <a:gridCol w="502920"/>
                <a:gridCol w="594360"/>
                <a:gridCol w="1106424"/>
                <a:gridCol w="822960"/>
              </a:tblGrid>
              <a:tr h="329184">
                <a:tc>
                  <a:txBody>
                    <a:bodyPr/>
                    <a:lstStyle/>
                    <a:p>
                      <a:pPr indent="0" marL="0">
                        <a:buNone/>
                      </a:pPr>
                      <a:r>
                        <a:rPr lang="en-US" sz="950" b="1" dirty="0">
                          <a:solidFill>
                            <a:srgbClr val="FFFFFF"/>
                          </a:solidFill>
                          <a:latin typeface="Arial" pitchFamily="34" charset="0"/>
                          <a:ea typeface="Arial" pitchFamily="34" charset="-122"/>
                          <a:cs typeface="Arial" pitchFamily="34" charset="-120"/>
                        </a:rPr>
                        <a:t>Slide</a:t>
                      </a:r>
                      <a:endParaRPr lang="en-US" sz="950" dirty="0">
                        <a:latin typeface="Arial" charset="0"/>
                        <a:ea typeface="Arial" charset="0"/>
                        <a:cs typeface="Arial" charset="0"/>
                      </a:endParaRPr>
                    </a:p>
                  </a:txBody>
                  <a:tcPr marL="36576" marR="36576" marT="36576" marB="36576">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E07800"/>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Chart</a:t>
                      </a:r>
                      <a:endParaRPr lang="en-US" sz="950" dirty="0">
                        <a:latin typeface="Arial" charset="0"/>
                        <a:ea typeface="Arial" charset="0"/>
                        <a:cs typeface="Arial" charset="0"/>
                      </a:endParaRPr>
                    </a:p>
                  </a:txBody>
                  <a:tcPr marL="36576" marR="36576" marT="36576" marB="36576">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E07800"/>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KPI</a:t>
                      </a:r>
                      <a:endParaRPr lang="en-US" sz="950" dirty="0">
                        <a:latin typeface="Arial" charset="0"/>
                        <a:ea typeface="Arial" charset="0"/>
                        <a:cs typeface="Arial" charset="0"/>
                      </a:endParaRPr>
                    </a:p>
                  </a:txBody>
                  <a:tcPr marL="36576" marR="36576" marT="36576" marB="36576">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E07800"/>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Split</a:t>
                      </a:r>
                      <a:endParaRPr lang="en-US" sz="950" dirty="0">
                        <a:latin typeface="Arial" charset="0"/>
                        <a:ea typeface="Arial" charset="0"/>
                        <a:cs typeface="Arial" charset="0"/>
                      </a:endParaRPr>
                    </a:p>
                  </a:txBody>
                  <a:tcPr marL="36576" marR="36576" marT="36576" marB="36576">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E07800"/>
                    </a:solidFill>
                  </a:tcPr>
                </a:tc>
              </a:tr>
              <a:tr h="329184">
                <a:tc>
                  <a:txBody>
                    <a:bodyPr/>
                    <a:lstStyle/>
                    <a:p>
                      <a:pPr indent="0" marL="0">
                        <a:buNone/>
                      </a:pPr>
                      <a:r>
                        <a:rPr lang="en-US" sz="950" dirty="0">
                          <a:solidFill>
                            <a:srgbClr val="242424"/>
                          </a:solidFill>
                          <a:latin typeface="Arial" pitchFamily="34" charset="0"/>
                          <a:ea typeface="Arial" pitchFamily="34" charset="-122"/>
                          <a:cs typeface="Arial" pitchFamily="34" charset="-120"/>
                        </a:rPr>
                        <a:t>3</a:t>
                      </a:r>
                      <a:endParaRPr lang="en-US" sz="950" dirty="0">
                        <a:latin typeface="Arial" charset="0"/>
                        <a:ea typeface="Arial" charset="0"/>
                        <a:cs typeface="Arial" charset="0"/>
                      </a:endParaRPr>
                    </a:p>
                  </a:txBody>
                  <a:tcPr marL="36576" marR="36576" marT="36576" marB="36576">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950" dirty="0">
                          <a:solidFill>
                            <a:srgbClr val="242424"/>
                          </a:solidFill>
                          <a:latin typeface="Arial" pitchFamily="34" charset="0"/>
                          <a:ea typeface="Arial" pitchFamily="34" charset="-122"/>
                          <a:cs typeface="Arial" pitchFamily="34" charset="-120"/>
                        </a:rPr>
                        <a:t>CDF</a:t>
                      </a:r>
                      <a:endParaRPr lang="en-US" sz="950" dirty="0">
                        <a:latin typeface="Arial" charset="0"/>
                        <a:ea typeface="Arial" charset="0"/>
                        <a:cs typeface="Arial" charset="0"/>
                      </a:endParaRPr>
                    </a:p>
                  </a:txBody>
                  <a:tcPr marL="36576" marR="36576" marT="36576" marB="36576">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950" dirty="0">
                          <a:solidFill>
                            <a:srgbClr val="242424"/>
                          </a:solidFill>
                          <a:latin typeface="Arial" pitchFamily="34" charset="0"/>
                          <a:ea typeface="Arial" pitchFamily="34" charset="-122"/>
                          <a:cs typeface="Arial" pitchFamily="34" charset="-120"/>
                        </a:rPr>
                        <a:t>DL throughput</a:t>
                      </a:r>
                      <a:endParaRPr lang="en-US" sz="950" dirty="0">
                        <a:latin typeface="Arial" charset="0"/>
                        <a:ea typeface="Arial" charset="0"/>
                        <a:cs typeface="Arial" charset="0"/>
                      </a:endParaRPr>
                    </a:p>
                  </a:txBody>
                  <a:tcPr marL="36576" marR="36576" marT="36576" marB="36576">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950" dirty="0">
                          <a:solidFill>
                            <a:srgbClr val="242424"/>
                          </a:solidFill>
                          <a:latin typeface="Arial" pitchFamily="34" charset="0"/>
                          <a:ea typeface="Arial" pitchFamily="34" charset="-122"/>
                          <a:cs typeface="Arial" pitchFamily="34" charset="-120"/>
                        </a:rPr>
                        <a:t>Operator</a:t>
                      </a:r>
                      <a:endParaRPr lang="en-US" sz="950" dirty="0">
                        <a:latin typeface="Arial" charset="0"/>
                        <a:ea typeface="Arial" charset="0"/>
                        <a:cs typeface="Arial" charset="0"/>
                      </a:endParaRPr>
                    </a:p>
                  </a:txBody>
                  <a:tcPr marL="36576" marR="36576" marT="36576" marB="36576">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r>
              <a:tr h="329184">
                <a:tc>
                  <a:txBody>
                    <a:bodyPr/>
                    <a:lstStyle/>
                    <a:p>
                      <a:pPr indent="0" marL="0">
                        <a:buNone/>
                      </a:pPr>
                      <a:r>
                        <a:rPr lang="en-US" sz="950" dirty="0">
                          <a:solidFill>
                            <a:srgbClr val="242424"/>
                          </a:solidFill>
                          <a:latin typeface="Arial" pitchFamily="34" charset="0"/>
                          <a:ea typeface="Arial" pitchFamily="34" charset="-122"/>
                          <a:cs typeface="Arial" pitchFamily="34" charset="-120"/>
                        </a:rPr>
                        <a:t>4</a:t>
                      </a:r>
                      <a:endParaRPr lang="en-US" sz="950" dirty="0">
                        <a:latin typeface="Arial" charset="0"/>
                        <a:ea typeface="Arial" charset="0"/>
                        <a:cs typeface="Arial" charset="0"/>
                      </a:endParaRPr>
                    </a:p>
                  </a:txBody>
                  <a:tcPr marL="36576" marR="36576" marT="36576" marB="36576">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950" dirty="0">
                          <a:solidFill>
                            <a:srgbClr val="242424"/>
                          </a:solidFill>
                          <a:latin typeface="Arial" pitchFamily="34" charset="0"/>
                          <a:ea typeface="Arial" pitchFamily="34" charset="-122"/>
                          <a:cs typeface="Arial" pitchFamily="34" charset="-120"/>
                        </a:rPr>
                        <a:t>Bars</a:t>
                      </a:r>
                      <a:endParaRPr lang="en-US" sz="950" dirty="0">
                        <a:latin typeface="Arial" charset="0"/>
                        <a:ea typeface="Arial" charset="0"/>
                        <a:cs typeface="Arial" charset="0"/>
                      </a:endParaRPr>
                    </a:p>
                  </a:txBody>
                  <a:tcPr marL="36576" marR="36576" marT="36576" marB="36576">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950" dirty="0">
                          <a:solidFill>
                            <a:srgbClr val="242424"/>
                          </a:solidFill>
                          <a:latin typeface="Arial" pitchFamily="34" charset="0"/>
                          <a:ea typeface="Arial" pitchFamily="34" charset="-122"/>
                          <a:cs typeface="Arial" pitchFamily="34" charset="-120"/>
                        </a:rPr>
                        <a:t>Call setup time</a:t>
                      </a:r>
                      <a:endParaRPr lang="en-US" sz="950" dirty="0">
                        <a:latin typeface="Arial" charset="0"/>
                        <a:ea typeface="Arial" charset="0"/>
                        <a:cs typeface="Arial" charset="0"/>
                      </a:endParaRPr>
                    </a:p>
                  </a:txBody>
                  <a:tcPr marL="36576" marR="36576" marT="36576" marB="36576">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950" dirty="0">
                          <a:solidFill>
                            <a:srgbClr val="242424"/>
                          </a:solidFill>
                          <a:latin typeface="Arial" pitchFamily="34" charset="0"/>
                          <a:ea typeface="Arial" pitchFamily="34" charset="-122"/>
                          <a:cs typeface="Arial" pitchFamily="34" charset="-120"/>
                        </a:rPr>
                        <a:t>City</a:t>
                      </a:r>
                      <a:endParaRPr lang="en-US" sz="950" dirty="0">
                        <a:latin typeface="Arial" charset="0"/>
                        <a:ea typeface="Arial" charset="0"/>
                        <a:cs typeface="Arial" charset="0"/>
                      </a:endParaRPr>
                    </a:p>
                  </a:txBody>
                  <a:tcPr marL="36576" marR="36576" marT="36576" marB="36576">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r>
              <a:tr h="329184">
                <a:tc>
                  <a:txBody>
                    <a:bodyPr/>
                    <a:lstStyle/>
                    <a:p>
                      <a:pPr indent="0" marL="0">
                        <a:buNone/>
                      </a:pPr>
                      <a:r>
                        <a:rPr lang="en-US" sz="950" dirty="0">
                          <a:solidFill>
                            <a:srgbClr val="242424"/>
                          </a:solidFill>
                          <a:latin typeface="Arial" pitchFamily="34" charset="0"/>
                          <a:ea typeface="Arial" pitchFamily="34" charset="-122"/>
                          <a:cs typeface="Arial" pitchFamily="34" charset="-120"/>
                        </a:rPr>
                        <a:t>5</a:t>
                      </a:r>
                      <a:endParaRPr lang="en-US" sz="950" dirty="0">
                        <a:latin typeface="Arial" charset="0"/>
                        <a:ea typeface="Arial" charset="0"/>
                        <a:cs typeface="Arial" charset="0"/>
                      </a:endParaRPr>
                    </a:p>
                  </a:txBody>
                  <a:tcPr marL="36576" marR="36576" marT="36576" marB="36576">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950" dirty="0">
                          <a:solidFill>
                            <a:srgbClr val="242424"/>
                          </a:solidFill>
                          <a:latin typeface="Arial" pitchFamily="34" charset="0"/>
                          <a:ea typeface="Arial" pitchFamily="34" charset="-122"/>
                          <a:cs typeface="Arial" pitchFamily="34" charset="-120"/>
                        </a:rPr>
                        <a:t>Map</a:t>
                      </a:r>
                      <a:endParaRPr lang="en-US" sz="950" dirty="0">
                        <a:latin typeface="Arial" charset="0"/>
                        <a:ea typeface="Arial" charset="0"/>
                        <a:cs typeface="Arial" charset="0"/>
                      </a:endParaRPr>
                    </a:p>
                  </a:txBody>
                  <a:tcPr marL="36576" marR="36576" marT="36576" marB="36576">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950" dirty="0">
                          <a:solidFill>
                            <a:srgbClr val="242424"/>
                          </a:solidFill>
                          <a:latin typeface="Arial" pitchFamily="34" charset="0"/>
                          <a:ea typeface="Arial" pitchFamily="34" charset="-122"/>
                          <a:cs typeface="Arial" pitchFamily="34" charset="-120"/>
                        </a:rPr>
                        <a:t>RSRP</a:t>
                      </a:r>
                      <a:endParaRPr lang="en-US" sz="950" dirty="0">
                        <a:latin typeface="Arial" charset="0"/>
                        <a:ea typeface="Arial" charset="0"/>
                        <a:cs typeface="Arial" charset="0"/>
                      </a:endParaRPr>
                    </a:p>
                  </a:txBody>
                  <a:tcPr marL="36576" marR="36576" marT="36576" marB="36576">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950" dirty="0">
                          <a:solidFill>
                            <a:srgbClr val="242424"/>
                          </a:solidFill>
                          <a:latin typeface="Arial" pitchFamily="34" charset="0"/>
                          <a:ea typeface="Arial" pitchFamily="34" charset="-122"/>
                          <a:cs typeface="Arial" pitchFamily="34" charset="-120"/>
                        </a:rPr>
                        <a:t>Region</a:t>
                      </a:r>
                      <a:endParaRPr lang="en-US" sz="950" dirty="0">
                        <a:latin typeface="Arial" charset="0"/>
                        <a:ea typeface="Arial" charset="0"/>
                        <a:cs typeface="Arial" charset="0"/>
                      </a:endParaRPr>
                    </a:p>
                  </a:txBody>
                  <a:tcPr marL="36576" marR="36576" marT="36576" marB="36576">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r>
              <a:tr h="329184">
                <a:tc>
                  <a:txBody>
                    <a:bodyPr/>
                    <a:lstStyle/>
                    <a:p>
                      <a:pPr indent="0" marL="0">
                        <a:buNone/>
                      </a:pPr>
                      <a:r>
                        <a:rPr lang="en-US" sz="950" dirty="0">
                          <a:solidFill>
                            <a:srgbClr val="242424"/>
                          </a:solidFill>
                          <a:latin typeface="Arial" pitchFamily="34" charset="0"/>
                          <a:ea typeface="Arial" pitchFamily="34" charset="-122"/>
                          <a:cs typeface="Arial" pitchFamily="34" charset="-120"/>
                        </a:rPr>
                        <a:t>6</a:t>
                      </a:r>
                      <a:endParaRPr lang="en-US" sz="950" dirty="0">
                        <a:latin typeface="Arial" charset="0"/>
                        <a:ea typeface="Arial" charset="0"/>
                        <a:cs typeface="Arial" charset="0"/>
                      </a:endParaRPr>
                    </a:p>
                  </a:txBody>
                  <a:tcPr marL="36576" marR="36576" marT="36576" marB="36576">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950" dirty="0">
                          <a:solidFill>
                            <a:srgbClr val="242424"/>
                          </a:solidFill>
                          <a:latin typeface="Arial" pitchFamily="34" charset="0"/>
                          <a:ea typeface="Arial" pitchFamily="34" charset="-122"/>
                          <a:cs typeface="Arial" pitchFamily="34" charset="-120"/>
                        </a:rPr>
                        <a:t>Table</a:t>
                      </a:r>
                      <a:endParaRPr lang="en-US" sz="950" dirty="0">
                        <a:latin typeface="Arial" charset="0"/>
                        <a:ea typeface="Arial" charset="0"/>
                        <a:cs typeface="Arial" charset="0"/>
                      </a:endParaRPr>
                    </a:p>
                  </a:txBody>
                  <a:tcPr marL="36576" marR="36576" marT="36576" marB="36576">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950" dirty="0">
                          <a:solidFill>
                            <a:srgbClr val="242424"/>
                          </a:solidFill>
                          <a:latin typeface="Arial" pitchFamily="34" charset="0"/>
                          <a:ea typeface="Arial" pitchFamily="34" charset="-122"/>
                          <a:cs typeface="Arial" pitchFamily="34" charset="-120"/>
                        </a:rPr>
                        <a:t>POLQA LQ</a:t>
                      </a:r>
                      <a:endParaRPr lang="en-US" sz="950" dirty="0">
                        <a:latin typeface="Arial" charset="0"/>
                        <a:ea typeface="Arial" charset="0"/>
                        <a:cs typeface="Arial" charset="0"/>
                      </a:endParaRPr>
                    </a:p>
                  </a:txBody>
                  <a:tcPr marL="36576" marR="36576" marT="36576" marB="36576">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950" dirty="0">
                          <a:solidFill>
                            <a:srgbClr val="242424"/>
                          </a:solidFill>
                          <a:latin typeface="Arial" pitchFamily="34" charset="0"/>
                          <a:ea typeface="Arial" pitchFamily="34" charset="-122"/>
                          <a:cs typeface="Arial" pitchFamily="34" charset="-120"/>
                        </a:rPr>
                        <a:t>Vendor</a:t>
                      </a:r>
                      <a:endParaRPr lang="en-US" sz="950" dirty="0">
                        <a:latin typeface="Arial" charset="0"/>
                        <a:ea typeface="Arial" charset="0"/>
                        <a:cs typeface="Arial" charset="0"/>
                      </a:endParaRPr>
                    </a:p>
                  </a:txBody>
                  <a:tcPr marL="36576" marR="36576" marT="36576" marB="36576">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r>
            </a:tbl>
          </a:graphicData>
        </a:graphic>
      </p:graphicFrame>
      <p:sp>
        <p:nvSpPr>
          <p:cNvPr id="22" name="shape-178"/>
          <p:cNvSpPr/>
          <p:nvPr/>
        </p:nvSpPr>
        <p:spPr>
          <a:xfrm>
            <a:off x="4572000" y="2377440"/>
            <a:ext cx="3044952" cy="1783080"/>
          </a:xfrm>
          <a:prstGeom prst="roundRect">
            <a:avLst>
              <a:gd name="adj" fmla="val 3077"/>
            </a:avLst>
          </a:prstGeom>
          <a:solidFill>
            <a:srgbClr val="FFFFFF"/>
          </a:solidFill>
          <a:ln w="12700">
            <a:solidFill>
              <a:srgbClr val="E0E0E0"/>
            </a:solidFill>
            <a:prstDash val="solid"/>
          </a:ln>
        </p:spPr>
      </p:sp>
      <p:sp>
        <p:nvSpPr>
          <p:cNvPr id="23" name="shape-179"/>
          <p:cNvSpPr/>
          <p:nvPr/>
        </p:nvSpPr>
        <p:spPr>
          <a:xfrm>
            <a:off x="4709160" y="2505456"/>
            <a:ext cx="1463040" cy="73152"/>
          </a:xfrm>
          <a:prstGeom prst="rect">
            <a:avLst/>
          </a:prstGeom>
          <a:solidFill>
            <a:srgbClr val="242424"/>
          </a:solidFill>
          <a:ln w="12700">
            <a:solidFill>
              <a:srgbClr val="242424"/>
            </a:solidFill>
            <a:prstDash val="solid"/>
          </a:ln>
        </p:spPr>
      </p:sp>
      <p:sp>
        <p:nvSpPr>
          <p:cNvPr id="24" name="shape-180"/>
          <p:cNvSpPr/>
          <p:nvPr/>
        </p:nvSpPr>
        <p:spPr>
          <a:xfrm>
            <a:off x="4709160" y="2706624"/>
            <a:ext cx="1325880" cy="621792"/>
          </a:xfrm>
          <a:prstGeom prst="rect">
            <a:avLst/>
          </a:prstGeom>
          <a:solidFill>
            <a:srgbClr val="FAFAFA"/>
          </a:solidFill>
          <a:ln w="6350">
            <a:solidFill>
              <a:srgbClr val="E0E0E0"/>
            </a:solidFill>
            <a:prstDash val="solid"/>
          </a:ln>
        </p:spPr>
      </p:sp>
      <p:sp>
        <p:nvSpPr>
          <p:cNvPr id="25" name="shape-181"/>
          <p:cNvSpPr/>
          <p:nvPr/>
        </p:nvSpPr>
        <p:spPr>
          <a:xfrm>
            <a:off x="4837176" y="2871216"/>
            <a:ext cx="182880" cy="384048"/>
          </a:xfrm>
          <a:prstGeom prst="rect">
            <a:avLst/>
          </a:prstGeom>
          <a:solidFill>
            <a:srgbClr val="0068BF"/>
          </a:solidFill>
          <a:ln w="12700">
            <a:solidFill>
              <a:srgbClr val="0068BF"/>
            </a:solidFill>
            <a:prstDash val="solid"/>
          </a:ln>
        </p:spPr>
      </p:sp>
      <p:sp>
        <p:nvSpPr>
          <p:cNvPr id="26" name="shape-182"/>
          <p:cNvSpPr/>
          <p:nvPr/>
        </p:nvSpPr>
        <p:spPr>
          <a:xfrm>
            <a:off x="5120640" y="2980944"/>
            <a:ext cx="182880" cy="274320"/>
          </a:xfrm>
          <a:prstGeom prst="rect">
            <a:avLst/>
          </a:prstGeom>
          <a:solidFill>
            <a:srgbClr val="0C9B5B"/>
          </a:solidFill>
          <a:ln w="12700">
            <a:solidFill>
              <a:srgbClr val="0C9B5B"/>
            </a:solidFill>
            <a:prstDash val="solid"/>
          </a:ln>
        </p:spPr>
      </p:sp>
      <p:sp>
        <p:nvSpPr>
          <p:cNvPr id="27" name="shape-183"/>
          <p:cNvSpPr/>
          <p:nvPr/>
        </p:nvSpPr>
        <p:spPr>
          <a:xfrm>
            <a:off x="5404104" y="2779776"/>
            <a:ext cx="182880" cy="475488"/>
          </a:xfrm>
          <a:prstGeom prst="rect">
            <a:avLst/>
          </a:prstGeom>
          <a:solidFill>
            <a:srgbClr val="E07800"/>
          </a:solidFill>
          <a:ln w="12700">
            <a:solidFill>
              <a:srgbClr val="E07800"/>
            </a:solidFill>
            <a:prstDash val="solid"/>
          </a:ln>
        </p:spPr>
      </p:sp>
      <p:sp>
        <p:nvSpPr>
          <p:cNvPr id="28" name="shape-184"/>
          <p:cNvSpPr/>
          <p:nvPr/>
        </p:nvSpPr>
        <p:spPr>
          <a:xfrm>
            <a:off x="5687568" y="3054096"/>
            <a:ext cx="182880" cy="201168"/>
          </a:xfrm>
          <a:prstGeom prst="rect">
            <a:avLst/>
          </a:prstGeom>
          <a:solidFill>
            <a:srgbClr val="AF78D2"/>
          </a:solidFill>
          <a:ln w="12700">
            <a:solidFill>
              <a:srgbClr val="AF78D2"/>
            </a:solidFill>
            <a:prstDash val="solid"/>
          </a:ln>
        </p:spPr>
      </p:sp>
      <p:sp>
        <p:nvSpPr>
          <p:cNvPr id="29" name="shape-185"/>
          <p:cNvSpPr/>
          <p:nvPr/>
        </p:nvSpPr>
        <p:spPr>
          <a:xfrm>
            <a:off x="6153912" y="2706624"/>
            <a:ext cx="1325880" cy="621792"/>
          </a:xfrm>
          <a:prstGeom prst="rect">
            <a:avLst/>
          </a:prstGeom>
          <a:solidFill>
            <a:srgbClr val="FAFAFA"/>
          </a:solidFill>
          <a:ln w="6350">
            <a:solidFill>
              <a:srgbClr val="E0E0E0"/>
            </a:solidFill>
            <a:prstDash val="solid"/>
          </a:ln>
        </p:spPr>
      </p:sp>
      <p:sp>
        <p:nvSpPr>
          <p:cNvPr id="30" name="shape-186"/>
          <p:cNvSpPr/>
          <p:nvPr/>
        </p:nvSpPr>
        <p:spPr>
          <a:xfrm>
            <a:off x="6281928" y="2871216"/>
            <a:ext cx="182880" cy="384048"/>
          </a:xfrm>
          <a:prstGeom prst="rect">
            <a:avLst/>
          </a:prstGeom>
          <a:solidFill>
            <a:srgbClr val="0068BF"/>
          </a:solidFill>
          <a:ln w="12700">
            <a:solidFill>
              <a:srgbClr val="0068BF"/>
            </a:solidFill>
            <a:prstDash val="solid"/>
          </a:ln>
        </p:spPr>
      </p:sp>
      <p:sp>
        <p:nvSpPr>
          <p:cNvPr id="31" name="shape-187"/>
          <p:cNvSpPr/>
          <p:nvPr/>
        </p:nvSpPr>
        <p:spPr>
          <a:xfrm>
            <a:off x="6565392" y="2980944"/>
            <a:ext cx="182880" cy="274320"/>
          </a:xfrm>
          <a:prstGeom prst="rect">
            <a:avLst/>
          </a:prstGeom>
          <a:solidFill>
            <a:srgbClr val="0C9B5B"/>
          </a:solidFill>
          <a:ln w="12700">
            <a:solidFill>
              <a:srgbClr val="0C9B5B"/>
            </a:solidFill>
            <a:prstDash val="solid"/>
          </a:ln>
        </p:spPr>
      </p:sp>
      <p:sp>
        <p:nvSpPr>
          <p:cNvPr id="32" name="shape-188"/>
          <p:cNvSpPr/>
          <p:nvPr/>
        </p:nvSpPr>
        <p:spPr>
          <a:xfrm>
            <a:off x="6848856" y="2779776"/>
            <a:ext cx="182880" cy="475488"/>
          </a:xfrm>
          <a:prstGeom prst="rect">
            <a:avLst/>
          </a:prstGeom>
          <a:solidFill>
            <a:srgbClr val="E07800"/>
          </a:solidFill>
          <a:ln w="12700">
            <a:solidFill>
              <a:srgbClr val="E07800"/>
            </a:solidFill>
            <a:prstDash val="solid"/>
          </a:ln>
        </p:spPr>
      </p:sp>
      <p:sp>
        <p:nvSpPr>
          <p:cNvPr id="33" name="shape-189"/>
          <p:cNvSpPr/>
          <p:nvPr/>
        </p:nvSpPr>
        <p:spPr>
          <a:xfrm>
            <a:off x="7132320" y="3054096"/>
            <a:ext cx="182880" cy="201168"/>
          </a:xfrm>
          <a:prstGeom prst="rect">
            <a:avLst/>
          </a:prstGeom>
          <a:solidFill>
            <a:srgbClr val="AF78D2"/>
          </a:solidFill>
          <a:ln w="12700">
            <a:solidFill>
              <a:srgbClr val="AF78D2"/>
            </a:solidFill>
            <a:prstDash val="solid"/>
          </a:ln>
        </p:spPr>
      </p:sp>
      <p:sp>
        <p:nvSpPr>
          <p:cNvPr id="34" name="shape-190"/>
          <p:cNvSpPr/>
          <p:nvPr/>
        </p:nvSpPr>
        <p:spPr>
          <a:xfrm>
            <a:off x="4709160" y="3419856"/>
            <a:ext cx="1325880" cy="621792"/>
          </a:xfrm>
          <a:prstGeom prst="rect">
            <a:avLst/>
          </a:prstGeom>
          <a:solidFill>
            <a:srgbClr val="FAFAFA"/>
          </a:solidFill>
          <a:ln w="6350">
            <a:solidFill>
              <a:srgbClr val="E0E0E0"/>
            </a:solidFill>
            <a:prstDash val="solid"/>
          </a:ln>
        </p:spPr>
      </p:sp>
      <p:sp>
        <p:nvSpPr>
          <p:cNvPr id="35" name="shape-191"/>
          <p:cNvSpPr/>
          <p:nvPr/>
        </p:nvSpPr>
        <p:spPr>
          <a:xfrm>
            <a:off x="4837176" y="3584448"/>
            <a:ext cx="182880" cy="384048"/>
          </a:xfrm>
          <a:prstGeom prst="rect">
            <a:avLst/>
          </a:prstGeom>
          <a:solidFill>
            <a:srgbClr val="0068BF"/>
          </a:solidFill>
          <a:ln w="12700">
            <a:solidFill>
              <a:srgbClr val="0068BF"/>
            </a:solidFill>
            <a:prstDash val="solid"/>
          </a:ln>
        </p:spPr>
      </p:sp>
      <p:sp>
        <p:nvSpPr>
          <p:cNvPr id="36" name="shape-192"/>
          <p:cNvSpPr/>
          <p:nvPr/>
        </p:nvSpPr>
        <p:spPr>
          <a:xfrm>
            <a:off x="5120640" y="3694176"/>
            <a:ext cx="182880" cy="274320"/>
          </a:xfrm>
          <a:prstGeom prst="rect">
            <a:avLst/>
          </a:prstGeom>
          <a:solidFill>
            <a:srgbClr val="0C9B5B"/>
          </a:solidFill>
          <a:ln w="12700">
            <a:solidFill>
              <a:srgbClr val="0C9B5B"/>
            </a:solidFill>
            <a:prstDash val="solid"/>
          </a:ln>
        </p:spPr>
      </p:sp>
      <p:sp>
        <p:nvSpPr>
          <p:cNvPr id="37" name="shape-193"/>
          <p:cNvSpPr/>
          <p:nvPr/>
        </p:nvSpPr>
        <p:spPr>
          <a:xfrm>
            <a:off x="5404104" y="3493008"/>
            <a:ext cx="182880" cy="475488"/>
          </a:xfrm>
          <a:prstGeom prst="rect">
            <a:avLst/>
          </a:prstGeom>
          <a:solidFill>
            <a:srgbClr val="E07800"/>
          </a:solidFill>
          <a:ln w="12700">
            <a:solidFill>
              <a:srgbClr val="E07800"/>
            </a:solidFill>
            <a:prstDash val="solid"/>
          </a:ln>
        </p:spPr>
      </p:sp>
      <p:sp>
        <p:nvSpPr>
          <p:cNvPr id="38" name="shape-194"/>
          <p:cNvSpPr/>
          <p:nvPr/>
        </p:nvSpPr>
        <p:spPr>
          <a:xfrm>
            <a:off x="5687568" y="3767328"/>
            <a:ext cx="182880" cy="201168"/>
          </a:xfrm>
          <a:prstGeom prst="rect">
            <a:avLst/>
          </a:prstGeom>
          <a:solidFill>
            <a:srgbClr val="AF78D2"/>
          </a:solidFill>
          <a:ln w="12700">
            <a:solidFill>
              <a:srgbClr val="AF78D2"/>
            </a:solidFill>
            <a:prstDash val="solid"/>
          </a:ln>
        </p:spPr>
      </p:sp>
      <p:sp>
        <p:nvSpPr>
          <p:cNvPr id="39" name="shape-195"/>
          <p:cNvSpPr/>
          <p:nvPr/>
        </p:nvSpPr>
        <p:spPr>
          <a:xfrm>
            <a:off x="6153912" y="3419856"/>
            <a:ext cx="1325880" cy="621792"/>
          </a:xfrm>
          <a:prstGeom prst="rect">
            <a:avLst/>
          </a:prstGeom>
          <a:solidFill>
            <a:srgbClr val="FAFAFA"/>
          </a:solidFill>
          <a:ln w="6350">
            <a:solidFill>
              <a:srgbClr val="E0E0E0"/>
            </a:solidFill>
            <a:prstDash val="solid"/>
          </a:ln>
        </p:spPr>
      </p:sp>
      <p:sp>
        <p:nvSpPr>
          <p:cNvPr id="40" name="shape-196"/>
          <p:cNvSpPr/>
          <p:nvPr/>
        </p:nvSpPr>
        <p:spPr>
          <a:xfrm>
            <a:off x="6281928" y="3584448"/>
            <a:ext cx="182880" cy="384048"/>
          </a:xfrm>
          <a:prstGeom prst="rect">
            <a:avLst/>
          </a:prstGeom>
          <a:solidFill>
            <a:srgbClr val="0068BF"/>
          </a:solidFill>
          <a:ln w="12700">
            <a:solidFill>
              <a:srgbClr val="0068BF"/>
            </a:solidFill>
            <a:prstDash val="solid"/>
          </a:ln>
        </p:spPr>
      </p:sp>
      <p:sp>
        <p:nvSpPr>
          <p:cNvPr id="41" name="shape-197"/>
          <p:cNvSpPr/>
          <p:nvPr/>
        </p:nvSpPr>
        <p:spPr>
          <a:xfrm>
            <a:off x="6565392" y="3694176"/>
            <a:ext cx="182880" cy="274320"/>
          </a:xfrm>
          <a:prstGeom prst="rect">
            <a:avLst/>
          </a:prstGeom>
          <a:solidFill>
            <a:srgbClr val="0C9B5B"/>
          </a:solidFill>
          <a:ln w="12700">
            <a:solidFill>
              <a:srgbClr val="0C9B5B"/>
            </a:solidFill>
            <a:prstDash val="solid"/>
          </a:ln>
        </p:spPr>
      </p:sp>
      <p:sp>
        <p:nvSpPr>
          <p:cNvPr id="42" name="shape-198"/>
          <p:cNvSpPr/>
          <p:nvPr/>
        </p:nvSpPr>
        <p:spPr>
          <a:xfrm>
            <a:off x="6848856" y="3493008"/>
            <a:ext cx="182880" cy="475488"/>
          </a:xfrm>
          <a:prstGeom prst="rect">
            <a:avLst/>
          </a:prstGeom>
          <a:solidFill>
            <a:srgbClr val="E07800"/>
          </a:solidFill>
          <a:ln w="12700">
            <a:solidFill>
              <a:srgbClr val="E07800"/>
            </a:solidFill>
            <a:prstDash val="solid"/>
          </a:ln>
        </p:spPr>
      </p:sp>
      <p:sp>
        <p:nvSpPr>
          <p:cNvPr id="43" name="shape-199"/>
          <p:cNvSpPr/>
          <p:nvPr/>
        </p:nvSpPr>
        <p:spPr>
          <a:xfrm>
            <a:off x="7132320" y="3767328"/>
            <a:ext cx="182880" cy="201168"/>
          </a:xfrm>
          <a:prstGeom prst="rect">
            <a:avLst/>
          </a:prstGeom>
          <a:solidFill>
            <a:srgbClr val="AF78D2"/>
          </a:solidFill>
          <a:ln w="12700">
            <a:solidFill>
              <a:srgbClr val="AF78D2"/>
            </a:solidFill>
            <a:prstDash val="solid"/>
          </a:ln>
        </p:spPr>
      </p:sp>
      <p:sp>
        <p:nvSpPr>
          <p:cNvPr id="44" name="shape-200"/>
          <p:cNvSpPr/>
          <p:nvPr/>
        </p:nvSpPr>
        <p:spPr>
          <a:xfrm>
            <a:off x="8951976" y="2798064"/>
            <a:ext cx="2240280" cy="1261872"/>
          </a:xfrm>
          <a:prstGeom prst="roundRect">
            <a:avLst>
              <a:gd name="adj" fmla="val 3623"/>
            </a:avLst>
          </a:prstGeom>
          <a:solidFill>
            <a:srgbClr val="FFFFFF"/>
          </a:solidFill>
          <a:ln w="12700">
            <a:solidFill>
              <a:srgbClr val="E0E0E0"/>
            </a:solidFill>
            <a:prstDash val="solid"/>
          </a:ln>
        </p:spPr>
      </p:sp>
      <p:sp>
        <p:nvSpPr>
          <p:cNvPr id="45" name="shape-201"/>
          <p:cNvSpPr/>
          <p:nvPr/>
        </p:nvSpPr>
        <p:spPr>
          <a:xfrm>
            <a:off x="9079992" y="2926080"/>
            <a:ext cx="1097280" cy="64008"/>
          </a:xfrm>
          <a:prstGeom prst="rect">
            <a:avLst/>
          </a:prstGeom>
          <a:solidFill>
            <a:srgbClr val="242424"/>
          </a:solidFill>
          <a:ln w="12700">
            <a:solidFill>
              <a:srgbClr val="242424"/>
            </a:solidFill>
            <a:prstDash val="solid"/>
          </a:ln>
        </p:spPr>
      </p:sp>
      <p:sp>
        <p:nvSpPr>
          <p:cNvPr id="46" name="shape-202"/>
          <p:cNvSpPr/>
          <p:nvPr/>
        </p:nvSpPr>
        <p:spPr>
          <a:xfrm>
            <a:off x="8750808" y="2633472"/>
            <a:ext cx="2240280" cy="1261872"/>
          </a:xfrm>
          <a:prstGeom prst="roundRect">
            <a:avLst>
              <a:gd name="adj" fmla="val 3623"/>
            </a:avLst>
          </a:prstGeom>
          <a:solidFill>
            <a:srgbClr val="FFFFFF"/>
          </a:solidFill>
          <a:ln w="12700">
            <a:solidFill>
              <a:srgbClr val="E0E0E0"/>
            </a:solidFill>
            <a:prstDash val="solid"/>
          </a:ln>
        </p:spPr>
      </p:sp>
      <p:sp>
        <p:nvSpPr>
          <p:cNvPr id="47" name="shape-203"/>
          <p:cNvSpPr/>
          <p:nvPr/>
        </p:nvSpPr>
        <p:spPr>
          <a:xfrm>
            <a:off x="8878824" y="2761488"/>
            <a:ext cx="1097280" cy="64008"/>
          </a:xfrm>
          <a:prstGeom prst="rect">
            <a:avLst/>
          </a:prstGeom>
          <a:solidFill>
            <a:srgbClr val="242424"/>
          </a:solidFill>
          <a:ln w="12700">
            <a:solidFill>
              <a:srgbClr val="242424"/>
            </a:solidFill>
            <a:prstDash val="solid"/>
          </a:ln>
        </p:spPr>
      </p:sp>
      <p:sp>
        <p:nvSpPr>
          <p:cNvPr id="48" name="shape-204"/>
          <p:cNvSpPr/>
          <p:nvPr/>
        </p:nvSpPr>
        <p:spPr>
          <a:xfrm>
            <a:off x="8549640" y="2468880"/>
            <a:ext cx="2240280" cy="1261872"/>
          </a:xfrm>
          <a:prstGeom prst="roundRect">
            <a:avLst>
              <a:gd name="adj" fmla="val 3623"/>
            </a:avLst>
          </a:prstGeom>
          <a:solidFill>
            <a:srgbClr val="FFFFFF"/>
          </a:solidFill>
          <a:ln w="12700">
            <a:solidFill>
              <a:srgbClr val="E0E0E0"/>
            </a:solidFill>
            <a:prstDash val="solid"/>
          </a:ln>
        </p:spPr>
      </p:sp>
      <p:sp>
        <p:nvSpPr>
          <p:cNvPr id="49" name="shape-205"/>
          <p:cNvSpPr/>
          <p:nvPr/>
        </p:nvSpPr>
        <p:spPr>
          <a:xfrm>
            <a:off x="8677656" y="2596896"/>
            <a:ext cx="1097280" cy="64008"/>
          </a:xfrm>
          <a:prstGeom prst="rect">
            <a:avLst/>
          </a:prstGeom>
          <a:solidFill>
            <a:srgbClr val="242424"/>
          </a:solidFill>
          <a:ln w="12700">
            <a:solidFill>
              <a:srgbClr val="242424"/>
            </a:solidFill>
            <a:prstDash val="solid"/>
          </a:ln>
        </p:spPr>
      </p:sp>
      <p:sp>
        <p:nvSpPr>
          <p:cNvPr id="50" name="shape-206"/>
          <p:cNvSpPr/>
          <p:nvPr/>
        </p:nvSpPr>
        <p:spPr>
          <a:xfrm>
            <a:off x="8778240" y="3063240"/>
            <a:ext cx="237744" cy="502920"/>
          </a:xfrm>
          <a:prstGeom prst="rect">
            <a:avLst/>
          </a:prstGeom>
          <a:solidFill>
            <a:srgbClr val="E07800"/>
          </a:solidFill>
          <a:ln w="12700">
            <a:solidFill>
              <a:srgbClr val="E07800"/>
            </a:solidFill>
            <a:prstDash val="solid"/>
          </a:ln>
        </p:spPr>
      </p:sp>
      <p:sp>
        <p:nvSpPr>
          <p:cNvPr id="51" name="shape-207"/>
          <p:cNvSpPr/>
          <p:nvPr/>
        </p:nvSpPr>
        <p:spPr>
          <a:xfrm>
            <a:off x="9144000" y="3218688"/>
            <a:ext cx="237744" cy="347472"/>
          </a:xfrm>
          <a:prstGeom prst="rect">
            <a:avLst/>
          </a:prstGeom>
          <a:solidFill>
            <a:srgbClr val="E07800"/>
          </a:solidFill>
          <a:ln w="12700">
            <a:solidFill>
              <a:srgbClr val="E07800"/>
            </a:solidFill>
            <a:prstDash val="solid"/>
          </a:ln>
        </p:spPr>
      </p:sp>
      <p:sp>
        <p:nvSpPr>
          <p:cNvPr id="52" name="shape-208"/>
          <p:cNvSpPr/>
          <p:nvPr/>
        </p:nvSpPr>
        <p:spPr>
          <a:xfrm>
            <a:off x="9509760" y="2926080"/>
            <a:ext cx="237744" cy="640080"/>
          </a:xfrm>
          <a:prstGeom prst="rect">
            <a:avLst/>
          </a:prstGeom>
          <a:solidFill>
            <a:srgbClr val="E07800"/>
          </a:solidFill>
          <a:ln w="12700">
            <a:solidFill>
              <a:srgbClr val="E07800"/>
            </a:solidFill>
            <a:prstDash val="solid"/>
          </a:ln>
        </p:spPr>
      </p:sp>
      <p:sp>
        <p:nvSpPr>
          <p:cNvPr id="53" name="shape-209"/>
          <p:cNvSpPr/>
          <p:nvPr/>
        </p:nvSpPr>
        <p:spPr>
          <a:xfrm>
            <a:off x="9875520" y="3154680"/>
            <a:ext cx="237744" cy="411480"/>
          </a:xfrm>
          <a:prstGeom prst="rect">
            <a:avLst/>
          </a:prstGeom>
          <a:solidFill>
            <a:srgbClr val="E07800"/>
          </a:solidFill>
          <a:ln w="12700">
            <a:solidFill>
              <a:srgbClr val="E07800"/>
            </a:solidFill>
            <a:prstDash val="solid"/>
          </a:ln>
        </p:spPr>
      </p:sp>
      <p:sp>
        <p:nvSpPr>
          <p:cNvPr id="54" name="shape-210"/>
          <p:cNvSpPr/>
          <p:nvPr/>
        </p:nvSpPr>
        <p:spPr>
          <a:xfrm>
            <a:off x="10241280" y="3017520"/>
            <a:ext cx="237744" cy="548640"/>
          </a:xfrm>
          <a:prstGeom prst="rect">
            <a:avLst/>
          </a:prstGeom>
          <a:solidFill>
            <a:srgbClr val="E07800"/>
          </a:solidFill>
          <a:ln w="12700">
            <a:solidFill>
              <a:srgbClr val="E07800"/>
            </a:solidFill>
            <a:prstDash val="solid"/>
          </a:ln>
        </p:spPr>
      </p:sp>
      <p:sp>
        <p:nvSpPr>
          <p:cNvPr id="55" name="shape-211"/>
          <p:cNvSpPr/>
          <p:nvPr/>
        </p:nvSpPr>
        <p:spPr>
          <a:xfrm>
            <a:off x="10789920" y="3520440"/>
            <a:ext cx="566928" cy="566928"/>
          </a:xfrm>
          <a:prstGeom prst="ellipse">
            <a:avLst/>
          </a:prstGeom>
          <a:solidFill>
            <a:srgbClr val="D35230"/>
          </a:solidFill>
          <a:ln w="12700">
            <a:solidFill>
              <a:srgbClr val="D35230"/>
            </a:solidFill>
            <a:prstDash val="solid"/>
          </a:ln>
        </p:spPr>
      </p:sp>
      <p:pic>
        <p:nvPicPr>
          <p:cNvPr id="56" name="icon-212" descr="preencoded.png">    </p:cNvPr>
          <p:cNvPicPr>
            <a:picLocks noChangeAspect="1"/>
          </p:cNvPicPr>
          <p:nvPr/>
        </p:nvPicPr>
        <p:blipFill>
          <a:blip r:embed="rId1"/>
          <a:stretch>
            <a:fillRect/>
          </a:stretch>
        </p:blipFill>
        <p:spPr>
          <a:xfrm>
            <a:off x="10914644" y="3645164"/>
            <a:ext cx="317480" cy="317480"/>
          </a:xfrm>
          <a:prstGeom prst="rect">
            <a:avLst/>
          </a:prstGeom>
        </p:spPr>
      </p:pic>
      <p:sp>
        <p:nvSpPr>
          <p:cNvPr id="57" name="shape-213"/>
          <p:cNvSpPr/>
          <p:nvPr/>
        </p:nvSpPr>
        <p:spPr>
          <a:xfrm>
            <a:off x="548640" y="5257800"/>
            <a:ext cx="2103120" cy="502920"/>
          </a:xfrm>
          <a:prstGeom prst="roundRect">
            <a:avLst>
              <a:gd name="adj" fmla="val 21818"/>
            </a:avLst>
          </a:prstGeom>
          <a:solidFill>
            <a:srgbClr val="FFFFFF"/>
          </a:solidFill>
          <a:ln w="12700">
            <a:solidFill>
              <a:srgbClr val="E0E0E0"/>
            </a:solidFill>
            <a:prstDash val="solid"/>
          </a:ln>
        </p:spPr>
      </p:sp>
      <p:pic>
        <p:nvPicPr>
          <p:cNvPr id="58" name="icon-214" descr="preencoded.png">    </p:cNvPr>
          <p:cNvPicPr>
            <a:picLocks noChangeAspect="1"/>
          </p:cNvPicPr>
          <p:nvPr/>
        </p:nvPicPr>
        <p:blipFill>
          <a:blip r:embed="rId2"/>
          <a:stretch>
            <a:fillRect/>
          </a:stretch>
        </p:blipFill>
        <p:spPr>
          <a:xfrm>
            <a:off x="685800" y="5376672"/>
            <a:ext cx="274320" cy="274320"/>
          </a:xfrm>
          <a:prstGeom prst="rect">
            <a:avLst/>
          </a:prstGeom>
        </p:spPr>
      </p:pic>
      <p:sp>
        <p:nvSpPr>
          <p:cNvPr id="59" name="text-215"/>
          <p:cNvSpPr txBox="1"/>
          <p:nvPr/>
        </p:nvSpPr>
        <p:spPr>
          <a:xfrm>
            <a:off x="1051560" y="5257800"/>
            <a:ext cx="1554480" cy="502920"/>
          </a:xfrm>
          <a:prstGeom prst="rect">
            <a:avLst/>
          </a:prstGeom>
          <a:noFill/>
          <a:ln/>
        </p:spPr>
        <p:txBody>
          <a:bodyPr wrap="square" lIns="0" tIns="0" rIns="0" bIns="0" rtlCol="0" anchor="ctr"/>
          <a:lstStyle/>
          <a:p>
            <a:pPr indent="0" marL="0">
              <a:buNone/>
            </a:pPr>
            <a:r>
              <a:rPr lang="en-US" sz="1150" b="1" dirty="0">
                <a:solidFill>
                  <a:srgbClr val="242424"/>
                </a:solidFill>
                <a:latin typeface="Arial" pitchFamily="34" charset="0"/>
                <a:ea typeface="Arial" pitchFamily="34" charset="-122"/>
                <a:cs typeface="Arial" pitchFamily="34" charset="-120"/>
              </a:rPr>
              <a:t>Scope &amp; filters</a:t>
            </a:r>
            <a:endParaRPr lang="en-US" sz="1150" dirty="0"/>
          </a:p>
        </p:txBody>
      </p:sp>
      <p:sp>
        <p:nvSpPr>
          <p:cNvPr id="60" name="shape-216"/>
          <p:cNvSpPr/>
          <p:nvPr/>
        </p:nvSpPr>
        <p:spPr>
          <a:xfrm>
            <a:off x="2795321" y="5257800"/>
            <a:ext cx="2103120" cy="502920"/>
          </a:xfrm>
          <a:prstGeom prst="roundRect">
            <a:avLst>
              <a:gd name="adj" fmla="val 21818"/>
            </a:avLst>
          </a:prstGeom>
          <a:solidFill>
            <a:srgbClr val="FFFFFF"/>
          </a:solidFill>
          <a:ln w="12700">
            <a:solidFill>
              <a:srgbClr val="E0E0E0"/>
            </a:solidFill>
            <a:prstDash val="solid"/>
          </a:ln>
        </p:spPr>
      </p:sp>
      <p:pic>
        <p:nvPicPr>
          <p:cNvPr id="61" name="icon-217" descr="preencoded.png">    </p:cNvPr>
          <p:cNvPicPr>
            <a:picLocks noChangeAspect="1"/>
          </p:cNvPicPr>
          <p:nvPr/>
        </p:nvPicPr>
        <p:blipFill>
          <a:blip r:embed="rId3"/>
          <a:stretch>
            <a:fillRect/>
          </a:stretch>
        </p:blipFill>
        <p:spPr>
          <a:xfrm>
            <a:off x="2932481" y="5376672"/>
            <a:ext cx="274320" cy="274320"/>
          </a:xfrm>
          <a:prstGeom prst="rect">
            <a:avLst/>
          </a:prstGeom>
        </p:spPr>
      </p:pic>
      <p:sp>
        <p:nvSpPr>
          <p:cNvPr id="62" name="text-218"/>
          <p:cNvSpPr txBox="1"/>
          <p:nvPr/>
        </p:nvSpPr>
        <p:spPr>
          <a:xfrm>
            <a:off x="3298241" y="5257800"/>
            <a:ext cx="1554480" cy="502920"/>
          </a:xfrm>
          <a:prstGeom prst="rect">
            <a:avLst/>
          </a:prstGeom>
          <a:noFill/>
          <a:ln/>
        </p:spPr>
        <p:txBody>
          <a:bodyPr wrap="square" lIns="0" tIns="0" rIns="0" bIns="0" rtlCol="0" anchor="ctr"/>
          <a:lstStyle/>
          <a:p>
            <a:pPr indent="0" marL="0">
              <a:buNone/>
            </a:pPr>
            <a:r>
              <a:rPr lang="en-US" sz="1150" b="1" dirty="0">
                <a:solidFill>
                  <a:srgbClr val="242424"/>
                </a:solidFill>
                <a:latin typeface="Arial" pitchFamily="34" charset="0"/>
                <a:ea typeface="Arial" pitchFamily="34" charset="-122"/>
                <a:cs typeface="Arial" pitchFamily="34" charset="-120"/>
              </a:rPr>
              <a:t>Cached preparation</a:t>
            </a:r>
            <a:endParaRPr lang="en-US" sz="1150" dirty="0"/>
          </a:p>
        </p:txBody>
      </p:sp>
      <p:sp>
        <p:nvSpPr>
          <p:cNvPr id="63" name="shape-219"/>
          <p:cNvSpPr/>
          <p:nvPr/>
        </p:nvSpPr>
        <p:spPr>
          <a:xfrm>
            <a:off x="5042002" y="5257800"/>
            <a:ext cx="2103120" cy="502920"/>
          </a:xfrm>
          <a:prstGeom prst="roundRect">
            <a:avLst>
              <a:gd name="adj" fmla="val 21818"/>
            </a:avLst>
          </a:prstGeom>
          <a:solidFill>
            <a:srgbClr val="FFFFFF"/>
          </a:solidFill>
          <a:ln w="12700">
            <a:solidFill>
              <a:srgbClr val="E0E0E0"/>
            </a:solidFill>
            <a:prstDash val="solid"/>
          </a:ln>
        </p:spPr>
      </p:sp>
      <p:pic>
        <p:nvPicPr>
          <p:cNvPr id="64" name="icon-220" descr="preencoded.png">    </p:cNvPr>
          <p:cNvPicPr>
            <a:picLocks noChangeAspect="1"/>
          </p:cNvPicPr>
          <p:nvPr/>
        </p:nvPicPr>
        <p:blipFill>
          <a:blip r:embed="rId4"/>
          <a:stretch>
            <a:fillRect/>
          </a:stretch>
        </p:blipFill>
        <p:spPr>
          <a:xfrm>
            <a:off x="5179162" y="5376672"/>
            <a:ext cx="274320" cy="274320"/>
          </a:xfrm>
          <a:prstGeom prst="rect">
            <a:avLst/>
          </a:prstGeom>
        </p:spPr>
      </p:pic>
      <p:sp>
        <p:nvSpPr>
          <p:cNvPr id="65" name="text-221"/>
          <p:cNvSpPr txBox="1"/>
          <p:nvPr/>
        </p:nvSpPr>
        <p:spPr>
          <a:xfrm>
            <a:off x="5544922" y="5257800"/>
            <a:ext cx="1554480" cy="502920"/>
          </a:xfrm>
          <a:prstGeom prst="rect">
            <a:avLst/>
          </a:prstGeom>
          <a:noFill/>
          <a:ln/>
        </p:spPr>
        <p:txBody>
          <a:bodyPr wrap="square" lIns="0" tIns="0" rIns="0" bIns="0" rtlCol="0" anchor="ctr"/>
          <a:lstStyle/>
          <a:p>
            <a:pPr indent="0" marL="0">
              <a:buNone/>
            </a:pPr>
            <a:r>
              <a:rPr lang="en-US" sz="1150" b="1" dirty="0">
                <a:solidFill>
                  <a:srgbClr val="242424"/>
                </a:solidFill>
                <a:latin typeface="Arial" pitchFamily="34" charset="0"/>
                <a:ea typeface="Arial" pitchFamily="34" charset="-122"/>
                <a:cs typeface="Arial" pitchFamily="34" charset="-120"/>
              </a:rPr>
              <a:t>Slide comments</a:t>
            </a:r>
            <a:endParaRPr lang="en-US" sz="1150" dirty="0"/>
          </a:p>
        </p:txBody>
      </p:sp>
      <p:sp>
        <p:nvSpPr>
          <p:cNvPr id="66" name="shape-222"/>
          <p:cNvSpPr/>
          <p:nvPr/>
        </p:nvSpPr>
        <p:spPr>
          <a:xfrm>
            <a:off x="7288682" y="5257800"/>
            <a:ext cx="2103120" cy="502920"/>
          </a:xfrm>
          <a:prstGeom prst="roundRect">
            <a:avLst>
              <a:gd name="adj" fmla="val 21818"/>
            </a:avLst>
          </a:prstGeom>
          <a:solidFill>
            <a:srgbClr val="FFFFFF"/>
          </a:solidFill>
          <a:ln w="12700">
            <a:solidFill>
              <a:srgbClr val="E0E0E0"/>
            </a:solidFill>
            <a:prstDash val="solid"/>
          </a:ln>
        </p:spPr>
      </p:sp>
      <p:pic>
        <p:nvPicPr>
          <p:cNvPr id="67" name="icon-223" descr="preencoded.png">    </p:cNvPr>
          <p:cNvPicPr>
            <a:picLocks noChangeAspect="1"/>
          </p:cNvPicPr>
          <p:nvPr/>
        </p:nvPicPr>
        <p:blipFill>
          <a:blip r:embed="rId5"/>
          <a:stretch>
            <a:fillRect/>
          </a:stretch>
        </p:blipFill>
        <p:spPr>
          <a:xfrm>
            <a:off x="7425842" y="5376672"/>
            <a:ext cx="274320" cy="274320"/>
          </a:xfrm>
          <a:prstGeom prst="rect">
            <a:avLst/>
          </a:prstGeom>
        </p:spPr>
      </p:pic>
      <p:sp>
        <p:nvSpPr>
          <p:cNvPr id="68" name="text-224"/>
          <p:cNvSpPr txBox="1"/>
          <p:nvPr/>
        </p:nvSpPr>
        <p:spPr>
          <a:xfrm>
            <a:off x="7791602" y="5257800"/>
            <a:ext cx="1554480" cy="502920"/>
          </a:xfrm>
          <a:prstGeom prst="rect">
            <a:avLst/>
          </a:prstGeom>
          <a:noFill/>
          <a:ln/>
        </p:spPr>
        <p:txBody>
          <a:bodyPr wrap="square" lIns="0" tIns="0" rIns="0" bIns="0" rtlCol="0" anchor="ctr"/>
          <a:lstStyle/>
          <a:p>
            <a:pPr indent="0" marL="0">
              <a:buNone/>
            </a:pPr>
            <a:r>
              <a:rPr lang="en-US" sz="1150" b="1" dirty="0">
                <a:solidFill>
                  <a:srgbClr val="242424"/>
                </a:solidFill>
                <a:latin typeface="Arial" pitchFamily="34" charset="0"/>
                <a:ea typeface="Arial" pitchFamily="34" charset="-122"/>
                <a:cs typeface="Arial" pitchFamily="34" charset="-120"/>
              </a:rPr>
              <a:t>Presentation mode</a:t>
            </a:r>
            <a:endParaRPr lang="en-US" sz="1150" dirty="0"/>
          </a:p>
        </p:txBody>
      </p:sp>
      <p:sp>
        <p:nvSpPr>
          <p:cNvPr id="69" name="shape-225"/>
          <p:cNvSpPr/>
          <p:nvPr/>
        </p:nvSpPr>
        <p:spPr>
          <a:xfrm>
            <a:off x="9535363" y="5257800"/>
            <a:ext cx="2103120" cy="502920"/>
          </a:xfrm>
          <a:prstGeom prst="roundRect">
            <a:avLst>
              <a:gd name="adj" fmla="val 21818"/>
            </a:avLst>
          </a:prstGeom>
          <a:solidFill>
            <a:srgbClr val="FFFFFF"/>
          </a:solidFill>
          <a:ln w="12700">
            <a:solidFill>
              <a:srgbClr val="E0E0E0"/>
            </a:solidFill>
            <a:prstDash val="solid"/>
          </a:ln>
        </p:spPr>
      </p:sp>
      <p:pic>
        <p:nvPicPr>
          <p:cNvPr id="70" name="icon-226" descr="preencoded.png">    </p:cNvPr>
          <p:cNvPicPr>
            <a:picLocks noChangeAspect="1"/>
          </p:cNvPicPr>
          <p:nvPr/>
        </p:nvPicPr>
        <p:blipFill>
          <a:blip r:embed="rId6"/>
          <a:stretch>
            <a:fillRect/>
          </a:stretch>
        </p:blipFill>
        <p:spPr>
          <a:xfrm>
            <a:off x="9672523" y="5376672"/>
            <a:ext cx="274320" cy="274320"/>
          </a:xfrm>
          <a:prstGeom prst="rect">
            <a:avLst/>
          </a:prstGeom>
        </p:spPr>
      </p:pic>
      <p:sp>
        <p:nvSpPr>
          <p:cNvPr id="71" name="text-227"/>
          <p:cNvSpPr txBox="1"/>
          <p:nvPr/>
        </p:nvSpPr>
        <p:spPr>
          <a:xfrm>
            <a:off x="10038283" y="5257800"/>
            <a:ext cx="1554480" cy="502920"/>
          </a:xfrm>
          <a:prstGeom prst="rect">
            <a:avLst/>
          </a:prstGeom>
          <a:noFill/>
          <a:ln/>
        </p:spPr>
        <p:txBody>
          <a:bodyPr wrap="square" lIns="0" tIns="0" rIns="0" bIns="0" rtlCol="0" anchor="ctr"/>
          <a:lstStyle/>
          <a:p>
            <a:pPr indent="0" marL="0">
              <a:buNone/>
            </a:pPr>
            <a:r>
              <a:rPr lang="en-US" sz="1150" b="1" dirty="0">
                <a:solidFill>
                  <a:srgbClr val="242424"/>
                </a:solidFill>
                <a:latin typeface="Arial" pitchFamily="34" charset="0"/>
                <a:ea typeface="Arial" pitchFamily="34" charset="-122"/>
                <a:cs typeface="Arial" pitchFamily="34" charset="-120"/>
              </a:rPr>
              <a:t>Filtered chart data</a:t>
            </a:r>
            <a:endParaRPr lang="en-US" sz="1150" dirty="0"/>
          </a:p>
        </p:txBody>
      </p:sp>
      <p:sp>
        <p:nvSpPr>
          <p:cNvPr id="25" name="Slide Number Placeholder 0"/>
          <p:cNvSpPr>
            <a:spLocks noGrp="1"/>
          </p:cNvSpPr>
          <p:nvPr>
            <p:ph type="sldNum" sz="quarter" idx="4294967295"/>
          </p:nvPr>
        </p:nvSpPr>
        <p:spPr>
          <a:xfrm>
            <a:off x="548640" y="640080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67676"/>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0424160" cy="658368"/>
          </a:xfrm>
          <a:prstGeom prst="rect">
            <a:avLst/>
          </a:prstGeom>
          <a:noFill/>
          <a:ln/>
        </p:spPr>
        <p:txBody>
          <a:bodyPr wrap="square" lIns="0" tIns="0" rIns="0" bIns="0" rtlCol="0" anchor="ctr"/>
          <a:lstStyle/>
          <a:p>
            <a:pPr algn="l" indent="0" marL="0">
              <a:buNone/>
            </a:pPr>
            <a:r>
              <a:rPr lang="en-US" sz="3000" dirty="0">
                <a:solidFill>
                  <a:srgbClr val="000000"/>
                </a:solidFill>
                <a:latin typeface="Arial" pitchFamily="34" charset="0"/>
                <a:ea typeface="Arial" pitchFamily="34" charset="-122"/>
                <a:cs typeface="Arial" pitchFamily="34" charset="-120"/>
              </a:rPr>
              <a:t>Scoring &amp; GAP Analysis — </a:t>
            </a:r>
            <a:pPr algn="l" indent="0" marL="0">
              <a:buNone/>
            </a:pPr>
            <a:r>
              <a:rPr lang="en-US" sz="3000" b="1" dirty="0">
                <a:solidFill>
                  <a:srgbClr val="0068BF"/>
                </a:solidFill>
                <a:latin typeface="Arial" pitchFamily="34" charset="0"/>
                <a:ea typeface="Arial" pitchFamily="34" charset="-122"/>
                <a:cs typeface="Arial" pitchFamily="34" charset="-120"/>
              </a:rPr>
              <a:t>who wins, and by how much</a:t>
            </a:r>
            <a:endParaRPr lang="en-US" sz="3000" dirty="0"/>
          </a:p>
        </p:txBody>
      </p:sp>
      <p:sp>
        <p:nvSpPr>
          <p:cNvPr id="3" name="text-228"/>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dirty="0">
                <a:solidFill>
                  <a:srgbClr val="767676"/>
                </a:solidFill>
                <a:latin typeface="Arial" pitchFamily="34" charset="0"/>
                <a:ea typeface="Arial" pitchFamily="34" charset="-122"/>
                <a:cs typeface="Arial" pitchFamily="34" charset="-120"/>
              </a:rPr>
              <a:t>Best Network and Most Reliable scores of every operator, place and campaign, with the GAP to the reference</a:t>
            </a:r>
            <a:endParaRPr lang="en-US" sz="1500" dirty="0"/>
          </a:p>
        </p:txBody>
      </p:sp>
      <p:sp>
        <p:nvSpPr>
          <p:cNvPr id="4" name="shape-229"/>
          <p:cNvSpPr/>
          <p:nvPr/>
        </p:nvSpPr>
        <p:spPr>
          <a:xfrm>
            <a:off x="548640" y="1600200"/>
            <a:ext cx="5897880" cy="3520440"/>
          </a:xfrm>
          <a:prstGeom prst="roundRect">
            <a:avLst>
              <a:gd name="adj" fmla="val 3117"/>
            </a:avLst>
          </a:prstGeom>
          <a:solidFill>
            <a:srgbClr val="F2F2F2"/>
          </a:solidFill>
          <a:ln w="12700">
            <a:solidFill>
              <a:srgbClr val="F2F2F2"/>
            </a:solidFill>
            <a:prstDash val="solid"/>
          </a:ln>
        </p:spPr>
      </p:sp>
      <p:sp>
        <p:nvSpPr>
          <p:cNvPr id="5" name="text-230"/>
          <p:cNvSpPr txBox="1"/>
          <p:nvPr/>
        </p:nvSpPr>
        <p:spPr>
          <a:xfrm>
            <a:off x="749808" y="1728216"/>
            <a:ext cx="5532120" cy="237744"/>
          </a:xfrm>
          <a:prstGeom prst="rect">
            <a:avLst/>
          </a:prstGeom>
          <a:noFill/>
          <a:ln/>
        </p:spPr>
        <p:txBody>
          <a:bodyPr wrap="square" lIns="0" tIns="0" rIns="0" bIns="0" rtlCol="0" anchor="ctr"/>
          <a:lstStyle/>
          <a:p>
            <a:pPr indent="0" marL="0">
              <a:buNone/>
            </a:pPr>
            <a:r>
              <a:rPr lang="en-US" sz="1050" b="1" spc="100" kern="0" dirty="0">
                <a:solidFill>
                  <a:srgbClr val="767676"/>
                </a:solidFill>
                <a:latin typeface="Arial" pitchFamily="34" charset="0"/>
                <a:ea typeface="Arial" pitchFamily="34" charset="-122"/>
                <a:cs typeface="Arial" pitchFamily="34" charset="-120"/>
              </a:rPr>
              <a:t>WHERE EACH OPERATOR STANDS · 26-Q3</a:t>
            </a:r>
            <a:endParaRPr lang="en-US" sz="1050" dirty="0"/>
          </a:p>
        </p:txBody>
      </p:sp>
      <p:sp>
        <p:nvSpPr>
          <p:cNvPr id="6" name="shape-231"/>
          <p:cNvSpPr/>
          <p:nvPr/>
        </p:nvSpPr>
        <p:spPr>
          <a:xfrm>
            <a:off x="4846320" y="1773936"/>
            <a:ext cx="146304" cy="146304"/>
          </a:xfrm>
          <a:prstGeom prst="rect">
            <a:avLst/>
          </a:prstGeom>
          <a:solidFill>
            <a:srgbClr val="242424"/>
          </a:solidFill>
          <a:ln w="12700">
            <a:solidFill>
              <a:srgbClr val="242424"/>
            </a:solidFill>
            <a:prstDash val="solid"/>
          </a:ln>
        </p:spPr>
      </p:sp>
      <p:sp>
        <p:nvSpPr>
          <p:cNvPr id="7" name="text-232"/>
          <p:cNvSpPr txBox="1"/>
          <p:nvPr/>
        </p:nvSpPr>
        <p:spPr>
          <a:xfrm>
            <a:off x="5038344" y="1719072"/>
            <a:ext cx="502920" cy="256032"/>
          </a:xfrm>
          <a:prstGeom prst="rect">
            <a:avLst/>
          </a:prstGeom>
          <a:noFill/>
          <a:ln/>
        </p:spPr>
        <p:txBody>
          <a:bodyPr wrap="square" lIns="0" tIns="0" rIns="0" bIns="0" rtlCol="0" anchor="ctr"/>
          <a:lstStyle/>
          <a:p>
            <a:pPr indent="0" marL="0">
              <a:buNone/>
            </a:pPr>
            <a:r>
              <a:rPr lang="en-US" sz="1000" dirty="0">
                <a:solidFill>
                  <a:srgbClr val="767676"/>
                </a:solidFill>
                <a:latin typeface="Arial" pitchFamily="34" charset="0"/>
                <a:ea typeface="Arial" pitchFamily="34" charset="-122"/>
                <a:cs typeface="Arial" pitchFamily="34" charset="-120"/>
              </a:rPr>
              <a:t>Voice</a:t>
            </a:r>
            <a:endParaRPr lang="en-US" sz="1000" dirty="0"/>
          </a:p>
        </p:txBody>
      </p:sp>
      <p:sp>
        <p:nvSpPr>
          <p:cNvPr id="8" name="shape-233"/>
          <p:cNvSpPr/>
          <p:nvPr/>
        </p:nvSpPr>
        <p:spPr>
          <a:xfrm>
            <a:off x="5550408" y="1773936"/>
            <a:ext cx="146304" cy="146304"/>
          </a:xfrm>
          <a:prstGeom prst="rect">
            <a:avLst/>
          </a:prstGeom>
          <a:solidFill>
            <a:srgbClr val="242424">
              <a:alpha val="40000"/>
            </a:srgbClr>
          </a:solidFill>
          <a:ln w="12700">
            <a:solidFill>
              <a:srgbClr val="242424"/>
            </a:solidFill>
            <a:prstDash val="solid"/>
          </a:ln>
        </p:spPr>
      </p:sp>
      <p:sp>
        <p:nvSpPr>
          <p:cNvPr id="9" name="text-234"/>
          <p:cNvSpPr txBox="1"/>
          <p:nvPr/>
        </p:nvSpPr>
        <p:spPr>
          <a:xfrm>
            <a:off x="5742432" y="1719072"/>
            <a:ext cx="502920" cy="256032"/>
          </a:xfrm>
          <a:prstGeom prst="rect">
            <a:avLst/>
          </a:prstGeom>
          <a:noFill/>
          <a:ln/>
        </p:spPr>
        <p:txBody>
          <a:bodyPr wrap="square" lIns="0" tIns="0" rIns="0" bIns="0" rtlCol="0" anchor="ctr"/>
          <a:lstStyle/>
          <a:p>
            <a:pPr indent="0" marL="0">
              <a:buNone/>
            </a:pPr>
            <a:r>
              <a:rPr lang="en-US" sz="1000" dirty="0">
                <a:solidFill>
                  <a:srgbClr val="767676"/>
                </a:solidFill>
                <a:latin typeface="Arial" pitchFamily="34" charset="0"/>
                <a:ea typeface="Arial" pitchFamily="34" charset="-122"/>
                <a:cs typeface="Arial" pitchFamily="34" charset="-120"/>
              </a:rPr>
              <a:t>Data</a:t>
            </a:r>
            <a:endParaRPr lang="en-US" sz="1000" dirty="0"/>
          </a:p>
        </p:txBody>
      </p:sp>
      <p:sp>
        <p:nvSpPr>
          <p:cNvPr id="10" name="shape-235"/>
          <p:cNvSpPr/>
          <p:nvPr/>
        </p:nvSpPr>
        <p:spPr>
          <a:xfrm>
            <a:off x="749808" y="2212848"/>
            <a:ext cx="438912" cy="438912"/>
          </a:xfrm>
          <a:prstGeom prst="ellipse">
            <a:avLst/>
          </a:prstGeom>
          <a:solidFill>
            <a:srgbClr val="0068BF"/>
          </a:solidFill>
          <a:ln w="12700">
            <a:solidFill>
              <a:srgbClr val="0068BF"/>
            </a:solidFill>
            <a:prstDash val="solid"/>
          </a:ln>
        </p:spPr>
      </p:sp>
      <p:sp>
        <p:nvSpPr>
          <p:cNvPr id="11" name="text-236"/>
          <p:cNvSpPr txBox="1"/>
          <p:nvPr/>
        </p:nvSpPr>
        <p:spPr>
          <a:xfrm>
            <a:off x="749808" y="2212848"/>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2" name="text-237"/>
          <p:cNvSpPr txBox="1"/>
          <p:nvPr/>
        </p:nvSpPr>
        <p:spPr>
          <a:xfrm>
            <a:off x="1325880" y="2176272"/>
            <a:ext cx="1325880" cy="274320"/>
          </a:xfrm>
          <a:prstGeom prst="rect">
            <a:avLst/>
          </a:prstGeom>
          <a:noFill/>
          <a:ln/>
        </p:spPr>
        <p:txBody>
          <a:bodyPr wrap="square" lIns="0" tIns="0" rIns="0" bIns="0" rtlCol="0" anchor="ctr"/>
          <a:lstStyle/>
          <a:p>
            <a:pPr indent="0" marL="0">
              <a:buNone/>
            </a:pPr>
            <a:r>
              <a:rPr lang="en-US" sz="1300" b="1" dirty="0">
                <a:solidFill>
                  <a:srgbClr val="242424"/>
                </a:solidFill>
                <a:latin typeface="Arial" pitchFamily="34" charset="0"/>
                <a:ea typeface="Arial" pitchFamily="34" charset="-122"/>
                <a:cs typeface="Arial" pitchFamily="34" charset="-120"/>
              </a:rPr>
              <a:t>Operator A</a:t>
            </a:r>
            <a:endParaRPr lang="en-US" sz="1300" dirty="0"/>
          </a:p>
        </p:txBody>
      </p:sp>
      <p:sp>
        <p:nvSpPr>
          <p:cNvPr id="13" name="text-238"/>
          <p:cNvSpPr txBox="1"/>
          <p:nvPr/>
        </p:nvSpPr>
        <p:spPr>
          <a:xfrm>
            <a:off x="1325880" y="2450592"/>
            <a:ext cx="1325880" cy="219456"/>
          </a:xfrm>
          <a:prstGeom prst="rect">
            <a:avLst/>
          </a:prstGeom>
          <a:noFill/>
          <a:ln/>
        </p:spPr>
        <p:txBody>
          <a:bodyPr wrap="square" lIns="0" tIns="0" rIns="0" bIns="0" rtlCol="0" anchor="ctr"/>
          <a:lstStyle/>
          <a:p>
            <a:pPr indent="0" marL="0">
              <a:buNone/>
            </a:pPr>
            <a:r>
              <a:rPr lang="en-US" sz="1000" b="1" dirty="0">
                <a:solidFill>
                  <a:srgbClr val="0C9B5B"/>
                </a:solidFill>
                <a:latin typeface="Arial" pitchFamily="34" charset="0"/>
                <a:ea typeface="Arial" pitchFamily="34" charset="-122"/>
                <a:cs typeface="Arial" pitchFamily="34" charset="-120"/>
              </a:rPr>
              <a:t>▲ 12.6 vs 26-Q2</a:t>
            </a:r>
            <a:endParaRPr lang="en-US" sz="1000" dirty="0"/>
          </a:p>
        </p:txBody>
      </p:sp>
      <p:sp>
        <p:nvSpPr>
          <p:cNvPr id="14" name="shape-239"/>
          <p:cNvSpPr/>
          <p:nvPr/>
        </p:nvSpPr>
        <p:spPr>
          <a:xfrm>
            <a:off x="2697480" y="2240280"/>
            <a:ext cx="2286000" cy="384048"/>
          </a:xfrm>
          <a:prstGeom prst="rect">
            <a:avLst/>
          </a:prstGeom>
          <a:solidFill>
            <a:srgbClr val="FFFFFF"/>
          </a:solidFill>
          <a:ln w="9525">
            <a:solidFill>
              <a:srgbClr val="E0E0E0"/>
            </a:solidFill>
            <a:prstDash val="solid"/>
          </a:ln>
        </p:spPr>
      </p:sp>
      <p:sp>
        <p:nvSpPr>
          <p:cNvPr id="15" name="shape-240"/>
          <p:cNvSpPr/>
          <p:nvPr/>
        </p:nvSpPr>
        <p:spPr>
          <a:xfrm>
            <a:off x="2697480" y="2240280"/>
            <a:ext cx="919201" cy="384048"/>
          </a:xfrm>
          <a:prstGeom prst="rect">
            <a:avLst/>
          </a:prstGeom>
          <a:solidFill>
            <a:srgbClr val="0068BF"/>
          </a:solidFill>
          <a:ln w="12700">
            <a:solidFill>
              <a:srgbClr val="0068BF"/>
            </a:solidFill>
            <a:prstDash val="solid"/>
          </a:ln>
        </p:spPr>
      </p:sp>
      <p:sp>
        <p:nvSpPr>
          <p:cNvPr id="16" name="shape-241"/>
          <p:cNvSpPr/>
          <p:nvPr/>
        </p:nvSpPr>
        <p:spPr>
          <a:xfrm>
            <a:off x="3616681" y="2240280"/>
            <a:ext cx="1139114" cy="384048"/>
          </a:xfrm>
          <a:prstGeom prst="rect">
            <a:avLst/>
          </a:prstGeom>
          <a:solidFill>
            <a:srgbClr val="0068BF">
              <a:alpha val="40000"/>
            </a:srgbClr>
          </a:solidFill>
          <a:ln w="12700">
            <a:solidFill>
              <a:srgbClr val="0068BF"/>
            </a:solidFill>
            <a:prstDash val="solid"/>
          </a:ln>
        </p:spPr>
      </p:sp>
      <p:sp>
        <p:nvSpPr>
          <p:cNvPr id="17" name="text-242"/>
          <p:cNvSpPr txBox="1"/>
          <p:nvPr/>
        </p:nvSpPr>
        <p:spPr>
          <a:xfrm>
            <a:off x="2697480" y="2240280"/>
            <a:ext cx="919201"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402</a:t>
            </a:r>
            <a:endParaRPr lang="en-US" sz="1050" dirty="0"/>
          </a:p>
        </p:txBody>
      </p:sp>
      <p:sp>
        <p:nvSpPr>
          <p:cNvPr id="18" name="text-243"/>
          <p:cNvSpPr txBox="1"/>
          <p:nvPr/>
        </p:nvSpPr>
        <p:spPr>
          <a:xfrm>
            <a:off x="3616681" y="2240280"/>
            <a:ext cx="1139114" cy="384048"/>
          </a:xfrm>
          <a:prstGeom prst="rect">
            <a:avLst/>
          </a:prstGeom>
          <a:noFill/>
          <a:ln/>
        </p:spPr>
        <p:txBody>
          <a:bodyPr wrap="square" lIns="0" tIns="0" rIns="0" bIns="0" rtlCol="0" anchor="ctr"/>
          <a:lstStyle/>
          <a:p>
            <a:pPr algn="ctr" indent="0" marL="0">
              <a:buNone/>
            </a:pPr>
            <a:r>
              <a:rPr lang="en-US" sz="1050" b="1" dirty="0">
                <a:solidFill>
                  <a:srgbClr val="242424"/>
                </a:solidFill>
                <a:latin typeface="Arial" pitchFamily="34" charset="0"/>
                <a:ea typeface="Arial" pitchFamily="34" charset="-122"/>
                <a:cs typeface="Arial" pitchFamily="34" charset="-120"/>
              </a:rPr>
              <a:t>498</a:t>
            </a:r>
            <a:endParaRPr lang="en-US" sz="1050" dirty="0"/>
          </a:p>
        </p:txBody>
      </p:sp>
      <p:sp>
        <p:nvSpPr>
          <p:cNvPr id="19" name="text-244"/>
          <p:cNvSpPr txBox="1"/>
          <p:nvPr/>
        </p:nvSpPr>
        <p:spPr>
          <a:xfrm>
            <a:off x="5047488" y="2221992"/>
            <a:ext cx="658368" cy="420624"/>
          </a:xfrm>
          <a:prstGeom prst="rect">
            <a:avLst/>
          </a:prstGeom>
          <a:noFill/>
          <a:ln/>
        </p:spPr>
        <p:txBody>
          <a:bodyPr wrap="square" lIns="0" tIns="0" rIns="0" bIns="0" rtlCol="0" anchor="ctr"/>
          <a:lstStyle/>
          <a:p>
            <a:pPr indent="0" marL="0">
              <a:buNone/>
            </a:pPr>
            <a:r>
              <a:rPr lang="en-US" sz="1500" b="1" dirty="0">
                <a:solidFill>
                  <a:srgbClr val="242424"/>
                </a:solidFill>
                <a:latin typeface="Arial" pitchFamily="34" charset="0"/>
                <a:ea typeface="Arial" pitchFamily="34" charset="-122"/>
                <a:cs typeface="Arial" pitchFamily="34" charset="-120"/>
              </a:rPr>
              <a:t>900.4</a:t>
            </a:r>
            <a:endParaRPr lang="en-US" sz="1500" dirty="0"/>
          </a:p>
        </p:txBody>
      </p:sp>
      <p:sp>
        <p:nvSpPr>
          <p:cNvPr id="20" name="shape-245"/>
          <p:cNvSpPr/>
          <p:nvPr/>
        </p:nvSpPr>
        <p:spPr>
          <a:xfrm>
            <a:off x="5715000" y="2276856"/>
            <a:ext cx="603504" cy="310896"/>
          </a:xfrm>
          <a:prstGeom prst="roundRect">
            <a:avLst>
              <a:gd name="adj" fmla="val 50000"/>
            </a:avLst>
          </a:prstGeom>
          <a:solidFill>
            <a:srgbClr val="242424"/>
          </a:solidFill>
          <a:ln w="12700">
            <a:solidFill>
              <a:srgbClr val="242424"/>
            </a:solidFill>
            <a:prstDash val="solid"/>
          </a:ln>
        </p:spPr>
      </p:sp>
      <p:sp>
        <p:nvSpPr>
          <p:cNvPr id="21" name="text-246"/>
          <p:cNvSpPr txBox="1"/>
          <p:nvPr/>
        </p:nvSpPr>
        <p:spPr>
          <a:xfrm>
            <a:off x="5715000" y="2276856"/>
            <a:ext cx="603504"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REF</a:t>
            </a:r>
            <a:endParaRPr lang="en-US" sz="1050" dirty="0"/>
          </a:p>
        </p:txBody>
      </p:sp>
      <p:sp>
        <p:nvSpPr>
          <p:cNvPr id="22" name="shape-247"/>
          <p:cNvSpPr/>
          <p:nvPr/>
        </p:nvSpPr>
        <p:spPr>
          <a:xfrm>
            <a:off x="749808" y="2889504"/>
            <a:ext cx="438912" cy="438912"/>
          </a:xfrm>
          <a:prstGeom prst="ellipse">
            <a:avLst/>
          </a:prstGeom>
          <a:solidFill>
            <a:srgbClr val="8C60A8"/>
          </a:solidFill>
          <a:ln w="12700">
            <a:solidFill>
              <a:srgbClr val="8C60A8"/>
            </a:solidFill>
            <a:prstDash val="solid"/>
          </a:ln>
        </p:spPr>
      </p:sp>
      <p:sp>
        <p:nvSpPr>
          <p:cNvPr id="23" name="text-248"/>
          <p:cNvSpPr txBox="1"/>
          <p:nvPr/>
        </p:nvSpPr>
        <p:spPr>
          <a:xfrm>
            <a:off x="749808" y="2889504"/>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24" name="text-249"/>
          <p:cNvSpPr txBox="1"/>
          <p:nvPr/>
        </p:nvSpPr>
        <p:spPr>
          <a:xfrm>
            <a:off x="1325880" y="2852928"/>
            <a:ext cx="1325880" cy="274320"/>
          </a:xfrm>
          <a:prstGeom prst="rect">
            <a:avLst/>
          </a:prstGeom>
          <a:noFill/>
          <a:ln/>
        </p:spPr>
        <p:txBody>
          <a:bodyPr wrap="square" lIns="0" tIns="0" rIns="0" bIns="0" rtlCol="0" anchor="ctr"/>
          <a:lstStyle/>
          <a:p>
            <a:pPr indent="0" marL="0">
              <a:buNone/>
            </a:pPr>
            <a:r>
              <a:rPr lang="en-US" sz="1300" b="1" dirty="0">
                <a:solidFill>
                  <a:srgbClr val="242424"/>
                </a:solidFill>
                <a:latin typeface="Arial" pitchFamily="34" charset="0"/>
                <a:ea typeface="Arial" pitchFamily="34" charset="-122"/>
                <a:cs typeface="Arial" pitchFamily="34" charset="-120"/>
              </a:rPr>
              <a:t>Operator B</a:t>
            </a:r>
            <a:endParaRPr lang="en-US" sz="1300" dirty="0"/>
          </a:p>
        </p:txBody>
      </p:sp>
      <p:sp>
        <p:nvSpPr>
          <p:cNvPr id="25" name="text-250"/>
          <p:cNvSpPr txBox="1"/>
          <p:nvPr/>
        </p:nvSpPr>
        <p:spPr>
          <a:xfrm>
            <a:off x="1325880" y="3127248"/>
            <a:ext cx="1325880" cy="219456"/>
          </a:xfrm>
          <a:prstGeom prst="rect">
            <a:avLst/>
          </a:prstGeom>
          <a:noFill/>
          <a:ln/>
        </p:spPr>
        <p:txBody>
          <a:bodyPr wrap="square" lIns="0" tIns="0" rIns="0" bIns="0" rtlCol="0" anchor="ctr"/>
          <a:lstStyle/>
          <a:p>
            <a:pPr indent="0" marL="0">
              <a:buNone/>
            </a:pPr>
            <a:r>
              <a:rPr lang="en-US" sz="1000" b="1" dirty="0">
                <a:solidFill>
                  <a:srgbClr val="0C9B5B"/>
                </a:solidFill>
                <a:latin typeface="Arial" pitchFamily="34" charset="0"/>
                <a:ea typeface="Arial" pitchFamily="34" charset="-122"/>
                <a:cs typeface="Arial" pitchFamily="34" charset="-120"/>
              </a:rPr>
              <a:t>▲ 4.1 vs 26-Q2</a:t>
            </a:r>
            <a:endParaRPr lang="en-US" sz="1000" dirty="0"/>
          </a:p>
        </p:txBody>
      </p:sp>
      <p:sp>
        <p:nvSpPr>
          <p:cNvPr id="26" name="shape-251"/>
          <p:cNvSpPr/>
          <p:nvPr/>
        </p:nvSpPr>
        <p:spPr>
          <a:xfrm>
            <a:off x="2697480" y="2916936"/>
            <a:ext cx="2286000" cy="384048"/>
          </a:xfrm>
          <a:prstGeom prst="rect">
            <a:avLst/>
          </a:prstGeom>
          <a:solidFill>
            <a:srgbClr val="FFFFFF"/>
          </a:solidFill>
          <a:ln w="9525">
            <a:solidFill>
              <a:srgbClr val="E0E0E0"/>
            </a:solidFill>
            <a:prstDash val="solid"/>
          </a:ln>
        </p:spPr>
      </p:sp>
      <p:sp>
        <p:nvSpPr>
          <p:cNvPr id="27" name="shape-252"/>
          <p:cNvSpPr/>
          <p:nvPr/>
        </p:nvSpPr>
        <p:spPr>
          <a:xfrm>
            <a:off x="2697480" y="2916936"/>
            <a:ext cx="871880" cy="384048"/>
          </a:xfrm>
          <a:prstGeom prst="rect">
            <a:avLst/>
          </a:prstGeom>
          <a:solidFill>
            <a:srgbClr val="8C60A8"/>
          </a:solidFill>
          <a:ln w="12700">
            <a:solidFill>
              <a:srgbClr val="8C60A8"/>
            </a:solidFill>
            <a:prstDash val="solid"/>
          </a:ln>
        </p:spPr>
      </p:sp>
      <p:sp>
        <p:nvSpPr>
          <p:cNvPr id="28" name="shape-253"/>
          <p:cNvSpPr/>
          <p:nvPr/>
        </p:nvSpPr>
        <p:spPr>
          <a:xfrm>
            <a:off x="3569360" y="2916936"/>
            <a:ext cx="1087679" cy="384048"/>
          </a:xfrm>
          <a:prstGeom prst="rect">
            <a:avLst/>
          </a:prstGeom>
          <a:solidFill>
            <a:srgbClr val="8C60A8">
              <a:alpha val="40000"/>
            </a:srgbClr>
          </a:solidFill>
          <a:ln w="12700">
            <a:solidFill>
              <a:srgbClr val="8C60A8"/>
            </a:solidFill>
            <a:prstDash val="solid"/>
          </a:ln>
        </p:spPr>
      </p:sp>
      <p:sp>
        <p:nvSpPr>
          <p:cNvPr id="29" name="text-254"/>
          <p:cNvSpPr txBox="1"/>
          <p:nvPr/>
        </p:nvSpPr>
        <p:spPr>
          <a:xfrm>
            <a:off x="2697480" y="2916936"/>
            <a:ext cx="87188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381</a:t>
            </a:r>
            <a:endParaRPr lang="en-US" sz="1050" dirty="0"/>
          </a:p>
        </p:txBody>
      </p:sp>
      <p:sp>
        <p:nvSpPr>
          <p:cNvPr id="30" name="text-255"/>
          <p:cNvSpPr txBox="1"/>
          <p:nvPr/>
        </p:nvSpPr>
        <p:spPr>
          <a:xfrm>
            <a:off x="3569360" y="2916936"/>
            <a:ext cx="1087679" cy="384048"/>
          </a:xfrm>
          <a:prstGeom prst="rect">
            <a:avLst/>
          </a:prstGeom>
          <a:noFill/>
          <a:ln/>
        </p:spPr>
        <p:txBody>
          <a:bodyPr wrap="square" lIns="0" tIns="0" rIns="0" bIns="0" rtlCol="0" anchor="ctr"/>
          <a:lstStyle/>
          <a:p>
            <a:pPr algn="ctr" indent="0" marL="0">
              <a:buNone/>
            </a:pPr>
            <a:r>
              <a:rPr lang="en-US" sz="1050" b="1" dirty="0">
                <a:solidFill>
                  <a:srgbClr val="242424"/>
                </a:solidFill>
                <a:latin typeface="Arial" pitchFamily="34" charset="0"/>
                <a:ea typeface="Arial" pitchFamily="34" charset="-122"/>
                <a:cs typeface="Arial" pitchFamily="34" charset="-120"/>
              </a:rPr>
              <a:t>476</a:t>
            </a:r>
            <a:endParaRPr lang="en-US" sz="1050" dirty="0"/>
          </a:p>
        </p:txBody>
      </p:sp>
      <p:sp>
        <p:nvSpPr>
          <p:cNvPr id="31" name="text-256"/>
          <p:cNvSpPr txBox="1"/>
          <p:nvPr/>
        </p:nvSpPr>
        <p:spPr>
          <a:xfrm>
            <a:off x="5047488" y="2898648"/>
            <a:ext cx="658368" cy="420624"/>
          </a:xfrm>
          <a:prstGeom prst="rect">
            <a:avLst/>
          </a:prstGeom>
          <a:noFill/>
          <a:ln/>
        </p:spPr>
        <p:txBody>
          <a:bodyPr wrap="square" lIns="0" tIns="0" rIns="0" bIns="0" rtlCol="0" anchor="ctr"/>
          <a:lstStyle/>
          <a:p>
            <a:pPr indent="0" marL="0">
              <a:buNone/>
            </a:pPr>
            <a:r>
              <a:rPr lang="en-US" sz="1500" b="1" dirty="0">
                <a:solidFill>
                  <a:srgbClr val="242424"/>
                </a:solidFill>
                <a:latin typeface="Arial" pitchFamily="34" charset="0"/>
                <a:ea typeface="Arial" pitchFamily="34" charset="-122"/>
                <a:cs typeface="Arial" pitchFamily="34" charset="-120"/>
              </a:rPr>
              <a:t>857.2</a:t>
            </a:r>
            <a:endParaRPr lang="en-US" sz="1500" dirty="0"/>
          </a:p>
        </p:txBody>
      </p:sp>
      <p:sp>
        <p:nvSpPr>
          <p:cNvPr id="32" name="shape-257"/>
          <p:cNvSpPr/>
          <p:nvPr/>
        </p:nvSpPr>
        <p:spPr>
          <a:xfrm>
            <a:off x="5715000" y="2953512"/>
            <a:ext cx="603504" cy="310896"/>
          </a:xfrm>
          <a:prstGeom prst="roundRect">
            <a:avLst>
              <a:gd name="adj" fmla="val 50000"/>
            </a:avLst>
          </a:prstGeom>
          <a:solidFill>
            <a:srgbClr val="FDE2E2"/>
          </a:solidFill>
          <a:ln w="12700">
            <a:solidFill>
              <a:srgbClr val="FDE2E2"/>
            </a:solidFill>
            <a:prstDash val="solid"/>
          </a:ln>
        </p:spPr>
      </p:sp>
      <p:sp>
        <p:nvSpPr>
          <p:cNvPr id="33" name="text-258"/>
          <p:cNvSpPr txBox="1"/>
          <p:nvPr/>
        </p:nvSpPr>
        <p:spPr>
          <a:xfrm>
            <a:off x="5715000" y="2953512"/>
            <a:ext cx="603504" cy="310896"/>
          </a:xfrm>
          <a:prstGeom prst="rect">
            <a:avLst/>
          </a:prstGeom>
          <a:noFill/>
          <a:ln/>
        </p:spPr>
        <p:txBody>
          <a:bodyPr wrap="square" lIns="0" tIns="0" rIns="0" bIns="0" rtlCol="0" anchor="ctr"/>
          <a:lstStyle/>
          <a:p>
            <a:pPr algn="ctr" indent="0" marL="0">
              <a:buNone/>
            </a:pPr>
            <a:r>
              <a:rPr lang="en-US" sz="1050" b="1" dirty="0">
                <a:solidFill>
                  <a:srgbClr val="D92B2B"/>
                </a:solidFill>
                <a:latin typeface="Arial" pitchFamily="34" charset="0"/>
                <a:ea typeface="Arial" pitchFamily="34" charset="-122"/>
                <a:cs typeface="Arial" pitchFamily="34" charset="-120"/>
              </a:rPr>
              <a:t>−43.2</a:t>
            </a:r>
            <a:endParaRPr lang="en-US" sz="1050" dirty="0"/>
          </a:p>
        </p:txBody>
      </p:sp>
      <p:sp>
        <p:nvSpPr>
          <p:cNvPr id="34" name="shape-259"/>
          <p:cNvSpPr/>
          <p:nvPr/>
        </p:nvSpPr>
        <p:spPr>
          <a:xfrm>
            <a:off x="749808" y="3566160"/>
            <a:ext cx="438912" cy="438912"/>
          </a:xfrm>
          <a:prstGeom prst="ellipse">
            <a:avLst/>
          </a:prstGeom>
          <a:solidFill>
            <a:srgbClr val="0C9B5B"/>
          </a:solidFill>
          <a:ln w="12700">
            <a:solidFill>
              <a:srgbClr val="0C9B5B"/>
            </a:solidFill>
            <a:prstDash val="solid"/>
          </a:ln>
        </p:spPr>
      </p:sp>
      <p:sp>
        <p:nvSpPr>
          <p:cNvPr id="35" name="text-260"/>
          <p:cNvSpPr txBox="1"/>
          <p:nvPr/>
        </p:nvSpPr>
        <p:spPr>
          <a:xfrm>
            <a:off x="749808" y="356616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36" name="text-261"/>
          <p:cNvSpPr txBox="1"/>
          <p:nvPr/>
        </p:nvSpPr>
        <p:spPr>
          <a:xfrm>
            <a:off x="1325880" y="3529584"/>
            <a:ext cx="1325880" cy="274320"/>
          </a:xfrm>
          <a:prstGeom prst="rect">
            <a:avLst/>
          </a:prstGeom>
          <a:noFill/>
          <a:ln/>
        </p:spPr>
        <p:txBody>
          <a:bodyPr wrap="square" lIns="0" tIns="0" rIns="0" bIns="0" rtlCol="0" anchor="ctr"/>
          <a:lstStyle/>
          <a:p>
            <a:pPr indent="0" marL="0">
              <a:buNone/>
            </a:pPr>
            <a:r>
              <a:rPr lang="en-US" sz="1300" b="1" dirty="0">
                <a:solidFill>
                  <a:srgbClr val="242424"/>
                </a:solidFill>
                <a:latin typeface="Arial" pitchFamily="34" charset="0"/>
                <a:ea typeface="Arial" pitchFamily="34" charset="-122"/>
                <a:cs typeface="Arial" pitchFamily="34" charset="-120"/>
              </a:rPr>
              <a:t>Operator C</a:t>
            </a:r>
            <a:endParaRPr lang="en-US" sz="1300" dirty="0"/>
          </a:p>
        </p:txBody>
      </p:sp>
      <p:sp>
        <p:nvSpPr>
          <p:cNvPr id="37" name="text-262"/>
          <p:cNvSpPr txBox="1"/>
          <p:nvPr/>
        </p:nvSpPr>
        <p:spPr>
          <a:xfrm>
            <a:off x="1325880" y="3803904"/>
            <a:ext cx="1325880" cy="219456"/>
          </a:xfrm>
          <a:prstGeom prst="rect">
            <a:avLst/>
          </a:prstGeom>
          <a:noFill/>
          <a:ln/>
        </p:spPr>
        <p:txBody>
          <a:bodyPr wrap="square" lIns="0" tIns="0" rIns="0" bIns="0" rtlCol="0" anchor="ctr"/>
          <a:lstStyle/>
          <a:p>
            <a:pPr indent="0" marL="0">
              <a:buNone/>
            </a:pPr>
            <a:r>
              <a:rPr lang="en-US" sz="1000" b="1" dirty="0">
                <a:solidFill>
                  <a:srgbClr val="D92B2B"/>
                </a:solidFill>
                <a:latin typeface="Arial" pitchFamily="34" charset="0"/>
                <a:ea typeface="Arial" pitchFamily="34" charset="-122"/>
                <a:cs typeface="Arial" pitchFamily="34" charset="-120"/>
              </a:rPr>
              <a:t>▼ 6.3 vs 26-Q2</a:t>
            </a:r>
            <a:endParaRPr lang="en-US" sz="1000" dirty="0"/>
          </a:p>
        </p:txBody>
      </p:sp>
      <p:sp>
        <p:nvSpPr>
          <p:cNvPr id="38" name="shape-263"/>
          <p:cNvSpPr/>
          <p:nvPr/>
        </p:nvSpPr>
        <p:spPr>
          <a:xfrm>
            <a:off x="2697480" y="3593592"/>
            <a:ext cx="2286000" cy="384048"/>
          </a:xfrm>
          <a:prstGeom prst="rect">
            <a:avLst/>
          </a:prstGeom>
          <a:solidFill>
            <a:srgbClr val="FFFFFF"/>
          </a:solidFill>
          <a:ln w="9525">
            <a:solidFill>
              <a:srgbClr val="E0E0E0"/>
            </a:solidFill>
            <a:prstDash val="solid"/>
          </a:ln>
        </p:spPr>
      </p:sp>
      <p:sp>
        <p:nvSpPr>
          <p:cNvPr id="39" name="shape-264"/>
          <p:cNvSpPr/>
          <p:nvPr/>
        </p:nvSpPr>
        <p:spPr>
          <a:xfrm>
            <a:off x="2697480" y="3593592"/>
            <a:ext cx="804672" cy="384048"/>
          </a:xfrm>
          <a:prstGeom prst="rect">
            <a:avLst/>
          </a:prstGeom>
          <a:solidFill>
            <a:srgbClr val="0C9B5B"/>
          </a:solidFill>
          <a:ln w="12700">
            <a:solidFill>
              <a:srgbClr val="0C9B5B"/>
            </a:solidFill>
            <a:prstDash val="solid"/>
          </a:ln>
        </p:spPr>
      </p:sp>
      <p:sp>
        <p:nvSpPr>
          <p:cNvPr id="40" name="shape-265"/>
          <p:cNvSpPr/>
          <p:nvPr/>
        </p:nvSpPr>
        <p:spPr>
          <a:xfrm>
            <a:off x="3502152" y="3593592"/>
            <a:ext cx="1031443" cy="384048"/>
          </a:xfrm>
          <a:prstGeom prst="rect">
            <a:avLst/>
          </a:prstGeom>
          <a:solidFill>
            <a:srgbClr val="0C9B5B">
              <a:alpha val="40000"/>
            </a:srgbClr>
          </a:solidFill>
          <a:ln w="12700">
            <a:solidFill>
              <a:srgbClr val="0C9B5B"/>
            </a:solidFill>
            <a:prstDash val="solid"/>
          </a:ln>
        </p:spPr>
      </p:sp>
      <p:sp>
        <p:nvSpPr>
          <p:cNvPr id="41" name="text-266"/>
          <p:cNvSpPr txBox="1"/>
          <p:nvPr/>
        </p:nvSpPr>
        <p:spPr>
          <a:xfrm>
            <a:off x="2697480" y="3593592"/>
            <a:ext cx="804672"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352</a:t>
            </a:r>
            <a:endParaRPr lang="en-US" sz="1050" dirty="0"/>
          </a:p>
        </p:txBody>
      </p:sp>
      <p:sp>
        <p:nvSpPr>
          <p:cNvPr id="42" name="text-267"/>
          <p:cNvSpPr txBox="1"/>
          <p:nvPr/>
        </p:nvSpPr>
        <p:spPr>
          <a:xfrm>
            <a:off x="3502152" y="3593592"/>
            <a:ext cx="1031443" cy="384048"/>
          </a:xfrm>
          <a:prstGeom prst="rect">
            <a:avLst/>
          </a:prstGeom>
          <a:noFill/>
          <a:ln/>
        </p:spPr>
        <p:txBody>
          <a:bodyPr wrap="square" lIns="0" tIns="0" rIns="0" bIns="0" rtlCol="0" anchor="ctr"/>
          <a:lstStyle/>
          <a:p>
            <a:pPr algn="ctr" indent="0" marL="0">
              <a:buNone/>
            </a:pPr>
            <a:r>
              <a:rPr lang="en-US" sz="1050" b="1" dirty="0">
                <a:solidFill>
                  <a:srgbClr val="242424"/>
                </a:solidFill>
                <a:latin typeface="Arial" pitchFamily="34" charset="0"/>
                <a:ea typeface="Arial" pitchFamily="34" charset="-122"/>
                <a:cs typeface="Arial" pitchFamily="34" charset="-120"/>
              </a:rPr>
              <a:t>451</a:t>
            </a:r>
            <a:endParaRPr lang="en-US" sz="1050" dirty="0"/>
          </a:p>
        </p:txBody>
      </p:sp>
      <p:sp>
        <p:nvSpPr>
          <p:cNvPr id="43" name="text-268"/>
          <p:cNvSpPr txBox="1"/>
          <p:nvPr/>
        </p:nvSpPr>
        <p:spPr>
          <a:xfrm>
            <a:off x="5047488" y="3575304"/>
            <a:ext cx="658368" cy="420624"/>
          </a:xfrm>
          <a:prstGeom prst="rect">
            <a:avLst/>
          </a:prstGeom>
          <a:noFill/>
          <a:ln/>
        </p:spPr>
        <p:txBody>
          <a:bodyPr wrap="square" lIns="0" tIns="0" rIns="0" bIns="0" rtlCol="0" anchor="ctr"/>
          <a:lstStyle/>
          <a:p>
            <a:pPr indent="0" marL="0">
              <a:buNone/>
            </a:pPr>
            <a:r>
              <a:rPr lang="en-US" sz="1500" b="1" dirty="0">
                <a:solidFill>
                  <a:srgbClr val="242424"/>
                </a:solidFill>
                <a:latin typeface="Arial" pitchFamily="34" charset="0"/>
                <a:ea typeface="Arial" pitchFamily="34" charset="-122"/>
                <a:cs typeface="Arial" pitchFamily="34" charset="-120"/>
              </a:rPr>
              <a:t>803.2</a:t>
            </a:r>
            <a:endParaRPr lang="en-US" sz="1500" dirty="0"/>
          </a:p>
        </p:txBody>
      </p:sp>
      <p:sp>
        <p:nvSpPr>
          <p:cNvPr id="44" name="shape-269"/>
          <p:cNvSpPr/>
          <p:nvPr/>
        </p:nvSpPr>
        <p:spPr>
          <a:xfrm>
            <a:off x="5715000" y="3630168"/>
            <a:ext cx="603504" cy="310896"/>
          </a:xfrm>
          <a:prstGeom prst="roundRect">
            <a:avLst>
              <a:gd name="adj" fmla="val 50000"/>
            </a:avLst>
          </a:prstGeom>
          <a:solidFill>
            <a:srgbClr val="FDE2E2"/>
          </a:solidFill>
          <a:ln w="12700">
            <a:solidFill>
              <a:srgbClr val="FDE2E2"/>
            </a:solidFill>
            <a:prstDash val="solid"/>
          </a:ln>
        </p:spPr>
      </p:sp>
      <p:sp>
        <p:nvSpPr>
          <p:cNvPr id="45" name="text-270"/>
          <p:cNvSpPr txBox="1"/>
          <p:nvPr/>
        </p:nvSpPr>
        <p:spPr>
          <a:xfrm>
            <a:off x="5715000" y="3630168"/>
            <a:ext cx="603504" cy="310896"/>
          </a:xfrm>
          <a:prstGeom prst="rect">
            <a:avLst/>
          </a:prstGeom>
          <a:noFill/>
          <a:ln/>
        </p:spPr>
        <p:txBody>
          <a:bodyPr wrap="square" lIns="0" tIns="0" rIns="0" bIns="0" rtlCol="0" anchor="ctr"/>
          <a:lstStyle/>
          <a:p>
            <a:pPr algn="ctr" indent="0" marL="0">
              <a:buNone/>
            </a:pPr>
            <a:r>
              <a:rPr lang="en-US" sz="1050" b="1" dirty="0">
                <a:solidFill>
                  <a:srgbClr val="D92B2B"/>
                </a:solidFill>
                <a:latin typeface="Arial" pitchFamily="34" charset="0"/>
                <a:ea typeface="Arial" pitchFamily="34" charset="-122"/>
                <a:cs typeface="Arial" pitchFamily="34" charset="-120"/>
              </a:rPr>
              <a:t>−97.2</a:t>
            </a:r>
            <a:endParaRPr lang="en-US" sz="1050" dirty="0"/>
          </a:p>
        </p:txBody>
      </p:sp>
      <p:sp>
        <p:nvSpPr>
          <p:cNvPr id="46" name="shape-271"/>
          <p:cNvSpPr/>
          <p:nvPr/>
        </p:nvSpPr>
        <p:spPr>
          <a:xfrm>
            <a:off x="749808" y="4242816"/>
            <a:ext cx="438912" cy="438912"/>
          </a:xfrm>
          <a:prstGeom prst="ellipse">
            <a:avLst/>
          </a:prstGeom>
          <a:solidFill>
            <a:srgbClr val="E07800"/>
          </a:solidFill>
          <a:ln w="12700">
            <a:solidFill>
              <a:srgbClr val="E07800"/>
            </a:solidFill>
            <a:prstDash val="solid"/>
          </a:ln>
        </p:spPr>
      </p:sp>
      <p:sp>
        <p:nvSpPr>
          <p:cNvPr id="47" name="text-272"/>
          <p:cNvSpPr txBox="1"/>
          <p:nvPr/>
        </p:nvSpPr>
        <p:spPr>
          <a:xfrm>
            <a:off x="749808" y="4242816"/>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48" name="text-273"/>
          <p:cNvSpPr txBox="1"/>
          <p:nvPr/>
        </p:nvSpPr>
        <p:spPr>
          <a:xfrm>
            <a:off x="1325880" y="4206240"/>
            <a:ext cx="1325880" cy="274320"/>
          </a:xfrm>
          <a:prstGeom prst="rect">
            <a:avLst/>
          </a:prstGeom>
          <a:noFill/>
          <a:ln/>
        </p:spPr>
        <p:txBody>
          <a:bodyPr wrap="square" lIns="0" tIns="0" rIns="0" bIns="0" rtlCol="0" anchor="ctr"/>
          <a:lstStyle/>
          <a:p>
            <a:pPr indent="0" marL="0">
              <a:buNone/>
            </a:pPr>
            <a:r>
              <a:rPr lang="en-US" sz="1300" b="1" dirty="0">
                <a:solidFill>
                  <a:srgbClr val="242424"/>
                </a:solidFill>
                <a:latin typeface="Arial" pitchFamily="34" charset="0"/>
                <a:ea typeface="Arial" pitchFamily="34" charset="-122"/>
                <a:cs typeface="Arial" pitchFamily="34" charset="-120"/>
              </a:rPr>
              <a:t>Operator D</a:t>
            </a:r>
            <a:endParaRPr lang="en-US" sz="1300" dirty="0"/>
          </a:p>
        </p:txBody>
      </p:sp>
      <p:sp>
        <p:nvSpPr>
          <p:cNvPr id="49" name="text-274"/>
          <p:cNvSpPr txBox="1"/>
          <p:nvPr/>
        </p:nvSpPr>
        <p:spPr>
          <a:xfrm>
            <a:off x="1325880" y="4480560"/>
            <a:ext cx="1325880" cy="219456"/>
          </a:xfrm>
          <a:prstGeom prst="rect">
            <a:avLst/>
          </a:prstGeom>
          <a:noFill/>
          <a:ln/>
        </p:spPr>
        <p:txBody>
          <a:bodyPr wrap="square" lIns="0" tIns="0" rIns="0" bIns="0" rtlCol="0" anchor="ctr"/>
          <a:lstStyle/>
          <a:p>
            <a:pPr indent="0" marL="0">
              <a:buNone/>
            </a:pPr>
            <a:r>
              <a:rPr lang="en-US" sz="1000" b="1" dirty="0">
                <a:solidFill>
                  <a:srgbClr val="0C9B5B"/>
                </a:solidFill>
                <a:latin typeface="Arial" pitchFamily="34" charset="0"/>
                <a:ea typeface="Arial" pitchFamily="34" charset="-122"/>
                <a:cs typeface="Arial" pitchFamily="34" charset="-120"/>
              </a:rPr>
              <a:t>▲ 9.8 vs 26-Q2</a:t>
            </a:r>
            <a:endParaRPr lang="en-US" sz="1000" dirty="0"/>
          </a:p>
        </p:txBody>
      </p:sp>
      <p:sp>
        <p:nvSpPr>
          <p:cNvPr id="50" name="shape-275"/>
          <p:cNvSpPr/>
          <p:nvPr/>
        </p:nvSpPr>
        <p:spPr>
          <a:xfrm>
            <a:off x="2697480" y="4270248"/>
            <a:ext cx="2286000" cy="384048"/>
          </a:xfrm>
          <a:prstGeom prst="rect">
            <a:avLst/>
          </a:prstGeom>
          <a:solidFill>
            <a:srgbClr val="FFFFFF"/>
          </a:solidFill>
          <a:ln w="9525">
            <a:solidFill>
              <a:srgbClr val="E0E0E0"/>
            </a:solidFill>
            <a:prstDash val="solid"/>
          </a:ln>
        </p:spPr>
      </p:sp>
      <p:sp>
        <p:nvSpPr>
          <p:cNvPr id="51" name="shape-276"/>
          <p:cNvSpPr/>
          <p:nvPr/>
        </p:nvSpPr>
        <p:spPr>
          <a:xfrm>
            <a:off x="2697480" y="4270248"/>
            <a:ext cx="712546" cy="384048"/>
          </a:xfrm>
          <a:prstGeom prst="rect">
            <a:avLst/>
          </a:prstGeom>
          <a:solidFill>
            <a:srgbClr val="E07800"/>
          </a:solidFill>
          <a:ln w="12700">
            <a:solidFill>
              <a:srgbClr val="E07800"/>
            </a:solidFill>
            <a:prstDash val="solid"/>
          </a:ln>
        </p:spPr>
      </p:sp>
      <p:sp>
        <p:nvSpPr>
          <p:cNvPr id="52" name="shape-277"/>
          <p:cNvSpPr/>
          <p:nvPr/>
        </p:nvSpPr>
        <p:spPr>
          <a:xfrm>
            <a:off x="3410026" y="4270248"/>
            <a:ext cx="917829" cy="384048"/>
          </a:xfrm>
          <a:prstGeom prst="rect">
            <a:avLst/>
          </a:prstGeom>
          <a:solidFill>
            <a:srgbClr val="E07800">
              <a:alpha val="40000"/>
            </a:srgbClr>
          </a:solidFill>
          <a:ln w="12700">
            <a:solidFill>
              <a:srgbClr val="E07800"/>
            </a:solidFill>
            <a:prstDash val="solid"/>
          </a:ln>
        </p:spPr>
      </p:sp>
      <p:sp>
        <p:nvSpPr>
          <p:cNvPr id="53" name="text-278"/>
          <p:cNvSpPr txBox="1"/>
          <p:nvPr/>
        </p:nvSpPr>
        <p:spPr>
          <a:xfrm>
            <a:off x="2697480" y="4270248"/>
            <a:ext cx="712546"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312</a:t>
            </a:r>
            <a:endParaRPr lang="en-US" sz="1050" dirty="0"/>
          </a:p>
        </p:txBody>
      </p:sp>
      <p:sp>
        <p:nvSpPr>
          <p:cNvPr id="54" name="text-279"/>
          <p:cNvSpPr txBox="1"/>
          <p:nvPr/>
        </p:nvSpPr>
        <p:spPr>
          <a:xfrm>
            <a:off x="3410026" y="4270248"/>
            <a:ext cx="917829" cy="384048"/>
          </a:xfrm>
          <a:prstGeom prst="rect">
            <a:avLst/>
          </a:prstGeom>
          <a:noFill/>
          <a:ln/>
        </p:spPr>
        <p:txBody>
          <a:bodyPr wrap="square" lIns="0" tIns="0" rIns="0" bIns="0" rtlCol="0" anchor="ctr"/>
          <a:lstStyle/>
          <a:p>
            <a:pPr algn="ctr" indent="0" marL="0">
              <a:buNone/>
            </a:pPr>
            <a:r>
              <a:rPr lang="en-US" sz="1050" b="1" dirty="0">
                <a:solidFill>
                  <a:srgbClr val="242424"/>
                </a:solidFill>
                <a:latin typeface="Arial" pitchFamily="34" charset="0"/>
                <a:ea typeface="Arial" pitchFamily="34" charset="-122"/>
                <a:cs typeface="Arial" pitchFamily="34" charset="-120"/>
              </a:rPr>
              <a:t>402</a:t>
            </a:r>
            <a:endParaRPr lang="en-US" sz="1050" dirty="0"/>
          </a:p>
        </p:txBody>
      </p:sp>
      <p:sp>
        <p:nvSpPr>
          <p:cNvPr id="55" name="text-280"/>
          <p:cNvSpPr txBox="1"/>
          <p:nvPr/>
        </p:nvSpPr>
        <p:spPr>
          <a:xfrm>
            <a:off x="5047488" y="4251960"/>
            <a:ext cx="658368" cy="420624"/>
          </a:xfrm>
          <a:prstGeom prst="rect">
            <a:avLst/>
          </a:prstGeom>
          <a:noFill/>
          <a:ln/>
        </p:spPr>
        <p:txBody>
          <a:bodyPr wrap="square" lIns="0" tIns="0" rIns="0" bIns="0" rtlCol="0" anchor="ctr"/>
          <a:lstStyle/>
          <a:p>
            <a:pPr indent="0" marL="0">
              <a:buNone/>
            </a:pPr>
            <a:r>
              <a:rPr lang="en-US" sz="1500" b="1" dirty="0">
                <a:solidFill>
                  <a:srgbClr val="242424"/>
                </a:solidFill>
                <a:latin typeface="Arial" pitchFamily="34" charset="0"/>
                <a:ea typeface="Arial" pitchFamily="34" charset="-122"/>
                <a:cs typeface="Arial" pitchFamily="34" charset="-120"/>
              </a:rPr>
              <a:t>713.2</a:t>
            </a:r>
            <a:endParaRPr lang="en-US" sz="1500" dirty="0"/>
          </a:p>
        </p:txBody>
      </p:sp>
      <p:sp>
        <p:nvSpPr>
          <p:cNvPr id="56" name="shape-281"/>
          <p:cNvSpPr/>
          <p:nvPr/>
        </p:nvSpPr>
        <p:spPr>
          <a:xfrm>
            <a:off x="5715000" y="4306824"/>
            <a:ext cx="603504" cy="310896"/>
          </a:xfrm>
          <a:prstGeom prst="roundRect">
            <a:avLst>
              <a:gd name="adj" fmla="val 50000"/>
            </a:avLst>
          </a:prstGeom>
          <a:solidFill>
            <a:srgbClr val="FDE2E2"/>
          </a:solidFill>
          <a:ln w="12700">
            <a:solidFill>
              <a:srgbClr val="FDE2E2"/>
            </a:solidFill>
            <a:prstDash val="solid"/>
          </a:ln>
        </p:spPr>
      </p:sp>
      <p:sp>
        <p:nvSpPr>
          <p:cNvPr id="57" name="text-282"/>
          <p:cNvSpPr txBox="1"/>
          <p:nvPr/>
        </p:nvSpPr>
        <p:spPr>
          <a:xfrm>
            <a:off x="5715000" y="4306824"/>
            <a:ext cx="603504" cy="310896"/>
          </a:xfrm>
          <a:prstGeom prst="rect">
            <a:avLst/>
          </a:prstGeom>
          <a:noFill/>
          <a:ln/>
        </p:spPr>
        <p:txBody>
          <a:bodyPr wrap="square" lIns="0" tIns="0" rIns="0" bIns="0" rtlCol="0" anchor="ctr"/>
          <a:lstStyle/>
          <a:p>
            <a:pPr algn="ctr" indent="0" marL="0">
              <a:buNone/>
            </a:pPr>
            <a:r>
              <a:rPr lang="en-US" sz="1050" b="1" dirty="0">
                <a:solidFill>
                  <a:srgbClr val="D92B2B"/>
                </a:solidFill>
                <a:latin typeface="Arial" pitchFamily="34" charset="0"/>
                <a:ea typeface="Arial" pitchFamily="34" charset="-122"/>
                <a:cs typeface="Arial" pitchFamily="34" charset="-120"/>
              </a:rPr>
              <a:t>−187.2</a:t>
            </a:r>
            <a:endParaRPr lang="en-US" sz="1050" dirty="0"/>
          </a:p>
        </p:txBody>
      </p:sp>
      <p:sp>
        <p:nvSpPr>
          <p:cNvPr id="58" name="text-283"/>
          <p:cNvSpPr txBox="1"/>
          <p:nvPr/>
        </p:nvSpPr>
        <p:spPr>
          <a:xfrm>
            <a:off x="749808" y="4773168"/>
            <a:ext cx="5486400" cy="237744"/>
          </a:xfrm>
          <a:prstGeom prst="rect">
            <a:avLst/>
          </a:prstGeom>
          <a:noFill/>
          <a:ln/>
        </p:spPr>
        <p:txBody>
          <a:bodyPr wrap="square" lIns="0" tIns="0" rIns="0" bIns="0" rtlCol="0" anchor="ctr"/>
          <a:lstStyle/>
          <a:p>
            <a:pPr indent="0" marL="0">
              <a:buNone/>
            </a:pPr>
            <a:r>
              <a:rPr lang="en-US" sz="1000" dirty="0">
                <a:solidFill>
                  <a:srgbClr val="A0A0A0"/>
                </a:solidFill>
                <a:latin typeface="Arial" pitchFamily="34" charset="0"/>
                <a:ea typeface="Arial" pitchFamily="34" charset="-122"/>
                <a:cs typeface="Arial" pitchFamily="34" charset="-120"/>
              </a:rPr>
              <a:t>Illustrative data · points of 1,000 · GAP to Operator A, the reference</a:t>
            </a:r>
            <a:endParaRPr lang="en-US" sz="1000" dirty="0"/>
          </a:p>
        </p:txBody>
      </p:sp>
      <p:sp>
        <p:nvSpPr>
          <p:cNvPr id="59" name="shape-284"/>
          <p:cNvSpPr/>
          <p:nvPr/>
        </p:nvSpPr>
        <p:spPr>
          <a:xfrm>
            <a:off x="6675120" y="1600200"/>
            <a:ext cx="4965192" cy="1783080"/>
          </a:xfrm>
          <a:prstGeom prst="roundRect">
            <a:avLst>
              <a:gd name="adj" fmla="val 6154"/>
            </a:avLst>
          </a:prstGeom>
          <a:solidFill>
            <a:srgbClr val="F2F2F2"/>
          </a:solidFill>
          <a:ln w="12700">
            <a:solidFill>
              <a:srgbClr val="F2F2F2"/>
            </a:solidFill>
            <a:prstDash val="solid"/>
          </a:ln>
        </p:spPr>
      </p:sp>
      <p:sp>
        <p:nvSpPr>
          <p:cNvPr id="60" name="text-285"/>
          <p:cNvSpPr txBox="1"/>
          <p:nvPr/>
        </p:nvSpPr>
        <p:spPr>
          <a:xfrm>
            <a:off x="6876288" y="1728216"/>
            <a:ext cx="4599432" cy="237744"/>
          </a:xfrm>
          <a:prstGeom prst="rect">
            <a:avLst/>
          </a:prstGeom>
          <a:noFill/>
          <a:ln/>
        </p:spPr>
        <p:txBody>
          <a:bodyPr wrap="square" lIns="0" tIns="0" rIns="0" bIns="0" rtlCol="0" anchor="ctr"/>
          <a:lstStyle/>
          <a:p>
            <a:pPr indent="0" marL="0">
              <a:buNone/>
            </a:pPr>
            <a:r>
              <a:rPr lang="en-US" sz="1050" b="1" spc="100" kern="0" dirty="0">
                <a:solidFill>
                  <a:srgbClr val="767676"/>
                </a:solidFill>
                <a:latin typeface="Arial" pitchFamily="34" charset="0"/>
                <a:ea typeface="Arial" pitchFamily="34" charset="-122"/>
                <a:cs typeface="Arial" pitchFamily="34" charset="-120"/>
              </a:rPr>
              <a:t>POSITION PER ENVIRONMENT · OPERATOR B</a:t>
            </a:r>
            <a:endParaRPr lang="en-US" sz="1050" dirty="0"/>
          </a:p>
        </p:txBody>
      </p:sp>
      <p:sp>
        <p:nvSpPr>
          <p:cNvPr id="61" name="text-286"/>
          <p:cNvSpPr txBox="1"/>
          <p:nvPr/>
        </p:nvSpPr>
        <p:spPr>
          <a:xfrm>
            <a:off x="8412480" y="1920240"/>
            <a:ext cx="978408" cy="237744"/>
          </a:xfrm>
          <a:prstGeom prst="rect">
            <a:avLst/>
          </a:prstGeom>
          <a:noFill/>
          <a:ln/>
        </p:spPr>
        <p:txBody>
          <a:bodyPr wrap="square" lIns="0" tIns="0" rIns="0" bIns="0" rtlCol="0" anchor="ctr"/>
          <a:lstStyle/>
          <a:p>
            <a:pPr algn="ctr" indent="0" marL="0">
              <a:buNone/>
            </a:pPr>
            <a:r>
              <a:rPr lang="en-US" sz="1050" b="1" dirty="0">
                <a:solidFill>
                  <a:srgbClr val="767676"/>
                </a:solidFill>
                <a:latin typeface="Arial" pitchFamily="34" charset="0"/>
                <a:ea typeface="Arial" pitchFamily="34" charset="-122"/>
                <a:cs typeface="Arial" pitchFamily="34" charset="-120"/>
              </a:rPr>
              <a:t>Voice</a:t>
            </a:r>
            <a:endParaRPr lang="en-US" sz="1050" dirty="0"/>
          </a:p>
        </p:txBody>
      </p:sp>
      <p:sp>
        <p:nvSpPr>
          <p:cNvPr id="62" name="text-287"/>
          <p:cNvSpPr txBox="1"/>
          <p:nvPr/>
        </p:nvSpPr>
        <p:spPr>
          <a:xfrm>
            <a:off x="9482328" y="1920240"/>
            <a:ext cx="978408" cy="237744"/>
          </a:xfrm>
          <a:prstGeom prst="rect">
            <a:avLst/>
          </a:prstGeom>
          <a:noFill/>
          <a:ln/>
        </p:spPr>
        <p:txBody>
          <a:bodyPr wrap="square" lIns="0" tIns="0" rIns="0" bIns="0" rtlCol="0" anchor="ctr"/>
          <a:lstStyle/>
          <a:p>
            <a:pPr algn="ctr" indent="0" marL="0">
              <a:buNone/>
            </a:pPr>
            <a:r>
              <a:rPr lang="en-US" sz="1050" b="1" dirty="0">
                <a:solidFill>
                  <a:srgbClr val="767676"/>
                </a:solidFill>
                <a:latin typeface="Arial" pitchFamily="34" charset="0"/>
                <a:ea typeface="Arial" pitchFamily="34" charset="-122"/>
                <a:cs typeface="Arial" pitchFamily="34" charset="-120"/>
              </a:rPr>
              <a:t>Data</a:t>
            </a:r>
            <a:endParaRPr lang="en-US" sz="1050" dirty="0"/>
          </a:p>
        </p:txBody>
      </p:sp>
      <p:sp>
        <p:nvSpPr>
          <p:cNvPr id="63" name="text-288"/>
          <p:cNvSpPr txBox="1"/>
          <p:nvPr/>
        </p:nvSpPr>
        <p:spPr>
          <a:xfrm>
            <a:off x="10552176" y="1920240"/>
            <a:ext cx="978408" cy="237744"/>
          </a:xfrm>
          <a:prstGeom prst="rect">
            <a:avLst/>
          </a:prstGeom>
          <a:noFill/>
          <a:ln/>
        </p:spPr>
        <p:txBody>
          <a:bodyPr wrap="square" lIns="0" tIns="0" rIns="0" bIns="0" rtlCol="0" anchor="ctr"/>
          <a:lstStyle/>
          <a:p>
            <a:pPr algn="ctr" indent="0" marL="0">
              <a:buNone/>
            </a:pPr>
            <a:r>
              <a:rPr lang="en-US" sz="1050" b="1" dirty="0">
                <a:solidFill>
                  <a:srgbClr val="767676"/>
                </a:solidFill>
                <a:latin typeface="Arial" pitchFamily="34" charset="0"/>
                <a:ea typeface="Arial" pitchFamily="34" charset="-122"/>
                <a:cs typeface="Arial" pitchFamily="34" charset="-120"/>
              </a:rPr>
              <a:t>Overall</a:t>
            </a:r>
            <a:endParaRPr lang="en-US" sz="1050" dirty="0"/>
          </a:p>
        </p:txBody>
      </p:sp>
      <p:sp>
        <p:nvSpPr>
          <p:cNvPr id="64" name="text-289"/>
          <p:cNvSpPr txBox="1"/>
          <p:nvPr/>
        </p:nvSpPr>
        <p:spPr>
          <a:xfrm>
            <a:off x="6876288" y="2212848"/>
            <a:ext cx="1508760" cy="310896"/>
          </a:xfrm>
          <a:prstGeom prst="rect">
            <a:avLst/>
          </a:prstGeom>
          <a:noFill/>
          <a:ln/>
        </p:spPr>
        <p:txBody>
          <a:bodyPr wrap="square" lIns="0" tIns="0" rIns="0" bIns="0" rtlCol="0" anchor="ctr"/>
          <a:lstStyle/>
          <a:p>
            <a:pPr indent="0" marL="0">
              <a:buNone/>
            </a:pPr>
            <a:r>
              <a:rPr lang="en-US" sz="1100" dirty="0">
                <a:solidFill>
                  <a:srgbClr val="242424"/>
                </a:solidFill>
                <a:latin typeface="Arial" pitchFamily="34" charset="0"/>
                <a:ea typeface="Arial" pitchFamily="34" charset="-122"/>
                <a:cs typeface="Arial" pitchFamily="34" charset="-120"/>
              </a:rPr>
              <a:t>Drive - City</a:t>
            </a:r>
            <a:endParaRPr lang="en-US" sz="1100" dirty="0"/>
          </a:p>
        </p:txBody>
      </p:sp>
      <p:sp>
        <p:nvSpPr>
          <p:cNvPr id="65" name="shape-290"/>
          <p:cNvSpPr/>
          <p:nvPr/>
        </p:nvSpPr>
        <p:spPr>
          <a:xfrm>
            <a:off x="8412480" y="2212848"/>
            <a:ext cx="978408" cy="310896"/>
          </a:xfrm>
          <a:prstGeom prst="roundRect">
            <a:avLst>
              <a:gd name="adj" fmla="val 17647"/>
            </a:avLst>
          </a:prstGeom>
          <a:solidFill>
            <a:srgbClr val="8FD9B6"/>
          </a:solidFill>
          <a:ln w="12700">
            <a:solidFill>
              <a:srgbClr val="8FD9B6"/>
            </a:solidFill>
            <a:prstDash val="solid"/>
          </a:ln>
        </p:spPr>
      </p:sp>
      <p:sp>
        <p:nvSpPr>
          <p:cNvPr id="66" name="text-291"/>
          <p:cNvSpPr txBox="1"/>
          <p:nvPr/>
        </p:nvSpPr>
        <p:spPr>
          <a:xfrm>
            <a:off x="8412480" y="2212848"/>
            <a:ext cx="978408" cy="310896"/>
          </a:xfrm>
          <a:prstGeom prst="rect">
            <a:avLst/>
          </a:prstGeom>
          <a:noFill/>
          <a:ln/>
        </p:spPr>
        <p:txBody>
          <a:bodyPr wrap="square" lIns="0" tIns="0" rIns="0" bIns="0" rtlCol="0" anchor="ctr"/>
          <a:lstStyle/>
          <a:p>
            <a:pPr algn="ctr" indent="0" marL="0">
              <a:buNone/>
            </a:pPr>
            <a:r>
              <a:rPr lang="en-US" sz="1100" b="1" dirty="0">
                <a:solidFill>
                  <a:srgbClr val="242424"/>
                </a:solidFill>
                <a:latin typeface="Arial" pitchFamily="34" charset="0"/>
                <a:ea typeface="Arial" pitchFamily="34" charset="-122"/>
                <a:cs typeface="Arial" pitchFamily="34" charset="-120"/>
              </a:rPr>
              <a:t>#2  </a:t>
            </a:r>
            <a:pPr algn="ctr" indent="0" marL="0">
              <a:buNone/>
            </a:pPr>
            <a:r>
              <a:rPr lang="en-US" sz="1100" dirty="0">
                <a:solidFill>
                  <a:srgbClr val="242424"/>
                </a:solidFill>
                <a:latin typeface="Arial" pitchFamily="34" charset="0"/>
                <a:ea typeface="Arial" pitchFamily="34" charset="-122"/>
                <a:cs typeface="Arial" pitchFamily="34" charset="-120"/>
              </a:rPr>
              <a:t>88%</a:t>
            </a:r>
            <a:endParaRPr lang="en-US" sz="1100" dirty="0"/>
          </a:p>
        </p:txBody>
      </p:sp>
      <p:sp>
        <p:nvSpPr>
          <p:cNvPr id="67" name="shape-292"/>
          <p:cNvSpPr/>
          <p:nvPr/>
        </p:nvSpPr>
        <p:spPr>
          <a:xfrm>
            <a:off x="9482328" y="2212848"/>
            <a:ext cx="978408" cy="310896"/>
          </a:xfrm>
          <a:prstGeom prst="roundRect">
            <a:avLst>
              <a:gd name="adj" fmla="val 17647"/>
            </a:avLst>
          </a:prstGeom>
          <a:solidFill>
            <a:srgbClr val="0C9B5B"/>
          </a:solidFill>
          <a:ln w="12700">
            <a:solidFill>
              <a:srgbClr val="0C9B5B"/>
            </a:solidFill>
            <a:prstDash val="solid"/>
          </a:ln>
        </p:spPr>
      </p:sp>
      <p:sp>
        <p:nvSpPr>
          <p:cNvPr id="68" name="text-293"/>
          <p:cNvSpPr txBox="1"/>
          <p:nvPr/>
        </p:nvSpPr>
        <p:spPr>
          <a:xfrm>
            <a:off x="9482328" y="2212848"/>
            <a:ext cx="97840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  </a:t>
            </a:r>
            <a:pPr algn="ctr" indent="0" marL="0">
              <a:buNone/>
            </a:pPr>
            <a:r>
              <a:rPr lang="en-US" sz="1100" dirty="0">
                <a:solidFill>
                  <a:srgbClr val="FFFFFF"/>
                </a:solidFill>
                <a:latin typeface="Arial" pitchFamily="34" charset="0"/>
                <a:ea typeface="Arial" pitchFamily="34" charset="-122"/>
                <a:cs typeface="Arial" pitchFamily="34" charset="-120"/>
              </a:rPr>
              <a:t>93%</a:t>
            </a:r>
            <a:endParaRPr lang="en-US" sz="1100" dirty="0"/>
          </a:p>
        </p:txBody>
      </p:sp>
      <p:sp>
        <p:nvSpPr>
          <p:cNvPr id="69" name="shape-294"/>
          <p:cNvSpPr/>
          <p:nvPr/>
        </p:nvSpPr>
        <p:spPr>
          <a:xfrm>
            <a:off x="10552176" y="2212848"/>
            <a:ext cx="978408" cy="310896"/>
          </a:xfrm>
          <a:prstGeom prst="roundRect">
            <a:avLst>
              <a:gd name="adj" fmla="val 17647"/>
            </a:avLst>
          </a:prstGeom>
          <a:solidFill>
            <a:srgbClr val="8FD9B6"/>
          </a:solidFill>
          <a:ln w="12700">
            <a:solidFill>
              <a:srgbClr val="8FD9B6"/>
            </a:solidFill>
            <a:prstDash val="solid"/>
          </a:ln>
        </p:spPr>
      </p:sp>
      <p:sp>
        <p:nvSpPr>
          <p:cNvPr id="70" name="text-295"/>
          <p:cNvSpPr txBox="1"/>
          <p:nvPr/>
        </p:nvSpPr>
        <p:spPr>
          <a:xfrm>
            <a:off x="10552176" y="2212848"/>
            <a:ext cx="978408" cy="310896"/>
          </a:xfrm>
          <a:prstGeom prst="rect">
            <a:avLst/>
          </a:prstGeom>
          <a:noFill/>
          <a:ln/>
        </p:spPr>
        <p:txBody>
          <a:bodyPr wrap="square" lIns="0" tIns="0" rIns="0" bIns="0" rtlCol="0" anchor="ctr"/>
          <a:lstStyle/>
          <a:p>
            <a:pPr algn="ctr" indent="0" marL="0">
              <a:buNone/>
            </a:pPr>
            <a:r>
              <a:rPr lang="en-US" sz="1100" b="1" dirty="0">
                <a:solidFill>
                  <a:srgbClr val="242424"/>
                </a:solidFill>
                <a:latin typeface="Arial" pitchFamily="34" charset="0"/>
                <a:ea typeface="Arial" pitchFamily="34" charset="-122"/>
                <a:cs typeface="Arial" pitchFamily="34" charset="-120"/>
              </a:rPr>
              <a:t>#2  </a:t>
            </a:r>
            <a:pPr algn="ctr" indent="0" marL="0">
              <a:buNone/>
            </a:pPr>
            <a:r>
              <a:rPr lang="en-US" sz="1100" dirty="0">
                <a:solidFill>
                  <a:srgbClr val="242424"/>
                </a:solidFill>
                <a:latin typeface="Arial" pitchFamily="34" charset="0"/>
                <a:ea typeface="Arial" pitchFamily="34" charset="-122"/>
                <a:cs typeface="Arial" pitchFamily="34" charset="-120"/>
              </a:rPr>
              <a:t>90%</a:t>
            </a:r>
            <a:endParaRPr lang="en-US" sz="1100" dirty="0"/>
          </a:p>
        </p:txBody>
      </p:sp>
      <p:sp>
        <p:nvSpPr>
          <p:cNvPr id="71" name="text-296"/>
          <p:cNvSpPr txBox="1"/>
          <p:nvPr/>
        </p:nvSpPr>
        <p:spPr>
          <a:xfrm>
            <a:off x="6876288" y="2578608"/>
            <a:ext cx="1508760" cy="310896"/>
          </a:xfrm>
          <a:prstGeom prst="rect">
            <a:avLst/>
          </a:prstGeom>
          <a:noFill/>
          <a:ln/>
        </p:spPr>
        <p:txBody>
          <a:bodyPr wrap="square" lIns="0" tIns="0" rIns="0" bIns="0" rtlCol="0" anchor="ctr"/>
          <a:lstStyle/>
          <a:p>
            <a:pPr indent="0" marL="0">
              <a:buNone/>
            </a:pPr>
            <a:r>
              <a:rPr lang="en-US" sz="1100" dirty="0">
                <a:solidFill>
                  <a:srgbClr val="242424"/>
                </a:solidFill>
                <a:latin typeface="Arial" pitchFamily="34" charset="0"/>
                <a:ea typeface="Arial" pitchFamily="34" charset="-122"/>
                <a:cs typeface="Arial" pitchFamily="34" charset="-120"/>
              </a:rPr>
              <a:t>Connecting Roads</a:t>
            </a:r>
            <a:endParaRPr lang="en-US" sz="1100" dirty="0"/>
          </a:p>
        </p:txBody>
      </p:sp>
      <p:sp>
        <p:nvSpPr>
          <p:cNvPr id="72" name="shape-297"/>
          <p:cNvSpPr/>
          <p:nvPr/>
        </p:nvSpPr>
        <p:spPr>
          <a:xfrm>
            <a:off x="8412480" y="2578608"/>
            <a:ext cx="978408" cy="310896"/>
          </a:xfrm>
          <a:prstGeom prst="roundRect">
            <a:avLst>
              <a:gd name="adj" fmla="val 17647"/>
            </a:avLst>
          </a:prstGeom>
          <a:solidFill>
            <a:srgbClr val="D92B2B"/>
          </a:solidFill>
          <a:ln w="12700">
            <a:solidFill>
              <a:srgbClr val="D92B2B"/>
            </a:solidFill>
            <a:prstDash val="solid"/>
          </a:ln>
        </p:spPr>
      </p:sp>
      <p:sp>
        <p:nvSpPr>
          <p:cNvPr id="73" name="text-298"/>
          <p:cNvSpPr txBox="1"/>
          <p:nvPr/>
        </p:nvSpPr>
        <p:spPr>
          <a:xfrm>
            <a:off x="8412480" y="2578608"/>
            <a:ext cx="97840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  </a:t>
            </a:r>
            <a:pPr algn="ctr" indent="0" marL="0">
              <a:buNone/>
            </a:pPr>
            <a:r>
              <a:rPr lang="en-US" sz="1100" dirty="0">
                <a:solidFill>
                  <a:srgbClr val="FFFFFF"/>
                </a:solidFill>
                <a:latin typeface="Arial" pitchFamily="34" charset="0"/>
                <a:ea typeface="Arial" pitchFamily="34" charset="-122"/>
                <a:cs typeface="Arial" pitchFamily="34" charset="-120"/>
              </a:rPr>
              <a:t>74%</a:t>
            </a:r>
            <a:endParaRPr lang="en-US" sz="1100" dirty="0"/>
          </a:p>
        </p:txBody>
      </p:sp>
      <p:sp>
        <p:nvSpPr>
          <p:cNvPr id="74" name="shape-299"/>
          <p:cNvSpPr/>
          <p:nvPr/>
        </p:nvSpPr>
        <p:spPr>
          <a:xfrm>
            <a:off x="9482328" y="2578608"/>
            <a:ext cx="978408" cy="310896"/>
          </a:xfrm>
          <a:prstGeom prst="roundRect">
            <a:avLst>
              <a:gd name="adj" fmla="val 17647"/>
            </a:avLst>
          </a:prstGeom>
          <a:solidFill>
            <a:srgbClr val="8FD9B6"/>
          </a:solidFill>
          <a:ln w="12700">
            <a:solidFill>
              <a:srgbClr val="8FD9B6"/>
            </a:solidFill>
            <a:prstDash val="solid"/>
          </a:ln>
        </p:spPr>
      </p:sp>
      <p:sp>
        <p:nvSpPr>
          <p:cNvPr id="75" name="text-300"/>
          <p:cNvSpPr txBox="1"/>
          <p:nvPr/>
        </p:nvSpPr>
        <p:spPr>
          <a:xfrm>
            <a:off x="9482328" y="2578608"/>
            <a:ext cx="978408" cy="310896"/>
          </a:xfrm>
          <a:prstGeom prst="rect">
            <a:avLst/>
          </a:prstGeom>
          <a:noFill/>
          <a:ln/>
        </p:spPr>
        <p:txBody>
          <a:bodyPr wrap="square" lIns="0" tIns="0" rIns="0" bIns="0" rtlCol="0" anchor="ctr"/>
          <a:lstStyle/>
          <a:p>
            <a:pPr algn="ctr" indent="0" marL="0">
              <a:buNone/>
            </a:pPr>
            <a:r>
              <a:rPr lang="en-US" sz="1100" b="1" dirty="0">
                <a:solidFill>
                  <a:srgbClr val="242424"/>
                </a:solidFill>
                <a:latin typeface="Arial" pitchFamily="34" charset="0"/>
                <a:ea typeface="Arial" pitchFamily="34" charset="-122"/>
                <a:cs typeface="Arial" pitchFamily="34" charset="-120"/>
              </a:rPr>
              <a:t>#2  </a:t>
            </a:r>
            <a:pPr algn="ctr" indent="0" marL="0">
              <a:buNone/>
            </a:pPr>
            <a:r>
              <a:rPr lang="en-US" sz="1100" dirty="0">
                <a:solidFill>
                  <a:srgbClr val="242424"/>
                </a:solidFill>
                <a:latin typeface="Arial" pitchFamily="34" charset="0"/>
                <a:ea typeface="Arial" pitchFamily="34" charset="-122"/>
                <a:cs typeface="Arial" pitchFamily="34" charset="-120"/>
              </a:rPr>
              <a:t>85%</a:t>
            </a:r>
            <a:endParaRPr lang="en-US" sz="1100" dirty="0"/>
          </a:p>
        </p:txBody>
      </p:sp>
      <p:sp>
        <p:nvSpPr>
          <p:cNvPr id="76" name="shape-301"/>
          <p:cNvSpPr/>
          <p:nvPr/>
        </p:nvSpPr>
        <p:spPr>
          <a:xfrm>
            <a:off x="10552176" y="2578608"/>
            <a:ext cx="978408" cy="310896"/>
          </a:xfrm>
          <a:prstGeom prst="roundRect">
            <a:avLst>
              <a:gd name="adj" fmla="val 17647"/>
            </a:avLst>
          </a:prstGeom>
          <a:solidFill>
            <a:srgbClr val="F8B4B4"/>
          </a:solidFill>
          <a:ln w="12700">
            <a:solidFill>
              <a:srgbClr val="F8B4B4"/>
            </a:solidFill>
            <a:prstDash val="solid"/>
          </a:ln>
        </p:spPr>
      </p:sp>
      <p:sp>
        <p:nvSpPr>
          <p:cNvPr id="77" name="text-302"/>
          <p:cNvSpPr txBox="1"/>
          <p:nvPr/>
        </p:nvSpPr>
        <p:spPr>
          <a:xfrm>
            <a:off x="10552176" y="2578608"/>
            <a:ext cx="978408" cy="310896"/>
          </a:xfrm>
          <a:prstGeom prst="rect">
            <a:avLst/>
          </a:prstGeom>
          <a:noFill/>
          <a:ln/>
        </p:spPr>
        <p:txBody>
          <a:bodyPr wrap="square" lIns="0" tIns="0" rIns="0" bIns="0" rtlCol="0" anchor="ctr"/>
          <a:lstStyle/>
          <a:p>
            <a:pPr algn="ctr" indent="0" marL="0">
              <a:buNone/>
            </a:pPr>
            <a:r>
              <a:rPr lang="en-US" sz="1100" b="1" dirty="0">
                <a:solidFill>
                  <a:srgbClr val="242424"/>
                </a:solidFill>
                <a:latin typeface="Arial" pitchFamily="34" charset="0"/>
                <a:ea typeface="Arial" pitchFamily="34" charset="-122"/>
                <a:cs typeface="Arial" pitchFamily="34" charset="-120"/>
              </a:rPr>
              <a:t>#3  </a:t>
            </a:r>
            <a:pPr algn="ctr" indent="0" marL="0">
              <a:buNone/>
            </a:pPr>
            <a:r>
              <a:rPr lang="en-US" sz="1100" dirty="0">
                <a:solidFill>
                  <a:srgbClr val="242424"/>
                </a:solidFill>
                <a:latin typeface="Arial" pitchFamily="34" charset="0"/>
                <a:ea typeface="Arial" pitchFamily="34" charset="-122"/>
                <a:cs typeface="Arial" pitchFamily="34" charset="-120"/>
              </a:rPr>
              <a:t>81%</a:t>
            </a:r>
            <a:endParaRPr lang="en-US" sz="1100" dirty="0"/>
          </a:p>
        </p:txBody>
      </p:sp>
      <p:sp>
        <p:nvSpPr>
          <p:cNvPr id="78" name="text-303"/>
          <p:cNvSpPr txBox="1"/>
          <p:nvPr/>
        </p:nvSpPr>
        <p:spPr>
          <a:xfrm>
            <a:off x="6876288" y="2944368"/>
            <a:ext cx="1508760" cy="310896"/>
          </a:xfrm>
          <a:prstGeom prst="rect">
            <a:avLst/>
          </a:prstGeom>
          <a:noFill/>
          <a:ln/>
        </p:spPr>
        <p:txBody>
          <a:bodyPr wrap="square" lIns="0" tIns="0" rIns="0" bIns="0" rtlCol="0" anchor="ctr"/>
          <a:lstStyle/>
          <a:p>
            <a:pPr indent="0" marL="0">
              <a:buNone/>
            </a:pPr>
            <a:r>
              <a:rPr lang="en-US" sz="1100" b="1" dirty="0">
                <a:solidFill>
                  <a:srgbClr val="242424"/>
                </a:solidFill>
                <a:latin typeface="Arial" pitchFamily="34" charset="0"/>
                <a:ea typeface="Arial" pitchFamily="34" charset="-122"/>
                <a:cs typeface="Arial" pitchFamily="34" charset="-120"/>
              </a:rPr>
              <a:t>All Environments</a:t>
            </a:r>
            <a:endParaRPr lang="en-US" sz="1100" dirty="0"/>
          </a:p>
        </p:txBody>
      </p:sp>
      <p:sp>
        <p:nvSpPr>
          <p:cNvPr id="79" name="shape-304"/>
          <p:cNvSpPr/>
          <p:nvPr/>
        </p:nvSpPr>
        <p:spPr>
          <a:xfrm>
            <a:off x="8412480" y="2944368"/>
            <a:ext cx="978408" cy="310896"/>
          </a:xfrm>
          <a:prstGeom prst="roundRect">
            <a:avLst>
              <a:gd name="adj" fmla="val 17647"/>
            </a:avLst>
          </a:prstGeom>
          <a:solidFill>
            <a:srgbClr val="8FD9B6"/>
          </a:solidFill>
          <a:ln w="12700">
            <a:solidFill>
              <a:srgbClr val="8FD9B6"/>
            </a:solidFill>
            <a:prstDash val="solid"/>
          </a:ln>
        </p:spPr>
      </p:sp>
      <p:sp>
        <p:nvSpPr>
          <p:cNvPr id="80" name="text-305"/>
          <p:cNvSpPr txBox="1"/>
          <p:nvPr/>
        </p:nvSpPr>
        <p:spPr>
          <a:xfrm>
            <a:off x="8412480" y="2944368"/>
            <a:ext cx="978408" cy="310896"/>
          </a:xfrm>
          <a:prstGeom prst="rect">
            <a:avLst/>
          </a:prstGeom>
          <a:noFill/>
          <a:ln/>
        </p:spPr>
        <p:txBody>
          <a:bodyPr wrap="square" lIns="0" tIns="0" rIns="0" bIns="0" rtlCol="0" anchor="ctr"/>
          <a:lstStyle/>
          <a:p>
            <a:pPr algn="ctr" indent="0" marL="0">
              <a:buNone/>
            </a:pPr>
            <a:r>
              <a:rPr lang="en-US" sz="1100" b="1" dirty="0">
                <a:solidFill>
                  <a:srgbClr val="242424"/>
                </a:solidFill>
                <a:latin typeface="Arial" pitchFamily="34" charset="0"/>
                <a:ea typeface="Arial" pitchFamily="34" charset="-122"/>
                <a:cs typeface="Arial" pitchFamily="34" charset="-120"/>
              </a:rPr>
              <a:t>#2  </a:t>
            </a:r>
            <a:pPr algn="ctr" indent="0" marL="0">
              <a:buNone/>
            </a:pPr>
            <a:r>
              <a:rPr lang="en-US" sz="1100" dirty="0">
                <a:solidFill>
                  <a:srgbClr val="242424"/>
                </a:solidFill>
                <a:latin typeface="Arial" pitchFamily="34" charset="0"/>
                <a:ea typeface="Arial" pitchFamily="34" charset="-122"/>
                <a:cs typeface="Arial" pitchFamily="34" charset="-120"/>
              </a:rPr>
              <a:t>84%</a:t>
            </a:r>
            <a:endParaRPr lang="en-US" sz="1100" dirty="0"/>
          </a:p>
        </p:txBody>
      </p:sp>
      <p:sp>
        <p:nvSpPr>
          <p:cNvPr id="81" name="shape-306"/>
          <p:cNvSpPr/>
          <p:nvPr/>
        </p:nvSpPr>
        <p:spPr>
          <a:xfrm>
            <a:off x="9482328" y="2944368"/>
            <a:ext cx="978408" cy="310896"/>
          </a:xfrm>
          <a:prstGeom prst="roundRect">
            <a:avLst>
              <a:gd name="adj" fmla="val 17647"/>
            </a:avLst>
          </a:prstGeom>
          <a:solidFill>
            <a:srgbClr val="8FD9B6"/>
          </a:solidFill>
          <a:ln w="12700">
            <a:solidFill>
              <a:srgbClr val="8FD9B6"/>
            </a:solidFill>
            <a:prstDash val="solid"/>
          </a:ln>
        </p:spPr>
      </p:sp>
      <p:sp>
        <p:nvSpPr>
          <p:cNvPr id="82" name="text-307"/>
          <p:cNvSpPr txBox="1"/>
          <p:nvPr/>
        </p:nvSpPr>
        <p:spPr>
          <a:xfrm>
            <a:off x="9482328" y="2944368"/>
            <a:ext cx="978408" cy="310896"/>
          </a:xfrm>
          <a:prstGeom prst="rect">
            <a:avLst/>
          </a:prstGeom>
          <a:noFill/>
          <a:ln/>
        </p:spPr>
        <p:txBody>
          <a:bodyPr wrap="square" lIns="0" tIns="0" rIns="0" bIns="0" rtlCol="0" anchor="ctr"/>
          <a:lstStyle/>
          <a:p>
            <a:pPr algn="ctr" indent="0" marL="0">
              <a:buNone/>
            </a:pPr>
            <a:r>
              <a:rPr lang="en-US" sz="1100" b="1" dirty="0">
                <a:solidFill>
                  <a:srgbClr val="242424"/>
                </a:solidFill>
                <a:latin typeface="Arial" pitchFamily="34" charset="0"/>
                <a:ea typeface="Arial" pitchFamily="34" charset="-122"/>
                <a:cs typeface="Arial" pitchFamily="34" charset="-120"/>
              </a:rPr>
              <a:t>#2  </a:t>
            </a:r>
            <a:pPr algn="ctr" indent="0" marL="0">
              <a:buNone/>
            </a:pPr>
            <a:r>
              <a:rPr lang="en-US" sz="1100" dirty="0">
                <a:solidFill>
                  <a:srgbClr val="242424"/>
                </a:solidFill>
                <a:latin typeface="Arial" pitchFamily="34" charset="0"/>
                <a:ea typeface="Arial" pitchFamily="34" charset="-122"/>
                <a:cs typeface="Arial" pitchFamily="34" charset="-120"/>
              </a:rPr>
              <a:t>90%</a:t>
            </a:r>
            <a:endParaRPr lang="en-US" sz="1100" dirty="0"/>
          </a:p>
        </p:txBody>
      </p:sp>
      <p:sp>
        <p:nvSpPr>
          <p:cNvPr id="83" name="shape-308"/>
          <p:cNvSpPr/>
          <p:nvPr/>
        </p:nvSpPr>
        <p:spPr>
          <a:xfrm>
            <a:off x="10552176" y="2944368"/>
            <a:ext cx="978408" cy="310896"/>
          </a:xfrm>
          <a:prstGeom prst="roundRect">
            <a:avLst>
              <a:gd name="adj" fmla="val 17647"/>
            </a:avLst>
          </a:prstGeom>
          <a:solidFill>
            <a:srgbClr val="8FD9B6"/>
          </a:solidFill>
          <a:ln w="12700">
            <a:solidFill>
              <a:srgbClr val="8FD9B6"/>
            </a:solidFill>
            <a:prstDash val="solid"/>
          </a:ln>
        </p:spPr>
      </p:sp>
      <p:sp>
        <p:nvSpPr>
          <p:cNvPr id="84" name="text-309"/>
          <p:cNvSpPr txBox="1"/>
          <p:nvPr/>
        </p:nvSpPr>
        <p:spPr>
          <a:xfrm>
            <a:off x="10552176" y="2944368"/>
            <a:ext cx="978408" cy="310896"/>
          </a:xfrm>
          <a:prstGeom prst="rect">
            <a:avLst/>
          </a:prstGeom>
          <a:noFill/>
          <a:ln/>
        </p:spPr>
        <p:txBody>
          <a:bodyPr wrap="square" lIns="0" tIns="0" rIns="0" bIns="0" rtlCol="0" anchor="ctr"/>
          <a:lstStyle/>
          <a:p>
            <a:pPr algn="ctr" indent="0" marL="0">
              <a:buNone/>
            </a:pPr>
            <a:r>
              <a:rPr lang="en-US" sz="1100" b="1" dirty="0">
                <a:solidFill>
                  <a:srgbClr val="242424"/>
                </a:solidFill>
                <a:latin typeface="Arial" pitchFamily="34" charset="0"/>
                <a:ea typeface="Arial" pitchFamily="34" charset="-122"/>
                <a:cs typeface="Arial" pitchFamily="34" charset="-120"/>
              </a:rPr>
              <a:t>#2  </a:t>
            </a:r>
            <a:pPr algn="ctr" indent="0" marL="0">
              <a:buNone/>
            </a:pPr>
            <a:r>
              <a:rPr lang="en-US" sz="1100" dirty="0">
                <a:solidFill>
                  <a:srgbClr val="242424"/>
                </a:solidFill>
                <a:latin typeface="Arial" pitchFamily="34" charset="0"/>
                <a:ea typeface="Arial" pitchFamily="34" charset="-122"/>
                <a:cs typeface="Arial" pitchFamily="34" charset="-120"/>
              </a:rPr>
              <a:t>86%</a:t>
            </a:r>
            <a:endParaRPr lang="en-US" sz="1100" dirty="0"/>
          </a:p>
        </p:txBody>
      </p:sp>
      <p:sp>
        <p:nvSpPr>
          <p:cNvPr id="85" name="shape-310"/>
          <p:cNvSpPr/>
          <p:nvPr/>
        </p:nvSpPr>
        <p:spPr>
          <a:xfrm>
            <a:off x="6675120" y="3520440"/>
            <a:ext cx="4965192" cy="1600200"/>
          </a:xfrm>
          <a:prstGeom prst="roundRect">
            <a:avLst>
              <a:gd name="adj" fmla="val 6857"/>
            </a:avLst>
          </a:prstGeom>
          <a:solidFill>
            <a:srgbClr val="F2F2F2"/>
          </a:solidFill>
          <a:ln w="12700">
            <a:solidFill>
              <a:srgbClr val="F2F2F2"/>
            </a:solidFill>
            <a:prstDash val="solid"/>
          </a:ln>
        </p:spPr>
      </p:sp>
      <p:sp>
        <p:nvSpPr>
          <p:cNvPr id="86" name="text-311"/>
          <p:cNvSpPr txBox="1"/>
          <p:nvPr/>
        </p:nvSpPr>
        <p:spPr>
          <a:xfrm>
            <a:off x="6876288" y="3648456"/>
            <a:ext cx="4599432" cy="237744"/>
          </a:xfrm>
          <a:prstGeom prst="rect">
            <a:avLst/>
          </a:prstGeom>
          <a:noFill/>
          <a:ln/>
        </p:spPr>
        <p:txBody>
          <a:bodyPr wrap="square" lIns="0" tIns="0" rIns="0" bIns="0" rtlCol="0" anchor="ctr"/>
          <a:lstStyle/>
          <a:p>
            <a:pPr indent="0" marL="0">
              <a:buNone/>
            </a:pPr>
            <a:r>
              <a:rPr lang="en-US" sz="1050" b="1" spc="100" kern="0" dirty="0">
                <a:solidFill>
                  <a:srgbClr val="767676"/>
                </a:solidFill>
                <a:latin typeface="Arial" pitchFamily="34" charset="0"/>
                <a:ea typeface="Arial" pitchFamily="34" charset="-122"/>
                <a:cs typeface="Arial" pitchFamily="34" charset="-120"/>
              </a:rPr>
              <a:t>SCORING TREND · LAST FIVE CAMPAIGNS</a:t>
            </a:r>
            <a:endParaRPr lang="en-US" sz="1050" dirty="0"/>
          </a:p>
        </p:txBody>
      </p:sp>
      <p:sp>
        <p:nvSpPr>
          <p:cNvPr id="87" name="text-312"/>
          <p:cNvSpPr txBox="1"/>
          <p:nvPr/>
        </p:nvSpPr>
        <p:spPr>
          <a:xfrm>
            <a:off x="6647688" y="4773168"/>
            <a:ext cx="640080" cy="201168"/>
          </a:xfrm>
          <a:prstGeom prst="rect">
            <a:avLst/>
          </a:prstGeom>
          <a:noFill/>
          <a:ln/>
        </p:spPr>
        <p:txBody>
          <a:bodyPr wrap="square" lIns="0" tIns="0" rIns="0" bIns="0" rtlCol="0" anchor="ctr"/>
          <a:lstStyle/>
          <a:p>
            <a:pPr algn="ctr" indent="0" marL="0">
              <a:buNone/>
            </a:pPr>
            <a:r>
              <a:rPr lang="en-US" sz="950" dirty="0">
                <a:solidFill>
                  <a:srgbClr val="767676"/>
                </a:solidFill>
                <a:latin typeface="Arial" pitchFamily="34" charset="0"/>
                <a:ea typeface="Arial" pitchFamily="34" charset="-122"/>
                <a:cs typeface="Arial" pitchFamily="34" charset="-120"/>
              </a:rPr>
              <a:t>25-Q3</a:t>
            </a:r>
            <a:endParaRPr lang="en-US" sz="950" dirty="0"/>
          </a:p>
        </p:txBody>
      </p:sp>
      <p:sp>
        <p:nvSpPr>
          <p:cNvPr id="88" name="text-313"/>
          <p:cNvSpPr txBox="1"/>
          <p:nvPr/>
        </p:nvSpPr>
        <p:spPr>
          <a:xfrm>
            <a:off x="7482078" y="4773168"/>
            <a:ext cx="640080" cy="201168"/>
          </a:xfrm>
          <a:prstGeom prst="rect">
            <a:avLst/>
          </a:prstGeom>
          <a:noFill/>
          <a:ln/>
        </p:spPr>
        <p:txBody>
          <a:bodyPr wrap="square" lIns="0" tIns="0" rIns="0" bIns="0" rtlCol="0" anchor="ctr"/>
          <a:lstStyle/>
          <a:p>
            <a:pPr algn="ctr" indent="0" marL="0">
              <a:buNone/>
            </a:pPr>
            <a:r>
              <a:rPr lang="en-US" sz="950" dirty="0">
                <a:solidFill>
                  <a:srgbClr val="767676"/>
                </a:solidFill>
                <a:latin typeface="Arial" pitchFamily="34" charset="0"/>
                <a:ea typeface="Arial" pitchFamily="34" charset="-122"/>
                <a:cs typeface="Arial" pitchFamily="34" charset="-120"/>
              </a:rPr>
              <a:t>25-Q4</a:t>
            </a:r>
            <a:endParaRPr lang="en-US" sz="950" dirty="0"/>
          </a:p>
        </p:txBody>
      </p:sp>
      <p:sp>
        <p:nvSpPr>
          <p:cNvPr id="89" name="text-314"/>
          <p:cNvSpPr txBox="1"/>
          <p:nvPr/>
        </p:nvSpPr>
        <p:spPr>
          <a:xfrm>
            <a:off x="8316468" y="4773168"/>
            <a:ext cx="640080" cy="201168"/>
          </a:xfrm>
          <a:prstGeom prst="rect">
            <a:avLst/>
          </a:prstGeom>
          <a:noFill/>
          <a:ln/>
        </p:spPr>
        <p:txBody>
          <a:bodyPr wrap="square" lIns="0" tIns="0" rIns="0" bIns="0" rtlCol="0" anchor="ctr"/>
          <a:lstStyle/>
          <a:p>
            <a:pPr algn="ctr" indent="0" marL="0">
              <a:buNone/>
            </a:pPr>
            <a:r>
              <a:rPr lang="en-US" sz="950" dirty="0">
                <a:solidFill>
                  <a:srgbClr val="767676"/>
                </a:solidFill>
                <a:latin typeface="Arial" pitchFamily="34" charset="0"/>
                <a:ea typeface="Arial" pitchFamily="34" charset="-122"/>
                <a:cs typeface="Arial" pitchFamily="34" charset="-120"/>
              </a:rPr>
              <a:t>26-Q1</a:t>
            </a:r>
            <a:endParaRPr lang="en-US" sz="950" dirty="0"/>
          </a:p>
        </p:txBody>
      </p:sp>
      <p:sp>
        <p:nvSpPr>
          <p:cNvPr id="90" name="text-315"/>
          <p:cNvSpPr txBox="1"/>
          <p:nvPr/>
        </p:nvSpPr>
        <p:spPr>
          <a:xfrm>
            <a:off x="9150858" y="4773168"/>
            <a:ext cx="640080" cy="201168"/>
          </a:xfrm>
          <a:prstGeom prst="rect">
            <a:avLst/>
          </a:prstGeom>
          <a:noFill/>
          <a:ln/>
        </p:spPr>
        <p:txBody>
          <a:bodyPr wrap="square" lIns="0" tIns="0" rIns="0" bIns="0" rtlCol="0" anchor="ctr"/>
          <a:lstStyle/>
          <a:p>
            <a:pPr algn="ctr" indent="0" marL="0">
              <a:buNone/>
            </a:pPr>
            <a:r>
              <a:rPr lang="en-US" sz="950" dirty="0">
                <a:solidFill>
                  <a:srgbClr val="767676"/>
                </a:solidFill>
                <a:latin typeface="Arial" pitchFamily="34" charset="0"/>
                <a:ea typeface="Arial" pitchFamily="34" charset="-122"/>
                <a:cs typeface="Arial" pitchFamily="34" charset="-120"/>
              </a:rPr>
              <a:t>26-Q2</a:t>
            </a:r>
            <a:endParaRPr lang="en-US" sz="950" dirty="0"/>
          </a:p>
        </p:txBody>
      </p:sp>
      <p:sp>
        <p:nvSpPr>
          <p:cNvPr id="91" name="text-316"/>
          <p:cNvSpPr txBox="1"/>
          <p:nvPr/>
        </p:nvSpPr>
        <p:spPr>
          <a:xfrm>
            <a:off x="9985248" y="4773168"/>
            <a:ext cx="640080" cy="201168"/>
          </a:xfrm>
          <a:prstGeom prst="rect">
            <a:avLst/>
          </a:prstGeom>
          <a:noFill/>
          <a:ln/>
        </p:spPr>
        <p:txBody>
          <a:bodyPr wrap="square" lIns="0" tIns="0" rIns="0" bIns="0" rtlCol="0" anchor="ctr"/>
          <a:lstStyle/>
          <a:p>
            <a:pPr algn="ctr" indent="0" marL="0">
              <a:buNone/>
            </a:pPr>
            <a:r>
              <a:rPr lang="en-US" sz="950" dirty="0">
                <a:solidFill>
                  <a:srgbClr val="767676"/>
                </a:solidFill>
                <a:latin typeface="Arial" pitchFamily="34" charset="0"/>
                <a:ea typeface="Arial" pitchFamily="34" charset="-122"/>
                <a:cs typeface="Arial" pitchFamily="34" charset="-120"/>
              </a:rPr>
              <a:t>26-Q3</a:t>
            </a:r>
            <a:endParaRPr lang="en-US" sz="950" dirty="0"/>
          </a:p>
        </p:txBody>
      </p:sp>
      <p:sp>
        <p:nvSpPr>
          <p:cNvPr id="92" name="shape-317"/>
          <p:cNvSpPr/>
          <p:nvPr/>
        </p:nvSpPr>
        <p:spPr>
          <a:xfrm>
            <a:off x="6967728" y="4718304"/>
            <a:ext cx="3337560" cy="0"/>
          </a:xfrm>
          <a:prstGeom prst="line">
            <a:avLst/>
          </a:prstGeom>
          <a:noFill/>
          <a:ln w="12700">
            <a:solidFill>
              <a:srgbClr val="E0E0E0"/>
            </a:solidFill>
            <a:prstDash val="solid"/>
          </a:ln>
        </p:spPr>
      </p:sp>
      <p:sp>
        <p:nvSpPr>
          <p:cNvPr id="93" name="shape-318"/>
          <p:cNvSpPr/>
          <p:nvPr/>
        </p:nvSpPr>
        <p:spPr>
          <a:xfrm flipV="1">
            <a:off x="6967728" y="4139672"/>
            <a:ext cx="834390" cy="68989"/>
          </a:xfrm>
          <a:prstGeom prst="line">
            <a:avLst/>
          </a:prstGeom>
          <a:noFill/>
          <a:ln w="44450">
            <a:solidFill>
              <a:srgbClr val="0068BF"/>
            </a:solidFill>
            <a:prstDash val="solid"/>
          </a:ln>
        </p:spPr>
      </p:sp>
      <p:sp>
        <p:nvSpPr>
          <p:cNvPr id="94" name="shape-319"/>
          <p:cNvSpPr/>
          <p:nvPr/>
        </p:nvSpPr>
        <p:spPr>
          <a:xfrm flipV="1">
            <a:off x="7802118" y="4080798"/>
            <a:ext cx="834390" cy="58874"/>
          </a:xfrm>
          <a:prstGeom prst="line">
            <a:avLst/>
          </a:prstGeom>
          <a:noFill/>
          <a:ln w="44450">
            <a:solidFill>
              <a:srgbClr val="0068BF"/>
            </a:solidFill>
            <a:prstDash val="solid"/>
          </a:ln>
        </p:spPr>
      </p:sp>
      <p:sp>
        <p:nvSpPr>
          <p:cNvPr id="95" name="shape-320"/>
          <p:cNvSpPr/>
          <p:nvPr/>
        </p:nvSpPr>
        <p:spPr>
          <a:xfrm flipV="1">
            <a:off x="8636508" y="4013105"/>
            <a:ext cx="834390" cy="67692"/>
          </a:xfrm>
          <a:prstGeom prst="line">
            <a:avLst/>
          </a:prstGeom>
          <a:noFill/>
          <a:ln w="44450">
            <a:solidFill>
              <a:srgbClr val="0068BF"/>
            </a:solidFill>
            <a:prstDash val="solid"/>
          </a:ln>
        </p:spPr>
      </p:sp>
      <p:sp>
        <p:nvSpPr>
          <p:cNvPr id="96" name="shape-321"/>
          <p:cNvSpPr/>
          <p:nvPr/>
        </p:nvSpPr>
        <p:spPr>
          <a:xfrm flipV="1">
            <a:off x="9470898" y="3980426"/>
            <a:ext cx="834390" cy="32679"/>
          </a:xfrm>
          <a:prstGeom prst="line">
            <a:avLst/>
          </a:prstGeom>
          <a:noFill/>
          <a:ln w="44450">
            <a:solidFill>
              <a:srgbClr val="0068BF"/>
            </a:solidFill>
            <a:prstDash val="solid"/>
          </a:ln>
        </p:spPr>
      </p:sp>
      <p:sp>
        <p:nvSpPr>
          <p:cNvPr id="97" name="shape-322"/>
          <p:cNvSpPr/>
          <p:nvPr/>
        </p:nvSpPr>
        <p:spPr>
          <a:xfrm>
            <a:off x="10241280" y="3916418"/>
            <a:ext cx="128016" cy="128016"/>
          </a:xfrm>
          <a:prstGeom prst="ellipse">
            <a:avLst/>
          </a:prstGeom>
          <a:solidFill>
            <a:srgbClr val="0068BF"/>
          </a:solidFill>
          <a:ln w="12700">
            <a:solidFill>
              <a:srgbClr val="FFFFFF"/>
            </a:solidFill>
            <a:prstDash val="solid"/>
          </a:ln>
        </p:spPr>
      </p:sp>
      <p:sp>
        <p:nvSpPr>
          <p:cNvPr id="98" name="text-323"/>
          <p:cNvSpPr txBox="1"/>
          <p:nvPr/>
        </p:nvSpPr>
        <p:spPr>
          <a:xfrm>
            <a:off x="10442448" y="3879842"/>
            <a:ext cx="1097280" cy="201168"/>
          </a:xfrm>
          <a:prstGeom prst="rect">
            <a:avLst/>
          </a:prstGeom>
          <a:noFill/>
          <a:ln/>
        </p:spPr>
        <p:txBody>
          <a:bodyPr wrap="square" lIns="0" tIns="0" rIns="0" bIns="0" rtlCol="0" anchor="ctr"/>
          <a:lstStyle/>
          <a:p>
            <a:pPr indent="0" marL="0">
              <a:buNone/>
            </a:pPr>
            <a:r>
              <a:rPr lang="en-US" sz="1050" b="1" dirty="0">
                <a:solidFill>
                  <a:srgbClr val="0068BF"/>
                </a:solidFill>
                <a:latin typeface="Arial" pitchFamily="34" charset="0"/>
                <a:ea typeface="Arial" pitchFamily="34" charset="-122"/>
                <a:cs typeface="Arial" pitchFamily="34" charset="-120"/>
              </a:rPr>
              <a:t>A  900.4</a:t>
            </a:r>
            <a:endParaRPr lang="en-US" sz="1050" dirty="0"/>
          </a:p>
        </p:txBody>
      </p:sp>
      <p:sp>
        <p:nvSpPr>
          <p:cNvPr id="99" name="shape-324"/>
          <p:cNvSpPr/>
          <p:nvPr/>
        </p:nvSpPr>
        <p:spPr>
          <a:xfrm flipV="1">
            <a:off x="6967728" y="4172091"/>
            <a:ext cx="834390" cy="65358"/>
          </a:xfrm>
          <a:prstGeom prst="line">
            <a:avLst/>
          </a:prstGeom>
          <a:noFill/>
          <a:ln w="28575">
            <a:solidFill>
              <a:srgbClr val="8C60A8"/>
            </a:solidFill>
            <a:prstDash val="solid"/>
          </a:ln>
        </p:spPr>
      </p:sp>
      <p:sp>
        <p:nvSpPr>
          <p:cNvPr id="100" name="shape-325"/>
          <p:cNvSpPr/>
          <p:nvPr/>
        </p:nvSpPr>
        <p:spPr>
          <a:xfrm flipV="1">
            <a:off x="7802118" y="4123592"/>
            <a:ext cx="834390" cy="48500"/>
          </a:xfrm>
          <a:prstGeom prst="line">
            <a:avLst/>
          </a:prstGeom>
          <a:noFill/>
          <a:ln w="28575">
            <a:solidFill>
              <a:srgbClr val="8C60A8"/>
            </a:solidFill>
            <a:prstDash val="solid"/>
          </a:ln>
        </p:spPr>
      </p:sp>
      <p:sp>
        <p:nvSpPr>
          <p:cNvPr id="101" name="shape-326"/>
          <p:cNvSpPr/>
          <p:nvPr/>
        </p:nvSpPr>
        <p:spPr>
          <a:xfrm flipV="1">
            <a:off x="8636508" y="4103102"/>
            <a:ext cx="834390" cy="20489"/>
          </a:xfrm>
          <a:prstGeom prst="line">
            <a:avLst/>
          </a:prstGeom>
          <a:noFill/>
          <a:ln w="28575">
            <a:solidFill>
              <a:srgbClr val="8C60A8"/>
            </a:solidFill>
            <a:prstDash val="solid"/>
          </a:ln>
        </p:spPr>
      </p:sp>
      <p:sp>
        <p:nvSpPr>
          <p:cNvPr id="102" name="shape-327"/>
          <p:cNvSpPr/>
          <p:nvPr/>
        </p:nvSpPr>
        <p:spPr>
          <a:xfrm flipV="1">
            <a:off x="9470898" y="4092469"/>
            <a:ext cx="834390" cy="10634"/>
          </a:xfrm>
          <a:prstGeom prst="line">
            <a:avLst/>
          </a:prstGeom>
          <a:noFill/>
          <a:ln w="28575">
            <a:solidFill>
              <a:srgbClr val="8C60A8"/>
            </a:solidFill>
            <a:prstDash val="solid"/>
          </a:ln>
        </p:spPr>
      </p:sp>
      <p:sp>
        <p:nvSpPr>
          <p:cNvPr id="103" name="shape-328"/>
          <p:cNvSpPr/>
          <p:nvPr/>
        </p:nvSpPr>
        <p:spPr>
          <a:xfrm>
            <a:off x="10241280" y="4028461"/>
            <a:ext cx="128016" cy="128016"/>
          </a:xfrm>
          <a:prstGeom prst="ellipse">
            <a:avLst/>
          </a:prstGeom>
          <a:solidFill>
            <a:srgbClr val="8C60A8"/>
          </a:solidFill>
          <a:ln w="12700">
            <a:solidFill>
              <a:srgbClr val="FFFFFF"/>
            </a:solidFill>
            <a:prstDash val="solid"/>
          </a:ln>
        </p:spPr>
      </p:sp>
      <p:sp>
        <p:nvSpPr>
          <p:cNvPr id="104" name="text-329"/>
          <p:cNvSpPr txBox="1"/>
          <p:nvPr/>
        </p:nvSpPr>
        <p:spPr>
          <a:xfrm>
            <a:off x="10442448" y="4071866"/>
            <a:ext cx="1097280" cy="201168"/>
          </a:xfrm>
          <a:prstGeom prst="rect">
            <a:avLst/>
          </a:prstGeom>
          <a:noFill/>
          <a:ln/>
        </p:spPr>
        <p:txBody>
          <a:bodyPr wrap="square" lIns="0" tIns="0" rIns="0" bIns="0" rtlCol="0" anchor="ctr"/>
          <a:lstStyle/>
          <a:p>
            <a:pPr indent="0" marL="0">
              <a:buNone/>
            </a:pPr>
            <a:r>
              <a:rPr lang="en-US" sz="1050" b="1" dirty="0">
                <a:solidFill>
                  <a:srgbClr val="8C60A8"/>
                </a:solidFill>
                <a:latin typeface="Arial" pitchFamily="34" charset="0"/>
                <a:ea typeface="Arial" pitchFamily="34" charset="-122"/>
                <a:cs typeface="Arial" pitchFamily="34" charset="-120"/>
              </a:rPr>
              <a:t>B  857.2</a:t>
            </a:r>
            <a:endParaRPr lang="en-US" sz="1050" dirty="0"/>
          </a:p>
        </p:txBody>
      </p:sp>
      <p:sp>
        <p:nvSpPr>
          <p:cNvPr id="105" name="shape-330"/>
          <p:cNvSpPr/>
          <p:nvPr/>
        </p:nvSpPr>
        <p:spPr>
          <a:xfrm flipV="1">
            <a:off x="6967728" y="4254826"/>
            <a:ext cx="834390" cy="66655"/>
          </a:xfrm>
          <a:prstGeom prst="line">
            <a:avLst/>
          </a:prstGeom>
          <a:noFill/>
          <a:ln w="28575">
            <a:solidFill>
              <a:srgbClr val="0C9B5B"/>
            </a:solidFill>
            <a:prstDash val="solid"/>
          </a:ln>
        </p:spPr>
      </p:sp>
      <p:sp>
        <p:nvSpPr>
          <p:cNvPr id="106" name="shape-331"/>
          <p:cNvSpPr/>
          <p:nvPr/>
        </p:nvSpPr>
        <p:spPr>
          <a:xfrm flipV="1">
            <a:off x="7802118" y="4187912"/>
            <a:ext cx="834390" cy="66914"/>
          </a:xfrm>
          <a:prstGeom prst="line">
            <a:avLst/>
          </a:prstGeom>
          <a:noFill/>
          <a:ln w="28575">
            <a:solidFill>
              <a:srgbClr val="0C9B5B"/>
            </a:solidFill>
            <a:prstDash val="solid"/>
          </a:ln>
        </p:spPr>
      </p:sp>
      <p:sp>
        <p:nvSpPr>
          <p:cNvPr id="107" name="shape-332"/>
          <p:cNvSpPr/>
          <p:nvPr/>
        </p:nvSpPr>
        <p:spPr>
          <a:xfrm>
            <a:off x="8636508" y="4187912"/>
            <a:ext cx="834390" cy="28270"/>
          </a:xfrm>
          <a:prstGeom prst="line">
            <a:avLst/>
          </a:prstGeom>
          <a:noFill/>
          <a:ln w="28575">
            <a:solidFill>
              <a:srgbClr val="0C9B5B"/>
            </a:solidFill>
            <a:prstDash val="solid"/>
          </a:ln>
        </p:spPr>
      </p:sp>
      <p:sp>
        <p:nvSpPr>
          <p:cNvPr id="108" name="shape-333"/>
          <p:cNvSpPr/>
          <p:nvPr/>
        </p:nvSpPr>
        <p:spPr>
          <a:xfrm>
            <a:off x="9470898" y="4216182"/>
            <a:ext cx="834390" cy="16339"/>
          </a:xfrm>
          <a:prstGeom prst="line">
            <a:avLst/>
          </a:prstGeom>
          <a:noFill/>
          <a:ln w="28575">
            <a:solidFill>
              <a:srgbClr val="0C9B5B"/>
            </a:solidFill>
            <a:prstDash val="solid"/>
          </a:ln>
        </p:spPr>
      </p:sp>
      <p:sp>
        <p:nvSpPr>
          <p:cNvPr id="109" name="shape-334"/>
          <p:cNvSpPr/>
          <p:nvPr/>
        </p:nvSpPr>
        <p:spPr>
          <a:xfrm>
            <a:off x="10241280" y="4168514"/>
            <a:ext cx="128016" cy="128016"/>
          </a:xfrm>
          <a:prstGeom prst="ellipse">
            <a:avLst/>
          </a:prstGeom>
          <a:solidFill>
            <a:srgbClr val="0C9B5B"/>
          </a:solidFill>
          <a:ln w="12700">
            <a:solidFill>
              <a:srgbClr val="FFFFFF"/>
            </a:solidFill>
            <a:prstDash val="solid"/>
          </a:ln>
        </p:spPr>
      </p:sp>
      <p:sp>
        <p:nvSpPr>
          <p:cNvPr id="110" name="text-335"/>
          <p:cNvSpPr txBox="1"/>
          <p:nvPr/>
        </p:nvSpPr>
        <p:spPr>
          <a:xfrm>
            <a:off x="10442448" y="4263890"/>
            <a:ext cx="1097280" cy="201168"/>
          </a:xfrm>
          <a:prstGeom prst="rect">
            <a:avLst/>
          </a:prstGeom>
          <a:noFill/>
          <a:ln/>
        </p:spPr>
        <p:txBody>
          <a:bodyPr wrap="square" lIns="0" tIns="0" rIns="0" bIns="0" rtlCol="0" anchor="ctr"/>
          <a:lstStyle/>
          <a:p>
            <a:pPr indent="0" marL="0">
              <a:buNone/>
            </a:pPr>
            <a:r>
              <a:rPr lang="en-US" sz="1050" b="1" dirty="0">
                <a:solidFill>
                  <a:srgbClr val="0C9B5B"/>
                </a:solidFill>
                <a:latin typeface="Arial" pitchFamily="34" charset="0"/>
                <a:ea typeface="Arial" pitchFamily="34" charset="-122"/>
                <a:cs typeface="Arial" pitchFamily="34" charset="-120"/>
              </a:rPr>
              <a:t>C  803.2</a:t>
            </a:r>
            <a:endParaRPr lang="en-US" sz="1050" dirty="0"/>
          </a:p>
        </p:txBody>
      </p:sp>
      <p:sp>
        <p:nvSpPr>
          <p:cNvPr id="111" name="shape-336"/>
          <p:cNvSpPr/>
          <p:nvPr/>
        </p:nvSpPr>
        <p:spPr>
          <a:xfrm flipV="1">
            <a:off x="6967728" y="4582654"/>
            <a:ext cx="834390" cy="68730"/>
          </a:xfrm>
          <a:prstGeom prst="line">
            <a:avLst/>
          </a:prstGeom>
          <a:noFill/>
          <a:ln w="28575">
            <a:solidFill>
              <a:srgbClr val="E07800"/>
            </a:solidFill>
            <a:prstDash val="solid"/>
          </a:ln>
        </p:spPr>
      </p:sp>
      <p:sp>
        <p:nvSpPr>
          <p:cNvPr id="112" name="shape-337"/>
          <p:cNvSpPr/>
          <p:nvPr/>
        </p:nvSpPr>
        <p:spPr>
          <a:xfrm flipV="1">
            <a:off x="7802118" y="4525336"/>
            <a:ext cx="834390" cy="57318"/>
          </a:xfrm>
          <a:prstGeom prst="line">
            <a:avLst/>
          </a:prstGeom>
          <a:noFill/>
          <a:ln w="28575">
            <a:solidFill>
              <a:srgbClr val="E07800"/>
            </a:solidFill>
            <a:prstDash val="solid"/>
          </a:ln>
        </p:spPr>
      </p:sp>
      <p:sp>
        <p:nvSpPr>
          <p:cNvPr id="113" name="shape-338"/>
          <p:cNvSpPr/>
          <p:nvPr/>
        </p:nvSpPr>
        <p:spPr>
          <a:xfrm flipV="1">
            <a:off x="8636508" y="4491360"/>
            <a:ext cx="834390" cy="33976"/>
          </a:xfrm>
          <a:prstGeom prst="line">
            <a:avLst/>
          </a:prstGeom>
          <a:noFill/>
          <a:ln w="28575">
            <a:solidFill>
              <a:srgbClr val="E07800"/>
            </a:solidFill>
            <a:prstDash val="solid"/>
          </a:ln>
        </p:spPr>
      </p:sp>
      <p:sp>
        <p:nvSpPr>
          <p:cNvPr id="114" name="shape-339"/>
          <p:cNvSpPr/>
          <p:nvPr/>
        </p:nvSpPr>
        <p:spPr>
          <a:xfrm flipV="1">
            <a:off x="9470898" y="4465943"/>
            <a:ext cx="834390" cy="25417"/>
          </a:xfrm>
          <a:prstGeom prst="line">
            <a:avLst/>
          </a:prstGeom>
          <a:noFill/>
          <a:ln w="28575">
            <a:solidFill>
              <a:srgbClr val="E07800"/>
            </a:solidFill>
            <a:prstDash val="solid"/>
          </a:ln>
        </p:spPr>
      </p:sp>
      <p:sp>
        <p:nvSpPr>
          <p:cNvPr id="115" name="shape-340"/>
          <p:cNvSpPr/>
          <p:nvPr/>
        </p:nvSpPr>
        <p:spPr>
          <a:xfrm>
            <a:off x="10241280" y="4401935"/>
            <a:ext cx="128016" cy="128016"/>
          </a:xfrm>
          <a:prstGeom prst="ellipse">
            <a:avLst/>
          </a:prstGeom>
          <a:solidFill>
            <a:srgbClr val="E07800"/>
          </a:solidFill>
          <a:ln w="12700">
            <a:solidFill>
              <a:srgbClr val="FFFFFF"/>
            </a:solidFill>
            <a:prstDash val="solid"/>
          </a:ln>
        </p:spPr>
      </p:sp>
      <p:sp>
        <p:nvSpPr>
          <p:cNvPr id="116" name="text-341"/>
          <p:cNvSpPr txBox="1"/>
          <p:nvPr/>
        </p:nvSpPr>
        <p:spPr>
          <a:xfrm>
            <a:off x="10442448" y="4455914"/>
            <a:ext cx="1097280" cy="201168"/>
          </a:xfrm>
          <a:prstGeom prst="rect">
            <a:avLst/>
          </a:prstGeom>
          <a:noFill/>
          <a:ln/>
        </p:spPr>
        <p:txBody>
          <a:bodyPr wrap="square" lIns="0" tIns="0" rIns="0" bIns="0" rtlCol="0" anchor="ctr"/>
          <a:lstStyle/>
          <a:p>
            <a:pPr indent="0" marL="0">
              <a:buNone/>
            </a:pPr>
            <a:r>
              <a:rPr lang="en-US" sz="1050" b="1" dirty="0">
                <a:solidFill>
                  <a:srgbClr val="E07800"/>
                </a:solidFill>
                <a:latin typeface="Arial" pitchFamily="34" charset="0"/>
                <a:ea typeface="Arial" pitchFamily="34" charset="-122"/>
                <a:cs typeface="Arial" pitchFamily="34" charset="-120"/>
              </a:rPr>
              <a:t>D  713.2</a:t>
            </a:r>
            <a:endParaRPr lang="en-US" sz="1050" dirty="0"/>
          </a:p>
        </p:txBody>
      </p:sp>
      <p:sp>
        <p:nvSpPr>
          <p:cNvPr id="117" name="text-342"/>
          <p:cNvSpPr txBox="1"/>
          <p:nvPr/>
        </p:nvSpPr>
        <p:spPr>
          <a:xfrm>
            <a:off x="548640" y="5248656"/>
            <a:ext cx="8229600" cy="237744"/>
          </a:xfrm>
          <a:prstGeom prst="rect">
            <a:avLst/>
          </a:prstGeom>
          <a:noFill/>
          <a:ln/>
        </p:spPr>
        <p:txBody>
          <a:bodyPr wrap="square" lIns="0" tIns="0" rIns="0" bIns="0" rtlCol="0" anchor="ctr"/>
          <a:lstStyle/>
          <a:p>
            <a:pPr indent="0" marL="0">
              <a:buNone/>
            </a:pPr>
            <a:r>
              <a:rPr lang="en-US" sz="1050" b="1" spc="100" kern="0" dirty="0">
                <a:solidFill>
                  <a:srgbClr val="767676"/>
                </a:solidFill>
                <a:latin typeface="Arial" pitchFamily="34" charset="0"/>
                <a:ea typeface="Arial" pitchFamily="34" charset="-122"/>
                <a:cs typeface="Arial" pitchFamily="34" charset="-120"/>
              </a:rPr>
              <a:t>SEVEN VIEWS OF EVERY RESULT, ALSO IN POWERPOINT AND WORD</a:t>
            </a:r>
            <a:endParaRPr lang="en-US" sz="1050" dirty="0"/>
          </a:p>
        </p:txBody>
      </p:sp>
      <p:sp>
        <p:nvSpPr>
          <p:cNvPr id="118" name="shape-343"/>
          <p:cNvSpPr/>
          <p:nvPr/>
        </p:nvSpPr>
        <p:spPr>
          <a:xfrm>
            <a:off x="548640" y="5541264"/>
            <a:ext cx="1481328" cy="658368"/>
          </a:xfrm>
          <a:prstGeom prst="roundRect">
            <a:avLst>
              <a:gd name="adj" fmla="val 16667"/>
            </a:avLst>
          </a:prstGeom>
          <a:solidFill>
            <a:srgbClr val="FFFFFF"/>
          </a:solidFill>
          <a:ln w="12700">
            <a:solidFill>
              <a:srgbClr val="E0E0E0"/>
            </a:solidFill>
            <a:prstDash val="solid"/>
          </a:ln>
        </p:spPr>
      </p:sp>
      <p:sp>
        <p:nvSpPr>
          <p:cNvPr id="119" name="shape-344"/>
          <p:cNvSpPr/>
          <p:nvPr/>
        </p:nvSpPr>
        <p:spPr>
          <a:xfrm>
            <a:off x="658368" y="5678424"/>
            <a:ext cx="384048" cy="384048"/>
          </a:xfrm>
          <a:prstGeom prst="ellipse">
            <a:avLst/>
          </a:prstGeom>
          <a:solidFill>
            <a:srgbClr val="0068BF"/>
          </a:solidFill>
          <a:ln w="12700">
            <a:solidFill>
              <a:srgbClr val="0068BF"/>
            </a:solidFill>
            <a:prstDash val="solid"/>
          </a:ln>
        </p:spPr>
      </p:sp>
      <p:pic>
        <p:nvPicPr>
          <p:cNvPr id="120" name="icon-345" descr="preencoded.png">    </p:cNvPr>
          <p:cNvPicPr>
            <a:picLocks noChangeAspect="1"/>
          </p:cNvPicPr>
          <p:nvPr/>
        </p:nvPicPr>
        <p:blipFill>
          <a:blip r:embed="rId1"/>
          <a:stretch>
            <a:fillRect/>
          </a:stretch>
        </p:blipFill>
        <p:spPr>
          <a:xfrm>
            <a:off x="742859" y="5762915"/>
            <a:ext cx="215067" cy="215067"/>
          </a:xfrm>
          <a:prstGeom prst="rect">
            <a:avLst/>
          </a:prstGeom>
        </p:spPr>
      </p:pic>
      <p:sp>
        <p:nvSpPr>
          <p:cNvPr id="121" name="text-346"/>
          <p:cNvSpPr txBox="1"/>
          <p:nvPr/>
        </p:nvSpPr>
        <p:spPr>
          <a:xfrm>
            <a:off x="1115568" y="5541264"/>
            <a:ext cx="877824" cy="658368"/>
          </a:xfrm>
          <a:prstGeom prst="rect">
            <a:avLst/>
          </a:prstGeom>
          <a:noFill/>
          <a:ln/>
        </p:spPr>
        <p:txBody>
          <a:bodyPr wrap="square" lIns="0" tIns="0" rIns="0" bIns="0" rtlCol="0" anchor="ctr"/>
          <a:lstStyle/>
          <a:p>
            <a:pPr indent="0" marL="0">
              <a:buNone/>
            </a:pPr>
            <a:r>
              <a:rPr lang="en-US" sz="1050" b="1" dirty="0">
                <a:solidFill>
                  <a:srgbClr val="242424"/>
                </a:solidFill>
                <a:latin typeface="Arial" pitchFamily="34" charset="0"/>
                <a:ea typeface="Arial" pitchFamily="34" charset="-122"/>
                <a:cs typeface="Arial" pitchFamily="34" charset="-120"/>
              </a:rPr>
              <a:t>Summary</a:t>
            </a:r>
            <a:endParaRPr lang="en-US" sz="1050" dirty="0"/>
          </a:p>
        </p:txBody>
      </p:sp>
      <p:sp>
        <p:nvSpPr>
          <p:cNvPr id="122" name="shape-347"/>
          <p:cNvSpPr/>
          <p:nvPr/>
        </p:nvSpPr>
        <p:spPr>
          <a:xfrm>
            <a:off x="2135124" y="5541264"/>
            <a:ext cx="1481328" cy="658368"/>
          </a:xfrm>
          <a:prstGeom prst="roundRect">
            <a:avLst>
              <a:gd name="adj" fmla="val 16667"/>
            </a:avLst>
          </a:prstGeom>
          <a:solidFill>
            <a:srgbClr val="FFFFFF"/>
          </a:solidFill>
          <a:ln w="12700">
            <a:solidFill>
              <a:srgbClr val="E0E0E0"/>
            </a:solidFill>
            <a:prstDash val="solid"/>
          </a:ln>
        </p:spPr>
      </p:sp>
      <p:sp>
        <p:nvSpPr>
          <p:cNvPr id="123" name="shape-348"/>
          <p:cNvSpPr/>
          <p:nvPr/>
        </p:nvSpPr>
        <p:spPr>
          <a:xfrm>
            <a:off x="2244852" y="5678424"/>
            <a:ext cx="384048" cy="384048"/>
          </a:xfrm>
          <a:prstGeom prst="ellipse">
            <a:avLst/>
          </a:prstGeom>
          <a:solidFill>
            <a:srgbClr val="0068BF"/>
          </a:solidFill>
          <a:ln w="12700">
            <a:solidFill>
              <a:srgbClr val="0068BF"/>
            </a:solidFill>
            <a:prstDash val="solid"/>
          </a:ln>
        </p:spPr>
      </p:sp>
      <p:pic>
        <p:nvPicPr>
          <p:cNvPr id="124" name="icon-349" descr="preencoded.png">    </p:cNvPr>
          <p:cNvPicPr>
            <a:picLocks noChangeAspect="1"/>
          </p:cNvPicPr>
          <p:nvPr/>
        </p:nvPicPr>
        <p:blipFill>
          <a:blip r:embed="rId2"/>
          <a:stretch>
            <a:fillRect/>
          </a:stretch>
        </p:blipFill>
        <p:spPr>
          <a:xfrm>
            <a:off x="2329343" y="5762915"/>
            <a:ext cx="215067" cy="215067"/>
          </a:xfrm>
          <a:prstGeom prst="rect">
            <a:avLst/>
          </a:prstGeom>
        </p:spPr>
      </p:pic>
      <p:sp>
        <p:nvSpPr>
          <p:cNvPr id="125" name="text-350"/>
          <p:cNvSpPr txBox="1"/>
          <p:nvPr/>
        </p:nvSpPr>
        <p:spPr>
          <a:xfrm>
            <a:off x="2702052" y="5541264"/>
            <a:ext cx="877824" cy="658368"/>
          </a:xfrm>
          <a:prstGeom prst="rect">
            <a:avLst/>
          </a:prstGeom>
          <a:noFill/>
          <a:ln/>
        </p:spPr>
        <p:txBody>
          <a:bodyPr wrap="square" lIns="0" tIns="0" rIns="0" bIns="0" rtlCol="0" anchor="ctr"/>
          <a:lstStyle/>
          <a:p>
            <a:pPr indent="0" marL="0">
              <a:buNone/>
            </a:pPr>
            <a:r>
              <a:rPr lang="en-US" sz="1050" b="1" dirty="0">
                <a:solidFill>
                  <a:srgbClr val="242424"/>
                </a:solidFill>
                <a:latin typeface="Arial" pitchFamily="34" charset="0"/>
                <a:ea typeface="Arial" pitchFamily="34" charset="-122"/>
                <a:cs typeface="Arial" pitchFamily="34" charset="-120"/>
              </a:rPr>
              <a:t>Scoring Charts</a:t>
            </a:r>
            <a:endParaRPr lang="en-US" sz="1050" dirty="0"/>
          </a:p>
        </p:txBody>
      </p:sp>
      <p:sp>
        <p:nvSpPr>
          <p:cNvPr id="126" name="shape-351"/>
          <p:cNvSpPr/>
          <p:nvPr/>
        </p:nvSpPr>
        <p:spPr>
          <a:xfrm>
            <a:off x="3721608" y="5541264"/>
            <a:ext cx="1481328" cy="658368"/>
          </a:xfrm>
          <a:prstGeom prst="roundRect">
            <a:avLst>
              <a:gd name="adj" fmla="val 16667"/>
            </a:avLst>
          </a:prstGeom>
          <a:solidFill>
            <a:srgbClr val="FFFFFF"/>
          </a:solidFill>
          <a:ln w="12700">
            <a:solidFill>
              <a:srgbClr val="E0E0E0"/>
            </a:solidFill>
            <a:prstDash val="solid"/>
          </a:ln>
        </p:spPr>
      </p:sp>
      <p:sp>
        <p:nvSpPr>
          <p:cNvPr id="127" name="shape-352"/>
          <p:cNvSpPr/>
          <p:nvPr/>
        </p:nvSpPr>
        <p:spPr>
          <a:xfrm>
            <a:off x="3831336" y="5678424"/>
            <a:ext cx="384048" cy="384048"/>
          </a:xfrm>
          <a:prstGeom prst="ellipse">
            <a:avLst/>
          </a:prstGeom>
          <a:solidFill>
            <a:srgbClr val="0068BF"/>
          </a:solidFill>
          <a:ln w="12700">
            <a:solidFill>
              <a:srgbClr val="0068BF"/>
            </a:solidFill>
            <a:prstDash val="solid"/>
          </a:ln>
        </p:spPr>
      </p:sp>
      <p:pic>
        <p:nvPicPr>
          <p:cNvPr id="128" name="icon-353" descr="preencoded.png">    </p:cNvPr>
          <p:cNvPicPr>
            <a:picLocks noChangeAspect="1"/>
          </p:cNvPicPr>
          <p:nvPr/>
        </p:nvPicPr>
        <p:blipFill>
          <a:blip r:embed="rId3"/>
          <a:stretch>
            <a:fillRect/>
          </a:stretch>
        </p:blipFill>
        <p:spPr>
          <a:xfrm>
            <a:off x="3915827" y="5762915"/>
            <a:ext cx="215067" cy="215067"/>
          </a:xfrm>
          <a:prstGeom prst="rect">
            <a:avLst/>
          </a:prstGeom>
        </p:spPr>
      </p:pic>
      <p:sp>
        <p:nvSpPr>
          <p:cNvPr id="129" name="text-354"/>
          <p:cNvSpPr txBox="1"/>
          <p:nvPr/>
        </p:nvSpPr>
        <p:spPr>
          <a:xfrm>
            <a:off x="4288536" y="5541264"/>
            <a:ext cx="877824" cy="658368"/>
          </a:xfrm>
          <a:prstGeom prst="rect">
            <a:avLst/>
          </a:prstGeom>
          <a:noFill/>
          <a:ln/>
        </p:spPr>
        <p:txBody>
          <a:bodyPr wrap="square" lIns="0" tIns="0" rIns="0" bIns="0" rtlCol="0" anchor="ctr"/>
          <a:lstStyle/>
          <a:p>
            <a:pPr indent="0" marL="0">
              <a:buNone/>
            </a:pPr>
            <a:r>
              <a:rPr lang="en-US" sz="1050" b="1" dirty="0">
                <a:solidFill>
                  <a:srgbClr val="242424"/>
                </a:solidFill>
                <a:latin typeface="Arial" pitchFamily="34" charset="0"/>
                <a:ea typeface="Arial" pitchFamily="34" charset="-122"/>
                <a:cs typeface="Arial" pitchFamily="34" charset="-120"/>
              </a:rPr>
              <a:t>Scoring Tables</a:t>
            </a:r>
            <a:endParaRPr lang="en-US" sz="1050" dirty="0"/>
          </a:p>
        </p:txBody>
      </p:sp>
      <p:sp>
        <p:nvSpPr>
          <p:cNvPr id="130" name="shape-355"/>
          <p:cNvSpPr/>
          <p:nvPr/>
        </p:nvSpPr>
        <p:spPr>
          <a:xfrm>
            <a:off x="5308092" y="5541264"/>
            <a:ext cx="1481328" cy="658368"/>
          </a:xfrm>
          <a:prstGeom prst="roundRect">
            <a:avLst>
              <a:gd name="adj" fmla="val 16667"/>
            </a:avLst>
          </a:prstGeom>
          <a:solidFill>
            <a:srgbClr val="FFFFFF"/>
          </a:solidFill>
          <a:ln w="12700">
            <a:solidFill>
              <a:srgbClr val="E0E0E0"/>
            </a:solidFill>
            <a:prstDash val="solid"/>
          </a:ln>
        </p:spPr>
      </p:sp>
      <p:sp>
        <p:nvSpPr>
          <p:cNvPr id="131" name="shape-356"/>
          <p:cNvSpPr/>
          <p:nvPr/>
        </p:nvSpPr>
        <p:spPr>
          <a:xfrm>
            <a:off x="5417820" y="5678424"/>
            <a:ext cx="384048" cy="384048"/>
          </a:xfrm>
          <a:prstGeom prst="ellipse">
            <a:avLst/>
          </a:prstGeom>
          <a:solidFill>
            <a:srgbClr val="0068BF"/>
          </a:solidFill>
          <a:ln w="12700">
            <a:solidFill>
              <a:srgbClr val="0068BF"/>
            </a:solidFill>
            <a:prstDash val="solid"/>
          </a:ln>
        </p:spPr>
      </p:sp>
      <p:pic>
        <p:nvPicPr>
          <p:cNvPr id="132" name="icon-357" descr="preencoded.png">    </p:cNvPr>
          <p:cNvPicPr>
            <a:picLocks noChangeAspect="1"/>
          </p:cNvPicPr>
          <p:nvPr/>
        </p:nvPicPr>
        <p:blipFill>
          <a:blip r:embed="rId4"/>
          <a:stretch>
            <a:fillRect/>
          </a:stretch>
        </p:blipFill>
        <p:spPr>
          <a:xfrm>
            <a:off x="5502311" y="5762915"/>
            <a:ext cx="215067" cy="215067"/>
          </a:xfrm>
          <a:prstGeom prst="rect">
            <a:avLst/>
          </a:prstGeom>
        </p:spPr>
      </p:pic>
      <p:sp>
        <p:nvSpPr>
          <p:cNvPr id="133" name="text-358"/>
          <p:cNvSpPr txBox="1"/>
          <p:nvPr/>
        </p:nvSpPr>
        <p:spPr>
          <a:xfrm>
            <a:off x="5875020" y="5541264"/>
            <a:ext cx="877824" cy="658368"/>
          </a:xfrm>
          <a:prstGeom prst="rect">
            <a:avLst/>
          </a:prstGeom>
          <a:noFill/>
          <a:ln/>
        </p:spPr>
        <p:txBody>
          <a:bodyPr wrap="square" lIns="0" tIns="0" rIns="0" bIns="0" rtlCol="0" anchor="ctr"/>
          <a:lstStyle/>
          <a:p>
            <a:pPr indent="0" marL="0">
              <a:buNone/>
            </a:pPr>
            <a:r>
              <a:rPr lang="en-US" sz="1050" b="1" dirty="0">
                <a:solidFill>
                  <a:srgbClr val="242424"/>
                </a:solidFill>
                <a:latin typeface="Arial" pitchFamily="34" charset="0"/>
                <a:ea typeface="Arial" pitchFamily="34" charset="-122"/>
                <a:cs typeface="Arial" pitchFamily="34" charset="-120"/>
              </a:rPr>
              <a:t>Geographical Areas</a:t>
            </a:r>
            <a:endParaRPr lang="en-US" sz="1050" dirty="0"/>
          </a:p>
        </p:txBody>
      </p:sp>
      <p:sp>
        <p:nvSpPr>
          <p:cNvPr id="134" name="shape-359"/>
          <p:cNvSpPr/>
          <p:nvPr/>
        </p:nvSpPr>
        <p:spPr>
          <a:xfrm>
            <a:off x="6894576" y="5541264"/>
            <a:ext cx="1481328" cy="658368"/>
          </a:xfrm>
          <a:prstGeom prst="roundRect">
            <a:avLst>
              <a:gd name="adj" fmla="val 16667"/>
            </a:avLst>
          </a:prstGeom>
          <a:solidFill>
            <a:srgbClr val="FFFFFF"/>
          </a:solidFill>
          <a:ln w="12700">
            <a:solidFill>
              <a:srgbClr val="E0E0E0"/>
            </a:solidFill>
            <a:prstDash val="solid"/>
          </a:ln>
        </p:spPr>
      </p:sp>
      <p:sp>
        <p:nvSpPr>
          <p:cNvPr id="135" name="shape-360"/>
          <p:cNvSpPr/>
          <p:nvPr/>
        </p:nvSpPr>
        <p:spPr>
          <a:xfrm>
            <a:off x="7004304" y="5678424"/>
            <a:ext cx="384048" cy="384048"/>
          </a:xfrm>
          <a:prstGeom prst="ellipse">
            <a:avLst/>
          </a:prstGeom>
          <a:solidFill>
            <a:srgbClr val="0068BF"/>
          </a:solidFill>
          <a:ln w="12700">
            <a:solidFill>
              <a:srgbClr val="0068BF"/>
            </a:solidFill>
            <a:prstDash val="solid"/>
          </a:ln>
        </p:spPr>
      </p:sp>
      <p:pic>
        <p:nvPicPr>
          <p:cNvPr id="136" name="icon-361" descr="preencoded.png">    </p:cNvPr>
          <p:cNvPicPr>
            <a:picLocks noChangeAspect="1"/>
          </p:cNvPicPr>
          <p:nvPr/>
        </p:nvPicPr>
        <p:blipFill>
          <a:blip r:embed="rId5"/>
          <a:stretch>
            <a:fillRect/>
          </a:stretch>
        </p:blipFill>
        <p:spPr>
          <a:xfrm>
            <a:off x="7088795" y="5762915"/>
            <a:ext cx="215067" cy="215067"/>
          </a:xfrm>
          <a:prstGeom prst="rect">
            <a:avLst/>
          </a:prstGeom>
        </p:spPr>
      </p:pic>
      <p:sp>
        <p:nvSpPr>
          <p:cNvPr id="137" name="text-362"/>
          <p:cNvSpPr txBox="1"/>
          <p:nvPr/>
        </p:nvSpPr>
        <p:spPr>
          <a:xfrm>
            <a:off x="7461504" y="5541264"/>
            <a:ext cx="877824" cy="658368"/>
          </a:xfrm>
          <a:prstGeom prst="rect">
            <a:avLst/>
          </a:prstGeom>
          <a:noFill/>
          <a:ln/>
        </p:spPr>
        <p:txBody>
          <a:bodyPr wrap="square" lIns="0" tIns="0" rIns="0" bIns="0" rtlCol="0" anchor="ctr"/>
          <a:lstStyle/>
          <a:p>
            <a:pPr indent="0" marL="0">
              <a:buNone/>
            </a:pPr>
            <a:r>
              <a:rPr lang="en-US" sz="1050" b="1" dirty="0">
                <a:solidFill>
                  <a:srgbClr val="242424"/>
                </a:solidFill>
                <a:latin typeface="Arial" pitchFamily="34" charset="0"/>
                <a:ea typeface="Arial" pitchFamily="34" charset="-122"/>
                <a:cs typeface="Arial" pitchFamily="34" charset="-120"/>
              </a:rPr>
              <a:t>Scoring Trends</a:t>
            </a:r>
            <a:endParaRPr lang="en-US" sz="1050" dirty="0"/>
          </a:p>
        </p:txBody>
      </p:sp>
      <p:sp>
        <p:nvSpPr>
          <p:cNvPr id="138" name="shape-363"/>
          <p:cNvSpPr/>
          <p:nvPr/>
        </p:nvSpPr>
        <p:spPr>
          <a:xfrm>
            <a:off x="8481060" y="5541264"/>
            <a:ext cx="1481328" cy="658368"/>
          </a:xfrm>
          <a:prstGeom prst="roundRect">
            <a:avLst>
              <a:gd name="adj" fmla="val 16667"/>
            </a:avLst>
          </a:prstGeom>
          <a:solidFill>
            <a:srgbClr val="FFFFFF"/>
          </a:solidFill>
          <a:ln w="12700">
            <a:solidFill>
              <a:srgbClr val="E0E0E0"/>
            </a:solidFill>
            <a:prstDash val="solid"/>
          </a:ln>
        </p:spPr>
      </p:sp>
      <p:sp>
        <p:nvSpPr>
          <p:cNvPr id="139" name="shape-364"/>
          <p:cNvSpPr/>
          <p:nvPr/>
        </p:nvSpPr>
        <p:spPr>
          <a:xfrm>
            <a:off x="8590788" y="5678424"/>
            <a:ext cx="384048" cy="384048"/>
          </a:xfrm>
          <a:prstGeom prst="ellipse">
            <a:avLst/>
          </a:prstGeom>
          <a:solidFill>
            <a:srgbClr val="0068BF"/>
          </a:solidFill>
          <a:ln w="12700">
            <a:solidFill>
              <a:srgbClr val="0068BF"/>
            </a:solidFill>
            <a:prstDash val="solid"/>
          </a:ln>
        </p:spPr>
      </p:sp>
      <p:pic>
        <p:nvPicPr>
          <p:cNvPr id="140" name="icon-365" descr="preencoded.png">    </p:cNvPr>
          <p:cNvPicPr>
            <a:picLocks noChangeAspect="1"/>
          </p:cNvPicPr>
          <p:nvPr/>
        </p:nvPicPr>
        <p:blipFill>
          <a:blip r:embed="rId6"/>
          <a:stretch>
            <a:fillRect/>
          </a:stretch>
        </p:blipFill>
        <p:spPr>
          <a:xfrm>
            <a:off x="8675279" y="5762915"/>
            <a:ext cx="215067" cy="215067"/>
          </a:xfrm>
          <a:prstGeom prst="rect">
            <a:avLst/>
          </a:prstGeom>
        </p:spPr>
      </p:pic>
      <p:sp>
        <p:nvSpPr>
          <p:cNvPr id="141" name="text-366"/>
          <p:cNvSpPr txBox="1"/>
          <p:nvPr/>
        </p:nvSpPr>
        <p:spPr>
          <a:xfrm>
            <a:off x="9047988" y="5541264"/>
            <a:ext cx="877824" cy="658368"/>
          </a:xfrm>
          <a:prstGeom prst="rect">
            <a:avLst/>
          </a:prstGeom>
          <a:noFill/>
          <a:ln/>
        </p:spPr>
        <p:txBody>
          <a:bodyPr wrap="square" lIns="0" tIns="0" rIns="0" bIns="0" rtlCol="0" anchor="ctr"/>
          <a:lstStyle/>
          <a:p>
            <a:pPr indent="0" marL="0">
              <a:buNone/>
            </a:pPr>
            <a:r>
              <a:rPr lang="en-US" sz="1050" b="1" dirty="0">
                <a:solidFill>
                  <a:srgbClr val="242424"/>
                </a:solidFill>
                <a:latin typeface="Arial" pitchFamily="34" charset="0"/>
                <a:ea typeface="Arial" pitchFamily="34" charset="-122"/>
                <a:cs typeface="Arial" pitchFamily="34" charset="-120"/>
              </a:rPr>
              <a:t>GAP Analysis</a:t>
            </a:r>
            <a:endParaRPr lang="en-US" sz="1050" dirty="0"/>
          </a:p>
        </p:txBody>
      </p:sp>
      <p:sp>
        <p:nvSpPr>
          <p:cNvPr id="142" name="shape-367"/>
          <p:cNvSpPr/>
          <p:nvPr/>
        </p:nvSpPr>
        <p:spPr>
          <a:xfrm>
            <a:off x="10067544" y="5541264"/>
            <a:ext cx="1481328" cy="658368"/>
          </a:xfrm>
          <a:prstGeom prst="roundRect">
            <a:avLst>
              <a:gd name="adj" fmla="val 16667"/>
            </a:avLst>
          </a:prstGeom>
          <a:solidFill>
            <a:srgbClr val="FFFFFF"/>
          </a:solidFill>
          <a:ln w="12700">
            <a:solidFill>
              <a:srgbClr val="E0E0E0"/>
            </a:solidFill>
            <a:prstDash val="solid"/>
          </a:ln>
        </p:spPr>
      </p:sp>
      <p:sp>
        <p:nvSpPr>
          <p:cNvPr id="143" name="shape-368"/>
          <p:cNvSpPr/>
          <p:nvPr/>
        </p:nvSpPr>
        <p:spPr>
          <a:xfrm>
            <a:off x="10177272" y="5678424"/>
            <a:ext cx="384048" cy="384048"/>
          </a:xfrm>
          <a:prstGeom prst="ellipse">
            <a:avLst/>
          </a:prstGeom>
          <a:solidFill>
            <a:srgbClr val="0068BF"/>
          </a:solidFill>
          <a:ln w="12700">
            <a:solidFill>
              <a:srgbClr val="0068BF"/>
            </a:solidFill>
            <a:prstDash val="solid"/>
          </a:ln>
        </p:spPr>
      </p:sp>
      <p:pic>
        <p:nvPicPr>
          <p:cNvPr id="144" name="icon-369" descr="preencoded.png">    </p:cNvPr>
          <p:cNvPicPr>
            <a:picLocks noChangeAspect="1"/>
          </p:cNvPicPr>
          <p:nvPr/>
        </p:nvPicPr>
        <p:blipFill>
          <a:blip r:embed="rId7"/>
          <a:stretch>
            <a:fillRect/>
          </a:stretch>
        </p:blipFill>
        <p:spPr>
          <a:xfrm>
            <a:off x="10261763" y="5762915"/>
            <a:ext cx="215067" cy="215067"/>
          </a:xfrm>
          <a:prstGeom prst="rect">
            <a:avLst/>
          </a:prstGeom>
        </p:spPr>
      </p:pic>
      <p:sp>
        <p:nvSpPr>
          <p:cNvPr id="145" name="text-370"/>
          <p:cNvSpPr txBox="1"/>
          <p:nvPr/>
        </p:nvSpPr>
        <p:spPr>
          <a:xfrm>
            <a:off x="10634472" y="5541264"/>
            <a:ext cx="877824" cy="658368"/>
          </a:xfrm>
          <a:prstGeom prst="rect">
            <a:avLst/>
          </a:prstGeom>
          <a:noFill/>
          <a:ln/>
        </p:spPr>
        <p:txBody>
          <a:bodyPr wrap="square" lIns="0" tIns="0" rIns="0" bIns="0" rtlCol="0" anchor="ctr"/>
          <a:lstStyle/>
          <a:p>
            <a:pPr indent="0" marL="0">
              <a:buNone/>
            </a:pPr>
            <a:r>
              <a:rPr lang="en-US" sz="1050" b="1" dirty="0">
                <a:solidFill>
                  <a:srgbClr val="242424"/>
                </a:solidFill>
                <a:latin typeface="Arial" pitchFamily="34" charset="0"/>
                <a:ea typeface="Arial" pitchFamily="34" charset="-122"/>
                <a:cs typeface="Arial" pitchFamily="34" charset="-120"/>
              </a:rPr>
              <a:t>Points Lost</a:t>
            </a:r>
            <a:endParaRPr lang="en-US" sz="1050" dirty="0"/>
          </a:p>
        </p:txBody>
      </p:sp>
      <p:sp>
        <p:nvSpPr>
          <p:cNvPr id="25" name="Slide Number Placeholder 0"/>
          <p:cNvSpPr>
            <a:spLocks noGrp="1"/>
          </p:cNvSpPr>
          <p:nvPr>
            <p:ph type="sldNum" sz="quarter" idx="4294967295"/>
          </p:nvPr>
        </p:nvSpPr>
        <p:spPr>
          <a:xfrm>
            <a:off x="548640" y="640080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67676"/>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0424160" cy="658368"/>
          </a:xfrm>
          <a:prstGeom prst="rect">
            <a:avLst/>
          </a:prstGeom>
          <a:noFill/>
          <a:ln/>
        </p:spPr>
        <p:txBody>
          <a:bodyPr wrap="square" lIns="0" tIns="0" rIns="0" bIns="0" rtlCol="0" anchor="ctr"/>
          <a:lstStyle/>
          <a:p>
            <a:pPr algn="l" indent="0" marL="0">
              <a:buNone/>
            </a:pPr>
            <a:r>
              <a:rPr lang="en-US" sz="3000" dirty="0">
                <a:solidFill>
                  <a:srgbClr val="000000"/>
                </a:solidFill>
                <a:latin typeface="Arial" pitchFamily="34" charset="0"/>
                <a:ea typeface="Arial" pitchFamily="34" charset="-122"/>
                <a:cs typeface="Arial" pitchFamily="34" charset="-120"/>
              </a:rPr>
              <a:t>Scoring &amp; GAP Analysis — </a:t>
            </a:r>
            <a:pPr algn="l" indent="0" marL="0">
              <a:buNone/>
            </a:pPr>
            <a:r>
              <a:rPr lang="en-US" sz="3000" b="1" dirty="0">
                <a:solidFill>
                  <a:srgbClr val="0068BF"/>
                </a:solidFill>
                <a:latin typeface="Arial" pitchFamily="34" charset="0"/>
                <a:ea typeface="Arial" pitchFamily="34" charset="-122"/>
                <a:cs typeface="Arial" pitchFamily="34" charset="-120"/>
              </a:rPr>
              <a:t>where to win the points back</a:t>
            </a:r>
            <a:endParaRPr lang="en-US" sz="3000" dirty="0"/>
          </a:p>
        </p:txBody>
      </p:sp>
      <p:sp>
        <p:nvSpPr>
          <p:cNvPr id="3" name="text-37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dirty="0">
                <a:solidFill>
                  <a:srgbClr val="767676"/>
                </a:solidFill>
                <a:latin typeface="Arial" pitchFamily="34" charset="0"/>
                <a:ea typeface="Arial" pitchFamily="34" charset="-122"/>
                <a:cs typeface="Arial" pitchFamily="34" charset="-120"/>
              </a:rPr>
              <a:t>Every point lost, traced to its KPI, area, owner and site, with what to fix first</a:t>
            </a:r>
            <a:endParaRPr lang="en-US" sz="1500" dirty="0"/>
          </a:p>
        </p:txBody>
      </p:sp>
      <p:sp>
        <p:nvSpPr>
          <p:cNvPr id="4" name="shape-372"/>
          <p:cNvSpPr/>
          <p:nvPr/>
        </p:nvSpPr>
        <p:spPr>
          <a:xfrm>
            <a:off x="548640" y="1600200"/>
            <a:ext cx="4023360" cy="4617720"/>
          </a:xfrm>
          <a:prstGeom prst="roundRect">
            <a:avLst>
              <a:gd name="adj" fmla="val 2727"/>
            </a:avLst>
          </a:prstGeom>
          <a:solidFill>
            <a:srgbClr val="F7FAFD"/>
          </a:solidFill>
          <a:ln w="12700">
            <a:solidFill>
              <a:srgbClr val="F7FAFD"/>
            </a:solidFill>
            <a:prstDash val="solid"/>
          </a:ln>
        </p:spPr>
      </p:sp>
      <p:sp>
        <p:nvSpPr>
          <p:cNvPr id="5" name="text-373"/>
          <p:cNvSpPr txBox="1"/>
          <p:nvPr/>
        </p:nvSpPr>
        <p:spPr>
          <a:xfrm>
            <a:off x="749808" y="1728216"/>
            <a:ext cx="3657600" cy="237744"/>
          </a:xfrm>
          <a:prstGeom prst="rect">
            <a:avLst/>
          </a:prstGeom>
          <a:noFill/>
          <a:ln/>
        </p:spPr>
        <p:txBody>
          <a:bodyPr wrap="square" lIns="0" tIns="0" rIns="0" bIns="0" rtlCol="0" anchor="ctr"/>
          <a:lstStyle/>
          <a:p>
            <a:pPr indent="0" marL="0">
              <a:buNone/>
            </a:pPr>
            <a:r>
              <a:rPr lang="en-US" sz="1050" b="1" spc="100" kern="0" dirty="0">
                <a:solidFill>
                  <a:srgbClr val="767676"/>
                </a:solidFill>
                <a:latin typeface="Arial" pitchFamily="34" charset="0"/>
                <a:ea typeface="Arial" pitchFamily="34" charset="-122"/>
                <a:cs typeface="Arial" pitchFamily="34" charset="-120"/>
              </a:rPr>
              <a:t>POINTS LOST MAP · OPERATOR B</a:t>
            </a:r>
            <a:endParaRPr lang="en-US" sz="1050" dirty="0"/>
          </a:p>
        </p:txBody>
      </p:sp>
      <p:sp>
        <p:nvSpPr>
          <p:cNvPr id="6" name="shape-374"/>
          <p:cNvSpPr/>
          <p:nvPr/>
        </p:nvSpPr>
        <p:spPr>
          <a:xfrm>
            <a:off x="548640" y="1600200"/>
            <a:ext cx="4023360" cy="4617720"/>
          </a:xfrm>
          <a:prstGeom prst="roundRect">
            <a:avLst>
              <a:gd name="adj" fmla="val 2727"/>
            </a:avLst>
          </a:prstGeom>
          <a:ln w="12700">
            <a:solidFill>
              <a:srgbClr val="E0E0E0"/>
            </a:solidFill>
            <a:prstDash val="solid"/>
          </a:ln>
        </p:spPr>
      </p:sp>
      <p:pic>
        <p:nvPicPr>
          <p:cNvPr id="7" name="Points Lost Map" descr="/var/folders/pl/_b6qn8zs2_lc59t589_46cyc0000gn/T/drivetest-presentations-rNxAPW/points-lost-map.png">    </p:cNvPr>
          <p:cNvPicPr>
            <a:picLocks noChangeAspect="1"/>
          </p:cNvPicPr>
          <p:nvPr/>
        </p:nvPicPr>
        <p:blipFill>
          <a:blip r:embed="rId1"/>
          <a:stretch>
            <a:fillRect/>
          </a:stretch>
        </p:blipFill>
        <p:spPr>
          <a:xfrm>
            <a:off x="786384" y="1938528"/>
            <a:ext cx="3547872" cy="3931920"/>
          </a:xfrm>
          <a:prstGeom prst="rect">
            <a:avLst/>
          </a:prstGeom>
        </p:spPr>
      </p:pic>
      <p:sp>
        <p:nvSpPr>
          <p:cNvPr id="8" name="shape-375"/>
          <p:cNvSpPr/>
          <p:nvPr/>
        </p:nvSpPr>
        <p:spPr>
          <a:xfrm>
            <a:off x="2395728" y="4443984"/>
            <a:ext cx="1024128" cy="292608"/>
          </a:xfrm>
          <a:prstGeom prst="roundRect">
            <a:avLst>
              <a:gd name="adj" fmla="val 50000"/>
            </a:avLst>
          </a:prstGeom>
          <a:solidFill>
            <a:srgbClr val="0068BF"/>
          </a:solidFill>
          <a:ln w="12700">
            <a:solidFill>
              <a:srgbClr val="0068BF"/>
            </a:solidFill>
            <a:prstDash val="solid"/>
          </a:ln>
        </p:spPr>
      </p:sp>
      <p:sp>
        <p:nvSpPr>
          <p:cNvPr id="9" name="text-376"/>
          <p:cNvSpPr txBox="1"/>
          <p:nvPr/>
        </p:nvSpPr>
        <p:spPr>
          <a:xfrm>
            <a:off x="2395728" y="4443984"/>
            <a:ext cx="102412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−38.6 pts</a:t>
            </a:r>
            <a:endParaRPr lang="en-US" sz="1100" dirty="0"/>
          </a:p>
        </p:txBody>
      </p:sp>
      <p:sp>
        <p:nvSpPr>
          <p:cNvPr id="10" name="text-377"/>
          <p:cNvSpPr txBox="1"/>
          <p:nvPr/>
        </p:nvSpPr>
        <p:spPr>
          <a:xfrm>
            <a:off x="777240" y="5888736"/>
            <a:ext cx="457200" cy="219456"/>
          </a:xfrm>
          <a:prstGeom prst="rect">
            <a:avLst/>
          </a:prstGeom>
          <a:noFill/>
          <a:ln/>
        </p:spPr>
        <p:txBody>
          <a:bodyPr wrap="square" lIns="0" tIns="0" rIns="0" bIns="0" rtlCol="0" anchor="ctr"/>
          <a:lstStyle/>
          <a:p>
            <a:pPr indent="0" marL="0">
              <a:buNone/>
            </a:pPr>
            <a:r>
              <a:rPr lang="en-US" sz="950" dirty="0">
                <a:solidFill>
                  <a:srgbClr val="767676"/>
                </a:solidFill>
                <a:latin typeface="Arial" pitchFamily="34" charset="0"/>
                <a:ea typeface="Arial" pitchFamily="34" charset="-122"/>
                <a:cs typeface="Arial" pitchFamily="34" charset="-120"/>
              </a:rPr>
              <a:t>Fewer</a:t>
            </a:r>
            <a:endParaRPr lang="en-US" sz="950" dirty="0"/>
          </a:p>
        </p:txBody>
      </p:sp>
      <p:sp>
        <p:nvSpPr>
          <p:cNvPr id="11" name="shape-378"/>
          <p:cNvSpPr/>
          <p:nvPr/>
        </p:nvSpPr>
        <p:spPr>
          <a:xfrm>
            <a:off x="1243584" y="5925312"/>
            <a:ext cx="274320" cy="146304"/>
          </a:xfrm>
          <a:prstGeom prst="rect">
            <a:avLst/>
          </a:prstGeom>
          <a:solidFill>
            <a:srgbClr val="FFF3BF"/>
          </a:solidFill>
          <a:ln w="6350">
            <a:solidFill>
              <a:srgbClr val="FFFFFF"/>
            </a:solidFill>
            <a:prstDash val="solid"/>
          </a:ln>
        </p:spPr>
      </p:sp>
      <p:sp>
        <p:nvSpPr>
          <p:cNvPr id="12" name="shape-379"/>
          <p:cNvSpPr/>
          <p:nvPr/>
        </p:nvSpPr>
        <p:spPr>
          <a:xfrm>
            <a:off x="1517904" y="5925312"/>
            <a:ext cx="274320" cy="146304"/>
          </a:xfrm>
          <a:prstGeom prst="rect">
            <a:avLst/>
          </a:prstGeom>
          <a:solidFill>
            <a:srgbClr val="FFD966"/>
          </a:solidFill>
          <a:ln w="6350">
            <a:solidFill>
              <a:srgbClr val="FFFFFF"/>
            </a:solidFill>
            <a:prstDash val="solid"/>
          </a:ln>
        </p:spPr>
      </p:sp>
      <p:sp>
        <p:nvSpPr>
          <p:cNvPr id="13" name="shape-380"/>
          <p:cNvSpPr/>
          <p:nvPr/>
        </p:nvSpPr>
        <p:spPr>
          <a:xfrm>
            <a:off x="1792224" y="5925312"/>
            <a:ext cx="274320" cy="146304"/>
          </a:xfrm>
          <a:prstGeom prst="rect">
            <a:avLst/>
          </a:prstGeom>
          <a:solidFill>
            <a:srgbClr val="FFA94D"/>
          </a:solidFill>
          <a:ln w="6350">
            <a:solidFill>
              <a:srgbClr val="FFFFFF"/>
            </a:solidFill>
            <a:prstDash val="solid"/>
          </a:ln>
        </p:spPr>
      </p:sp>
      <p:sp>
        <p:nvSpPr>
          <p:cNvPr id="14" name="shape-381"/>
          <p:cNvSpPr/>
          <p:nvPr/>
        </p:nvSpPr>
        <p:spPr>
          <a:xfrm>
            <a:off x="2066544" y="5925312"/>
            <a:ext cx="274320" cy="146304"/>
          </a:xfrm>
          <a:prstGeom prst="rect">
            <a:avLst/>
          </a:prstGeom>
          <a:solidFill>
            <a:srgbClr val="FF6B3D"/>
          </a:solidFill>
          <a:ln w="6350">
            <a:solidFill>
              <a:srgbClr val="FFFFFF"/>
            </a:solidFill>
            <a:prstDash val="solid"/>
          </a:ln>
        </p:spPr>
      </p:sp>
      <p:sp>
        <p:nvSpPr>
          <p:cNvPr id="15" name="shape-382"/>
          <p:cNvSpPr/>
          <p:nvPr/>
        </p:nvSpPr>
        <p:spPr>
          <a:xfrm>
            <a:off x="2340864" y="5925312"/>
            <a:ext cx="274320" cy="146304"/>
          </a:xfrm>
          <a:prstGeom prst="rect">
            <a:avLst/>
          </a:prstGeom>
          <a:solidFill>
            <a:srgbClr val="E03131"/>
          </a:solidFill>
          <a:ln w="6350">
            <a:solidFill>
              <a:srgbClr val="FFFFFF"/>
            </a:solidFill>
            <a:prstDash val="solid"/>
          </a:ln>
        </p:spPr>
      </p:sp>
      <p:sp>
        <p:nvSpPr>
          <p:cNvPr id="16" name="shape-383"/>
          <p:cNvSpPr/>
          <p:nvPr/>
        </p:nvSpPr>
        <p:spPr>
          <a:xfrm>
            <a:off x="2615184" y="5925312"/>
            <a:ext cx="274320" cy="146304"/>
          </a:xfrm>
          <a:prstGeom prst="rect">
            <a:avLst/>
          </a:prstGeom>
          <a:solidFill>
            <a:srgbClr val="A61E1E"/>
          </a:solidFill>
          <a:ln w="6350">
            <a:solidFill>
              <a:srgbClr val="FFFFFF"/>
            </a:solidFill>
            <a:prstDash val="solid"/>
          </a:ln>
        </p:spPr>
      </p:sp>
      <p:sp>
        <p:nvSpPr>
          <p:cNvPr id="17" name="text-384"/>
          <p:cNvSpPr txBox="1"/>
          <p:nvPr/>
        </p:nvSpPr>
        <p:spPr>
          <a:xfrm>
            <a:off x="2944368" y="5888736"/>
            <a:ext cx="1463040" cy="219456"/>
          </a:xfrm>
          <a:prstGeom prst="rect">
            <a:avLst/>
          </a:prstGeom>
          <a:noFill/>
          <a:ln/>
        </p:spPr>
        <p:txBody>
          <a:bodyPr wrap="square" lIns="0" tIns="0" rIns="0" bIns="0" rtlCol="0" anchor="ctr"/>
          <a:lstStyle/>
          <a:p>
            <a:pPr indent="0" marL="0">
              <a:buNone/>
            </a:pPr>
            <a:r>
              <a:rPr lang="en-US" sz="950" dirty="0">
                <a:solidFill>
                  <a:srgbClr val="767676"/>
                </a:solidFill>
                <a:latin typeface="Arial" pitchFamily="34" charset="0"/>
                <a:ea typeface="Arial" pitchFamily="34" charset="-122"/>
                <a:cs typeface="Arial" pitchFamily="34" charset="-120"/>
              </a:rPr>
              <a:t>More points lost</a:t>
            </a:r>
            <a:endParaRPr lang="en-US" sz="950" dirty="0"/>
          </a:p>
        </p:txBody>
      </p:sp>
      <p:sp>
        <p:nvSpPr>
          <p:cNvPr id="18" name="shape-385"/>
          <p:cNvSpPr/>
          <p:nvPr/>
        </p:nvSpPr>
        <p:spPr>
          <a:xfrm>
            <a:off x="4754880" y="1600200"/>
            <a:ext cx="3429000" cy="2423160"/>
          </a:xfrm>
          <a:prstGeom prst="roundRect">
            <a:avLst>
              <a:gd name="adj" fmla="val 4528"/>
            </a:avLst>
          </a:prstGeom>
          <a:solidFill>
            <a:srgbClr val="F2F2F2"/>
          </a:solidFill>
          <a:ln w="12700">
            <a:solidFill>
              <a:srgbClr val="F2F2F2"/>
            </a:solidFill>
            <a:prstDash val="solid"/>
          </a:ln>
        </p:spPr>
      </p:sp>
      <p:sp>
        <p:nvSpPr>
          <p:cNvPr id="19" name="text-386"/>
          <p:cNvSpPr txBox="1"/>
          <p:nvPr/>
        </p:nvSpPr>
        <p:spPr>
          <a:xfrm>
            <a:off x="4956048" y="1728216"/>
            <a:ext cx="3063240" cy="237744"/>
          </a:xfrm>
          <a:prstGeom prst="rect">
            <a:avLst/>
          </a:prstGeom>
          <a:noFill/>
          <a:ln/>
        </p:spPr>
        <p:txBody>
          <a:bodyPr wrap="square" lIns="0" tIns="0" rIns="0" bIns="0" rtlCol="0" anchor="ctr"/>
          <a:lstStyle/>
          <a:p>
            <a:pPr indent="0" marL="0">
              <a:buNone/>
            </a:pPr>
            <a:r>
              <a:rPr lang="en-US" sz="1050" b="1" spc="100" kern="0" dirty="0">
                <a:solidFill>
                  <a:srgbClr val="767676"/>
                </a:solidFill>
                <a:latin typeface="Arial" pitchFamily="34" charset="0"/>
                <a:ea typeface="Arial" pitchFamily="34" charset="-122"/>
                <a:cs typeface="Arial" pitchFamily="34" charset="-120"/>
              </a:rPr>
              <a:t>BIGGEST LEVERS · POINTS TO WIN</a:t>
            </a:r>
            <a:endParaRPr lang="en-US" sz="1050" dirty="0"/>
          </a:p>
        </p:txBody>
      </p:sp>
      <p:sp>
        <p:nvSpPr>
          <p:cNvPr id="20" name="text-387"/>
          <p:cNvSpPr txBox="1"/>
          <p:nvPr/>
        </p:nvSpPr>
        <p:spPr>
          <a:xfrm>
            <a:off x="4956048" y="2011680"/>
            <a:ext cx="1783080" cy="292608"/>
          </a:xfrm>
          <a:prstGeom prst="rect">
            <a:avLst/>
          </a:prstGeom>
          <a:noFill/>
          <a:ln/>
        </p:spPr>
        <p:txBody>
          <a:bodyPr wrap="square" lIns="0" tIns="0" rIns="0" bIns="0" rtlCol="0" anchor="ctr"/>
          <a:lstStyle/>
          <a:p>
            <a:pPr indent="0" marL="0">
              <a:buNone/>
            </a:pPr>
            <a:r>
              <a:rPr lang="en-US" sz="1100" dirty="0">
                <a:solidFill>
                  <a:srgbClr val="242424"/>
                </a:solidFill>
                <a:latin typeface="Arial" pitchFamily="34" charset="0"/>
                <a:ea typeface="Arial" pitchFamily="34" charset="-122"/>
                <a:cs typeface="Arial" pitchFamily="34" charset="-120"/>
              </a:rPr>
              <a:t>Call setup success</a:t>
            </a:r>
            <a:endParaRPr lang="en-US" sz="1100" dirty="0"/>
          </a:p>
        </p:txBody>
      </p:sp>
      <p:sp>
        <p:nvSpPr>
          <p:cNvPr id="21" name="shape-388"/>
          <p:cNvSpPr/>
          <p:nvPr/>
        </p:nvSpPr>
        <p:spPr>
          <a:xfrm>
            <a:off x="6748272" y="2057400"/>
            <a:ext cx="868680" cy="201168"/>
          </a:xfrm>
          <a:prstGeom prst="roundRect">
            <a:avLst>
              <a:gd name="adj" fmla="val 22727"/>
            </a:avLst>
          </a:prstGeom>
          <a:solidFill>
            <a:srgbClr val="0C9B5B"/>
          </a:solidFill>
          <a:ln w="12700">
            <a:solidFill>
              <a:srgbClr val="0C9B5B"/>
            </a:solidFill>
            <a:prstDash val="solid"/>
          </a:ln>
        </p:spPr>
      </p:sp>
      <p:sp>
        <p:nvSpPr>
          <p:cNvPr id="22" name="text-389"/>
          <p:cNvSpPr txBox="1"/>
          <p:nvPr/>
        </p:nvSpPr>
        <p:spPr>
          <a:xfrm>
            <a:off x="7671816" y="2011680"/>
            <a:ext cx="457200" cy="292608"/>
          </a:xfrm>
          <a:prstGeom prst="rect">
            <a:avLst/>
          </a:prstGeom>
          <a:noFill/>
          <a:ln/>
        </p:spPr>
        <p:txBody>
          <a:bodyPr wrap="square" lIns="0" tIns="0" rIns="0" bIns="0" rtlCol="0" anchor="ctr"/>
          <a:lstStyle/>
          <a:p>
            <a:pPr indent="0" marL="0">
              <a:buNone/>
            </a:pPr>
            <a:r>
              <a:rPr lang="en-US" sz="1100" b="1" dirty="0">
                <a:solidFill>
                  <a:srgbClr val="0C9B5B"/>
                </a:solidFill>
                <a:latin typeface="Arial" pitchFamily="34" charset="0"/>
                <a:ea typeface="Arial" pitchFamily="34" charset="-122"/>
                <a:cs typeface="Arial" pitchFamily="34" charset="-120"/>
              </a:rPr>
              <a:t>+4.2</a:t>
            </a:r>
            <a:endParaRPr lang="en-US" sz="1100" dirty="0"/>
          </a:p>
        </p:txBody>
      </p:sp>
      <p:sp>
        <p:nvSpPr>
          <p:cNvPr id="23" name="text-390"/>
          <p:cNvSpPr txBox="1"/>
          <p:nvPr/>
        </p:nvSpPr>
        <p:spPr>
          <a:xfrm>
            <a:off x="4956048" y="2395728"/>
            <a:ext cx="1783080" cy="292608"/>
          </a:xfrm>
          <a:prstGeom prst="rect">
            <a:avLst/>
          </a:prstGeom>
          <a:noFill/>
          <a:ln/>
        </p:spPr>
        <p:txBody>
          <a:bodyPr wrap="square" lIns="0" tIns="0" rIns="0" bIns="0" rtlCol="0" anchor="ctr"/>
          <a:lstStyle/>
          <a:p>
            <a:pPr indent="0" marL="0">
              <a:buNone/>
            </a:pPr>
            <a:r>
              <a:rPr lang="en-US" sz="1100" dirty="0">
                <a:solidFill>
                  <a:srgbClr val="242424"/>
                </a:solidFill>
                <a:latin typeface="Arial" pitchFamily="34" charset="0"/>
                <a:ea typeface="Arial" pitchFamily="34" charset="-122"/>
                <a:cs typeface="Arial" pitchFamily="34" charset="-120"/>
              </a:rPr>
              <a:t>DL throughput P10</a:t>
            </a:r>
            <a:endParaRPr lang="en-US" sz="1100" dirty="0"/>
          </a:p>
        </p:txBody>
      </p:sp>
      <p:sp>
        <p:nvSpPr>
          <p:cNvPr id="24" name="shape-391"/>
          <p:cNvSpPr/>
          <p:nvPr/>
        </p:nvSpPr>
        <p:spPr>
          <a:xfrm>
            <a:off x="6748272" y="2441448"/>
            <a:ext cx="703217" cy="201168"/>
          </a:xfrm>
          <a:prstGeom prst="roundRect">
            <a:avLst>
              <a:gd name="adj" fmla="val 22727"/>
            </a:avLst>
          </a:prstGeom>
          <a:solidFill>
            <a:srgbClr val="0C9B5B"/>
          </a:solidFill>
          <a:ln w="12700">
            <a:solidFill>
              <a:srgbClr val="0C9B5B"/>
            </a:solidFill>
            <a:prstDash val="solid"/>
          </a:ln>
        </p:spPr>
      </p:sp>
      <p:sp>
        <p:nvSpPr>
          <p:cNvPr id="25" name="text-392"/>
          <p:cNvSpPr txBox="1"/>
          <p:nvPr/>
        </p:nvSpPr>
        <p:spPr>
          <a:xfrm>
            <a:off x="7506353" y="2395728"/>
            <a:ext cx="457200" cy="292608"/>
          </a:xfrm>
          <a:prstGeom prst="rect">
            <a:avLst/>
          </a:prstGeom>
          <a:noFill/>
          <a:ln/>
        </p:spPr>
        <p:txBody>
          <a:bodyPr wrap="square" lIns="0" tIns="0" rIns="0" bIns="0" rtlCol="0" anchor="ctr"/>
          <a:lstStyle/>
          <a:p>
            <a:pPr indent="0" marL="0">
              <a:buNone/>
            </a:pPr>
            <a:r>
              <a:rPr lang="en-US" sz="1100" b="1" dirty="0">
                <a:solidFill>
                  <a:srgbClr val="0C9B5B"/>
                </a:solidFill>
                <a:latin typeface="Arial" pitchFamily="34" charset="0"/>
                <a:ea typeface="Arial" pitchFamily="34" charset="-122"/>
                <a:cs typeface="Arial" pitchFamily="34" charset="-120"/>
              </a:rPr>
              <a:t>+3.4</a:t>
            </a:r>
            <a:endParaRPr lang="en-US" sz="1100" dirty="0"/>
          </a:p>
        </p:txBody>
      </p:sp>
      <p:sp>
        <p:nvSpPr>
          <p:cNvPr id="26" name="text-393"/>
          <p:cNvSpPr txBox="1"/>
          <p:nvPr/>
        </p:nvSpPr>
        <p:spPr>
          <a:xfrm>
            <a:off x="4956048" y="2779776"/>
            <a:ext cx="1783080" cy="292608"/>
          </a:xfrm>
          <a:prstGeom prst="rect">
            <a:avLst/>
          </a:prstGeom>
          <a:noFill/>
          <a:ln/>
        </p:spPr>
        <p:txBody>
          <a:bodyPr wrap="square" lIns="0" tIns="0" rIns="0" bIns="0" rtlCol="0" anchor="ctr"/>
          <a:lstStyle/>
          <a:p>
            <a:pPr indent="0" marL="0">
              <a:buNone/>
            </a:pPr>
            <a:r>
              <a:rPr lang="en-US" sz="1100" dirty="0">
                <a:solidFill>
                  <a:srgbClr val="242424"/>
                </a:solidFill>
                <a:latin typeface="Arial" pitchFamily="34" charset="0"/>
                <a:ea typeface="Arial" pitchFamily="34" charset="-122"/>
                <a:cs typeface="Arial" pitchFamily="34" charset="-120"/>
              </a:rPr>
              <a:t>POLQA MOS</a:t>
            </a:r>
            <a:endParaRPr lang="en-US" sz="1100" dirty="0"/>
          </a:p>
        </p:txBody>
      </p:sp>
      <p:sp>
        <p:nvSpPr>
          <p:cNvPr id="27" name="shape-394"/>
          <p:cNvSpPr/>
          <p:nvPr/>
        </p:nvSpPr>
        <p:spPr>
          <a:xfrm>
            <a:off x="6748272" y="2825496"/>
            <a:ext cx="537754" cy="201168"/>
          </a:xfrm>
          <a:prstGeom prst="roundRect">
            <a:avLst>
              <a:gd name="adj" fmla="val 22727"/>
            </a:avLst>
          </a:prstGeom>
          <a:solidFill>
            <a:srgbClr val="0C9B5B"/>
          </a:solidFill>
          <a:ln w="12700">
            <a:solidFill>
              <a:srgbClr val="0C9B5B"/>
            </a:solidFill>
            <a:prstDash val="solid"/>
          </a:ln>
        </p:spPr>
      </p:sp>
      <p:sp>
        <p:nvSpPr>
          <p:cNvPr id="28" name="text-395"/>
          <p:cNvSpPr txBox="1"/>
          <p:nvPr/>
        </p:nvSpPr>
        <p:spPr>
          <a:xfrm>
            <a:off x="7340890" y="2779776"/>
            <a:ext cx="457200" cy="292608"/>
          </a:xfrm>
          <a:prstGeom prst="rect">
            <a:avLst/>
          </a:prstGeom>
          <a:noFill/>
          <a:ln/>
        </p:spPr>
        <p:txBody>
          <a:bodyPr wrap="square" lIns="0" tIns="0" rIns="0" bIns="0" rtlCol="0" anchor="ctr"/>
          <a:lstStyle/>
          <a:p>
            <a:pPr indent="0" marL="0">
              <a:buNone/>
            </a:pPr>
            <a:r>
              <a:rPr lang="en-US" sz="1100" b="1" dirty="0">
                <a:solidFill>
                  <a:srgbClr val="0C9B5B"/>
                </a:solidFill>
                <a:latin typeface="Arial" pitchFamily="34" charset="0"/>
                <a:ea typeface="Arial" pitchFamily="34" charset="-122"/>
                <a:cs typeface="Arial" pitchFamily="34" charset="-120"/>
              </a:rPr>
              <a:t>+2.6</a:t>
            </a:r>
            <a:endParaRPr lang="en-US" sz="1100" dirty="0"/>
          </a:p>
        </p:txBody>
      </p:sp>
      <p:sp>
        <p:nvSpPr>
          <p:cNvPr id="29" name="text-396"/>
          <p:cNvSpPr txBox="1"/>
          <p:nvPr/>
        </p:nvSpPr>
        <p:spPr>
          <a:xfrm>
            <a:off x="4956048" y="3163824"/>
            <a:ext cx="1783080" cy="292608"/>
          </a:xfrm>
          <a:prstGeom prst="rect">
            <a:avLst/>
          </a:prstGeom>
          <a:noFill/>
          <a:ln/>
        </p:spPr>
        <p:txBody>
          <a:bodyPr wrap="square" lIns="0" tIns="0" rIns="0" bIns="0" rtlCol="0" anchor="ctr"/>
          <a:lstStyle/>
          <a:p>
            <a:pPr indent="0" marL="0">
              <a:buNone/>
            </a:pPr>
            <a:r>
              <a:rPr lang="en-US" sz="1100" dirty="0">
                <a:solidFill>
                  <a:srgbClr val="242424"/>
                </a:solidFill>
                <a:latin typeface="Arial" pitchFamily="34" charset="0"/>
                <a:ea typeface="Arial" pitchFamily="34" charset="-122"/>
                <a:cs typeface="Arial" pitchFamily="34" charset="-120"/>
              </a:rPr>
              <a:t>Video start time</a:t>
            </a:r>
            <a:endParaRPr lang="en-US" sz="1100" dirty="0"/>
          </a:p>
        </p:txBody>
      </p:sp>
      <p:sp>
        <p:nvSpPr>
          <p:cNvPr id="30" name="shape-397"/>
          <p:cNvSpPr/>
          <p:nvPr/>
        </p:nvSpPr>
        <p:spPr>
          <a:xfrm>
            <a:off x="6748272" y="3209544"/>
            <a:ext cx="351609" cy="201168"/>
          </a:xfrm>
          <a:prstGeom prst="roundRect">
            <a:avLst>
              <a:gd name="adj" fmla="val 22727"/>
            </a:avLst>
          </a:prstGeom>
          <a:solidFill>
            <a:srgbClr val="0C9B5B"/>
          </a:solidFill>
          <a:ln w="12700">
            <a:solidFill>
              <a:srgbClr val="0C9B5B"/>
            </a:solidFill>
            <a:prstDash val="solid"/>
          </a:ln>
        </p:spPr>
      </p:sp>
      <p:sp>
        <p:nvSpPr>
          <p:cNvPr id="31" name="text-398"/>
          <p:cNvSpPr txBox="1"/>
          <p:nvPr/>
        </p:nvSpPr>
        <p:spPr>
          <a:xfrm>
            <a:off x="7154745" y="3163824"/>
            <a:ext cx="457200" cy="292608"/>
          </a:xfrm>
          <a:prstGeom prst="rect">
            <a:avLst/>
          </a:prstGeom>
          <a:noFill/>
          <a:ln/>
        </p:spPr>
        <p:txBody>
          <a:bodyPr wrap="square" lIns="0" tIns="0" rIns="0" bIns="0" rtlCol="0" anchor="ctr"/>
          <a:lstStyle/>
          <a:p>
            <a:pPr indent="0" marL="0">
              <a:buNone/>
            </a:pPr>
            <a:r>
              <a:rPr lang="en-US" sz="1100" b="1" dirty="0">
                <a:solidFill>
                  <a:srgbClr val="0C9B5B"/>
                </a:solidFill>
                <a:latin typeface="Arial" pitchFamily="34" charset="0"/>
                <a:ea typeface="Arial" pitchFamily="34" charset="-122"/>
                <a:cs typeface="Arial" pitchFamily="34" charset="-120"/>
              </a:rPr>
              <a:t>+1.7</a:t>
            </a:r>
            <a:endParaRPr lang="en-US" sz="1100" dirty="0"/>
          </a:p>
        </p:txBody>
      </p:sp>
      <p:sp>
        <p:nvSpPr>
          <p:cNvPr id="32" name="text-399"/>
          <p:cNvSpPr txBox="1"/>
          <p:nvPr/>
        </p:nvSpPr>
        <p:spPr>
          <a:xfrm>
            <a:off x="4956048" y="3547872"/>
            <a:ext cx="1783080" cy="292608"/>
          </a:xfrm>
          <a:prstGeom prst="rect">
            <a:avLst/>
          </a:prstGeom>
          <a:noFill/>
          <a:ln/>
        </p:spPr>
        <p:txBody>
          <a:bodyPr wrap="square" lIns="0" tIns="0" rIns="0" bIns="0" rtlCol="0" anchor="ctr"/>
          <a:lstStyle/>
          <a:p>
            <a:pPr indent="0" marL="0">
              <a:buNone/>
            </a:pPr>
            <a:r>
              <a:rPr lang="en-US" sz="1100" dirty="0">
                <a:solidFill>
                  <a:srgbClr val="242424"/>
                </a:solidFill>
                <a:latin typeface="Arial" pitchFamily="34" charset="0"/>
                <a:ea typeface="Arial" pitchFamily="34" charset="-122"/>
                <a:cs typeface="Arial" pitchFamily="34" charset="-120"/>
              </a:rPr>
              <a:t>Web page load time</a:t>
            </a:r>
            <a:endParaRPr lang="en-US" sz="1100" dirty="0"/>
          </a:p>
        </p:txBody>
      </p:sp>
      <p:sp>
        <p:nvSpPr>
          <p:cNvPr id="33" name="shape-400"/>
          <p:cNvSpPr/>
          <p:nvPr/>
        </p:nvSpPr>
        <p:spPr>
          <a:xfrm>
            <a:off x="6748272" y="3593592"/>
            <a:ext cx="227511" cy="201168"/>
          </a:xfrm>
          <a:prstGeom prst="roundRect">
            <a:avLst>
              <a:gd name="adj" fmla="val 22727"/>
            </a:avLst>
          </a:prstGeom>
          <a:solidFill>
            <a:srgbClr val="0C9B5B"/>
          </a:solidFill>
          <a:ln w="12700">
            <a:solidFill>
              <a:srgbClr val="0C9B5B"/>
            </a:solidFill>
            <a:prstDash val="solid"/>
          </a:ln>
        </p:spPr>
      </p:sp>
      <p:sp>
        <p:nvSpPr>
          <p:cNvPr id="34" name="text-401"/>
          <p:cNvSpPr txBox="1"/>
          <p:nvPr/>
        </p:nvSpPr>
        <p:spPr>
          <a:xfrm>
            <a:off x="7030647" y="3547872"/>
            <a:ext cx="457200" cy="292608"/>
          </a:xfrm>
          <a:prstGeom prst="rect">
            <a:avLst/>
          </a:prstGeom>
          <a:noFill/>
          <a:ln/>
        </p:spPr>
        <p:txBody>
          <a:bodyPr wrap="square" lIns="0" tIns="0" rIns="0" bIns="0" rtlCol="0" anchor="ctr"/>
          <a:lstStyle/>
          <a:p>
            <a:pPr indent="0" marL="0">
              <a:buNone/>
            </a:pPr>
            <a:r>
              <a:rPr lang="en-US" sz="1100" b="1" dirty="0">
                <a:solidFill>
                  <a:srgbClr val="0C9B5B"/>
                </a:solidFill>
                <a:latin typeface="Arial" pitchFamily="34" charset="0"/>
                <a:ea typeface="Arial" pitchFamily="34" charset="-122"/>
                <a:cs typeface="Arial" pitchFamily="34" charset="-120"/>
              </a:rPr>
              <a:t>+1.1</a:t>
            </a:r>
            <a:endParaRPr lang="en-US" sz="1100" dirty="0"/>
          </a:p>
        </p:txBody>
      </p:sp>
      <p:sp>
        <p:nvSpPr>
          <p:cNvPr id="35" name="shape-402"/>
          <p:cNvSpPr/>
          <p:nvPr/>
        </p:nvSpPr>
        <p:spPr>
          <a:xfrm>
            <a:off x="4754880" y="4160520"/>
            <a:ext cx="3429000" cy="2057400"/>
          </a:xfrm>
          <a:prstGeom prst="roundRect">
            <a:avLst>
              <a:gd name="adj" fmla="val 5333"/>
            </a:avLst>
          </a:prstGeom>
          <a:solidFill>
            <a:srgbClr val="F2F2F2"/>
          </a:solidFill>
          <a:ln w="12700">
            <a:solidFill>
              <a:srgbClr val="F2F2F2"/>
            </a:solidFill>
            <a:prstDash val="solid"/>
          </a:ln>
        </p:spPr>
      </p:sp>
      <p:sp>
        <p:nvSpPr>
          <p:cNvPr id="36" name="text-403"/>
          <p:cNvSpPr txBox="1"/>
          <p:nvPr/>
        </p:nvSpPr>
        <p:spPr>
          <a:xfrm>
            <a:off x="4956048" y="4288536"/>
            <a:ext cx="3063240" cy="237744"/>
          </a:xfrm>
          <a:prstGeom prst="rect">
            <a:avLst/>
          </a:prstGeom>
          <a:noFill/>
          <a:ln/>
        </p:spPr>
        <p:txBody>
          <a:bodyPr wrap="square" lIns="0" tIns="0" rIns="0" bIns="0" rtlCol="0" anchor="ctr"/>
          <a:lstStyle/>
          <a:p>
            <a:pPr indent="0" marL="0">
              <a:buNone/>
            </a:pPr>
            <a:r>
              <a:rPr lang="en-US" sz="1050" b="1" spc="100" kern="0" dirty="0">
                <a:solidFill>
                  <a:srgbClr val="767676"/>
                </a:solidFill>
                <a:latin typeface="Arial" pitchFamily="34" charset="0"/>
                <a:ea typeface="Arial" pitchFamily="34" charset="-122"/>
                <a:cs typeface="Arial" pitchFamily="34" charset="-120"/>
              </a:rPr>
              <a:t>WHERE THE POINTS GO</a:t>
            </a:r>
            <a:endParaRPr lang="en-US" sz="1050" dirty="0"/>
          </a:p>
        </p:txBody>
      </p:sp>
      <p:sp>
        <p:nvSpPr>
          <p:cNvPr id="37" name="shape-404"/>
          <p:cNvSpPr/>
          <p:nvPr/>
        </p:nvSpPr>
        <p:spPr>
          <a:xfrm>
            <a:off x="4956048" y="4553712"/>
            <a:ext cx="128016" cy="128016"/>
          </a:xfrm>
          <a:prstGeom prst="rect">
            <a:avLst/>
          </a:prstGeom>
          <a:solidFill>
            <a:srgbClr val="D92B2B"/>
          </a:solidFill>
          <a:ln w="12700">
            <a:solidFill>
              <a:srgbClr val="D92B2B"/>
            </a:solidFill>
            <a:prstDash val="solid"/>
          </a:ln>
        </p:spPr>
      </p:sp>
      <p:sp>
        <p:nvSpPr>
          <p:cNvPr id="38" name="text-405"/>
          <p:cNvSpPr txBox="1"/>
          <p:nvPr/>
        </p:nvSpPr>
        <p:spPr>
          <a:xfrm>
            <a:off x="5120640" y="4498848"/>
            <a:ext cx="731520" cy="237744"/>
          </a:xfrm>
          <a:prstGeom prst="rect">
            <a:avLst/>
          </a:prstGeom>
          <a:noFill/>
          <a:ln/>
        </p:spPr>
        <p:txBody>
          <a:bodyPr wrap="square" lIns="0" tIns="0" rIns="0" bIns="0" rtlCol="0" anchor="ctr"/>
          <a:lstStyle/>
          <a:p>
            <a:pPr indent="0" marL="0">
              <a:buNone/>
            </a:pPr>
            <a:r>
              <a:rPr lang="en-US" sz="950" dirty="0">
                <a:solidFill>
                  <a:srgbClr val="767676"/>
                </a:solidFill>
                <a:latin typeface="Arial" pitchFamily="34" charset="0"/>
                <a:ea typeface="Arial" pitchFamily="34" charset="-122"/>
                <a:cs typeface="Arial" pitchFamily="34" charset="-120"/>
              </a:rPr>
              <a:t>Failed tests</a:t>
            </a:r>
            <a:endParaRPr lang="en-US" sz="950" dirty="0"/>
          </a:p>
        </p:txBody>
      </p:sp>
      <p:sp>
        <p:nvSpPr>
          <p:cNvPr id="39" name="shape-406"/>
          <p:cNvSpPr/>
          <p:nvPr/>
        </p:nvSpPr>
        <p:spPr>
          <a:xfrm>
            <a:off x="5888736" y="4553712"/>
            <a:ext cx="128016" cy="128016"/>
          </a:xfrm>
          <a:prstGeom prst="rect">
            <a:avLst/>
          </a:prstGeom>
          <a:solidFill>
            <a:srgbClr val="FF8C0A"/>
          </a:solidFill>
          <a:ln w="12700">
            <a:solidFill>
              <a:srgbClr val="FF8C0A"/>
            </a:solidFill>
            <a:prstDash val="solid"/>
          </a:ln>
        </p:spPr>
      </p:sp>
      <p:sp>
        <p:nvSpPr>
          <p:cNvPr id="40" name="text-407"/>
          <p:cNvSpPr txBox="1"/>
          <p:nvPr/>
        </p:nvSpPr>
        <p:spPr>
          <a:xfrm>
            <a:off x="6053328" y="4498848"/>
            <a:ext cx="1005840" cy="237744"/>
          </a:xfrm>
          <a:prstGeom prst="rect">
            <a:avLst/>
          </a:prstGeom>
          <a:noFill/>
          <a:ln/>
        </p:spPr>
        <p:txBody>
          <a:bodyPr wrap="square" lIns="0" tIns="0" rIns="0" bIns="0" rtlCol="0" anchor="ctr"/>
          <a:lstStyle/>
          <a:p>
            <a:pPr indent="0" marL="0">
              <a:buNone/>
            </a:pPr>
            <a:r>
              <a:rPr lang="en-US" sz="950" dirty="0">
                <a:solidFill>
                  <a:srgbClr val="767676"/>
                </a:solidFill>
                <a:latin typeface="Arial" pitchFamily="34" charset="0"/>
                <a:ea typeface="Arial" pitchFamily="34" charset="-122"/>
                <a:cs typeface="Arial" pitchFamily="34" charset="-120"/>
              </a:rPr>
              <a:t>Below threshold</a:t>
            </a:r>
            <a:endParaRPr lang="en-US" sz="950" dirty="0"/>
          </a:p>
        </p:txBody>
      </p:sp>
      <p:sp>
        <p:nvSpPr>
          <p:cNvPr id="41" name="shape-408"/>
          <p:cNvSpPr/>
          <p:nvPr/>
        </p:nvSpPr>
        <p:spPr>
          <a:xfrm>
            <a:off x="7095744" y="4553712"/>
            <a:ext cx="128016" cy="128016"/>
          </a:xfrm>
          <a:prstGeom prst="rect">
            <a:avLst/>
          </a:prstGeom>
          <a:solidFill>
            <a:srgbClr val="FAD22D"/>
          </a:solidFill>
          <a:ln w="12700">
            <a:solidFill>
              <a:srgbClr val="FAD22D"/>
            </a:solidFill>
            <a:prstDash val="solid"/>
          </a:ln>
        </p:spPr>
      </p:sp>
      <p:sp>
        <p:nvSpPr>
          <p:cNvPr id="42" name="text-409"/>
          <p:cNvSpPr txBox="1"/>
          <p:nvPr/>
        </p:nvSpPr>
        <p:spPr>
          <a:xfrm>
            <a:off x="7260336" y="4498848"/>
            <a:ext cx="1051560" cy="237744"/>
          </a:xfrm>
          <a:prstGeom prst="rect">
            <a:avLst/>
          </a:prstGeom>
          <a:noFill/>
          <a:ln/>
        </p:spPr>
        <p:txBody>
          <a:bodyPr wrap="square" lIns="0" tIns="0" rIns="0" bIns="0" rtlCol="0" anchor="ctr"/>
          <a:lstStyle/>
          <a:p>
            <a:pPr indent="0" marL="0">
              <a:buNone/>
            </a:pPr>
            <a:r>
              <a:rPr lang="en-US" sz="950" dirty="0">
                <a:solidFill>
                  <a:srgbClr val="767676"/>
                </a:solidFill>
                <a:latin typeface="Arial" pitchFamily="34" charset="0"/>
                <a:ea typeface="Arial" pitchFamily="34" charset="-122"/>
                <a:cs typeface="Arial" pitchFamily="34" charset="-120"/>
              </a:rPr>
              <a:t>Quality shortfall</a:t>
            </a:r>
            <a:endParaRPr lang="en-US" sz="950" dirty="0"/>
          </a:p>
        </p:txBody>
      </p:sp>
      <p:sp>
        <p:nvSpPr>
          <p:cNvPr id="43" name="text-410"/>
          <p:cNvSpPr txBox="1"/>
          <p:nvPr/>
        </p:nvSpPr>
        <p:spPr>
          <a:xfrm>
            <a:off x="4956048" y="4864608"/>
            <a:ext cx="868680" cy="292608"/>
          </a:xfrm>
          <a:prstGeom prst="rect">
            <a:avLst/>
          </a:prstGeom>
          <a:noFill/>
          <a:ln/>
        </p:spPr>
        <p:txBody>
          <a:bodyPr wrap="square" lIns="0" tIns="0" rIns="0" bIns="0" rtlCol="0" anchor="ctr"/>
          <a:lstStyle/>
          <a:p>
            <a:pPr indent="0" marL="0">
              <a:buNone/>
            </a:pPr>
            <a:r>
              <a:rPr lang="en-US" sz="1050" b="1" dirty="0">
                <a:solidFill>
                  <a:srgbClr val="242424"/>
                </a:solidFill>
                <a:latin typeface="Arial" pitchFamily="34" charset="0"/>
                <a:ea typeface="Arial" pitchFamily="34" charset="-122"/>
                <a:cs typeface="Arial" pitchFamily="34" charset="-120"/>
              </a:rPr>
              <a:t>Operator A</a:t>
            </a:r>
            <a:endParaRPr lang="en-US" sz="1050" dirty="0"/>
          </a:p>
        </p:txBody>
      </p:sp>
      <p:sp>
        <p:nvSpPr>
          <p:cNvPr id="44" name="shape-411"/>
          <p:cNvSpPr/>
          <p:nvPr/>
        </p:nvSpPr>
        <p:spPr>
          <a:xfrm>
            <a:off x="5833872" y="4901184"/>
            <a:ext cx="369198" cy="219456"/>
          </a:xfrm>
          <a:prstGeom prst="rect">
            <a:avLst/>
          </a:prstGeom>
          <a:solidFill>
            <a:srgbClr val="D92B2B"/>
          </a:solidFill>
          <a:ln w="9525">
            <a:solidFill>
              <a:srgbClr val="FFFFFF"/>
            </a:solidFill>
            <a:prstDash val="solid"/>
          </a:ln>
        </p:spPr>
      </p:sp>
      <p:sp>
        <p:nvSpPr>
          <p:cNvPr id="45" name="shape-412"/>
          <p:cNvSpPr/>
          <p:nvPr/>
        </p:nvSpPr>
        <p:spPr>
          <a:xfrm>
            <a:off x="6203070" y="4901184"/>
            <a:ext cx="296613" cy="219456"/>
          </a:xfrm>
          <a:prstGeom prst="rect">
            <a:avLst/>
          </a:prstGeom>
          <a:solidFill>
            <a:srgbClr val="FF8C0A"/>
          </a:solidFill>
          <a:ln w="9525">
            <a:solidFill>
              <a:srgbClr val="FFFFFF"/>
            </a:solidFill>
            <a:prstDash val="solid"/>
          </a:ln>
        </p:spPr>
      </p:sp>
      <p:sp>
        <p:nvSpPr>
          <p:cNvPr id="46" name="shape-413"/>
          <p:cNvSpPr/>
          <p:nvPr/>
        </p:nvSpPr>
        <p:spPr>
          <a:xfrm>
            <a:off x="6499683" y="4901184"/>
            <a:ext cx="226716" cy="219456"/>
          </a:xfrm>
          <a:prstGeom prst="rect">
            <a:avLst/>
          </a:prstGeom>
          <a:solidFill>
            <a:srgbClr val="FAD22D"/>
          </a:solidFill>
          <a:ln w="9525">
            <a:solidFill>
              <a:srgbClr val="FFFFFF"/>
            </a:solidFill>
            <a:prstDash val="solid"/>
          </a:ln>
        </p:spPr>
      </p:sp>
      <p:sp>
        <p:nvSpPr>
          <p:cNvPr id="47" name="text-414"/>
          <p:cNvSpPr txBox="1"/>
          <p:nvPr/>
        </p:nvSpPr>
        <p:spPr>
          <a:xfrm>
            <a:off x="6781264" y="4864608"/>
            <a:ext cx="548640" cy="292608"/>
          </a:xfrm>
          <a:prstGeom prst="rect">
            <a:avLst/>
          </a:prstGeom>
          <a:noFill/>
          <a:ln/>
        </p:spPr>
        <p:txBody>
          <a:bodyPr wrap="square" lIns="0" tIns="0" rIns="0" bIns="0" rtlCol="0" anchor="ctr"/>
          <a:lstStyle/>
          <a:p>
            <a:pPr indent="0" marL="0">
              <a:buNone/>
            </a:pPr>
            <a:r>
              <a:rPr lang="en-US" sz="1050" b="1" dirty="0">
                <a:solidFill>
                  <a:srgbClr val="D92B2B"/>
                </a:solidFill>
                <a:latin typeface="Arial" pitchFamily="34" charset="0"/>
                <a:ea typeface="Arial" pitchFamily="34" charset="-122"/>
                <a:cs typeface="Arial" pitchFamily="34" charset="-120"/>
              </a:rPr>
              <a:t>−99.6</a:t>
            </a:r>
            <a:endParaRPr lang="en-US" sz="1050" dirty="0"/>
          </a:p>
        </p:txBody>
      </p:sp>
      <p:sp>
        <p:nvSpPr>
          <p:cNvPr id="48" name="text-415"/>
          <p:cNvSpPr txBox="1"/>
          <p:nvPr/>
        </p:nvSpPr>
        <p:spPr>
          <a:xfrm>
            <a:off x="4956048" y="5276088"/>
            <a:ext cx="868680" cy="292608"/>
          </a:xfrm>
          <a:prstGeom prst="rect">
            <a:avLst/>
          </a:prstGeom>
          <a:noFill/>
          <a:ln/>
        </p:spPr>
        <p:txBody>
          <a:bodyPr wrap="square" lIns="0" tIns="0" rIns="0" bIns="0" rtlCol="0" anchor="ctr"/>
          <a:lstStyle/>
          <a:p>
            <a:pPr indent="0" marL="0">
              <a:buNone/>
            </a:pPr>
            <a:r>
              <a:rPr lang="en-US" sz="1050" b="1" dirty="0">
                <a:solidFill>
                  <a:srgbClr val="242424"/>
                </a:solidFill>
                <a:latin typeface="Arial" pitchFamily="34" charset="0"/>
                <a:ea typeface="Arial" pitchFamily="34" charset="-122"/>
                <a:cs typeface="Arial" pitchFamily="34" charset="-120"/>
              </a:rPr>
              <a:t>Operator B</a:t>
            </a:r>
            <a:endParaRPr lang="en-US" sz="1050" dirty="0"/>
          </a:p>
        </p:txBody>
      </p:sp>
      <p:sp>
        <p:nvSpPr>
          <p:cNvPr id="49" name="shape-416"/>
          <p:cNvSpPr/>
          <p:nvPr/>
        </p:nvSpPr>
        <p:spPr>
          <a:xfrm>
            <a:off x="5833872" y="5312664"/>
            <a:ext cx="569031" cy="219456"/>
          </a:xfrm>
          <a:prstGeom prst="rect">
            <a:avLst/>
          </a:prstGeom>
          <a:solidFill>
            <a:srgbClr val="D92B2B"/>
          </a:solidFill>
          <a:ln w="9525">
            <a:solidFill>
              <a:srgbClr val="FFFFFF"/>
            </a:solidFill>
            <a:prstDash val="solid"/>
          </a:ln>
        </p:spPr>
      </p:sp>
      <p:sp>
        <p:nvSpPr>
          <p:cNvPr id="50" name="shape-417"/>
          <p:cNvSpPr/>
          <p:nvPr/>
        </p:nvSpPr>
        <p:spPr>
          <a:xfrm>
            <a:off x="6402903" y="5312664"/>
            <a:ext cx="414004" cy="219456"/>
          </a:xfrm>
          <a:prstGeom prst="rect">
            <a:avLst/>
          </a:prstGeom>
          <a:solidFill>
            <a:srgbClr val="FF8C0A"/>
          </a:solidFill>
          <a:ln w="9525">
            <a:solidFill>
              <a:srgbClr val="FFFFFF"/>
            </a:solidFill>
            <a:prstDash val="solid"/>
          </a:ln>
        </p:spPr>
      </p:sp>
      <p:sp>
        <p:nvSpPr>
          <p:cNvPr id="51" name="shape-418"/>
          <p:cNvSpPr/>
          <p:nvPr/>
        </p:nvSpPr>
        <p:spPr>
          <a:xfrm>
            <a:off x="6816907" y="5312664"/>
            <a:ext cx="296613" cy="219456"/>
          </a:xfrm>
          <a:prstGeom prst="rect">
            <a:avLst/>
          </a:prstGeom>
          <a:solidFill>
            <a:srgbClr val="FAD22D"/>
          </a:solidFill>
          <a:ln w="9525">
            <a:solidFill>
              <a:srgbClr val="FFFFFF"/>
            </a:solidFill>
            <a:prstDash val="solid"/>
          </a:ln>
        </p:spPr>
      </p:sp>
      <p:sp>
        <p:nvSpPr>
          <p:cNvPr id="52" name="text-419"/>
          <p:cNvSpPr txBox="1"/>
          <p:nvPr/>
        </p:nvSpPr>
        <p:spPr>
          <a:xfrm>
            <a:off x="7168384" y="5276088"/>
            <a:ext cx="548640" cy="292608"/>
          </a:xfrm>
          <a:prstGeom prst="rect">
            <a:avLst/>
          </a:prstGeom>
          <a:noFill/>
          <a:ln/>
        </p:spPr>
        <p:txBody>
          <a:bodyPr wrap="square" lIns="0" tIns="0" rIns="0" bIns="0" rtlCol="0" anchor="ctr"/>
          <a:lstStyle/>
          <a:p>
            <a:pPr indent="0" marL="0">
              <a:buNone/>
            </a:pPr>
            <a:r>
              <a:rPr lang="en-US" sz="1050" b="1" dirty="0">
                <a:solidFill>
                  <a:srgbClr val="D92B2B"/>
                </a:solidFill>
                <a:latin typeface="Arial" pitchFamily="34" charset="0"/>
                <a:ea typeface="Arial" pitchFamily="34" charset="-122"/>
                <a:cs typeface="Arial" pitchFamily="34" charset="-120"/>
              </a:rPr>
              <a:t>−142.8</a:t>
            </a:r>
            <a:endParaRPr lang="en-US" sz="1050" dirty="0"/>
          </a:p>
        </p:txBody>
      </p:sp>
      <p:sp>
        <p:nvSpPr>
          <p:cNvPr id="53" name="text-420"/>
          <p:cNvSpPr txBox="1"/>
          <p:nvPr/>
        </p:nvSpPr>
        <p:spPr>
          <a:xfrm>
            <a:off x="4956048" y="5687568"/>
            <a:ext cx="868680" cy="292608"/>
          </a:xfrm>
          <a:prstGeom prst="rect">
            <a:avLst/>
          </a:prstGeom>
          <a:noFill/>
          <a:ln/>
        </p:spPr>
        <p:txBody>
          <a:bodyPr wrap="square" lIns="0" tIns="0" rIns="0" bIns="0" rtlCol="0" anchor="ctr"/>
          <a:lstStyle/>
          <a:p>
            <a:pPr indent="0" marL="0">
              <a:buNone/>
            </a:pPr>
            <a:r>
              <a:rPr lang="en-US" sz="1050" b="1" dirty="0">
                <a:solidFill>
                  <a:srgbClr val="242424"/>
                </a:solidFill>
                <a:latin typeface="Arial" pitchFamily="34" charset="0"/>
                <a:ea typeface="Arial" pitchFamily="34" charset="-122"/>
                <a:cs typeface="Arial" pitchFamily="34" charset="-120"/>
              </a:rPr>
              <a:t>Operator C</a:t>
            </a:r>
            <a:endParaRPr lang="en-US" sz="1050" dirty="0"/>
          </a:p>
        </p:txBody>
      </p:sp>
      <p:sp>
        <p:nvSpPr>
          <p:cNvPr id="54" name="shape-421"/>
          <p:cNvSpPr/>
          <p:nvPr/>
        </p:nvSpPr>
        <p:spPr>
          <a:xfrm>
            <a:off x="5833872" y="5724144"/>
            <a:ext cx="792163" cy="219456"/>
          </a:xfrm>
          <a:prstGeom prst="rect">
            <a:avLst/>
          </a:prstGeom>
          <a:solidFill>
            <a:srgbClr val="D92B2B"/>
          </a:solidFill>
          <a:ln w="9525">
            <a:solidFill>
              <a:srgbClr val="FFFFFF"/>
            </a:solidFill>
            <a:prstDash val="solid"/>
          </a:ln>
        </p:spPr>
      </p:sp>
      <p:sp>
        <p:nvSpPr>
          <p:cNvPr id="55" name="shape-422"/>
          <p:cNvSpPr/>
          <p:nvPr/>
        </p:nvSpPr>
        <p:spPr>
          <a:xfrm>
            <a:off x="6626035" y="5724144"/>
            <a:ext cx="575304" cy="219456"/>
          </a:xfrm>
          <a:prstGeom prst="rect">
            <a:avLst/>
          </a:prstGeom>
          <a:solidFill>
            <a:srgbClr val="FF8C0A"/>
          </a:solidFill>
          <a:ln w="9525">
            <a:solidFill>
              <a:srgbClr val="FFFFFF"/>
            </a:solidFill>
            <a:prstDash val="solid"/>
          </a:ln>
        </p:spPr>
      </p:sp>
      <p:sp>
        <p:nvSpPr>
          <p:cNvPr id="56" name="shape-423"/>
          <p:cNvSpPr/>
          <p:nvPr/>
        </p:nvSpPr>
        <p:spPr>
          <a:xfrm>
            <a:off x="7201339" y="5724144"/>
            <a:ext cx="396082" cy="219456"/>
          </a:xfrm>
          <a:prstGeom prst="rect">
            <a:avLst/>
          </a:prstGeom>
          <a:solidFill>
            <a:srgbClr val="FAD22D"/>
          </a:solidFill>
          <a:ln w="9525">
            <a:solidFill>
              <a:srgbClr val="FFFFFF"/>
            </a:solidFill>
            <a:prstDash val="solid"/>
          </a:ln>
        </p:spPr>
      </p:sp>
      <p:sp>
        <p:nvSpPr>
          <p:cNvPr id="57" name="text-424"/>
          <p:cNvSpPr txBox="1"/>
          <p:nvPr/>
        </p:nvSpPr>
        <p:spPr>
          <a:xfrm>
            <a:off x="7652284" y="5687568"/>
            <a:ext cx="548640" cy="292608"/>
          </a:xfrm>
          <a:prstGeom prst="rect">
            <a:avLst/>
          </a:prstGeom>
          <a:noFill/>
          <a:ln/>
        </p:spPr>
        <p:txBody>
          <a:bodyPr wrap="square" lIns="0" tIns="0" rIns="0" bIns="0" rtlCol="0" anchor="ctr"/>
          <a:lstStyle/>
          <a:p>
            <a:pPr indent="0" marL="0">
              <a:buNone/>
            </a:pPr>
            <a:r>
              <a:rPr lang="en-US" sz="1050" b="1" dirty="0">
                <a:solidFill>
                  <a:srgbClr val="D92B2B"/>
                </a:solidFill>
                <a:latin typeface="Arial" pitchFamily="34" charset="0"/>
                <a:ea typeface="Arial" pitchFamily="34" charset="-122"/>
                <a:cs typeface="Arial" pitchFamily="34" charset="-120"/>
              </a:rPr>
              <a:t>−196.8</a:t>
            </a:r>
            <a:endParaRPr lang="en-US" sz="1050" dirty="0"/>
          </a:p>
        </p:txBody>
      </p:sp>
      <p:sp>
        <p:nvSpPr>
          <p:cNvPr id="58" name="shape-425"/>
          <p:cNvSpPr/>
          <p:nvPr/>
        </p:nvSpPr>
        <p:spPr>
          <a:xfrm>
            <a:off x="8366760" y="1600200"/>
            <a:ext cx="3273552" cy="2423160"/>
          </a:xfrm>
          <a:prstGeom prst="roundRect">
            <a:avLst>
              <a:gd name="adj" fmla="val 4528"/>
            </a:avLst>
          </a:prstGeom>
          <a:solidFill>
            <a:srgbClr val="F2F2F2"/>
          </a:solidFill>
          <a:ln w="12700">
            <a:solidFill>
              <a:srgbClr val="F2F2F2"/>
            </a:solidFill>
            <a:prstDash val="solid"/>
          </a:ln>
        </p:spPr>
      </p:sp>
      <p:sp>
        <p:nvSpPr>
          <p:cNvPr id="59" name="text-426"/>
          <p:cNvSpPr txBox="1"/>
          <p:nvPr/>
        </p:nvSpPr>
        <p:spPr>
          <a:xfrm>
            <a:off x="8567928" y="1728216"/>
            <a:ext cx="2907792" cy="237744"/>
          </a:xfrm>
          <a:prstGeom prst="rect">
            <a:avLst/>
          </a:prstGeom>
          <a:noFill/>
          <a:ln/>
        </p:spPr>
        <p:txBody>
          <a:bodyPr wrap="square" lIns="0" tIns="0" rIns="0" bIns="0" rtlCol="0" anchor="ctr"/>
          <a:lstStyle/>
          <a:p>
            <a:pPr indent="0" marL="0">
              <a:buNone/>
            </a:pPr>
            <a:r>
              <a:rPr lang="en-US" sz="1050" b="1" spc="100" kern="0" dirty="0">
                <a:solidFill>
                  <a:srgbClr val="767676"/>
                </a:solidFill>
                <a:latin typeface="Arial" pitchFamily="34" charset="0"/>
                <a:ea typeface="Arial" pitchFamily="34" charset="-122"/>
                <a:cs typeface="Arial" pitchFamily="34" charset="-120"/>
              </a:rPr>
              <a:t>WHERE TO ACT, BY OWNER</a:t>
            </a:r>
            <a:endParaRPr lang="en-US" sz="1050" dirty="0"/>
          </a:p>
        </p:txBody>
      </p:sp>
      <p:sp>
        <p:nvSpPr>
          <p:cNvPr id="60" name="shape-427"/>
          <p:cNvSpPr/>
          <p:nvPr/>
        </p:nvSpPr>
        <p:spPr>
          <a:xfrm>
            <a:off x="8531352" y="1984248"/>
            <a:ext cx="1435608" cy="896112"/>
          </a:xfrm>
          <a:prstGeom prst="roundRect">
            <a:avLst>
              <a:gd name="adj" fmla="val 8163"/>
            </a:avLst>
          </a:prstGeom>
          <a:solidFill>
            <a:srgbClr val="FFFFFF"/>
          </a:solidFill>
          <a:ln w="9525">
            <a:solidFill>
              <a:srgbClr val="E0E0E0"/>
            </a:solidFill>
            <a:prstDash val="solid"/>
          </a:ln>
        </p:spPr>
      </p:sp>
      <p:sp>
        <p:nvSpPr>
          <p:cNvPr id="61" name="shape-428"/>
          <p:cNvSpPr/>
          <p:nvPr/>
        </p:nvSpPr>
        <p:spPr>
          <a:xfrm>
            <a:off x="8531352" y="2093976"/>
            <a:ext cx="64008" cy="676656"/>
          </a:xfrm>
          <a:prstGeom prst="rect">
            <a:avLst/>
          </a:prstGeom>
          <a:solidFill>
            <a:srgbClr val="0068BF"/>
          </a:solidFill>
          <a:ln w="12700">
            <a:solidFill>
              <a:srgbClr val="0068BF"/>
            </a:solidFill>
            <a:prstDash val="solid"/>
          </a:ln>
        </p:spPr>
      </p:sp>
      <p:sp>
        <p:nvSpPr>
          <p:cNvPr id="62" name="text-429"/>
          <p:cNvSpPr txBox="1"/>
          <p:nvPr/>
        </p:nvSpPr>
        <p:spPr>
          <a:xfrm>
            <a:off x="8695944" y="2057400"/>
            <a:ext cx="1234440" cy="237744"/>
          </a:xfrm>
          <a:prstGeom prst="rect">
            <a:avLst/>
          </a:prstGeom>
          <a:noFill/>
          <a:ln/>
        </p:spPr>
        <p:txBody>
          <a:bodyPr wrap="square" lIns="0" tIns="0" rIns="0" bIns="0" rtlCol="0" anchor="ctr"/>
          <a:lstStyle/>
          <a:p>
            <a:pPr indent="0" marL="0">
              <a:buNone/>
            </a:pPr>
            <a:r>
              <a:rPr lang="en-US" sz="1100" b="1" dirty="0">
                <a:solidFill>
                  <a:srgbClr val="0068BF"/>
                </a:solidFill>
                <a:latin typeface="Arial" pitchFamily="34" charset="0"/>
                <a:ea typeface="Arial" pitchFamily="34" charset="-122"/>
                <a:cs typeface="Arial" pitchFamily="34" charset="-120"/>
              </a:rPr>
              <a:t>North</a:t>
            </a:r>
            <a:endParaRPr lang="en-US" sz="1100" dirty="0"/>
          </a:p>
        </p:txBody>
      </p:sp>
      <p:sp>
        <p:nvSpPr>
          <p:cNvPr id="63" name="text-430"/>
          <p:cNvSpPr txBox="1"/>
          <p:nvPr/>
        </p:nvSpPr>
        <p:spPr>
          <a:xfrm>
            <a:off x="8695944" y="2286000"/>
            <a:ext cx="1234440" cy="329184"/>
          </a:xfrm>
          <a:prstGeom prst="rect">
            <a:avLst/>
          </a:prstGeom>
          <a:noFill/>
          <a:ln/>
        </p:spPr>
        <p:txBody>
          <a:bodyPr wrap="square" lIns="0" tIns="0" rIns="0" bIns="0" rtlCol="0" anchor="ctr"/>
          <a:lstStyle/>
          <a:p>
            <a:pPr indent="0" marL="0">
              <a:buNone/>
            </a:pPr>
            <a:r>
              <a:rPr lang="en-US" sz="1700" b="1" dirty="0">
                <a:solidFill>
                  <a:srgbClr val="D92B2B"/>
                </a:solidFill>
                <a:latin typeface="Arial" pitchFamily="34" charset="0"/>
                <a:ea typeface="Arial" pitchFamily="34" charset="-122"/>
                <a:cs typeface="Arial" pitchFamily="34" charset="-120"/>
              </a:rPr>
              <a:t>−48.2</a:t>
            </a:r>
            <a:pPr indent="0" marL="0">
              <a:buNone/>
            </a:pPr>
            <a:r>
              <a:rPr lang="en-US" sz="1000" dirty="0">
                <a:solidFill>
                  <a:srgbClr val="767676"/>
                </a:solidFill>
                <a:latin typeface="Arial" pitchFamily="34" charset="0"/>
                <a:ea typeface="Arial" pitchFamily="34" charset="-122"/>
                <a:cs typeface="Arial" pitchFamily="34" charset="-120"/>
              </a:rPr>
              <a:t> pts</a:t>
            </a:r>
            <a:endParaRPr lang="en-US" sz="1700" dirty="0"/>
          </a:p>
        </p:txBody>
      </p:sp>
      <p:sp>
        <p:nvSpPr>
          <p:cNvPr id="64" name="text-431"/>
          <p:cNvSpPr txBox="1"/>
          <p:nvPr/>
        </p:nvSpPr>
        <p:spPr>
          <a:xfrm>
            <a:off x="8695944" y="2606040"/>
            <a:ext cx="1234440" cy="219456"/>
          </a:xfrm>
          <a:prstGeom prst="rect">
            <a:avLst/>
          </a:prstGeom>
          <a:noFill/>
          <a:ln/>
        </p:spPr>
        <p:txBody>
          <a:bodyPr wrap="square" lIns="0" tIns="0" rIns="0" bIns="0" rtlCol="0" anchor="ctr"/>
          <a:lstStyle/>
          <a:p>
            <a:pPr indent="0" marL="0">
              <a:buNone/>
            </a:pPr>
            <a:r>
              <a:rPr lang="en-US" sz="950" dirty="0">
                <a:solidFill>
                  <a:srgbClr val="767676"/>
                </a:solidFill>
                <a:latin typeface="Arial" pitchFamily="34" charset="0"/>
                <a:ea typeface="Arial" pitchFamily="34" charset="-122"/>
                <a:cs typeface="Arial" pitchFamily="34" charset="-120"/>
              </a:rPr>
              <a:t>Voice calls</a:t>
            </a:r>
            <a:endParaRPr lang="en-US" sz="950" dirty="0"/>
          </a:p>
        </p:txBody>
      </p:sp>
      <p:sp>
        <p:nvSpPr>
          <p:cNvPr id="65" name="shape-432"/>
          <p:cNvSpPr/>
          <p:nvPr/>
        </p:nvSpPr>
        <p:spPr>
          <a:xfrm>
            <a:off x="10058400" y="1984248"/>
            <a:ext cx="1435608" cy="896112"/>
          </a:xfrm>
          <a:prstGeom prst="roundRect">
            <a:avLst>
              <a:gd name="adj" fmla="val 8163"/>
            </a:avLst>
          </a:prstGeom>
          <a:solidFill>
            <a:srgbClr val="FFFFFF"/>
          </a:solidFill>
          <a:ln w="9525">
            <a:solidFill>
              <a:srgbClr val="E0E0E0"/>
            </a:solidFill>
            <a:prstDash val="solid"/>
          </a:ln>
        </p:spPr>
      </p:sp>
      <p:sp>
        <p:nvSpPr>
          <p:cNvPr id="66" name="shape-433"/>
          <p:cNvSpPr/>
          <p:nvPr/>
        </p:nvSpPr>
        <p:spPr>
          <a:xfrm>
            <a:off x="10058400" y="2093976"/>
            <a:ext cx="64008" cy="676656"/>
          </a:xfrm>
          <a:prstGeom prst="rect">
            <a:avLst/>
          </a:prstGeom>
          <a:solidFill>
            <a:srgbClr val="8C60A8"/>
          </a:solidFill>
          <a:ln w="12700">
            <a:solidFill>
              <a:srgbClr val="8C60A8"/>
            </a:solidFill>
            <a:prstDash val="solid"/>
          </a:ln>
        </p:spPr>
      </p:sp>
      <p:sp>
        <p:nvSpPr>
          <p:cNvPr id="67" name="text-434"/>
          <p:cNvSpPr txBox="1"/>
          <p:nvPr/>
        </p:nvSpPr>
        <p:spPr>
          <a:xfrm>
            <a:off x="10222992" y="2057400"/>
            <a:ext cx="1234440" cy="237744"/>
          </a:xfrm>
          <a:prstGeom prst="rect">
            <a:avLst/>
          </a:prstGeom>
          <a:noFill/>
          <a:ln/>
        </p:spPr>
        <p:txBody>
          <a:bodyPr wrap="square" lIns="0" tIns="0" rIns="0" bIns="0" rtlCol="0" anchor="ctr"/>
          <a:lstStyle/>
          <a:p>
            <a:pPr indent="0" marL="0">
              <a:buNone/>
            </a:pPr>
            <a:r>
              <a:rPr lang="en-US" sz="1100" b="1" dirty="0">
                <a:solidFill>
                  <a:srgbClr val="8C60A8"/>
                </a:solidFill>
                <a:latin typeface="Arial" pitchFamily="34" charset="0"/>
                <a:ea typeface="Arial" pitchFamily="34" charset="-122"/>
                <a:cs typeface="Arial" pitchFamily="34" charset="-120"/>
              </a:rPr>
              <a:t>South</a:t>
            </a:r>
            <a:endParaRPr lang="en-US" sz="1100" dirty="0"/>
          </a:p>
        </p:txBody>
      </p:sp>
      <p:sp>
        <p:nvSpPr>
          <p:cNvPr id="68" name="text-435"/>
          <p:cNvSpPr txBox="1"/>
          <p:nvPr/>
        </p:nvSpPr>
        <p:spPr>
          <a:xfrm>
            <a:off x="10222992" y="2286000"/>
            <a:ext cx="1234440" cy="329184"/>
          </a:xfrm>
          <a:prstGeom prst="rect">
            <a:avLst/>
          </a:prstGeom>
          <a:noFill/>
          <a:ln/>
        </p:spPr>
        <p:txBody>
          <a:bodyPr wrap="square" lIns="0" tIns="0" rIns="0" bIns="0" rtlCol="0" anchor="ctr"/>
          <a:lstStyle/>
          <a:p>
            <a:pPr indent="0" marL="0">
              <a:buNone/>
            </a:pPr>
            <a:r>
              <a:rPr lang="en-US" sz="1700" b="1" dirty="0">
                <a:solidFill>
                  <a:srgbClr val="D92B2B"/>
                </a:solidFill>
                <a:latin typeface="Arial" pitchFamily="34" charset="0"/>
                <a:ea typeface="Arial" pitchFamily="34" charset="-122"/>
                <a:cs typeface="Arial" pitchFamily="34" charset="-120"/>
              </a:rPr>
              <a:t>−39.5</a:t>
            </a:r>
            <a:pPr indent="0" marL="0">
              <a:buNone/>
            </a:pPr>
            <a:r>
              <a:rPr lang="en-US" sz="1000" dirty="0">
                <a:solidFill>
                  <a:srgbClr val="767676"/>
                </a:solidFill>
                <a:latin typeface="Arial" pitchFamily="34" charset="0"/>
                <a:ea typeface="Arial" pitchFamily="34" charset="-122"/>
                <a:cs typeface="Arial" pitchFamily="34" charset="-120"/>
              </a:rPr>
              <a:t> pts</a:t>
            </a:r>
            <a:endParaRPr lang="en-US" sz="1700" dirty="0"/>
          </a:p>
        </p:txBody>
      </p:sp>
      <p:sp>
        <p:nvSpPr>
          <p:cNvPr id="69" name="text-436"/>
          <p:cNvSpPr txBox="1"/>
          <p:nvPr/>
        </p:nvSpPr>
        <p:spPr>
          <a:xfrm>
            <a:off x="10222992" y="2606040"/>
            <a:ext cx="1234440" cy="219456"/>
          </a:xfrm>
          <a:prstGeom prst="rect">
            <a:avLst/>
          </a:prstGeom>
          <a:noFill/>
          <a:ln/>
        </p:spPr>
        <p:txBody>
          <a:bodyPr wrap="square" lIns="0" tIns="0" rIns="0" bIns="0" rtlCol="0" anchor="ctr"/>
          <a:lstStyle/>
          <a:p>
            <a:pPr indent="0" marL="0">
              <a:buNone/>
            </a:pPr>
            <a:r>
              <a:rPr lang="en-US" sz="950" dirty="0">
                <a:solidFill>
                  <a:srgbClr val="767676"/>
                </a:solidFill>
                <a:latin typeface="Arial" pitchFamily="34" charset="0"/>
                <a:ea typeface="Arial" pitchFamily="34" charset="-122"/>
                <a:cs typeface="Arial" pitchFamily="34" charset="-120"/>
              </a:rPr>
              <a:t>Failed data tests</a:t>
            </a:r>
            <a:endParaRPr lang="en-US" sz="950" dirty="0"/>
          </a:p>
        </p:txBody>
      </p:sp>
      <p:sp>
        <p:nvSpPr>
          <p:cNvPr id="70" name="shape-437"/>
          <p:cNvSpPr/>
          <p:nvPr/>
        </p:nvSpPr>
        <p:spPr>
          <a:xfrm>
            <a:off x="8531352" y="2971800"/>
            <a:ext cx="1435608" cy="896112"/>
          </a:xfrm>
          <a:prstGeom prst="roundRect">
            <a:avLst>
              <a:gd name="adj" fmla="val 8163"/>
            </a:avLst>
          </a:prstGeom>
          <a:solidFill>
            <a:srgbClr val="FFFFFF"/>
          </a:solidFill>
          <a:ln w="9525">
            <a:solidFill>
              <a:srgbClr val="E0E0E0"/>
            </a:solidFill>
            <a:prstDash val="solid"/>
          </a:ln>
        </p:spPr>
      </p:sp>
      <p:sp>
        <p:nvSpPr>
          <p:cNvPr id="71" name="shape-438"/>
          <p:cNvSpPr/>
          <p:nvPr/>
        </p:nvSpPr>
        <p:spPr>
          <a:xfrm>
            <a:off x="8531352" y="3081528"/>
            <a:ext cx="64008" cy="676656"/>
          </a:xfrm>
          <a:prstGeom prst="rect">
            <a:avLst/>
          </a:prstGeom>
          <a:solidFill>
            <a:srgbClr val="0C9B5B"/>
          </a:solidFill>
          <a:ln w="12700">
            <a:solidFill>
              <a:srgbClr val="0C9B5B"/>
            </a:solidFill>
            <a:prstDash val="solid"/>
          </a:ln>
        </p:spPr>
      </p:sp>
      <p:sp>
        <p:nvSpPr>
          <p:cNvPr id="72" name="text-439"/>
          <p:cNvSpPr txBox="1"/>
          <p:nvPr/>
        </p:nvSpPr>
        <p:spPr>
          <a:xfrm>
            <a:off x="8695944" y="3044952"/>
            <a:ext cx="1234440" cy="237744"/>
          </a:xfrm>
          <a:prstGeom prst="rect">
            <a:avLst/>
          </a:prstGeom>
          <a:noFill/>
          <a:ln/>
        </p:spPr>
        <p:txBody>
          <a:bodyPr wrap="square" lIns="0" tIns="0" rIns="0" bIns="0" rtlCol="0" anchor="ctr"/>
          <a:lstStyle/>
          <a:p>
            <a:pPr indent="0" marL="0">
              <a:buNone/>
            </a:pPr>
            <a:r>
              <a:rPr lang="en-US" sz="1100" b="1" dirty="0">
                <a:solidFill>
                  <a:srgbClr val="0C9B5B"/>
                </a:solidFill>
                <a:latin typeface="Arial" pitchFamily="34" charset="0"/>
                <a:ea typeface="Arial" pitchFamily="34" charset="-122"/>
                <a:cs typeface="Arial" pitchFamily="34" charset="-120"/>
              </a:rPr>
              <a:t>Vendor A</a:t>
            </a:r>
            <a:endParaRPr lang="en-US" sz="1100" dirty="0"/>
          </a:p>
        </p:txBody>
      </p:sp>
      <p:sp>
        <p:nvSpPr>
          <p:cNvPr id="73" name="text-440"/>
          <p:cNvSpPr txBox="1"/>
          <p:nvPr/>
        </p:nvSpPr>
        <p:spPr>
          <a:xfrm>
            <a:off x="8695944" y="3273552"/>
            <a:ext cx="1234440" cy="329184"/>
          </a:xfrm>
          <a:prstGeom prst="rect">
            <a:avLst/>
          </a:prstGeom>
          <a:noFill/>
          <a:ln/>
        </p:spPr>
        <p:txBody>
          <a:bodyPr wrap="square" lIns="0" tIns="0" rIns="0" bIns="0" rtlCol="0" anchor="ctr"/>
          <a:lstStyle/>
          <a:p>
            <a:pPr indent="0" marL="0">
              <a:buNone/>
            </a:pPr>
            <a:r>
              <a:rPr lang="en-US" sz="1700" b="1" dirty="0">
                <a:solidFill>
                  <a:srgbClr val="D92B2B"/>
                </a:solidFill>
                <a:latin typeface="Arial" pitchFamily="34" charset="0"/>
                <a:ea typeface="Arial" pitchFamily="34" charset="-122"/>
                <a:cs typeface="Arial" pitchFamily="34" charset="-120"/>
              </a:rPr>
              <a:t>−31.4</a:t>
            </a:r>
            <a:pPr indent="0" marL="0">
              <a:buNone/>
            </a:pPr>
            <a:r>
              <a:rPr lang="en-US" sz="1000" dirty="0">
                <a:solidFill>
                  <a:srgbClr val="767676"/>
                </a:solidFill>
                <a:latin typeface="Arial" pitchFamily="34" charset="0"/>
                <a:ea typeface="Arial" pitchFamily="34" charset="-122"/>
                <a:cs typeface="Arial" pitchFamily="34" charset="-120"/>
              </a:rPr>
              <a:t> pts</a:t>
            </a:r>
            <a:endParaRPr lang="en-US" sz="1700" dirty="0"/>
          </a:p>
        </p:txBody>
      </p:sp>
      <p:sp>
        <p:nvSpPr>
          <p:cNvPr id="74" name="text-441"/>
          <p:cNvSpPr txBox="1"/>
          <p:nvPr/>
        </p:nvSpPr>
        <p:spPr>
          <a:xfrm>
            <a:off x="8695944" y="3593592"/>
            <a:ext cx="1234440" cy="219456"/>
          </a:xfrm>
          <a:prstGeom prst="rect">
            <a:avLst/>
          </a:prstGeom>
          <a:noFill/>
          <a:ln/>
        </p:spPr>
        <p:txBody>
          <a:bodyPr wrap="square" lIns="0" tIns="0" rIns="0" bIns="0" rtlCol="0" anchor="ctr"/>
          <a:lstStyle/>
          <a:p>
            <a:pPr indent="0" marL="0">
              <a:buNone/>
            </a:pPr>
            <a:r>
              <a:rPr lang="en-US" sz="950" dirty="0">
                <a:solidFill>
                  <a:srgbClr val="767676"/>
                </a:solidFill>
                <a:latin typeface="Arial" pitchFamily="34" charset="0"/>
                <a:ea typeface="Arial" pitchFamily="34" charset="-122"/>
                <a:cs typeface="Arial" pitchFamily="34" charset="-120"/>
              </a:rPr>
              <a:t>Below-par data</a:t>
            </a:r>
            <a:endParaRPr lang="en-US" sz="950" dirty="0"/>
          </a:p>
        </p:txBody>
      </p:sp>
      <p:sp>
        <p:nvSpPr>
          <p:cNvPr id="75" name="shape-442"/>
          <p:cNvSpPr/>
          <p:nvPr/>
        </p:nvSpPr>
        <p:spPr>
          <a:xfrm>
            <a:off x="10058400" y="2971800"/>
            <a:ext cx="1435608" cy="896112"/>
          </a:xfrm>
          <a:prstGeom prst="roundRect">
            <a:avLst>
              <a:gd name="adj" fmla="val 8163"/>
            </a:avLst>
          </a:prstGeom>
          <a:solidFill>
            <a:srgbClr val="FFFFFF"/>
          </a:solidFill>
          <a:ln w="9525">
            <a:solidFill>
              <a:srgbClr val="E0E0E0"/>
            </a:solidFill>
            <a:prstDash val="solid"/>
          </a:ln>
        </p:spPr>
      </p:sp>
      <p:sp>
        <p:nvSpPr>
          <p:cNvPr id="76" name="shape-443"/>
          <p:cNvSpPr/>
          <p:nvPr/>
        </p:nvSpPr>
        <p:spPr>
          <a:xfrm>
            <a:off x="10058400" y="3081528"/>
            <a:ext cx="64008" cy="676656"/>
          </a:xfrm>
          <a:prstGeom prst="rect">
            <a:avLst/>
          </a:prstGeom>
          <a:solidFill>
            <a:srgbClr val="E07800"/>
          </a:solidFill>
          <a:ln w="12700">
            <a:solidFill>
              <a:srgbClr val="E07800"/>
            </a:solidFill>
            <a:prstDash val="solid"/>
          </a:ln>
        </p:spPr>
      </p:sp>
      <p:sp>
        <p:nvSpPr>
          <p:cNvPr id="77" name="text-444"/>
          <p:cNvSpPr txBox="1"/>
          <p:nvPr/>
        </p:nvSpPr>
        <p:spPr>
          <a:xfrm>
            <a:off x="10222992" y="3044952"/>
            <a:ext cx="1234440" cy="237744"/>
          </a:xfrm>
          <a:prstGeom prst="rect">
            <a:avLst/>
          </a:prstGeom>
          <a:noFill/>
          <a:ln/>
        </p:spPr>
        <p:txBody>
          <a:bodyPr wrap="square" lIns="0" tIns="0" rIns="0" bIns="0" rtlCol="0" anchor="ctr"/>
          <a:lstStyle/>
          <a:p>
            <a:pPr indent="0" marL="0">
              <a:buNone/>
            </a:pPr>
            <a:r>
              <a:rPr lang="en-US" sz="1100" b="1" dirty="0">
                <a:solidFill>
                  <a:srgbClr val="E07800"/>
                </a:solidFill>
                <a:latin typeface="Arial" pitchFamily="34" charset="0"/>
                <a:ea typeface="Arial" pitchFamily="34" charset="-122"/>
                <a:cs typeface="Arial" pitchFamily="34" charset="-120"/>
              </a:rPr>
              <a:t>Vendor B</a:t>
            </a:r>
            <a:endParaRPr lang="en-US" sz="1100" dirty="0"/>
          </a:p>
        </p:txBody>
      </p:sp>
      <p:sp>
        <p:nvSpPr>
          <p:cNvPr id="78" name="text-445"/>
          <p:cNvSpPr txBox="1"/>
          <p:nvPr/>
        </p:nvSpPr>
        <p:spPr>
          <a:xfrm>
            <a:off x="10222992" y="3273552"/>
            <a:ext cx="1234440" cy="329184"/>
          </a:xfrm>
          <a:prstGeom prst="rect">
            <a:avLst/>
          </a:prstGeom>
          <a:noFill/>
          <a:ln/>
        </p:spPr>
        <p:txBody>
          <a:bodyPr wrap="square" lIns="0" tIns="0" rIns="0" bIns="0" rtlCol="0" anchor="ctr"/>
          <a:lstStyle/>
          <a:p>
            <a:pPr indent="0" marL="0">
              <a:buNone/>
            </a:pPr>
            <a:r>
              <a:rPr lang="en-US" sz="1700" b="1" dirty="0">
                <a:solidFill>
                  <a:srgbClr val="D92B2B"/>
                </a:solidFill>
                <a:latin typeface="Arial" pitchFamily="34" charset="0"/>
                <a:ea typeface="Arial" pitchFamily="34" charset="-122"/>
                <a:cs typeface="Arial" pitchFamily="34" charset="-120"/>
              </a:rPr>
              <a:t>−23.7</a:t>
            </a:r>
            <a:pPr indent="0" marL="0">
              <a:buNone/>
            </a:pPr>
            <a:r>
              <a:rPr lang="en-US" sz="1000" dirty="0">
                <a:solidFill>
                  <a:srgbClr val="767676"/>
                </a:solidFill>
                <a:latin typeface="Arial" pitchFamily="34" charset="0"/>
                <a:ea typeface="Arial" pitchFamily="34" charset="-122"/>
                <a:cs typeface="Arial" pitchFamily="34" charset="-120"/>
              </a:rPr>
              <a:t> pts</a:t>
            </a:r>
            <a:endParaRPr lang="en-US" sz="1700" dirty="0"/>
          </a:p>
        </p:txBody>
      </p:sp>
      <p:sp>
        <p:nvSpPr>
          <p:cNvPr id="79" name="text-446"/>
          <p:cNvSpPr txBox="1"/>
          <p:nvPr/>
        </p:nvSpPr>
        <p:spPr>
          <a:xfrm>
            <a:off x="10222992" y="3593592"/>
            <a:ext cx="1234440" cy="219456"/>
          </a:xfrm>
          <a:prstGeom prst="rect">
            <a:avLst/>
          </a:prstGeom>
          <a:noFill/>
          <a:ln/>
        </p:spPr>
        <p:txBody>
          <a:bodyPr wrap="square" lIns="0" tIns="0" rIns="0" bIns="0" rtlCol="0" anchor="ctr"/>
          <a:lstStyle/>
          <a:p>
            <a:pPr indent="0" marL="0">
              <a:buNone/>
            </a:pPr>
            <a:r>
              <a:rPr lang="en-US" sz="950" dirty="0">
                <a:solidFill>
                  <a:srgbClr val="767676"/>
                </a:solidFill>
                <a:latin typeface="Arial" pitchFamily="34" charset="0"/>
                <a:ea typeface="Arial" pitchFamily="34" charset="-122"/>
                <a:cs typeface="Arial" pitchFamily="34" charset="-120"/>
              </a:rPr>
              <a:t>Voice calls</a:t>
            </a:r>
            <a:endParaRPr lang="en-US" sz="950" dirty="0"/>
          </a:p>
        </p:txBody>
      </p:sp>
      <p:sp>
        <p:nvSpPr>
          <p:cNvPr id="80" name="shape-447"/>
          <p:cNvSpPr/>
          <p:nvPr/>
        </p:nvSpPr>
        <p:spPr>
          <a:xfrm>
            <a:off x="8366760" y="4160520"/>
            <a:ext cx="3273552" cy="2057400"/>
          </a:xfrm>
          <a:prstGeom prst="roundRect">
            <a:avLst>
              <a:gd name="adj" fmla="val 5333"/>
            </a:avLst>
          </a:prstGeom>
          <a:solidFill>
            <a:srgbClr val="F2F2F2"/>
          </a:solidFill>
          <a:ln w="12700">
            <a:solidFill>
              <a:srgbClr val="F2F2F2"/>
            </a:solidFill>
            <a:prstDash val="solid"/>
          </a:ln>
        </p:spPr>
      </p:sp>
      <p:sp>
        <p:nvSpPr>
          <p:cNvPr id="81" name="text-448"/>
          <p:cNvSpPr txBox="1"/>
          <p:nvPr/>
        </p:nvSpPr>
        <p:spPr>
          <a:xfrm>
            <a:off x="8567928" y="4288536"/>
            <a:ext cx="2907792" cy="237744"/>
          </a:xfrm>
          <a:prstGeom prst="rect">
            <a:avLst/>
          </a:prstGeom>
          <a:noFill/>
          <a:ln/>
        </p:spPr>
        <p:txBody>
          <a:bodyPr wrap="square" lIns="0" tIns="0" rIns="0" bIns="0" rtlCol="0" anchor="ctr"/>
          <a:lstStyle/>
          <a:p>
            <a:pPr indent="0" marL="0">
              <a:buNone/>
            </a:pPr>
            <a:r>
              <a:rPr lang="en-US" sz="1050" b="1" spc="100" kern="0" dirty="0">
                <a:solidFill>
                  <a:srgbClr val="767676"/>
                </a:solidFill>
                <a:latin typeface="Arial" pitchFamily="34" charset="0"/>
                <a:ea typeface="Arial" pitchFamily="34" charset="-122"/>
                <a:cs typeface="Arial" pitchFamily="34" charset="-120"/>
              </a:rPr>
              <a:t>SITES TO REVIEW</a:t>
            </a:r>
            <a:endParaRPr lang="en-US" sz="1050" dirty="0"/>
          </a:p>
        </p:txBody>
      </p:sp>
      <p:sp>
        <p:nvSpPr>
          <p:cNvPr id="82" name="text-449"/>
          <p:cNvSpPr txBox="1"/>
          <p:nvPr/>
        </p:nvSpPr>
        <p:spPr>
          <a:xfrm>
            <a:off x="8567928" y="4498848"/>
            <a:ext cx="777240" cy="219456"/>
          </a:xfrm>
          <a:prstGeom prst="rect">
            <a:avLst/>
          </a:prstGeom>
          <a:noFill/>
          <a:ln/>
        </p:spPr>
        <p:txBody>
          <a:bodyPr wrap="square" lIns="0" tIns="0" rIns="0" bIns="0" rtlCol="0" anchor="ctr"/>
          <a:lstStyle/>
          <a:p>
            <a:pPr indent="0" marL="0">
              <a:buNone/>
            </a:pPr>
            <a:r>
              <a:rPr lang="en-US" sz="950" b="1" dirty="0">
                <a:solidFill>
                  <a:srgbClr val="767676"/>
                </a:solidFill>
                <a:latin typeface="Arial" pitchFamily="34" charset="0"/>
                <a:ea typeface="Arial" pitchFamily="34" charset="-122"/>
                <a:cs typeface="Arial" pitchFamily="34" charset="-120"/>
              </a:rPr>
              <a:t>Site</a:t>
            </a:r>
            <a:endParaRPr lang="en-US" sz="950" dirty="0"/>
          </a:p>
        </p:txBody>
      </p:sp>
      <p:sp>
        <p:nvSpPr>
          <p:cNvPr id="83" name="text-450"/>
          <p:cNvSpPr txBox="1"/>
          <p:nvPr/>
        </p:nvSpPr>
        <p:spPr>
          <a:xfrm>
            <a:off x="9390888" y="4498848"/>
            <a:ext cx="777240" cy="219456"/>
          </a:xfrm>
          <a:prstGeom prst="rect">
            <a:avLst/>
          </a:prstGeom>
          <a:noFill/>
          <a:ln/>
        </p:spPr>
        <p:txBody>
          <a:bodyPr wrap="square" lIns="0" tIns="0" rIns="0" bIns="0" rtlCol="0" anchor="ctr"/>
          <a:lstStyle/>
          <a:p>
            <a:pPr indent="0" marL="0">
              <a:buNone/>
            </a:pPr>
            <a:r>
              <a:rPr lang="en-US" sz="950" b="1" dirty="0">
                <a:solidFill>
                  <a:srgbClr val="767676"/>
                </a:solidFill>
                <a:latin typeface="Arial" pitchFamily="34" charset="0"/>
                <a:ea typeface="Arial" pitchFamily="34" charset="-122"/>
                <a:cs typeface="Arial" pitchFamily="34" charset="-120"/>
              </a:rPr>
              <a:t>Vendor</a:t>
            </a:r>
            <a:endParaRPr lang="en-US" sz="950" dirty="0"/>
          </a:p>
        </p:txBody>
      </p:sp>
      <p:sp>
        <p:nvSpPr>
          <p:cNvPr id="84" name="text-451"/>
          <p:cNvSpPr txBox="1"/>
          <p:nvPr/>
        </p:nvSpPr>
        <p:spPr>
          <a:xfrm>
            <a:off x="10168128" y="4498848"/>
            <a:ext cx="777240" cy="219456"/>
          </a:xfrm>
          <a:prstGeom prst="rect">
            <a:avLst/>
          </a:prstGeom>
          <a:noFill/>
          <a:ln/>
        </p:spPr>
        <p:txBody>
          <a:bodyPr wrap="square" lIns="0" tIns="0" rIns="0" bIns="0" rtlCol="0" anchor="ctr"/>
          <a:lstStyle/>
          <a:p>
            <a:pPr indent="0" marL="0">
              <a:buNone/>
            </a:pPr>
            <a:r>
              <a:rPr lang="en-US" sz="950" b="1" dirty="0">
                <a:solidFill>
                  <a:srgbClr val="767676"/>
                </a:solidFill>
                <a:latin typeface="Arial" pitchFamily="34" charset="0"/>
                <a:ea typeface="Arial" pitchFamily="34" charset="-122"/>
                <a:cs typeface="Arial" pitchFamily="34" charset="-120"/>
              </a:rPr>
              <a:t>Points</a:t>
            </a:r>
            <a:endParaRPr lang="en-US" sz="950" dirty="0"/>
          </a:p>
        </p:txBody>
      </p:sp>
      <p:sp>
        <p:nvSpPr>
          <p:cNvPr id="85" name="text-452"/>
          <p:cNvSpPr txBox="1"/>
          <p:nvPr/>
        </p:nvSpPr>
        <p:spPr>
          <a:xfrm>
            <a:off x="10771632" y="4498848"/>
            <a:ext cx="777240" cy="219456"/>
          </a:xfrm>
          <a:prstGeom prst="rect">
            <a:avLst/>
          </a:prstGeom>
          <a:noFill/>
          <a:ln/>
        </p:spPr>
        <p:txBody>
          <a:bodyPr wrap="square" lIns="0" tIns="0" rIns="0" bIns="0" rtlCol="0" anchor="ctr"/>
          <a:lstStyle/>
          <a:p>
            <a:pPr indent="0" marL="0">
              <a:buNone/>
            </a:pPr>
            <a:r>
              <a:rPr lang="en-US" sz="950" b="1" dirty="0">
                <a:solidFill>
                  <a:srgbClr val="767676"/>
                </a:solidFill>
                <a:latin typeface="Arial" pitchFamily="34" charset="0"/>
                <a:ea typeface="Arial" pitchFamily="34" charset="-122"/>
                <a:cs typeface="Arial" pitchFamily="34" charset="-120"/>
              </a:rPr>
              <a:t>Priority</a:t>
            </a:r>
            <a:endParaRPr lang="en-US" sz="950" dirty="0"/>
          </a:p>
        </p:txBody>
      </p:sp>
      <p:sp>
        <p:nvSpPr>
          <p:cNvPr id="86" name="shape-453"/>
          <p:cNvSpPr/>
          <p:nvPr/>
        </p:nvSpPr>
        <p:spPr>
          <a:xfrm>
            <a:off x="8567928" y="4754880"/>
            <a:ext cx="2907792" cy="0"/>
          </a:xfrm>
          <a:prstGeom prst="line">
            <a:avLst/>
          </a:prstGeom>
          <a:noFill/>
          <a:ln w="9525">
            <a:solidFill>
              <a:srgbClr val="E0E0E0"/>
            </a:solidFill>
            <a:prstDash val="solid"/>
          </a:ln>
        </p:spPr>
      </p:sp>
      <p:sp>
        <p:nvSpPr>
          <p:cNvPr id="87" name="text-454"/>
          <p:cNvSpPr txBox="1"/>
          <p:nvPr/>
        </p:nvSpPr>
        <p:spPr>
          <a:xfrm>
            <a:off x="8567928" y="4791456"/>
            <a:ext cx="822960" cy="292608"/>
          </a:xfrm>
          <a:prstGeom prst="rect">
            <a:avLst/>
          </a:prstGeom>
          <a:noFill/>
          <a:ln/>
        </p:spPr>
        <p:txBody>
          <a:bodyPr wrap="square" lIns="0" tIns="0" rIns="0" bIns="0" rtlCol="0" anchor="ctr"/>
          <a:lstStyle/>
          <a:p>
            <a:pPr indent="0" marL="0">
              <a:buNone/>
            </a:pPr>
            <a:r>
              <a:rPr lang="en-US" sz="1050" b="1" dirty="0">
                <a:solidFill>
                  <a:srgbClr val="242424"/>
                </a:solidFill>
                <a:latin typeface="Arial" pitchFamily="34" charset="0"/>
                <a:ea typeface="Arial" pitchFamily="34" charset="-122"/>
                <a:cs typeface="Arial" pitchFamily="34" charset="-120"/>
              </a:rPr>
              <a:t>Site 0421</a:t>
            </a:r>
            <a:endParaRPr lang="en-US" sz="1050" dirty="0"/>
          </a:p>
        </p:txBody>
      </p:sp>
      <p:sp>
        <p:nvSpPr>
          <p:cNvPr id="88" name="text-455"/>
          <p:cNvSpPr txBox="1"/>
          <p:nvPr/>
        </p:nvSpPr>
        <p:spPr>
          <a:xfrm>
            <a:off x="9390888" y="4791456"/>
            <a:ext cx="777240" cy="292608"/>
          </a:xfrm>
          <a:prstGeom prst="rect">
            <a:avLst/>
          </a:prstGeom>
          <a:noFill/>
          <a:ln/>
        </p:spPr>
        <p:txBody>
          <a:bodyPr wrap="square" lIns="0" tIns="0" rIns="0" bIns="0" rtlCol="0" anchor="ctr"/>
          <a:lstStyle/>
          <a:p>
            <a:pPr indent="0" marL="0">
              <a:buNone/>
            </a:pPr>
            <a:r>
              <a:rPr lang="en-US" sz="1050" dirty="0">
                <a:solidFill>
                  <a:srgbClr val="242424"/>
                </a:solidFill>
                <a:latin typeface="Arial" pitchFamily="34" charset="0"/>
                <a:ea typeface="Arial" pitchFamily="34" charset="-122"/>
                <a:cs typeface="Arial" pitchFamily="34" charset="-120"/>
              </a:rPr>
              <a:t>Vendor A</a:t>
            </a:r>
            <a:endParaRPr lang="en-US" sz="1050" dirty="0"/>
          </a:p>
        </p:txBody>
      </p:sp>
      <p:sp>
        <p:nvSpPr>
          <p:cNvPr id="89" name="text-456"/>
          <p:cNvSpPr txBox="1"/>
          <p:nvPr/>
        </p:nvSpPr>
        <p:spPr>
          <a:xfrm>
            <a:off x="10168128" y="4791456"/>
            <a:ext cx="548640" cy="292608"/>
          </a:xfrm>
          <a:prstGeom prst="rect">
            <a:avLst/>
          </a:prstGeom>
          <a:noFill/>
          <a:ln/>
        </p:spPr>
        <p:txBody>
          <a:bodyPr wrap="square" lIns="0" tIns="0" rIns="0" bIns="0" rtlCol="0" anchor="ctr"/>
          <a:lstStyle/>
          <a:p>
            <a:pPr indent="0" marL="0">
              <a:buNone/>
            </a:pPr>
            <a:r>
              <a:rPr lang="en-US" sz="1050" b="1" dirty="0">
                <a:solidFill>
                  <a:srgbClr val="D92B2B"/>
                </a:solidFill>
                <a:latin typeface="Arial" pitchFamily="34" charset="0"/>
                <a:ea typeface="Arial" pitchFamily="34" charset="-122"/>
                <a:cs typeface="Arial" pitchFamily="34" charset="-120"/>
              </a:rPr>
              <a:t>−3.8</a:t>
            </a:r>
            <a:endParaRPr lang="en-US" sz="1050" dirty="0"/>
          </a:p>
        </p:txBody>
      </p:sp>
      <p:sp>
        <p:nvSpPr>
          <p:cNvPr id="90" name="shape-457"/>
          <p:cNvSpPr/>
          <p:nvPr/>
        </p:nvSpPr>
        <p:spPr>
          <a:xfrm>
            <a:off x="10771632" y="4828032"/>
            <a:ext cx="713232" cy="219456"/>
          </a:xfrm>
          <a:prstGeom prst="roundRect">
            <a:avLst>
              <a:gd name="adj" fmla="val 50000"/>
            </a:avLst>
          </a:prstGeom>
          <a:solidFill>
            <a:srgbClr val="D92B2B"/>
          </a:solidFill>
          <a:ln w="12700">
            <a:solidFill>
              <a:srgbClr val="D92B2B"/>
            </a:solidFill>
            <a:prstDash val="solid"/>
          </a:ln>
        </p:spPr>
      </p:sp>
      <p:sp>
        <p:nvSpPr>
          <p:cNvPr id="91" name="text-458"/>
          <p:cNvSpPr txBox="1"/>
          <p:nvPr/>
        </p:nvSpPr>
        <p:spPr>
          <a:xfrm>
            <a:off x="10771632" y="4828032"/>
            <a:ext cx="713232" cy="219456"/>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High</a:t>
            </a:r>
            <a:endParaRPr lang="en-US" sz="950" dirty="0"/>
          </a:p>
        </p:txBody>
      </p:sp>
      <p:sp>
        <p:nvSpPr>
          <p:cNvPr id="92" name="shape-459"/>
          <p:cNvSpPr/>
          <p:nvPr/>
        </p:nvSpPr>
        <p:spPr>
          <a:xfrm>
            <a:off x="8567928" y="5120640"/>
            <a:ext cx="2907792" cy="0"/>
          </a:xfrm>
          <a:prstGeom prst="line">
            <a:avLst/>
          </a:prstGeom>
          <a:noFill/>
          <a:ln w="9525">
            <a:solidFill>
              <a:srgbClr val="E0E0E0"/>
            </a:solidFill>
            <a:prstDash val="solid"/>
          </a:ln>
        </p:spPr>
      </p:sp>
      <p:sp>
        <p:nvSpPr>
          <p:cNvPr id="93" name="text-460"/>
          <p:cNvSpPr txBox="1"/>
          <p:nvPr/>
        </p:nvSpPr>
        <p:spPr>
          <a:xfrm>
            <a:off x="8567928" y="5157216"/>
            <a:ext cx="822960" cy="292608"/>
          </a:xfrm>
          <a:prstGeom prst="rect">
            <a:avLst/>
          </a:prstGeom>
          <a:noFill/>
          <a:ln/>
        </p:spPr>
        <p:txBody>
          <a:bodyPr wrap="square" lIns="0" tIns="0" rIns="0" bIns="0" rtlCol="0" anchor="ctr"/>
          <a:lstStyle/>
          <a:p>
            <a:pPr indent="0" marL="0">
              <a:buNone/>
            </a:pPr>
            <a:r>
              <a:rPr lang="en-US" sz="1050" b="1" dirty="0">
                <a:solidFill>
                  <a:srgbClr val="242424"/>
                </a:solidFill>
                <a:latin typeface="Arial" pitchFamily="34" charset="0"/>
                <a:ea typeface="Arial" pitchFamily="34" charset="-122"/>
                <a:cs typeface="Arial" pitchFamily="34" charset="-120"/>
              </a:rPr>
              <a:t>Site 1877</a:t>
            </a:r>
            <a:endParaRPr lang="en-US" sz="1050" dirty="0"/>
          </a:p>
        </p:txBody>
      </p:sp>
      <p:sp>
        <p:nvSpPr>
          <p:cNvPr id="94" name="text-461"/>
          <p:cNvSpPr txBox="1"/>
          <p:nvPr/>
        </p:nvSpPr>
        <p:spPr>
          <a:xfrm>
            <a:off x="9390888" y="5157216"/>
            <a:ext cx="777240" cy="292608"/>
          </a:xfrm>
          <a:prstGeom prst="rect">
            <a:avLst/>
          </a:prstGeom>
          <a:noFill/>
          <a:ln/>
        </p:spPr>
        <p:txBody>
          <a:bodyPr wrap="square" lIns="0" tIns="0" rIns="0" bIns="0" rtlCol="0" anchor="ctr"/>
          <a:lstStyle/>
          <a:p>
            <a:pPr indent="0" marL="0">
              <a:buNone/>
            </a:pPr>
            <a:r>
              <a:rPr lang="en-US" sz="1050" dirty="0">
                <a:solidFill>
                  <a:srgbClr val="242424"/>
                </a:solidFill>
                <a:latin typeface="Arial" pitchFamily="34" charset="0"/>
                <a:ea typeface="Arial" pitchFamily="34" charset="-122"/>
                <a:cs typeface="Arial" pitchFamily="34" charset="-120"/>
              </a:rPr>
              <a:t>Vendor B</a:t>
            </a:r>
            <a:endParaRPr lang="en-US" sz="1050" dirty="0"/>
          </a:p>
        </p:txBody>
      </p:sp>
      <p:sp>
        <p:nvSpPr>
          <p:cNvPr id="95" name="text-462"/>
          <p:cNvSpPr txBox="1"/>
          <p:nvPr/>
        </p:nvSpPr>
        <p:spPr>
          <a:xfrm>
            <a:off x="10168128" y="5157216"/>
            <a:ext cx="548640" cy="292608"/>
          </a:xfrm>
          <a:prstGeom prst="rect">
            <a:avLst/>
          </a:prstGeom>
          <a:noFill/>
          <a:ln/>
        </p:spPr>
        <p:txBody>
          <a:bodyPr wrap="square" lIns="0" tIns="0" rIns="0" bIns="0" rtlCol="0" anchor="ctr"/>
          <a:lstStyle/>
          <a:p>
            <a:pPr indent="0" marL="0">
              <a:buNone/>
            </a:pPr>
            <a:r>
              <a:rPr lang="en-US" sz="1050" b="1" dirty="0">
                <a:solidFill>
                  <a:srgbClr val="D92B2B"/>
                </a:solidFill>
                <a:latin typeface="Arial" pitchFamily="34" charset="0"/>
                <a:ea typeface="Arial" pitchFamily="34" charset="-122"/>
                <a:cs typeface="Arial" pitchFamily="34" charset="-120"/>
              </a:rPr>
              <a:t>−2.9</a:t>
            </a:r>
            <a:endParaRPr lang="en-US" sz="1050" dirty="0"/>
          </a:p>
        </p:txBody>
      </p:sp>
      <p:sp>
        <p:nvSpPr>
          <p:cNvPr id="96" name="shape-463"/>
          <p:cNvSpPr/>
          <p:nvPr/>
        </p:nvSpPr>
        <p:spPr>
          <a:xfrm>
            <a:off x="10771632" y="5193792"/>
            <a:ext cx="713232" cy="219456"/>
          </a:xfrm>
          <a:prstGeom prst="roundRect">
            <a:avLst>
              <a:gd name="adj" fmla="val 50000"/>
            </a:avLst>
          </a:prstGeom>
          <a:solidFill>
            <a:srgbClr val="D92B2B"/>
          </a:solidFill>
          <a:ln w="12700">
            <a:solidFill>
              <a:srgbClr val="D92B2B"/>
            </a:solidFill>
            <a:prstDash val="solid"/>
          </a:ln>
        </p:spPr>
      </p:sp>
      <p:sp>
        <p:nvSpPr>
          <p:cNvPr id="97" name="text-464"/>
          <p:cNvSpPr txBox="1"/>
          <p:nvPr/>
        </p:nvSpPr>
        <p:spPr>
          <a:xfrm>
            <a:off x="10771632" y="5193792"/>
            <a:ext cx="713232" cy="219456"/>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High</a:t>
            </a:r>
            <a:endParaRPr lang="en-US" sz="950" dirty="0"/>
          </a:p>
        </p:txBody>
      </p:sp>
      <p:sp>
        <p:nvSpPr>
          <p:cNvPr id="98" name="shape-465"/>
          <p:cNvSpPr/>
          <p:nvPr/>
        </p:nvSpPr>
        <p:spPr>
          <a:xfrm>
            <a:off x="8567928" y="5486400"/>
            <a:ext cx="2907792" cy="0"/>
          </a:xfrm>
          <a:prstGeom prst="line">
            <a:avLst/>
          </a:prstGeom>
          <a:noFill/>
          <a:ln w="9525">
            <a:solidFill>
              <a:srgbClr val="E0E0E0"/>
            </a:solidFill>
            <a:prstDash val="solid"/>
          </a:ln>
        </p:spPr>
      </p:sp>
      <p:sp>
        <p:nvSpPr>
          <p:cNvPr id="99" name="text-466"/>
          <p:cNvSpPr txBox="1"/>
          <p:nvPr/>
        </p:nvSpPr>
        <p:spPr>
          <a:xfrm>
            <a:off x="8567928" y="5522976"/>
            <a:ext cx="822960" cy="292608"/>
          </a:xfrm>
          <a:prstGeom prst="rect">
            <a:avLst/>
          </a:prstGeom>
          <a:noFill/>
          <a:ln/>
        </p:spPr>
        <p:txBody>
          <a:bodyPr wrap="square" lIns="0" tIns="0" rIns="0" bIns="0" rtlCol="0" anchor="ctr"/>
          <a:lstStyle/>
          <a:p>
            <a:pPr indent="0" marL="0">
              <a:buNone/>
            </a:pPr>
            <a:r>
              <a:rPr lang="en-US" sz="1050" b="1" dirty="0">
                <a:solidFill>
                  <a:srgbClr val="242424"/>
                </a:solidFill>
                <a:latin typeface="Arial" pitchFamily="34" charset="0"/>
                <a:ea typeface="Arial" pitchFamily="34" charset="-122"/>
                <a:cs typeface="Arial" pitchFamily="34" charset="-120"/>
              </a:rPr>
              <a:t>Site 3508</a:t>
            </a:r>
            <a:endParaRPr lang="en-US" sz="1050" dirty="0"/>
          </a:p>
        </p:txBody>
      </p:sp>
      <p:sp>
        <p:nvSpPr>
          <p:cNvPr id="100" name="text-467"/>
          <p:cNvSpPr txBox="1"/>
          <p:nvPr/>
        </p:nvSpPr>
        <p:spPr>
          <a:xfrm>
            <a:off x="9390888" y="5522976"/>
            <a:ext cx="777240" cy="292608"/>
          </a:xfrm>
          <a:prstGeom prst="rect">
            <a:avLst/>
          </a:prstGeom>
          <a:noFill/>
          <a:ln/>
        </p:spPr>
        <p:txBody>
          <a:bodyPr wrap="square" lIns="0" tIns="0" rIns="0" bIns="0" rtlCol="0" anchor="ctr"/>
          <a:lstStyle/>
          <a:p>
            <a:pPr indent="0" marL="0">
              <a:buNone/>
            </a:pPr>
            <a:r>
              <a:rPr lang="en-US" sz="1050" dirty="0">
                <a:solidFill>
                  <a:srgbClr val="242424"/>
                </a:solidFill>
                <a:latin typeface="Arial" pitchFamily="34" charset="0"/>
                <a:ea typeface="Arial" pitchFamily="34" charset="-122"/>
                <a:cs typeface="Arial" pitchFamily="34" charset="-120"/>
              </a:rPr>
              <a:t>Vendor A</a:t>
            </a:r>
            <a:endParaRPr lang="en-US" sz="1050" dirty="0"/>
          </a:p>
        </p:txBody>
      </p:sp>
      <p:sp>
        <p:nvSpPr>
          <p:cNvPr id="101" name="text-468"/>
          <p:cNvSpPr txBox="1"/>
          <p:nvPr/>
        </p:nvSpPr>
        <p:spPr>
          <a:xfrm>
            <a:off x="10168128" y="5522976"/>
            <a:ext cx="548640" cy="292608"/>
          </a:xfrm>
          <a:prstGeom prst="rect">
            <a:avLst/>
          </a:prstGeom>
          <a:noFill/>
          <a:ln/>
        </p:spPr>
        <p:txBody>
          <a:bodyPr wrap="square" lIns="0" tIns="0" rIns="0" bIns="0" rtlCol="0" anchor="ctr"/>
          <a:lstStyle/>
          <a:p>
            <a:pPr indent="0" marL="0">
              <a:buNone/>
            </a:pPr>
            <a:r>
              <a:rPr lang="en-US" sz="1050" b="1" dirty="0">
                <a:solidFill>
                  <a:srgbClr val="D92B2B"/>
                </a:solidFill>
                <a:latin typeface="Arial" pitchFamily="34" charset="0"/>
                <a:ea typeface="Arial" pitchFamily="34" charset="-122"/>
                <a:cs typeface="Arial" pitchFamily="34" charset="-120"/>
              </a:rPr>
              <a:t>−1.6</a:t>
            </a:r>
            <a:endParaRPr lang="en-US" sz="1050" dirty="0"/>
          </a:p>
        </p:txBody>
      </p:sp>
      <p:sp>
        <p:nvSpPr>
          <p:cNvPr id="102" name="shape-469"/>
          <p:cNvSpPr/>
          <p:nvPr/>
        </p:nvSpPr>
        <p:spPr>
          <a:xfrm>
            <a:off x="10771632" y="5559552"/>
            <a:ext cx="713232" cy="219456"/>
          </a:xfrm>
          <a:prstGeom prst="roundRect">
            <a:avLst>
              <a:gd name="adj" fmla="val 50000"/>
            </a:avLst>
          </a:prstGeom>
          <a:solidFill>
            <a:srgbClr val="E07800"/>
          </a:solidFill>
          <a:ln w="12700">
            <a:solidFill>
              <a:srgbClr val="E07800"/>
            </a:solidFill>
            <a:prstDash val="solid"/>
          </a:ln>
        </p:spPr>
      </p:sp>
      <p:sp>
        <p:nvSpPr>
          <p:cNvPr id="103" name="text-470"/>
          <p:cNvSpPr txBox="1"/>
          <p:nvPr/>
        </p:nvSpPr>
        <p:spPr>
          <a:xfrm>
            <a:off x="10771632" y="5559552"/>
            <a:ext cx="713232" cy="219456"/>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Medium</a:t>
            </a:r>
            <a:endParaRPr lang="en-US" sz="950" dirty="0"/>
          </a:p>
        </p:txBody>
      </p:sp>
      <p:sp>
        <p:nvSpPr>
          <p:cNvPr id="104" name="text-471"/>
          <p:cNvSpPr txBox="1"/>
          <p:nvPr/>
        </p:nvSpPr>
        <p:spPr>
          <a:xfrm>
            <a:off x="8567928" y="5879592"/>
            <a:ext cx="2926080" cy="219456"/>
          </a:xfrm>
          <a:prstGeom prst="rect">
            <a:avLst/>
          </a:prstGeom>
          <a:noFill/>
          <a:ln/>
        </p:spPr>
        <p:txBody>
          <a:bodyPr wrap="square" lIns="0" tIns="0" rIns="0" bIns="0" rtlCol="0" anchor="ctr"/>
          <a:lstStyle/>
          <a:p>
            <a:pPr indent="0" marL="0">
              <a:buNone/>
            </a:pPr>
            <a:r>
              <a:rPr lang="en-US" sz="950" dirty="0">
                <a:solidFill>
                  <a:srgbClr val="767676"/>
                </a:solidFill>
                <a:latin typeface="Arial" pitchFamily="34" charset="0"/>
                <a:ea typeface="Arial" pitchFamily="34" charset="-122"/>
                <a:cs typeface="Arial" pitchFamily="34" charset="-120"/>
              </a:rPr>
              <a:t>Up to 25 per operator, with earlier campaigns</a:t>
            </a:r>
            <a:endParaRPr lang="en-US" sz="950" dirty="0"/>
          </a:p>
        </p:txBody>
      </p:sp>
      <p:sp>
        <p:nvSpPr>
          <p:cNvPr id="25" name="Slide Number Placeholder 0"/>
          <p:cNvSpPr>
            <a:spLocks noGrp="1"/>
          </p:cNvSpPr>
          <p:nvPr>
            <p:ph type="sldNum" sz="quarter" idx="4294967295"/>
          </p:nvPr>
        </p:nvSpPr>
        <p:spPr>
          <a:xfrm>
            <a:off x="548640" y="640080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67676"/>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0424160" cy="658368"/>
          </a:xfrm>
          <a:prstGeom prst="rect">
            <a:avLst/>
          </a:prstGeom>
          <a:noFill/>
          <a:ln/>
        </p:spPr>
        <p:txBody>
          <a:bodyPr wrap="square" lIns="0" tIns="0" rIns="0" bIns="0" rtlCol="0" anchor="ctr"/>
          <a:lstStyle/>
          <a:p>
            <a:pPr algn="l" indent="0" marL="0">
              <a:buNone/>
            </a:pPr>
            <a:r>
              <a:rPr lang="en-US" sz="3000" dirty="0">
                <a:solidFill>
                  <a:srgbClr val="000000"/>
                </a:solidFill>
                <a:latin typeface="Arial" pitchFamily="34" charset="0"/>
                <a:ea typeface="Arial" pitchFamily="34" charset="-122"/>
                <a:cs typeface="Arial" pitchFamily="34" charset="-120"/>
              </a:rPr>
              <a:t>Network Insights — </a:t>
            </a:r>
            <a:pPr algn="l" indent="0" marL="0">
              <a:buNone/>
            </a:pPr>
            <a:r>
              <a:rPr lang="en-US" sz="3000" b="1" dirty="0">
                <a:solidFill>
                  <a:srgbClr val="0068BF"/>
                </a:solidFill>
                <a:latin typeface="Arial" pitchFamily="34" charset="0"/>
                <a:ea typeface="Arial" pitchFamily="34" charset="-122"/>
                <a:cs typeface="Arial" pitchFamily="34" charset="-120"/>
              </a:rPr>
              <a:t>the network behind the KPIs</a:t>
            </a:r>
            <a:endParaRPr lang="en-US" sz="3000" dirty="0"/>
          </a:p>
        </p:txBody>
      </p:sp>
      <p:sp>
        <p:nvSpPr>
          <p:cNvPr id="3" name="text-47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dirty="0">
                <a:solidFill>
                  <a:srgbClr val="767676"/>
                </a:solidFill>
                <a:latin typeface="Arial" pitchFamily="34" charset="0"/>
                <a:ea typeface="Arial" pitchFamily="34" charset="-122"/>
                <a:cs typeface="Arial" pitchFamily="34" charset="-120"/>
              </a:rPr>
              <a:t>Radio quality, serving cells, 5G availability, spectrum and deployment, from the CDRs alone</a:t>
            </a:r>
            <a:endParaRPr lang="en-US" sz="1500" dirty="0"/>
          </a:p>
        </p:txBody>
      </p:sp>
      <p:pic>
        <p:nvPicPr>
          <p:cNvPr id="4" name="Coverage map" descr="/var/folders/pl/_b6qn8zs2_lc59t589_46cyc0000gn/T/drivetest-presentations-rNxAPW/ni-map.png">    </p:cNvPr>
          <p:cNvPicPr>
            <a:picLocks noChangeAspect="1"/>
          </p:cNvPicPr>
          <p:nvPr/>
        </p:nvPicPr>
        <p:blipFill>
          <a:blip r:embed="rId1"/>
          <a:stretch>
            <a:fillRect/>
          </a:stretch>
        </p:blipFill>
        <p:spPr>
          <a:xfrm>
            <a:off x="548640" y="1645920"/>
            <a:ext cx="5120640" cy="4480560"/>
          </a:xfrm>
          <a:prstGeom prst="rect">
            <a:avLst/>
          </a:prstGeom>
        </p:spPr>
      </p:pic>
      <p:sp>
        <p:nvSpPr>
          <p:cNvPr id="5" name="shape-473"/>
          <p:cNvSpPr/>
          <p:nvPr/>
        </p:nvSpPr>
        <p:spPr>
          <a:xfrm>
            <a:off x="548640" y="1645920"/>
            <a:ext cx="5120640" cy="4480560"/>
          </a:xfrm>
          <a:prstGeom prst="rect">
            <a:avLst/>
          </a:prstGeom>
          <a:ln w="12700">
            <a:solidFill>
              <a:srgbClr val="E0E0E0"/>
            </a:solidFill>
            <a:prstDash val="solid"/>
          </a:ln>
        </p:spPr>
      </p:sp>
      <p:sp>
        <p:nvSpPr>
          <p:cNvPr id="6" name="shape-474"/>
          <p:cNvSpPr/>
          <p:nvPr/>
        </p:nvSpPr>
        <p:spPr>
          <a:xfrm>
            <a:off x="731520" y="5559552"/>
            <a:ext cx="4754880" cy="402336"/>
          </a:xfrm>
          <a:prstGeom prst="roundRect">
            <a:avLst>
              <a:gd name="adj" fmla="val 50000"/>
            </a:avLst>
          </a:prstGeom>
          <a:solidFill>
            <a:srgbClr val="FFFFFF"/>
          </a:solidFill>
          <a:ln w="12700">
            <a:solidFill>
              <a:srgbClr val="E0E0E0"/>
            </a:solidFill>
            <a:prstDash val="solid"/>
          </a:ln>
        </p:spPr>
      </p:sp>
      <p:sp>
        <p:nvSpPr>
          <p:cNvPr id="7" name="text-475"/>
          <p:cNvSpPr txBox="1"/>
          <p:nvPr/>
        </p:nvSpPr>
        <p:spPr>
          <a:xfrm>
            <a:off x="896112" y="5559552"/>
            <a:ext cx="548640" cy="402336"/>
          </a:xfrm>
          <a:prstGeom prst="rect">
            <a:avLst/>
          </a:prstGeom>
          <a:noFill/>
          <a:ln/>
        </p:spPr>
        <p:txBody>
          <a:bodyPr wrap="square" lIns="0" tIns="0" rIns="0" bIns="0" rtlCol="0" anchor="ctr"/>
          <a:lstStyle/>
          <a:p>
            <a:pPr indent="0" marL="0">
              <a:buNone/>
            </a:pPr>
            <a:r>
              <a:rPr lang="en-US" sz="1100" b="1" dirty="0">
                <a:solidFill>
                  <a:srgbClr val="242424"/>
                </a:solidFill>
                <a:latin typeface="Arial" pitchFamily="34" charset="0"/>
                <a:ea typeface="Arial" pitchFamily="34" charset="-122"/>
                <a:cs typeface="Arial" pitchFamily="34" charset="-120"/>
              </a:rPr>
              <a:t>RSRP</a:t>
            </a:r>
            <a:endParaRPr lang="en-US" sz="1100" dirty="0"/>
          </a:p>
        </p:txBody>
      </p:sp>
      <p:sp>
        <p:nvSpPr>
          <p:cNvPr id="8" name="shape-476"/>
          <p:cNvSpPr/>
          <p:nvPr/>
        </p:nvSpPr>
        <p:spPr>
          <a:xfrm>
            <a:off x="1463040" y="5678424"/>
            <a:ext cx="164592" cy="164592"/>
          </a:xfrm>
          <a:prstGeom prst="ellipse">
            <a:avLst/>
          </a:prstGeom>
          <a:solidFill>
            <a:srgbClr val="0C9B5B"/>
          </a:solidFill>
          <a:ln w="12700">
            <a:solidFill>
              <a:srgbClr val="0C9B5B"/>
            </a:solidFill>
            <a:prstDash val="solid"/>
          </a:ln>
        </p:spPr>
      </p:sp>
      <p:sp>
        <p:nvSpPr>
          <p:cNvPr id="9" name="text-477"/>
          <p:cNvSpPr txBox="1"/>
          <p:nvPr/>
        </p:nvSpPr>
        <p:spPr>
          <a:xfrm>
            <a:off x="1664208" y="5559552"/>
            <a:ext cx="603504" cy="402336"/>
          </a:xfrm>
          <a:prstGeom prst="rect">
            <a:avLst/>
          </a:prstGeom>
          <a:noFill/>
          <a:ln/>
        </p:spPr>
        <p:txBody>
          <a:bodyPr wrap="square" lIns="0" tIns="0" rIns="0" bIns="0" rtlCol="0" anchor="ctr"/>
          <a:lstStyle/>
          <a:p>
            <a:pPr indent="0" marL="0">
              <a:buNone/>
            </a:pPr>
            <a:r>
              <a:rPr lang="en-US" sz="1050" dirty="0">
                <a:solidFill>
                  <a:srgbClr val="767676"/>
                </a:solidFill>
                <a:latin typeface="Arial" pitchFamily="34" charset="0"/>
                <a:ea typeface="Arial" pitchFamily="34" charset="-122"/>
                <a:cs typeface="Arial" pitchFamily="34" charset="-120"/>
              </a:rPr>
              <a:t>Excellent</a:t>
            </a:r>
            <a:endParaRPr lang="en-US" sz="1050" dirty="0"/>
          </a:p>
        </p:txBody>
      </p:sp>
      <p:sp>
        <p:nvSpPr>
          <p:cNvPr id="10" name="shape-478"/>
          <p:cNvSpPr/>
          <p:nvPr/>
        </p:nvSpPr>
        <p:spPr>
          <a:xfrm>
            <a:off x="2249424" y="5678424"/>
            <a:ext cx="164592" cy="164592"/>
          </a:xfrm>
          <a:prstGeom prst="ellipse">
            <a:avLst/>
          </a:prstGeom>
          <a:solidFill>
            <a:srgbClr val="0FC373"/>
          </a:solidFill>
          <a:ln w="12700">
            <a:solidFill>
              <a:srgbClr val="0FC373"/>
            </a:solidFill>
            <a:prstDash val="solid"/>
          </a:ln>
        </p:spPr>
      </p:sp>
      <p:sp>
        <p:nvSpPr>
          <p:cNvPr id="11" name="text-479"/>
          <p:cNvSpPr txBox="1"/>
          <p:nvPr/>
        </p:nvSpPr>
        <p:spPr>
          <a:xfrm>
            <a:off x="2450592" y="5559552"/>
            <a:ext cx="603504" cy="402336"/>
          </a:xfrm>
          <a:prstGeom prst="rect">
            <a:avLst/>
          </a:prstGeom>
          <a:noFill/>
          <a:ln/>
        </p:spPr>
        <p:txBody>
          <a:bodyPr wrap="square" lIns="0" tIns="0" rIns="0" bIns="0" rtlCol="0" anchor="ctr"/>
          <a:lstStyle/>
          <a:p>
            <a:pPr indent="0" marL="0">
              <a:buNone/>
            </a:pPr>
            <a:r>
              <a:rPr lang="en-US" sz="1050" dirty="0">
                <a:solidFill>
                  <a:srgbClr val="767676"/>
                </a:solidFill>
                <a:latin typeface="Arial" pitchFamily="34" charset="0"/>
                <a:ea typeface="Arial" pitchFamily="34" charset="-122"/>
                <a:cs typeface="Arial" pitchFamily="34" charset="-120"/>
              </a:rPr>
              <a:t>Good</a:t>
            </a:r>
            <a:endParaRPr lang="en-US" sz="1050" dirty="0"/>
          </a:p>
        </p:txBody>
      </p:sp>
      <p:sp>
        <p:nvSpPr>
          <p:cNvPr id="12" name="shape-480"/>
          <p:cNvSpPr/>
          <p:nvPr/>
        </p:nvSpPr>
        <p:spPr>
          <a:xfrm>
            <a:off x="3035808" y="5678424"/>
            <a:ext cx="164592" cy="164592"/>
          </a:xfrm>
          <a:prstGeom prst="ellipse">
            <a:avLst/>
          </a:prstGeom>
          <a:solidFill>
            <a:srgbClr val="FAD22D"/>
          </a:solidFill>
          <a:ln w="12700">
            <a:solidFill>
              <a:srgbClr val="FAD22D"/>
            </a:solidFill>
            <a:prstDash val="solid"/>
          </a:ln>
        </p:spPr>
      </p:sp>
      <p:sp>
        <p:nvSpPr>
          <p:cNvPr id="13" name="text-481"/>
          <p:cNvSpPr txBox="1"/>
          <p:nvPr/>
        </p:nvSpPr>
        <p:spPr>
          <a:xfrm>
            <a:off x="3236976" y="5559552"/>
            <a:ext cx="603504" cy="402336"/>
          </a:xfrm>
          <a:prstGeom prst="rect">
            <a:avLst/>
          </a:prstGeom>
          <a:noFill/>
          <a:ln/>
        </p:spPr>
        <p:txBody>
          <a:bodyPr wrap="square" lIns="0" tIns="0" rIns="0" bIns="0" rtlCol="0" anchor="ctr"/>
          <a:lstStyle/>
          <a:p>
            <a:pPr indent="0" marL="0">
              <a:buNone/>
            </a:pPr>
            <a:r>
              <a:rPr lang="en-US" sz="1050" dirty="0">
                <a:solidFill>
                  <a:srgbClr val="767676"/>
                </a:solidFill>
                <a:latin typeface="Arial" pitchFamily="34" charset="0"/>
                <a:ea typeface="Arial" pitchFamily="34" charset="-122"/>
                <a:cs typeface="Arial" pitchFamily="34" charset="-120"/>
              </a:rPr>
              <a:t>Fair</a:t>
            </a:r>
            <a:endParaRPr lang="en-US" sz="1050" dirty="0"/>
          </a:p>
        </p:txBody>
      </p:sp>
      <p:sp>
        <p:nvSpPr>
          <p:cNvPr id="14" name="shape-482"/>
          <p:cNvSpPr/>
          <p:nvPr/>
        </p:nvSpPr>
        <p:spPr>
          <a:xfrm>
            <a:off x="3822192" y="5678424"/>
            <a:ext cx="164592" cy="164592"/>
          </a:xfrm>
          <a:prstGeom prst="ellipse">
            <a:avLst/>
          </a:prstGeom>
          <a:solidFill>
            <a:srgbClr val="FF8C0A"/>
          </a:solidFill>
          <a:ln w="12700">
            <a:solidFill>
              <a:srgbClr val="FF8C0A"/>
            </a:solidFill>
            <a:prstDash val="solid"/>
          </a:ln>
        </p:spPr>
      </p:sp>
      <p:sp>
        <p:nvSpPr>
          <p:cNvPr id="15" name="text-483"/>
          <p:cNvSpPr txBox="1"/>
          <p:nvPr/>
        </p:nvSpPr>
        <p:spPr>
          <a:xfrm>
            <a:off x="4023360" y="5559552"/>
            <a:ext cx="603504" cy="402336"/>
          </a:xfrm>
          <a:prstGeom prst="rect">
            <a:avLst/>
          </a:prstGeom>
          <a:noFill/>
          <a:ln/>
        </p:spPr>
        <p:txBody>
          <a:bodyPr wrap="square" lIns="0" tIns="0" rIns="0" bIns="0" rtlCol="0" anchor="ctr"/>
          <a:lstStyle/>
          <a:p>
            <a:pPr indent="0" marL="0">
              <a:buNone/>
            </a:pPr>
            <a:r>
              <a:rPr lang="en-US" sz="1050" dirty="0">
                <a:solidFill>
                  <a:srgbClr val="767676"/>
                </a:solidFill>
                <a:latin typeface="Arial" pitchFamily="34" charset="0"/>
                <a:ea typeface="Arial" pitchFamily="34" charset="-122"/>
                <a:cs typeface="Arial" pitchFamily="34" charset="-120"/>
              </a:rPr>
              <a:t>Poor</a:t>
            </a:r>
            <a:endParaRPr lang="en-US" sz="1050" dirty="0"/>
          </a:p>
        </p:txBody>
      </p:sp>
      <p:sp>
        <p:nvSpPr>
          <p:cNvPr id="16" name="shape-484"/>
          <p:cNvSpPr/>
          <p:nvPr/>
        </p:nvSpPr>
        <p:spPr>
          <a:xfrm>
            <a:off x="4608576" y="5678424"/>
            <a:ext cx="164592" cy="164592"/>
          </a:xfrm>
          <a:prstGeom prst="ellipse">
            <a:avLst/>
          </a:prstGeom>
          <a:solidFill>
            <a:srgbClr val="FF3232"/>
          </a:solidFill>
          <a:ln w="12700">
            <a:solidFill>
              <a:srgbClr val="FF3232"/>
            </a:solidFill>
            <a:prstDash val="solid"/>
          </a:ln>
        </p:spPr>
      </p:sp>
      <p:sp>
        <p:nvSpPr>
          <p:cNvPr id="17" name="text-485"/>
          <p:cNvSpPr txBox="1"/>
          <p:nvPr/>
        </p:nvSpPr>
        <p:spPr>
          <a:xfrm>
            <a:off x="4809744" y="5559552"/>
            <a:ext cx="603504" cy="402336"/>
          </a:xfrm>
          <a:prstGeom prst="rect">
            <a:avLst/>
          </a:prstGeom>
          <a:noFill/>
          <a:ln/>
        </p:spPr>
        <p:txBody>
          <a:bodyPr wrap="square" lIns="0" tIns="0" rIns="0" bIns="0" rtlCol="0" anchor="ctr"/>
          <a:lstStyle/>
          <a:p>
            <a:pPr indent="0" marL="0">
              <a:buNone/>
            </a:pPr>
            <a:r>
              <a:rPr lang="en-US" sz="1050" dirty="0">
                <a:solidFill>
                  <a:srgbClr val="767676"/>
                </a:solidFill>
                <a:latin typeface="Arial" pitchFamily="34" charset="0"/>
                <a:ea typeface="Arial" pitchFamily="34" charset="-122"/>
                <a:cs typeface="Arial" pitchFamily="34" charset="-120"/>
              </a:rPr>
              <a:t>Bad</a:t>
            </a:r>
            <a:endParaRPr lang="en-US" sz="1050" dirty="0"/>
          </a:p>
        </p:txBody>
      </p:sp>
      <p:sp>
        <p:nvSpPr>
          <p:cNvPr id="18" name="text-486"/>
          <p:cNvSpPr txBox="1"/>
          <p:nvPr/>
        </p:nvSpPr>
        <p:spPr>
          <a:xfrm>
            <a:off x="6035040" y="1645920"/>
            <a:ext cx="5486400" cy="274320"/>
          </a:xfrm>
          <a:prstGeom prst="rect">
            <a:avLst/>
          </a:prstGeom>
          <a:noFill/>
          <a:ln/>
        </p:spPr>
        <p:txBody>
          <a:bodyPr wrap="square" lIns="0" tIns="0" rIns="0" bIns="0" rtlCol="0" anchor="ctr"/>
          <a:lstStyle/>
          <a:p>
            <a:pPr indent="0" marL="0">
              <a:buNone/>
            </a:pPr>
            <a:r>
              <a:rPr lang="en-US" sz="1100" b="1" spc="100" kern="0" dirty="0">
                <a:solidFill>
                  <a:srgbClr val="767676"/>
                </a:solidFill>
                <a:latin typeface="Arial" pitchFamily="34" charset="0"/>
                <a:ea typeface="Arial" pitchFamily="34" charset="-122"/>
                <a:cs typeface="Arial" pitchFamily="34" charset="-120"/>
              </a:rPr>
              <a:t>SUMMARY</a:t>
            </a:r>
            <a:endParaRPr lang="en-US" sz="1100" dirty="0"/>
          </a:p>
        </p:txBody>
      </p:sp>
      <p:sp>
        <p:nvSpPr>
          <p:cNvPr id="19" name="shape-487"/>
          <p:cNvSpPr/>
          <p:nvPr/>
        </p:nvSpPr>
        <p:spPr>
          <a:xfrm>
            <a:off x="6035040" y="1965960"/>
            <a:ext cx="1783080" cy="566928"/>
          </a:xfrm>
          <a:prstGeom prst="roundRect">
            <a:avLst>
              <a:gd name="adj" fmla="val 16129"/>
            </a:avLst>
          </a:prstGeom>
          <a:solidFill>
            <a:srgbClr val="F2F2F2"/>
          </a:solidFill>
          <a:ln w="12700">
            <a:solidFill>
              <a:srgbClr val="F2F2F2"/>
            </a:solidFill>
            <a:prstDash val="solid"/>
          </a:ln>
        </p:spPr>
      </p:sp>
      <p:pic>
        <p:nvPicPr>
          <p:cNvPr id="20" name="icon-488" descr="preencoded.png">    </p:cNvPr>
          <p:cNvPicPr>
            <a:picLocks noChangeAspect="1"/>
          </p:cNvPicPr>
          <p:nvPr/>
        </p:nvPicPr>
        <p:blipFill>
          <a:blip r:embed="rId2"/>
          <a:stretch>
            <a:fillRect/>
          </a:stretch>
        </p:blipFill>
        <p:spPr>
          <a:xfrm>
            <a:off x="6144768" y="2112264"/>
            <a:ext cx="274320" cy="274320"/>
          </a:xfrm>
          <a:prstGeom prst="rect">
            <a:avLst/>
          </a:prstGeom>
        </p:spPr>
      </p:pic>
      <p:sp>
        <p:nvSpPr>
          <p:cNvPr id="21" name="text-489"/>
          <p:cNvSpPr txBox="1"/>
          <p:nvPr/>
        </p:nvSpPr>
        <p:spPr>
          <a:xfrm>
            <a:off x="6492240" y="1965960"/>
            <a:ext cx="1280160" cy="566928"/>
          </a:xfrm>
          <a:prstGeom prst="rect">
            <a:avLst/>
          </a:prstGeom>
          <a:noFill/>
          <a:ln/>
        </p:spPr>
        <p:txBody>
          <a:bodyPr wrap="square" lIns="0" tIns="0" rIns="0" bIns="0" rtlCol="0" anchor="ctr"/>
          <a:lstStyle/>
          <a:p>
            <a:pPr indent="0" marL="0">
              <a:buNone/>
            </a:pPr>
            <a:r>
              <a:rPr lang="en-US" sz="1150" dirty="0">
                <a:solidFill>
                  <a:srgbClr val="242424"/>
                </a:solidFill>
                <a:latin typeface="Arial" pitchFamily="34" charset="0"/>
                <a:ea typeface="Arial" pitchFamily="34" charset="-122"/>
                <a:cs typeface="Arial" pitchFamily="34" charset="-120"/>
              </a:rPr>
              <a:t>Overview</a:t>
            </a:r>
            <a:endParaRPr lang="en-US" sz="1150" dirty="0"/>
          </a:p>
        </p:txBody>
      </p:sp>
      <p:sp>
        <p:nvSpPr>
          <p:cNvPr id="22" name="shape-490"/>
          <p:cNvSpPr/>
          <p:nvPr/>
        </p:nvSpPr>
        <p:spPr>
          <a:xfrm>
            <a:off x="7946136" y="1965960"/>
            <a:ext cx="1783080" cy="566928"/>
          </a:xfrm>
          <a:prstGeom prst="roundRect">
            <a:avLst>
              <a:gd name="adj" fmla="val 16129"/>
            </a:avLst>
          </a:prstGeom>
          <a:solidFill>
            <a:srgbClr val="F2F2F2"/>
          </a:solidFill>
          <a:ln w="12700">
            <a:solidFill>
              <a:srgbClr val="F2F2F2"/>
            </a:solidFill>
            <a:prstDash val="solid"/>
          </a:ln>
        </p:spPr>
      </p:sp>
      <p:pic>
        <p:nvPicPr>
          <p:cNvPr id="23" name="icon-491" descr="preencoded.png">    </p:cNvPr>
          <p:cNvPicPr>
            <a:picLocks noChangeAspect="1"/>
          </p:cNvPicPr>
          <p:nvPr/>
        </p:nvPicPr>
        <p:blipFill>
          <a:blip r:embed="rId3"/>
          <a:stretch>
            <a:fillRect/>
          </a:stretch>
        </p:blipFill>
        <p:spPr>
          <a:xfrm>
            <a:off x="8055864" y="2112264"/>
            <a:ext cx="274320" cy="274320"/>
          </a:xfrm>
          <a:prstGeom prst="rect">
            <a:avLst/>
          </a:prstGeom>
        </p:spPr>
      </p:pic>
      <p:sp>
        <p:nvSpPr>
          <p:cNvPr id="24" name="text-492"/>
          <p:cNvSpPr txBox="1"/>
          <p:nvPr/>
        </p:nvSpPr>
        <p:spPr>
          <a:xfrm>
            <a:off x="8403336" y="1965960"/>
            <a:ext cx="1280160" cy="566928"/>
          </a:xfrm>
          <a:prstGeom prst="rect">
            <a:avLst/>
          </a:prstGeom>
          <a:noFill/>
          <a:ln/>
        </p:spPr>
        <p:txBody>
          <a:bodyPr wrap="square" lIns="0" tIns="0" rIns="0" bIns="0" rtlCol="0" anchor="ctr"/>
          <a:lstStyle/>
          <a:p>
            <a:pPr indent="0" marL="0">
              <a:buNone/>
            </a:pPr>
            <a:r>
              <a:rPr lang="en-US" sz="1150" dirty="0">
                <a:solidFill>
                  <a:srgbClr val="242424"/>
                </a:solidFill>
                <a:latin typeface="Arial" pitchFamily="34" charset="0"/>
                <a:ea typeface="Arial" pitchFamily="34" charset="-122"/>
                <a:cs typeface="Arial" pitchFamily="34" charset="-120"/>
              </a:rPr>
              <a:t>Key Findings</a:t>
            </a:r>
            <a:endParaRPr lang="en-US" sz="1150" dirty="0"/>
          </a:p>
        </p:txBody>
      </p:sp>
      <p:sp>
        <p:nvSpPr>
          <p:cNvPr id="25" name="text-493"/>
          <p:cNvSpPr txBox="1"/>
          <p:nvPr/>
        </p:nvSpPr>
        <p:spPr>
          <a:xfrm>
            <a:off x="6035040" y="2788920"/>
            <a:ext cx="5486400" cy="274320"/>
          </a:xfrm>
          <a:prstGeom prst="rect">
            <a:avLst/>
          </a:prstGeom>
          <a:noFill/>
          <a:ln/>
        </p:spPr>
        <p:txBody>
          <a:bodyPr wrap="square" lIns="0" tIns="0" rIns="0" bIns="0" rtlCol="0" anchor="ctr"/>
          <a:lstStyle/>
          <a:p>
            <a:pPr indent="0" marL="0">
              <a:buNone/>
            </a:pPr>
            <a:r>
              <a:rPr lang="en-US" sz="1100" b="1" spc="100" kern="0" dirty="0">
                <a:solidFill>
                  <a:srgbClr val="767676"/>
                </a:solidFill>
                <a:latin typeface="Arial" pitchFamily="34" charset="0"/>
                <a:ea typeface="Arial" pitchFamily="34" charset="-122"/>
                <a:cs typeface="Arial" pitchFamily="34" charset="-120"/>
              </a:rPr>
              <a:t>RADIO PERFORMANCE</a:t>
            </a:r>
            <a:endParaRPr lang="en-US" sz="1100" dirty="0"/>
          </a:p>
        </p:txBody>
      </p:sp>
      <p:sp>
        <p:nvSpPr>
          <p:cNvPr id="26" name="shape-494"/>
          <p:cNvSpPr/>
          <p:nvPr/>
        </p:nvSpPr>
        <p:spPr>
          <a:xfrm>
            <a:off x="6035040" y="3108960"/>
            <a:ext cx="1783080" cy="566928"/>
          </a:xfrm>
          <a:prstGeom prst="roundRect">
            <a:avLst>
              <a:gd name="adj" fmla="val 16129"/>
            </a:avLst>
          </a:prstGeom>
          <a:solidFill>
            <a:srgbClr val="F2F2F2"/>
          </a:solidFill>
          <a:ln w="12700">
            <a:solidFill>
              <a:srgbClr val="F2F2F2"/>
            </a:solidFill>
            <a:prstDash val="solid"/>
          </a:ln>
        </p:spPr>
      </p:sp>
      <p:pic>
        <p:nvPicPr>
          <p:cNvPr id="27" name="icon-495" descr="preencoded.png">    </p:cNvPr>
          <p:cNvPicPr>
            <a:picLocks noChangeAspect="1"/>
          </p:cNvPicPr>
          <p:nvPr/>
        </p:nvPicPr>
        <p:blipFill>
          <a:blip r:embed="rId4"/>
          <a:stretch>
            <a:fillRect/>
          </a:stretch>
        </p:blipFill>
        <p:spPr>
          <a:xfrm>
            <a:off x="6144768" y="3255264"/>
            <a:ext cx="274320" cy="274320"/>
          </a:xfrm>
          <a:prstGeom prst="rect">
            <a:avLst/>
          </a:prstGeom>
        </p:spPr>
      </p:pic>
      <p:sp>
        <p:nvSpPr>
          <p:cNvPr id="28" name="text-496"/>
          <p:cNvSpPr txBox="1"/>
          <p:nvPr/>
        </p:nvSpPr>
        <p:spPr>
          <a:xfrm>
            <a:off x="6492240" y="3108960"/>
            <a:ext cx="1280160" cy="566928"/>
          </a:xfrm>
          <a:prstGeom prst="rect">
            <a:avLst/>
          </a:prstGeom>
          <a:noFill/>
          <a:ln/>
        </p:spPr>
        <p:txBody>
          <a:bodyPr wrap="square" lIns="0" tIns="0" rIns="0" bIns="0" rtlCol="0" anchor="ctr"/>
          <a:lstStyle/>
          <a:p>
            <a:pPr indent="0" marL="0">
              <a:buNone/>
            </a:pPr>
            <a:r>
              <a:rPr lang="en-US" sz="1150" dirty="0">
                <a:solidFill>
                  <a:srgbClr val="242424"/>
                </a:solidFill>
                <a:latin typeface="Arial" pitchFamily="34" charset="0"/>
                <a:ea typeface="Arial" pitchFamily="34" charset="-122"/>
                <a:cs typeface="Arial" pitchFamily="34" charset="-120"/>
              </a:rPr>
              <a:t>Coverage &amp; Interference Maps</a:t>
            </a:r>
            <a:endParaRPr lang="en-US" sz="1150" dirty="0"/>
          </a:p>
        </p:txBody>
      </p:sp>
      <p:sp>
        <p:nvSpPr>
          <p:cNvPr id="29" name="shape-497"/>
          <p:cNvSpPr/>
          <p:nvPr/>
        </p:nvSpPr>
        <p:spPr>
          <a:xfrm>
            <a:off x="7946136" y="3108960"/>
            <a:ext cx="1783080" cy="566928"/>
          </a:xfrm>
          <a:prstGeom prst="roundRect">
            <a:avLst>
              <a:gd name="adj" fmla="val 16129"/>
            </a:avLst>
          </a:prstGeom>
          <a:solidFill>
            <a:srgbClr val="F2F2F2"/>
          </a:solidFill>
          <a:ln w="12700">
            <a:solidFill>
              <a:srgbClr val="F2F2F2"/>
            </a:solidFill>
            <a:prstDash val="solid"/>
          </a:ln>
        </p:spPr>
      </p:sp>
      <p:pic>
        <p:nvPicPr>
          <p:cNvPr id="30" name="icon-498" descr="preencoded.png">    </p:cNvPr>
          <p:cNvPicPr>
            <a:picLocks noChangeAspect="1"/>
          </p:cNvPicPr>
          <p:nvPr/>
        </p:nvPicPr>
        <p:blipFill>
          <a:blip r:embed="rId5"/>
          <a:stretch>
            <a:fillRect/>
          </a:stretch>
        </p:blipFill>
        <p:spPr>
          <a:xfrm>
            <a:off x="8055864" y="3255264"/>
            <a:ext cx="274320" cy="274320"/>
          </a:xfrm>
          <a:prstGeom prst="rect">
            <a:avLst/>
          </a:prstGeom>
        </p:spPr>
      </p:pic>
      <p:sp>
        <p:nvSpPr>
          <p:cNvPr id="31" name="text-499"/>
          <p:cNvSpPr txBox="1"/>
          <p:nvPr/>
        </p:nvSpPr>
        <p:spPr>
          <a:xfrm>
            <a:off x="8403336" y="3108960"/>
            <a:ext cx="1280160" cy="566928"/>
          </a:xfrm>
          <a:prstGeom prst="rect">
            <a:avLst/>
          </a:prstGeom>
          <a:noFill/>
          <a:ln/>
        </p:spPr>
        <p:txBody>
          <a:bodyPr wrap="square" lIns="0" tIns="0" rIns="0" bIns="0" rtlCol="0" anchor="ctr"/>
          <a:lstStyle/>
          <a:p>
            <a:pPr indent="0" marL="0">
              <a:buNone/>
            </a:pPr>
            <a:r>
              <a:rPr lang="en-US" sz="1150" dirty="0">
                <a:solidFill>
                  <a:srgbClr val="242424"/>
                </a:solidFill>
                <a:latin typeface="Arial" pitchFamily="34" charset="0"/>
                <a:ea typeface="Arial" pitchFamily="34" charset="-122"/>
                <a:cs typeface="Arial" pitchFamily="34" charset="-120"/>
              </a:rPr>
              <a:t>RSRP &amp; SINR Quality</a:t>
            </a:r>
            <a:endParaRPr lang="en-US" sz="1150" dirty="0"/>
          </a:p>
        </p:txBody>
      </p:sp>
      <p:sp>
        <p:nvSpPr>
          <p:cNvPr id="32" name="shape-500"/>
          <p:cNvSpPr/>
          <p:nvPr/>
        </p:nvSpPr>
        <p:spPr>
          <a:xfrm>
            <a:off x="9857232" y="3108960"/>
            <a:ext cx="1783080" cy="566928"/>
          </a:xfrm>
          <a:prstGeom prst="roundRect">
            <a:avLst>
              <a:gd name="adj" fmla="val 16129"/>
            </a:avLst>
          </a:prstGeom>
          <a:solidFill>
            <a:srgbClr val="F2F2F2"/>
          </a:solidFill>
          <a:ln w="12700">
            <a:solidFill>
              <a:srgbClr val="F2F2F2"/>
            </a:solidFill>
            <a:prstDash val="solid"/>
          </a:ln>
        </p:spPr>
      </p:sp>
      <p:pic>
        <p:nvPicPr>
          <p:cNvPr id="33" name="icon-501" descr="preencoded.png">    </p:cNvPr>
          <p:cNvPicPr>
            <a:picLocks noChangeAspect="1"/>
          </p:cNvPicPr>
          <p:nvPr/>
        </p:nvPicPr>
        <p:blipFill>
          <a:blip r:embed="rId6"/>
          <a:stretch>
            <a:fillRect/>
          </a:stretch>
        </p:blipFill>
        <p:spPr>
          <a:xfrm>
            <a:off x="9966960" y="3255264"/>
            <a:ext cx="274320" cy="274320"/>
          </a:xfrm>
          <a:prstGeom prst="rect">
            <a:avLst/>
          </a:prstGeom>
        </p:spPr>
      </p:pic>
      <p:sp>
        <p:nvSpPr>
          <p:cNvPr id="34" name="text-502"/>
          <p:cNvSpPr txBox="1"/>
          <p:nvPr/>
        </p:nvSpPr>
        <p:spPr>
          <a:xfrm>
            <a:off x="10314432" y="3108960"/>
            <a:ext cx="1280160" cy="566928"/>
          </a:xfrm>
          <a:prstGeom prst="rect">
            <a:avLst/>
          </a:prstGeom>
          <a:noFill/>
          <a:ln/>
        </p:spPr>
        <p:txBody>
          <a:bodyPr wrap="square" lIns="0" tIns="0" rIns="0" bIns="0" rtlCol="0" anchor="ctr"/>
          <a:lstStyle/>
          <a:p>
            <a:pPr indent="0" marL="0">
              <a:buNone/>
            </a:pPr>
            <a:r>
              <a:rPr lang="en-US" sz="1150" dirty="0">
                <a:solidFill>
                  <a:srgbClr val="242424"/>
                </a:solidFill>
                <a:latin typeface="Arial" pitchFamily="34" charset="0"/>
                <a:ea typeface="Arial" pitchFamily="34" charset="-122"/>
                <a:cs typeface="Arial" pitchFamily="34" charset="-120"/>
              </a:rPr>
              <a:t>Latency &amp; Interactivity</a:t>
            </a:r>
            <a:endParaRPr lang="en-US" sz="1150" dirty="0"/>
          </a:p>
        </p:txBody>
      </p:sp>
      <p:sp>
        <p:nvSpPr>
          <p:cNvPr id="35" name="shape-503"/>
          <p:cNvSpPr/>
          <p:nvPr/>
        </p:nvSpPr>
        <p:spPr>
          <a:xfrm>
            <a:off x="6035040" y="3794760"/>
            <a:ext cx="1783080" cy="566928"/>
          </a:xfrm>
          <a:prstGeom prst="roundRect">
            <a:avLst>
              <a:gd name="adj" fmla="val 16129"/>
            </a:avLst>
          </a:prstGeom>
          <a:solidFill>
            <a:srgbClr val="F2F2F2"/>
          </a:solidFill>
          <a:ln w="12700">
            <a:solidFill>
              <a:srgbClr val="F2F2F2"/>
            </a:solidFill>
            <a:prstDash val="solid"/>
          </a:ln>
        </p:spPr>
      </p:sp>
      <p:pic>
        <p:nvPicPr>
          <p:cNvPr id="36" name="icon-504" descr="preencoded.png">    </p:cNvPr>
          <p:cNvPicPr>
            <a:picLocks noChangeAspect="1"/>
          </p:cNvPicPr>
          <p:nvPr/>
        </p:nvPicPr>
        <p:blipFill>
          <a:blip r:embed="rId7"/>
          <a:stretch>
            <a:fillRect/>
          </a:stretch>
        </p:blipFill>
        <p:spPr>
          <a:xfrm>
            <a:off x="6144768" y="3941064"/>
            <a:ext cx="274320" cy="274320"/>
          </a:xfrm>
          <a:prstGeom prst="rect">
            <a:avLst/>
          </a:prstGeom>
        </p:spPr>
      </p:pic>
      <p:sp>
        <p:nvSpPr>
          <p:cNvPr id="37" name="text-505"/>
          <p:cNvSpPr txBox="1"/>
          <p:nvPr/>
        </p:nvSpPr>
        <p:spPr>
          <a:xfrm>
            <a:off x="6492240" y="3794760"/>
            <a:ext cx="1280160" cy="566928"/>
          </a:xfrm>
          <a:prstGeom prst="rect">
            <a:avLst/>
          </a:prstGeom>
          <a:noFill/>
          <a:ln/>
        </p:spPr>
        <p:txBody>
          <a:bodyPr wrap="square" lIns="0" tIns="0" rIns="0" bIns="0" rtlCol="0" anchor="ctr"/>
          <a:lstStyle/>
          <a:p>
            <a:pPr indent="0" marL="0">
              <a:buNone/>
            </a:pPr>
            <a:r>
              <a:rPr lang="en-US" sz="1150" dirty="0">
                <a:solidFill>
                  <a:srgbClr val="242424"/>
                </a:solidFill>
                <a:latin typeface="Arial" pitchFamily="34" charset="0"/>
                <a:ea typeface="Arial" pitchFamily="34" charset="-122"/>
                <a:cs typeface="Arial" pitchFamily="34" charset="-120"/>
              </a:rPr>
              <a:t>Serving Cells</a:t>
            </a:r>
            <a:endParaRPr lang="en-US" sz="1150" dirty="0"/>
          </a:p>
        </p:txBody>
      </p:sp>
      <p:sp>
        <p:nvSpPr>
          <p:cNvPr id="38" name="shape-506"/>
          <p:cNvSpPr/>
          <p:nvPr/>
        </p:nvSpPr>
        <p:spPr>
          <a:xfrm>
            <a:off x="7946136" y="3794760"/>
            <a:ext cx="1783080" cy="566928"/>
          </a:xfrm>
          <a:prstGeom prst="roundRect">
            <a:avLst>
              <a:gd name="adj" fmla="val 16129"/>
            </a:avLst>
          </a:prstGeom>
          <a:solidFill>
            <a:srgbClr val="F2F2F2"/>
          </a:solidFill>
          <a:ln w="12700">
            <a:solidFill>
              <a:srgbClr val="F2F2F2"/>
            </a:solidFill>
            <a:prstDash val="solid"/>
          </a:ln>
        </p:spPr>
      </p:sp>
      <p:pic>
        <p:nvPicPr>
          <p:cNvPr id="39" name="icon-507" descr="preencoded.png">    </p:cNvPr>
          <p:cNvPicPr>
            <a:picLocks noChangeAspect="1"/>
          </p:cNvPicPr>
          <p:nvPr/>
        </p:nvPicPr>
        <p:blipFill>
          <a:blip r:embed="rId8"/>
          <a:stretch>
            <a:fillRect/>
          </a:stretch>
        </p:blipFill>
        <p:spPr>
          <a:xfrm>
            <a:off x="8055864" y="3941064"/>
            <a:ext cx="274320" cy="274320"/>
          </a:xfrm>
          <a:prstGeom prst="rect">
            <a:avLst/>
          </a:prstGeom>
        </p:spPr>
      </p:pic>
      <p:sp>
        <p:nvSpPr>
          <p:cNvPr id="40" name="text-508"/>
          <p:cNvSpPr txBox="1"/>
          <p:nvPr/>
        </p:nvSpPr>
        <p:spPr>
          <a:xfrm>
            <a:off x="8403336" y="3794760"/>
            <a:ext cx="1280160" cy="566928"/>
          </a:xfrm>
          <a:prstGeom prst="rect">
            <a:avLst/>
          </a:prstGeom>
          <a:noFill/>
          <a:ln/>
        </p:spPr>
        <p:txBody>
          <a:bodyPr wrap="square" lIns="0" tIns="0" rIns="0" bIns="0" rtlCol="0" anchor="ctr"/>
          <a:lstStyle/>
          <a:p>
            <a:pPr indent="0" marL="0">
              <a:buNone/>
            </a:pPr>
            <a:r>
              <a:rPr lang="en-US" sz="1150" dirty="0">
                <a:solidFill>
                  <a:srgbClr val="242424"/>
                </a:solidFill>
                <a:latin typeface="Arial" pitchFamily="34" charset="0"/>
                <a:ea typeface="Arial" pitchFamily="34" charset="-122"/>
                <a:cs typeface="Arial" pitchFamily="34" charset="-120"/>
              </a:rPr>
              <a:t>5G Availability</a:t>
            </a:r>
            <a:endParaRPr lang="en-US" sz="1150" dirty="0"/>
          </a:p>
        </p:txBody>
      </p:sp>
      <p:sp>
        <p:nvSpPr>
          <p:cNvPr id="41" name="text-509"/>
          <p:cNvSpPr txBox="1"/>
          <p:nvPr/>
        </p:nvSpPr>
        <p:spPr>
          <a:xfrm>
            <a:off x="6035040" y="4617720"/>
            <a:ext cx="5486400" cy="274320"/>
          </a:xfrm>
          <a:prstGeom prst="rect">
            <a:avLst/>
          </a:prstGeom>
          <a:noFill/>
          <a:ln/>
        </p:spPr>
        <p:txBody>
          <a:bodyPr wrap="square" lIns="0" tIns="0" rIns="0" bIns="0" rtlCol="0" anchor="ctr"/>
          <a:lstStyle/>
          <a:p>
            <a:pPr indent="0" marL="0">
              <a:buNone/>
            </a:pPr>
            <a:r>
              <a:rPr lang="en-US" sz="1100" b="1" spc="100" kern="0" dirty="0">
                <a:solidFill>
                  <a:srgbClr val="767676"/>
                </a:solidFill>
                <a:latin typeface="Arial" pitchFamily="34" charset="0"/>
                <a:ea typeface="Arial" pitchFamily="34" charset="-122"/>
                <a:cs typeface="Arial" pitchFamily="34" charset="-120"/>
              </a:rPr>
              <a:t>NETWORK &amp; SPECTRUM</a:t>
            </a:r>
            <a:endParaRPr lang="en-US" sz="1100" dirty="0"/>
          </a:p>
        </p:txBody>
      </p:sp>
      <p:sp>
        <p:nvSpPr>
          <p:cNvPr id="42" name="shape-510"/>
          <p:cNvSpPr/>
          <p:nvPr/>
        </p:nvSpPr>
        <p:spPr>
          <a:xfrm>
            <a:off x="6035040" y="4937760"/>
            <a:ext cx="1783080" cy="566928"/>
          </a:xfrm>
          <a:prstGeom prst="roundRect">
            <a:avLst>
              <a:gd name="adj" fmla="val 16129"/>
            </a:avLst>
          </a:prstGeom>
          <a:solidFill>
            <a:srgbClr val="F2F2F2"/>
          </a:solidFill>
          <a:ln w="12700">
            <a:solidFill>
              <a:srgbClr val="F2F2F2"/>
            </a:solidFill>
            <a:prstDash val="solid"/>
          </a:ln>
        </p:spPr>
      </p:sp>
      <p:pic>
        <p:nvPicPr>
          <p:cNvPr id="43" name="icon-511" descr="preencoded.png">    </p:cNvPr>
          <p:cNvPicPr>
            <a:picLocks noChangeAspect="1"/>
          </p:cNvPicPr>
          <p:nvPr/>
        </p:nvPicPr>
        <p:blipFill>
          <a:blip r:embed="rId9"/>
          <a:stretch>
            <a:fillRect/>
          </a:stretch>
        </p:blipFill>
        <p:spPr>
          <a:xfrm>
            <a:off x="6144768" y="5084064"/>
            <a:ext cx="274320" cy="274320"/>
          </a:xfrm>
          <a:prstGeom prst="rect">
            <a:avLst/>
          </a:prstGeom>
        </p:spPr>
      </p:pic>
      <p:sp>
        <p:nvSpPr>
          <p:cNvPr id="44" name="text-512"/>
          <p:cNvSpPr txBox="1"/>
          <p:nvPr/>
        </p:nvSpPr>
        <p:spPr>
          <a:xfrm>
            <a:off x="6492240" y="4937760"/>
            <a:ext cx="1280160" cy="566928"/>
          </a:xfrm>
          <a:prstGeom prst="rect">
            <a:avLst/>
          </a:prstGeom>
          <a:noFill/>
          <a:ln/>
        </p:spPr>
        <p:txBody>
          <a:bodyPr wrap="square" lIns="0" tIns="0" rIns="0" bIns="0" rtlCol="0" anchor="ctr"/>
          <a:lstStyle/>
          <a:p>
            <a:pPr indent="0" marL="0">
              <a:buNone/>
            </a:pPr>
            <a:r>
              <a:rPr lang="en-US" sz="1150" dirty="0">
                <a:solidFill>
                  <a:srgbClr val="242424"/>
                </a:solidFill>
                <a:latin typeface="Arial" pitchFamily="34" charset="0"/>
                <a:ea typeface="Arial" pitchFamily="34" charset="-122"/>
                <a:cs typeface="Arial" pitchFamily="34" charset="-120"/>
              </a:rPr>
              <a:t>Network Snapshot</a:t>
            </a:r>
            <a:endParaRPr lang="en-US" sz="1150" dirty="0"/>
          </a:p>
        </p:txBody>
      </p:sp>
      <p:sp>
        <p:nvSpPr>
          <p:cNvPr id="45" name="shape-513"/>
          <p:cNvSpPr/>
          <p:nvPr/>
        </p:nvSpPr>
        <p:spPr>
          <a:xfrm>
            <a:off x="7946136" y="4937760"/>
            <a:ext cx="1783080" cy="566928"/>
          </a:xfrm>
          <a:prstGeom prst="roundRect">
            <a:avLst>
              <a:gd name="adj" fmla="val 16129"/>
            </a:avLst>
          </a:prstGeom>
          <a:solidFill>
            <a:srgbClr val="F2F2F2"/>
          </a:solidFill>
          <a:ln w="12700">
            <a:solidFill>
              <a:srgbClr val="F2F2F2"/>
            </a:solidFill>
            <a:prstDash val="solid"/>
          </a:ln>
        </p:spPr>
      </p:sp>
      <p:pic>
        <p:nvPicPr>
          <p:cNvPr id="46" name="icon-514" descr="preencoded.png">    </p:cNvPr>
          <p:cNvPicPr>
            <a:picLocks noChangeAspect="1"/>
          </p:cNvPicPr>
          <p:nvPr/>
        </p:nvPicPr>
        <p:blipFill>
          <a:blip r:embed="rId10"/>
          <a:stretch>
            <a:fillRect/>
          </a:stretch>
        </p:blipFill>
        <p:spPr>
          <a:xfrm>
            <a:off x="8055864" y="5084064"/>
            <a:ext cx="274320" cy="274320"/>
          </a:xfrm>
          <a:prstGeom prst="rect">
            <a:avLst/>
          </a:prstGeom>
        </p:spPr>
      </p:pic>
      <p:sp>
        <p:nvSpPr>
          <p:cNvPr id="47" name="text-515"/>
          <p:cNvSpPr txBox="1"/>
          <p:nvPr/>
        </p:nvSpPr>
        <p:spPr>
          <a:xfrm>
            <a:off x="8403336" y="4937760"/>
            <a:ext cx="1280160" cy="566928"/>
          </a:xfrm>
          <a:prstGeom prst="rect">
            <a:avLst/>
          </a:prstGeom>
          <a:noFill/>
          <a:ln/>
        </p:spPr>
        <p:txBody>
          <a:bodyPr wrap="square" lIns="0" tIns="0" rIns="0" bIns="0" rtlCol="0" anchor="ctr"/>
          <a:lstStyle/>
          <a:p>
            <a:pPr indent="0" marL="0">
              <a:buNone/>
            </a:pPr>
            <a:r>
              <a:rPr lang="en-US" sz="1150" dirty="0">
                <a:solidFill>
                  <a:srgbClr val="242424"/>
                </a:solidFill>
                <a:latin typeface="Arial" pitchFamily="34" charset="0"/>
                <a:ea typeface="Arial" pitchFamily="34" charset="-122"/>
                <a:cs typeface="Arial" pitchFamily="34" charset="-120"/>
              </a:rPr>
              <a:t>Deployment: NNS &amp; eMOCN</a:t>
            </a:r>
            <a:endParaRPr lang="en-US" sz="1150" dirty="0"/>
          </a:p>
        </p:txBody>
      </p:sp>
      <p:sp>
        <p:nvSpPr>
          <p:cNvPr id="48" name="shape-516"/>
          <p:cNvSpPr/>
          <p:nvPr/>
        </p:nvSpPr>
        <p:spPr>
          <a:xfrm>
            <a:off x="9857232" y="4937760"/>
            <a:ext cx="1783080" cy="566928"/>
          </a:xfrm>
          <a:prstGeom prst="roundRect">
            <a:avLst>
              <a:gd name="adj" fmla="val 16129"/>
            </a:avLst>
          </a:prstGeom>
          <a:solidFill>
            <a:srgbClr val="F2F2F2"/>
          </a:solidFill>
          <a:ln w="12700">
            <a:solidFill>
              <a:srgbClr val="F2F2F2"/>
            </a:solidFill>
            <a:prstDash val="solid"/>
          </a:ln>
        </p:spPr>
      </p:sp>
      <p:pic>
        <p:nvPicPr>
          <p:cNvPr id="49" name="icon-517" descr="preencoded.png">    </p:cNvPr>
          <p:cNvPicPr>
            <a:picLocks noChangeAspect="1"/>
          </p:cNvPicPr>
          <p:nvPr/>
        </p:nvPicPr>
        <p:blipFill>
          <a:blip r:embed="rId11"/>
          <a:stretch>
            <a:fillRect/>
          </a:stretch>
        </p:blipFill>
        <p:spPr>
          <a:xfrm>
            <a:off x="9966960" y="5084064"/>
            <a:ext cx="274320" cy="274320"/>
          </a:xfrm>
          <a:prstGeom prst="rect">
            <a:avLst/>
          </a:prstGeom>
        </p:spPr>
      </p:pic>
      <p:sp>
        <p:nvSpPr>
          <p:cNvPr id="50" name="text-518"/>
          <p:cNvSpPr txBox="1"/>
          <p:nvPr/>
        </p:nvSpPr>
        <p:spPr>
          <a:xfrm>
            <a:off x="10314432" y="4937760"/>
            <a:ext cx="1280160" cy="566928"/>
          </a:xfrm>
          <a:prstGeom prst="rect">
            <a:avLst/>
          </a:prstGeom>
          <a:noFill/>
          <a:ln/>
        </p:spPr>
        <p:txBody>
          <a:bodyPr wrap="square" lIns="0" tIns="0" rIns="0" bIns="0" rtlCol="0" anchor="ctr"/>
          <a:lstStyle/>
          <a:p>
            <a:pPr indent="0" marL="0">
              <a:buNone/>
            </a:pPr>
            <a:r>
              <a:rPr lang="en-US" sz="1150" dirty="0">
                <a:solidFill>
                  <a:srgbClr val="242424"/>
                </a:solidFill>
                <a:latin typeface="Arial" pitchFamily="34" charset="0"/>
                <a:ea typeface="Arial" pitchFamily="34" charset="-122"/>
                <a:cs typeface="Arial" pitchFamily="34" charset="-120"/>
              </a:rPr>
              <a:t>Cluster Sites Density</a:t>
            </a:r>
            <a:endParaRPr lang="en-US" sz="1150" dirty="0"/>
          </a:p>
        </p:txBody>
      </p:sp>
      <p:sp>
        <p:nvSpPr>
          <p:cNvPr id="51" name="shape-519"/>
          <p:cNvSpPr/>
          <p:nvPr/>
        </p:nvSpPr>
        <p:spPr>
          <a:xfrm>
            <a:off x="6035040" y="5623560"/>
            <a:ext cx="1783080" cy="566928"/>
          </a:xfrm>
          <a:prstGeom prst="roundRect">
            <a:avLst>
              <a:gd name="adj" fmla="val 16129"/>
            </a:avLst>
          </a:prstGeom>
          <a:solidFill>
            <a:srgbClr val="F2F2F2"/>
          </a:solidFill>
          <a:ln w="12700">
            <a:solidFill>
              <a:srgbClr val="F2F2F2"/>
            </a:solidFill>
            <a:prstDash val="solid"/>
          </a:ln>
        </p:spPr>
      </p:sp>
      <p:pic>
        <p:nvPicPr>
          <p:cNvPr id="52" name="icon-520" descr="preencoded.png">    </p:cNvPr>
          <p:cNvPicPr>
            <a:picLocks noChangeAspect="1"/>
          </p:cNvPicPr>
          <p:nvPr/>
        </p:nvPicPr>
        <p:blipFill>
          <a:blip r:embed="rId12"/>
          <a:stretch>
            <a:fillRect/>
          </a:stretch>
        </p:blipFill>
        <p:spPr>
          <a:xfrm>
            <a:off x="6144768" y="5769864"/>
            <a:ext cx="274320" cy="274320"/>
          </a:xfrm>
          <a:prstGeom prst="rect">
            <a:avLst/>
          </a:prstGeom>
        </p:spPr>
      </p:pic>
      <p:sp>
        <p:nvSpPr>
          <p:cNvPr id="53" name="text-521"/>
          <p:cNvSpPr txBox="1"/>
          <p:nvPr/>
        </p:nvSpPr>
        <p:spPr>
          <a:xfrm>
            <a:off x="6492240" y="5623560"/>
            <a:ext cx="1280160" cy="566928"/>
          </a:xfrm>
          <a:prstGeom prst="rect">
            <a:avLst/>
          </a:prstGeom>
          <a:noFill/>
          <a:ln/>
        </p:spPr>
        <p:txBody>
          <a:bodyPr wrap="square" lIns="0" tIns="0" rIns="0" bIns="0" rtlCol="0" anchor="ctr"/>
          <a:lstStyle/>
          <a:p>
            <a:pPr indent="0" marL="0">
              <a:buNone/>
            </a:pPr>
            <a:r>
              <a:rPr lang="en-US" sz="1150" dirty="0">
                <a:solidFill>
                  <a:srgbClr val="242424"/>
                </a:solidFill>
                <a:latin typeface="Arial" pitchFamily="34" charset="0"/>
                <a:ea typeface="Arial" pitchFamily="34" charset="-122"/>
                <a:cs typeface="Arial" pitchFamily="34" charset="-120"/>
              </a:rPr>
              <a:t>Spectrum: licensed &amp; observed</a:t>
            </a:r>
            <a:endParaRPr lang="en-US" sz="1150" dirty="0"/>
          </a:p>
        </p:txBody>
      </p:sp>
      <p:sp>
        <p:nvSpPr>
          <p:cNvPr id="25" name="Slide Number Placeholder 0"/>
          <p:cNvSpPr>
            <a:spLocks noGrp="1"/>
          </p:cNvSpPr>
          <p:nvPr>
            <p:ph type="sldNum" sz="quarter" idx="4294967295"/>
          </p:nvPr>
        </p:nvSpPr>
        <p:spPr>
          <a:xfrm>
            <a:off x="548640" y="640080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67676"/>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0424160" cy="658368"/>
          </a:xfrm>
          <a:prstGeom prst="rect">
            <a:avLst/>
          </a:prstGeom>
          <a:noFill/>
          <a:ln/>
        </p:spPr>
        <p:txBody>
          <a:bodyPr wrap="square" lIns="0" tIns="0" rIns="0" bIns="0" rtlCol="0" anchor="ctr"/>
          <a:lstStyle/>
          <a:p>
            <a:pPr algn="l" indent="0" marL="0">
              <a:buNone/>
            </a:pPr>
            <a:r>
              <a:rPr lang="en-US" sz="3000" dirty="0">
                <a:solidFill>
                  <a:srgbClr val="000000"/>
                </a:solidFill>
                <a:latin typeface="Arial" pitchFamily="34" charset="0"/>
                <a:ea typeface="Arial" pitchFamily="34" charset="-122"/>
                <a:cs typeface="Arial" pitchFamily="34" charset="-120"/>
              </a:rPr>
              <a:t>NQ Calls — </a:t>
            </a:r>
            <a:pPr algn="l" indent="0" marL="0">
              <a:buNone/>
            </a:pPr>
            <a:r>
              <a:rPr lang="en-US" sz="3000" b="1" dirty="0">
                <a:solidFill>
                  <a:srgbClr val="0068BF"/>
                </a:solidFill>
                <a:latin typeface="Arial" pitchFamily="34" charset="0"/>
                <a:ea typeface="Arial" pitchFamily="34" charset="-122"/>
                <a:cs typeface="Arial" pitchFamily="34" charset="-120"/>
              </a:rPr>
              <a:t>every failure, followed to closure</a:t>
            </a:r>
            <a:endParaRPr lang="en-US" sz="3000" dirty="0"/>
          </a:p>
        </p:txBody>
      </p:sp>
      <p:sp>
        <p:nvSpPr>
          <p:cNvPr id="3" name="text-52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dirty="0">
                <a:solidFill>
                  <a:srgbClr val="767676"/>
                </a:solidFill>
                <a:latin typeface="Arial" pitchFamily="34" charset="0"/>
                <a:ea typeface="Arial" pitchFamily="34" charset="-122"/>
                <a:cs typeface="Arial" pitchFamily="34" charset="-120"/>
              </a:rPr>
              <a:t>The NQ Analysis Center: one shared follow-up of every call and test that did not complete</a:t>
            </a:r>
            <a:endParaRPr lang="en-US" sz="1500" dirty="0"/>
          </a:p>
        </p:txBody>
      </p:sp>
      <p:sp>
        <p:nvSpPr>
          <p:cNvPr id="4" name="shape-523"/>
          <p:cNvSpPr/>
          <p:nvPr/>
        </p:nvSpPr>
        <p:spPr>
          <a:xfrm>
            <a:off x="548640" y="1600200"/>
            <a:ext cx="2606040" cy="1188720"/>
          </a:xfrm>
          <a:prstGeom prst="roundRect">
            <a:avLst>
              <a:gd name="adj" fmla="val 9231"/>
            </a:avLst>
          </a:prstGeom>
          <a:solidFill>
            <a:srgbClr val="F2F2F2"/>
          </a:solidFill>
          <a:ln w="12700">
            <a:solidFill>
              <a:srgbClr val="F2F2F2"/>
            </a:solidFill>
            <a:prstDash val="solid"/>
          </a:ln>
        </p:spPr>
      </p:sp>
      <p:sp>
        <p:nvSpPr>
          <p:cNvPr id="5" name="text-524"/>
          <p:cNvSpPr txBox="1"/>
          <p:nvPr/>
        </p:nvSpPr>
        <p:spPr>
          <a:xfrm>
            <a:off x="777240" y="1719072"/>
            <a:ext cx="2194560" cy="566928"/>
          </a:xfrm>
          <a:prstGeom prst="rect">
            <a:avLst/>
          </a:prstGeom>
          <a:noFill/>
          <a:ln/>
        </p:spPr>
        <p:txBody>
          <a:bodyPr wrap="square" lIns="0" tIns="0" rIns="0" bIns="0" rtlCol="0" anchor="ctr"/>
          <a:lstStyle/>
          <a:p>
            <a:pPr indent="0" marL="0">
              <a:buNone/>
            </a:pPr>
            <a:r>
              <a:rPr lang="en-US" sz="3400" b="1" dirty="0">
                <a:solidFill>
                  <a:srgbClr val="D92B2B"/>
                </a:solidFill>
                <a:latin typeface="Arial" pitchFamily="34" charset="0"/>
                <a:ea typeface="Arial" pitchFamily="34" charset="-122"/>
                <a:cs typeface="Arial" pitchFamily="34" charset="-120"/>
              </a:rPr>
              <a:t>48,138</a:t>
            </a:r>
            <a:endParaRPr lang="en-US" sz="3400" dirty="0"/>
          </a:p>
        </p:txBody>
      </p:sp>
      <p:sp>
        <p:nvSpPr>
          <p:cNvPr id="6" name="text-525"/>
          <p:cNvSpPr txBox="1"/>
          <p:nvPr/>
        </p:nvSpPr>
        <p:spPr>
          <a:xfrm>
            <a:off x="777240" y="2304288"/>
            <a:ext cx="2240280" cy="347472"/>
          </a:xfrm>
          <a:prstGeom prst="rect">
            <a:avLst/>
          </a:prstGeom>
          <a:noFill/>
          <a:ln/>
        </p:spPr>
        <p:txBody>
          <a:bodyPr wrap="square" lIns="0" tIns="0" rIns="0" bIns="0" rtlCol="0" anchor="ctr"/>
          <a:lstStyle/>
          <a:p>
            <a:pPr indent="0" marL="0">
              <a:buNone/>
            </a:pPr>
            <a:r>
              <a:rPr lang="en-US" sz="1200" dirty="0">
                <a:solidFill>
                  <a:srgbClr val="767676"/>
                </a:solidFill>
                <a:latin typeface="Arial" pitchFamily="34" charset="0"/>
                <a:ea typeface="Arial" pitchFamily="34" charset="-122"/>
                <a:cs typeface="Arial" pitchFamily="34" charset="-120"/>
              </a:rPr>
              <a:t>NQ calls in 9 campaigns</a:t>
            </a:r>
            <a:endParaRPr lang="en-US" sz="1200" dirty="0"/>
          </a:p>
        </p:txBody>
      </p:sp>
      <p:sp>
        <p:nvSpPr>
          <p:cNvPr id="7" name="shape-526"/>
          <p:cNvSpPr/>
          <p:nvPr/>
        </p:nvSpPr>
        <p:spPr>
          <a:xfrm>
            <a:off x="3374136" y="1600200"/>
            <a:ext cx="2606040" cy="1188720"/>
          </a:xfrm>
          <a:prstGeom prst="roundRect">
            <a:avLst>
              <a:gd name="adj" fmla="val 9231"/>
            </a:avLst>
          </a:prstGeom>
          <a:solidFill>
            <a:srgbClr val="F2F2F2"/>
          </a:solidFill>
          <a:ln w="12700">
            <a:solidFill>
              <a:srgbClr val="F2F2F2"/>
            </a:solidFill>
            <a:prstDash val="solid"/>
          </a:ln>
        </p:spPr>
      </p:sp>
      <p:sp>
        <p:nvSpPr>
          <p:cNvPr id="8" name="text-527"/>
          <p:cNvSpPr txBox="1"/>
          <p:nvPr/>
        </p:nvSpPr>
        <p:spPr>
          <a:xfrm>
            <a:off x="3602736" y="1719072"/>
            <a:ext cx="2194560" cy="566928"/>
          </a:xfrm>
          <a:prstGeom prst="rect">
            <a:avLst/>
          </a:prstGeom>
          <a:noFill/>
          <a:ln/>
        </p:spPr>
        <p:txBody>
          <a:bodyPr wrap="square" lIns="0" tIns="0" rIns="0" bIns="0" rtlCol="0" anchor="ctr"/>
          <a:lstStyle/>
          <a:p>
            <a:pPr indent="0" marL="0">
              <a:buNone/>
            </a:pPr>
            <a:r>
              <a:rPr lang="en-US" sz="3400" b="1" dirty="0">
                <a:solidFill>
                  <a:srgbClr val="0068BF"/>
                </a:solidFill>
                <a:latin typeface="Arial" pitchFamily="34" charset="0"/>
                <a:ea typeface="Arial" pitchFamily="34" charset="-122"/>
                <a:cs typeface="Arial" pitchFamily="34" charset="-120"/>
              </a:rPr>
              <a:t>2,357</a:t>
            </a:r>
            <a:endParaRPr lang="en-US" sz="3400" dirty="0"/>
          </a:p>
        </p:txBody>
      </p:sp>
      <p:sp>
        <p:nvSpPr>
          <p:cNvPr id="9" name="text-528"/>
          <p:cNvSpPr txBox="1"/>
          <p:nvPr/>
        </p:nvSpPr>
        <p:spPr>
          <a:xfrm>
            <a:off x="3602736" y="2304288"/>
            <a:ext cx="2240280" cy="347472"/>
          </a:xfrm>
          <a:prstGeom prst="rect">
            <a:avLst/>
          </a:prstGeom>
          <a:noFill/>
          <a:ln/>
        </p:spPr>
        <p:txBody>
          <a:bodyPr wrap="square" lIns="0" tIns="0" rIns="0" bIns="0" rtlCol="0" anchor="ctr"/>
          <a:lstStyle/>
          <a:p>
            <a:pPr indent="0" marL="0">
              <a:buNone/>
            </a:pPr>
            <a:r>
              <a:rPr lang="en-US" sz="1200" dirty="0">
                <a:solidFill>
                  <a:srgbClr val="767676"/>
                </a:solidFill>
                <a:latin typeface="Arial" pitchFamily="34" charset="0"/>
                <a:ea typeface="Arial" pitchFamily="34" charset="-122"/>
                <a:cs typeface="Arial" pitchFamily="34" charset="-120"/>
              </a:rPr>
              <a:t>calls with their follow-up</a:t>
            </a:r>
            <a:endParaRPr lang="en-US" sz="1200" dirty="0"/>
          </a:p>
        </p:txBody>
      </p:sp>
      <p:sp>
        <p:nvSpPr>
          <p:cNvPr id="10" name="shape-529"/>
          <p:cNvSpPr/>
          <p:nvPr/>
        </p:nvSpPr>
        <p:spPr>
          <a:xfrm>
            <a:off x="6199632" y="1600200"/>
            <a:ext cx="2606040" cy="1188720"/>
          </a:xfrm>
          <a:prstGeom prst="roundRect">
            <a:avLst>
              <a:gd name="adj" fmla="val 9231"/>
            </a:avLst>
          </a:prstGeom>
          <a:solidFill>
            <a:srgbClr val="F2F2F2"/>
          </a:solidFill>
          <a:ln w="12700">
            <a:solidFill>
              <a:srgbClr val="F2F2F2"/>
            </a:solidFill>
            <a:prstDash val="solid"/>
          </a:ln>
        </p:spPr>
      </p:sp>
      <p:sp>
        <p:nvSpPr>
          <p:cNvPr id="11" name="text-530"/>
          <p:cNvSpPr txBox="1"/>
          <p:nvPr/>
        </p:nvSpPr>
        <p:spPr>
          <a:xfrm>
            <a:off x="6428232" y="1719072"/>
            <a:ext cx="2194560" cy="566928"/>
          </a:xfrm>
          <a:prstGeom prst="rect">
            <a:avLst/>
          </a:prstGeom>
          <a:noFill/>
          <a:ln/>
        </p:spPr>
        <p:txBody>
          <a:bodyPr wrap="square" lIns="0" tIns="0" rIns="0" bIns="0" rtlCol="0" anchor="ctr"/>
          <a:lstStyle/>
          <a:p>
            <a:pPr indent="0" marL="0">
              <a:buNone/>
            </a:pPr>
            <a:r>
              <a:rPr lang="en-US" sz="3400" b="1" dirty="0">
                <a:solidFill>
                  <a:srgbClr val="0068BF"/>
                </a:solidFill>
                <a:latin typeface="Arial" pitchFamily="34" charset="0"/>
                <a:ea typeface="Arial" pitchFamily="34" charset="-122"/>
                <a:cs typeface="Arial" pitchFamily="34" charset="-120"/>
              </a:rPr>
              <a:t>2,129</a:t>
            </a:r>
            <a:endParaRPr lang="en-US" sz="3400" dirty="0"/>
          </a:p>
        </p:txBody>
      </p:sp>
      <p:sp>
        <p:nvSpPr>
          <p:cNvPr id="12" name="text-531"/>
          <p:cNvSpPr txBox="1"/>
          <p:nvPr/>
        </p:nvSpPr>
        <p:spPr>
          <a:xfrm>
            <a:off x="6428232" y="2304288"/>
            <a:ext cx="2240280" cy="347472"/>
          </a:xfrm>
          <a:prstGeom prst="rect">
            <a:avLst/>
          </a:prstGeom>
          <a:noFill/>
          <a:ln/>
        </p:spPr>
        <p:txBody>
          <a:bodyPr wrap="square" lIns="0" tIns="0" rIns="0" bIns="0" rtlCol="0" anchor="ctr"/>
          <a:lstStyle/>
          <a:p>
            <a:pPr indent="0" marL="0">
              <a:buNone/>
            </a:pPr>
            <a:r>
              <a:rPr lang="en-US" sz="1200" dirty="0">
                <a:solidFill>
                  <a:srgbClr val="767676"/>
                </a:solidFill>
                <a:latin typeface="Arial" pitchFamily="34" charset="0"/>
                <a:ea typeface="Arial" pitchFamily="34" charset="-122"/>
                <a:cs typeface="Arial" pitchFamily="34" charset="-120"/>
              </a:rPr>
              <a:t>Ericsson RCA results imported</a:t>
            </a:r>
            <a:endParaRPr lang="en-US" sz="1200" dirty="0"/>
          </a:p>
        </p:txBody>
      </p:sp>
      <p:sp>
        <p:nvSpPr>
          <p:cNvPr id="13" name="shape-532"/>
          <p:cNvSpPr/>
          <p:nvPr/>
        </p:nvSpPr>
        <p:spPr>
          <a:xfrm>
            <a:off x="9025128" y="1600200"/>
            <a:ext cx="2606040" cy="1188720"/>
          </a:xfrm>
          <a:prstGeom prst="roundRect">
            <a:avLst>
              <a:gd name="adj" fmla="val 9231"/>
            </a:avLst>
          </a:prstGeom>
          <a:solidFill>
            <a:srgbClr val="F2F2F2"/>
          </a:solidFill>
          <a:ln w="12700">
            <a:solidFill>
              <a:srgbClr val="F2F2F2"/>
            </a:solidFill>
            <a:prstDash val="solid"/>
          </a:ln>
        </p:spPr>
      </p:sp>
      <p:sp>
        <p:nvSpPr>
          <p:cNvPr id="14" name="text-533"/>
          <p:cNvSpPr txBox="1"/>
          <p:nvPr/>
        </p:nvSpPr>
        <p:spPr>
          <a:xfrm>
            <a:off x="9253728" y="1719072"/>
            <a:ext cx="2194560" cy="566928"/>
          </a:xfrm>
          <a:prstGeom prst="rect">
            <a:avLst/>
          </a:prstGeom>
          <a:noFill/>
          <a:ln/>
        </p:spPr>
        <p:txBody>
          <a:bodyPr wrap="square" lIns="0" tIns="0" rIns="0" bIns="0" rtlCol="0" anchor="ctr"/>
          <a:lstStyle/>
          <a:p>
            <a:pPr indent="0" marL="0">
              <a:buNone/>
            </a:pPr>
            <a:r>
              <a:rPr lang="en-US" sz="3400" b="1" dirty="0">
                <a:solidFill>
                  <a:srgbClr val="0068BF"/>
                </a:solidFill>
                <a:latin typeface="Arial" pitchFamily="34" charset="0"/>
                <a:ea typeface="Arial" pitchFamily="34" charset="-122"/>
                <a:cs typeface="Arial" pitchFamily="34" charset="-120"/>
              </a:rPr>
              <a:t>3,371</a:t>
            </a:r>
            <a:endParaRPr lang="en-US" sz="3400" dirty="0"/>
          </a:p>
        </p:txBody>
      </p:sp>
      <p:sp>
        <p:nvSpPr>
          <p:cNvPr id="15" name="text-534"/>
          <p:cNvSpPr txBox="1"/>
          <p:nvPr/>
        </p:nvSpPr>
        <p:spPr>
          <a:xfrm>
            <a:off x="9253728" y="2304288"/>
            <a:ext cx="2240280" cy="347472"/>
          </a:xfrm>
          <a:prstGeom prst="rect">
            <a:avLst/>
          </a:prstGeom>
          <a:noFill/>
          <a:ln/>
        </p:spPr>
        <p:txBody>
          <a:bodyPr wrap="square" lIns="0" tIns="0" rIns="0" bIns="0" rtlCol="0" anchor="ctr"/>
          <a:lstStyle/>
          <a:p>
            <a:pPr indent="0" marL="0">
              <a:buNone/>
            </a:pPr>
            <a:r>
              <a:rPr lang="en-US" sz="1200" dirty="0">
                <a:solidFill>
                  <a:srgbClr val="767676"/>
                </a:solidFill>
                <a:latin typeface="Arial" pitchFamily="34" charset="0"/>
                <a:ea typeface="Arial" pitchFamily="34" charset="-122"/>
                <a:cs typeface="Arial" pitchFamily="34" charset="-120"/>
              </a:rPr>
              <a:t>analyst comments and decisions</a:t>
            </a:r>
            <a:endParaRPr lang="en-US" sz="1200" dirty="0"/>
          </a:p>
        </p:txBody>
      </p:sp>
      <p:sp>
        <p:nvSpPr>
          <p:cNvPr id="16" name="shape-535"/>
          <p:cNvSpPr/>
          <p:nvPr/>
        </p:nvSpPr>
        <p:spPr>
          <a:xfrm>
            <a:off x="548640" y="3108960"/>
            <a:ext cx="2103120" cy="475488"/>
          </a:xfrm>
          <a:prstGeom prst="roundRect">
            <a:avLst>
              <a:gd name="adj" fmla="val 50000"/>
            </a:avLst>
          </a:prstGeom>
          <a:solidFill>
            <a:srgbClr val="FFFFFF"/>
          </a:solidFill>
          <a:ln w="12700">
            <a:solidFill>
              <a:srgbClr val="E0E0E0"/>
            </a:solidFill>
            <a:prstDash val="solid"/>
          </a:ln>
        </p:spPr>
      </p:sp>
      <p:pic>
        <p:nvPicPr>
          <p:cNvPr id="17" name="icon-536" descr="preencoded.png">    </p:cNvPr>
          <p:cNvPicPr>
            <a:picLocks noChangeAspect="1"/>
          </p:cNvPicPr>
          <p:nvPr/>
        </p:nvPicPr>
        <p:blipFill>
          <a:blip r:embed="rId1"/>
          <a:stretch>
            <a:fillRect/>
          </a:stretch>
        </p:blipFill>
        <p:spPr>
          <a:xfrm>
            <a:off x="713232" y="3209544"/>
            <a:ext cx="274320" cy="274320"/>
          </a:xfrm>
          <a:prstGeom prst="rect">
            <a:avLst/>
          </a:prstGeom>
        </p:spPr>
      </p:pic>
      <p:sp>
        <p:nvSpPr>
          <p:cNvPr id="18" name="text-537"/>
          <p:cNvSpPr txBox="1"/>
          <p:nvPr/>
        </p:nvSpPr>
        <p:spPr>
          <a:xfrm>
            <a:off x="1078992" y="3108960"/>
            <a:ext cx="1508760" cy="475488"/>
          </a:xfrm>
          <a:prstGeom prst="rect">
            <a:avLst/>
          </a:prstGeom>
          <a:noFill/>
          <a:ln/>
        </p:spPr>
        <p:txBody>
          <a:bodyPr wrap="square" lIns="0" tIns="0" rIns="0" bIns="0" rtlCol="0" anchor="ctr"/>
          <a:lstStyle/>
          <a:p>
            <a:pPr indent="0" marL="0">
              <a:buNone/>
            </a:pPr>
            <a:r>
              <a:rPr lang="en-US" sz="1300" b="1" dirty="0">
                <a:solidFill>
                  <a:srgbClr val="242424"/>
                </a:solidFill>
                <a:latin typeface="Arial" pitchFamily="34" charset="0"/>
                <a:ea typeface="Arial" pitchFamily="34" charset="-122"/>
                <a:cs typeface="Arial" pitchFamily="34" charset="-120"/>
              </a:rPr>
              <a:t>NetCheck RCA</a:t>
            </a:r>
            <a:endParaRPr lang="en-US" sz="1300" dirty="0"/>
          </a:p>
        </p:txBody>
      </p:sp>
      <p:sp>
        <p:nvSpPr>
          <p:cNvPr id="19" name="shape-538"/>
          <p:cNvSpPr/>
          <p:nvPr/>
        </p:nvSpPr>
        <p:spPr>
          <a:xfrm>
            <a:off x="2651760" y="3346704"/>
            <a:ext cx="640080" cy="594360"/>
          </a:xfrm>
          <a:prstGeom prst="line">
            <a:avLst/>
          </a:prstGeom>
          <a:noFill/>
          <a:ln w="19050">
            <a:solidFill>
              <a:srgbClr val="A0A0A0"/>
            </a:solidFill>
            <a:prstDash val="solid"/>
            <a:tailEnd type="triangle"/>
          </a:ln>
        </p:spPr>
      </p:sp>
      <p:sp>
        <p:nvSpPr>
          <p:cNvPr id="20" name="shape-539"/>
          <p:cNvSpPr/>
          <p:nvPr/>
        </p:nvSpPr>
        <p:spPr>
          <a:xfrm>
            <a:off x="548640" y="3703320"/>
            <a:ext cx="2103120" cy="475488"/>
          </a:xfrm>
          <a:prstGeom prst="roundRect">
            <a:avLst>
              <a:gd name="adj" fmla="val 50000"/>
            </a:avLst>
          </a:prstGeom>
          <a:solidFill>
            <a:srgbClr val="FFFFFF"/>
          </a:solidFill>
          <a:ln w="12700">
            <a:solidFill>
              <a:srgbClr val="E0E0E0"/>
            </a:solidFill>
            <a:prstDash val="solid"/>
          </a:ln>
        </p:spPr>
      </p:sp>
      <p:pic>
        <p:nvPicPr>
          <p:cNvPr id="21" name="icon-540" descr="preencoded.png">    </p:cNvPr>
          <p:cNvPicPr>
            <a:picLocks noChangeAspect="1"/>
          </p:cNvPicPr>
          <p:nvPr/>
        </p:nvPicPr>
        <p:blipFill>
          <a:blip r:embed="rId2"/>
          <a:stretch>
            <a:fillRect/>
          </a:stretch>
        </p:blipFill>
        <p:spPr>
          <a:xfrm>
            <a:off x="713232" y="3803904"/>
            <a:ext cx="274320" cy="274320"/>
          </a:xfrm>
          <a:prstGeom prst="rect">
            <a:avLst/>
          </a:prstGeom>
        </p:spPr>
      </p:pic>
      <p:sp>
        <p:nvSpPr>
          <p:cNvPr id="22" name="text-541"/>
          <p:cNvSpPr txBox="1"/>
          <p:nvPr/>
        </p:nvSpPr>
        <p:spPr>
          <a:xfrm>
            <a:off x="1078992" y="3703320"/>
            <a:ext cx="1508760" cy="475488"/>
          </a:xfrm>
          <a:prstGeom prst="rect">
            <a:avLst/>
          </a:prstGeom>
          <a:noFill/>
          <a:ln/>
        </p:spPr>
        <p:txBody>
          <a:bodyPr wrap="square" lIns="0" tIns="0" rIns="0" bIns="0" rtlCol="0" anchor="ctr"/>
          <a:lstStyle/>
          <a:p>
            <a:pPr indent="0" marL="0">
              <a:buNone/>
            </a:pPr>
            <a:r>
              <a:rPr lang="en-US" sz="1300" b="1" dirty="0">
                <a:solidFill>
                  <a:srgbClr val="242424"/>
                </a:solidFill>
                <a:latin typeface="Arial" pitchFamily="34" charset="0"/>
                <a:ea typeface="Arial" pitchFamily="34" charset="-122"/>
                <a:cs typeface="Arial" pitchFamily="34" charset="-120"/>
              </a:rPr>
              <a:t>Ericsson RCA</a:t>
            </a:r>
            <a:endParaRPr lang="en-US" sz="1300" dirty="0"/>
          </a:p>
        </p:txBody>
      </p:sp>
      <p:sp>
        <p:nvSpPr>
          <p:cNvPr id="23" name="shape-542"/>
          <p:cNvSpPr/>
          <p:nvPr/>
        </p:nvSpPr>
        <p:spPr>
          <a:xfrm>
            <a:off x="2651760" y="3941064"/>
            <a:ext cx="640080" cy="914"/>
          </a:xfrm>
          <a:prstGeom prst="line">
            <a:avLst/>
          </a:prstGeom>
          <a:noFill/>
          <a:ln w="19050">
            <a:solidFill>
              <a:srgbClr val="A0A0A0"/>
            </a:solidFill>
            <a:prstDash val="solid"/>
            <a:tailEnd type="triangle"/>
          </a:ln>
        </p:spPr>
      </p:sp>
      <p:sp>
        <p:nvSpPr>
          <p:cNvPr id="24" name="shape-543"/>
          <p:cNvSpPr/>
          <p:nvPr/>
        </p:nvSpPr>
        <p:spPr>
          <a:xfrm>
            <a:off x="548640" y="4297680"/>
            <a:ext cx="2103120" cy="475488"/>
          </a:xfrm>
          <a:prstGeom prst="roundRect">
            <a:avLst>
              <a:gd name="adj" fmla="val 50000"/>
            </a:avLst>
          </a:prstGeom>
          <a:solidFill>
            <a:srgbClr val="FFFFFF"/>
          </a:solidFill>
          <a:ln w="12700">
            <a:solidFill>
              <a:srgbClr val="E0E0E0"/>
            </a:solidFill>
            <a:prstDash val="solid"/>
          </a:ln>
        </p:spPr>
      </p:sp>
      <p:pic>
        <p:nvPicPr>
          <p:cNvPr id="25" name="icon-544" descr="preencoded.png">    </p:cNvPr>
          <p:cNvPicPr>
            <a:picLocks noChangeAspect="1"/>
          </p:cNvPicPr>
          <p:nvPr/>
        </p:nvPicPr>
        <p:blipFill>
          <a:blip r:embed="rId3"/>
          <a:stretch>
            <a:fillRect/>
          </a:stretch>
        </p:blipFill>
        <p:spPr>
          <a:xfrm>
            <a:off x="713232" y="4398264"/>
            <a:ext cx="274320" cy="274320"/>
          </a:xfrm>
          <a:prstGeom prst="rect">
            <a:avLst/>
          </a:prstGeom>
        </p:spPr>
      </p:pic>
      <p:sp>
        <p:nvSpPr>
          <p:cNvPr id="26" name="text-545"/>
          <p:cNvSpPr txBox="1"/>
          <p:nvPr/>
        </p:nvSpPr>
        <p:spPr>
          <a:xfrm>
            <a:off x="1078992" y="4297680"/>
            <a:ext cx="1508760" cy="475488"/>
          </a:xfrm>
          <a:prstGeom prst="rect">
            <a:avLst/>
          </a:prstGeom>
          <a:noFill/>
          <a:ln/>
        </p:spPr>
        <p:txBody>
          <a:bodyPr wrap="square" lIns="0" tIns="0" rIns="0" bIns="0" rtlCol="0" anchor="ctr"/>
          <a:lstStyle/>
          <a:p>
            <a:pPr indent="0" marL="0">
              <a:buNone/>
            </a:pPr>
            <a:r>
              <a:rPr lang="en-US" sz="1300" b="1" dirty="0">
                <a:solidFill>
                  <a:srgbClr val="242424"/>
                </a:solidFill>
                <a:latin typeface="Arial" pitchFamily="34" charset="0"/>
                <a:ea typeface="Arial" pitchFamily="34" charset="-122"/>
                <a:cs typeface="Arial" pitchFamily="34" charset="-120"/>
              </a:rPr>
              <a:t>Analysts</a:t>
            </a:r>
            <a:endParaRPr lang="en-US" sz="1300" dirty="0"/>
          </a:p>
        </p:txBody>
      </p:sp>
      <p:sp>
        <p:nvSpPr>
          <p:cNvPr id="27" name="shape-546"/>
          <p:cNvSpPr/>
          <p:nvPr/>
        </p:nvSpPr>
        <p:spPr>
          <a:xfrm flipV="1">
            <a:off x="2651760" y="3941064"/>
            <a:ext cx="640080" cy="594360"/>
          </a:xfrm>
          <a:prstGeom prst="line">
            <a:avLst/>
          </a:prstGeom>
          <a:noFill/>
          <a:ln w="19050">
            <a:solidFill>
              <a:srgbClr val="A0A0A0"/>
            </a:solidFill>
            <a:prstDash val="solid"/>
            <a:tailEnd type="triangle"/>
          </a:ln>
        </p:spPr>
      </p:sp>
      <p:sp>
        <p:nvSpPr>
          <p:cNvPr id="28" name="shape-547"/>
          <p:cNvSpPr/>
          <p:nvPr/>
        </p:nvSpPr>
        <p:spPr>
          <a:xfrm>
            <a:off x="3310128" y="3364992"/>
            <a:ext cx="2103120" cy="1143000"/>
          </a:xfrm>
          <a:prstGeom prst="roundRect">
            <a:avLst>
              <a:gd name="adj" fmla="val 9600"/>
            </a:avLst>
          </a:prstGeom>
          <a:solidFill>
            <a:srgbClr val="0068BF"/>
          </a:solidFill>
          <a:ln w="12700">
            <a:solidFill>
              <a:srgbClr val="0068BF"/>
            </a:solidFill>
            <a:prstDash val="solid"/>
          </a:ln>
        </p:spPr>
      </p:sp>
      <p:sp>
        <p:nvSpPr>
          <p:cNvPr id="29" name="text-548"/>
          <p:cNvSpPr txBox="1"/>
          <p:nvPr/>
        </p:nvSpPr>
        <p:spPr>
          <a:xfrm>
            <a:off x="3474720" y="3364992"/>
            <a:ext cx="1828800" cy="114300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Root Category</a:t>
            </a:r>
            <a:endParaRPr lang="en-US" sz="1500" dirty="0"/>
          </a:p>
          <a:p>
            <a:pPr indent="0" marL="0">
              <a:buNone/>
            </a:pPr>
            <a:r>
              <a:rPr lang="en-US" sz="1500" b="1" dirty="0">
                <a:solidFill>
                  <a:srgbClr val="FFFFFF"/>
                </a:solidFill>
                <a:latin typeface="Arial" pitchFamily="34" charset="0"/>
                <a:ea typeface="Arial" pitchFamily="34" charset="-122"/>
                <a:cs typeface="Arial" pitchFamily="34" charset="-120"/>
              </a:rPr>
              <a:t>+ Root Cause</a:t>
            </a:r>
            <a:endParaRPr lang="en-US" sz="1500" dirty="0"/>
          </a:p>
          <a:p>
            <a:pPr indent="0" marL="0">
              <a:buNone/>
            </a:pPr>
            <a:r>
              <a:rPr lang="en-US" sz="1100" dirty="0">
                <a:solidFill>
                  <a:srgbClr val="CFE6FC"/>
                </a:solidFill>
                <a:latin typeface="Arial" pitchFamily="34" charset="0"/>
                <a:ea typeface="Arial" pitchFamily="34" charset="-122"/>
                <a:cs typeface="Arial" pitchFamily="34" charset="-120"/>
              </a:rPr>
              <a:t>decided from three sources</a:t>
            </a:r>
            <a:endParaRPr lang="en-US" sz="1500" dirty="0"/>
          </a:p>
        </p:txBody>
      </p:sp>
      <p:sp>
        <p:nvSpPr>
          <p:cNvPr id="30" name="shape-549"/>
          <p:cNvSpPr/>
          <p:nvPr/>
        </p:nvSpPr>
        <p:spPr>
          <a:xfrm>
            <a:off x="5440680" y="3936492"/>
            <a:ext cx="365760" cy="0"/>
          </a:xfrm>
          <a:prstGeom prst="line">
            <a:avLst/>
          </a:prstGeom>
          <a:noFill/>
          <a:ln w="19050">
            <a:solidFill>
              <a:srgbClr val="A0A0A0"/>
            </a:solidFill>
            <a:prstDash val="solid"/>
            <a:tailEnd type="triangle"/>
          </a:ln>
        </p:spPr>
      </p:sp>
      <p:sp>
        <p:nvSpPr>
          <p:cNvPr id="31" name="shape-550"/>
          <p:cNvSpPr/>
          <p:nvPr/>
        </p:nvSpPr>
        <p:spPr>
          <a:xfrm>
            <a:off x="5852160" y="3364992"/>
            <a:ext cx="2103120" cy="1143000"/>
          </a:xfrm>
          <a:prstGeom prst="roundRect">
            <a:avLst>
              <a:gd name="adj" fmla="val 9600"/>
            </a:avLst>
          </a:prstGeom>
          <a:solidFill>
            <a:srgbClr val="F2F2F2"/>
          </a:solidFill>
          <a:ln w="12700">
            <a:solidFill>
              <a:srgbClr val="F2F2F2"/>
            </a:solidFill>
            <a:prstDash val="solid"/>
          </a:ln>
        </p:spPr>
      </p:sp>
      <p:sp>
        <p:nvSpPr>
          <p:cNvPr id="32" name="text-551"/>
          <p:cNvSpPr txBox="1"/>
          <p:nvPr/>
        </p:nvSpPr>
        <p:spPr>
          <a:xfrm>
            <a:off x="6016752" y="3364992"/>
            <a:ext cx="1828800" cy="1143000"/>
          </a:xfrm>
          <a:prstGeom prst="rect">
            <a:avLst/>
          </a:prstGeom>
          <a:noFill/>
          <a:ln/>
        </p:spPr>
        <p:txBody>
          <a:bodyPr wrap="square" lIns="0" tIns="0" rIns="0" bIns="0" rtlCol="0" anchor="ctr"/>
          <a:lstStyle/>
          <a:p>
            <a:pPr indent="0" marL="0">
              <a:buNone/>
            </a:pPr>
            <a:r>
              <a:rPr lang="en-US" sz="1500" b="1" dirty="0">
                <a:solidFill>
                  <a:srgbClr val="242424"/>
                </a:solidFill>
                <a:latin typeface="Arial" pitchFamily="34" charset="0"/>
                <a:ea typeface="Arial" pitchFamily="34" charset="-122"/>
                <a:cs typeface="Arial" pitchFamily="34" charset="-120"/>
              </a:rPr>
              <a:t>Status, Team</a:t>
            </a:r>
            <a:endParaRPr lang="en-US" sz="1500" dirty="0"/>
          </a:p>
          <a:p>
            <a:pPr indent="0" marL="0">
              <a:buNone/>
            </a:pPr>
            <a:r>
              <a:rPr lang="en-US" sz="1500" b="1" dirty="0">
                <a:solidFill>
                  <a:srgbClr val="242424"/>
                </a:solidFill>
                <a:latin typeface="Arial" pitchFamily="34" charset="0"/>
                <a:ea typeface="Arial" pitchFamily="34" charset="-122"/>
                <a:cs typeface="Arial" pitchFamily="34" charset="-120"/>
              </a:rPr>
              <a:t>&amp; Assignee</a:t>
            </a:r>
            <a:endParaRPr lang="en-US" sz="1500" dirty="0"/>
          </a:p>
          <a:p>
            <a:pPr indent="0" marL="0">
              <a:buNone/>
            </a:pPr>
            <a:r>
              <a:rPr lang="en-US" sz="1100" dirty="0">
                <a:solidFill>
                  <a:srgbClr val="767676"/>
                </a:solidFill>
                <a:latin typeface="Arial" pitchFamily="34" charset="0"/>
                <a:ea typeface="Arial" pitchFamily="34" charset="-122"/>
                <a:cs typeface="Arial" pitchFamily="34" charset="-120"/>
              </a:rPr>
              <a:t>by Status Rules or by hand</a:t>
            </a:r>
            <a:endParaRPr lang="en-US" sz="1500" dirty="0"/>
          </a:p>
        </p:txBody>
      </p:sp>
      <p:pic>
        <p:nvPicPr>
          <p:cNvPr id="33" name="icon-552" descr="preencoded.png">    </p:cNvPr>
          <p:cNvPicPr>
            <a:picLocks noChangeAspect="1"/>
          </p:cNvPicPr>
          <p:nvPr/>
        </p:nvPicPr>
        <p:blipFill>
          <a:blip r:embed="rId4"/>
          <a:stretch>
            <a:fillRect/>
          </a:stretch>
        </p:blipFill>
        <p:spPr>
          <a:xfrm>
            <a:off x="8366760" y="3182112"/>
            <a:ext cx="292608" cy="292608"/>
          </a:xfrm>
          <a:prstGeom prst="rect">
            <a:avLst/>
          </a:prstGeom>
        </p:spPr>
      </p:pic>
      <p:sp>
        <p:nvSpPr>
          <p:cNvPr id="34" name="text-553"/>
          <p:cNvSpPr txBox="1"/>
          <p:nvPr/>
        </p:nvSpPr>
        <p:spPr>
          <a:xfrm>
            <a:off x="8778240" y="3108960"/>
            <a:ext cx="2862072" cy="438912"/>
          </a:xfrm>
          <a:prstGeom prst="rect">
            <a:avLst/>
          </a:prstGeom>
          <a:noFill/>
          <a:ln/>
        </p:spPr>
        <p:txBody>
          <a:bodyPr wrap="square" lIns="0" tIns="0" rIns="0" bIns="0" rtlCol="0" anchor="ctr"/>
          <a:lstStyle/>
          <a:p>
            <a:pPr indent="0" marL="0">
              <a:buNone/>
            </a:pPr>
            <a:r>
              <a:rPr lang="en-US" sz="1250" dirty="0">
                <a:solidFill>
                  <a:srgbClr val="242424"/>
                </a:solidFill>
                <a:latin typeface="Arial" pitchFamily="34" charset="0"/>
                <a:ea typeface="Arial" pitchFamily="34" charset="-122"/>
                <a:cs typeface="Arial" pitchFamily="34" charset="-120"/>
              </a:rPr>
              <a:t>Summary by campaign &amp; operator</a:t>
            </a:r>
            <a:endParaRPr lang="en-US" sz="1250" dirty="0"/>
          </a:p>
        </p:txBody>
      </p:sp>
      <p:pic>
        <p:nvPicPr>
          <p:cNvPr id="35" name="icon-554" descr="preencoded.png">    </p:cNvPr>
          <p:cNvPicPr>
            <a:picLocks noChangeAspect="1"/>
          </p:cNvPicPr>
          <p:nvPr/>
        </p:nvPicPr>
        <p:blipFill>
          <a:blip r:embed="rId5"/>
          <a:stretch>
            <a:fillRect/>
          </a:stretch>
        </p:blipFill>
        <p:spPr>
          <a:xfrm>
            <a:off x="8366760" y="3703320"/>
            <a:ext cx="292608" cy="292608"/>
          </a:xfrm>
          <a:prstGeom prst="rect">
            <a:avLst/>
          </a:prstGeom>
        </p:spPr>
      </p:pic>
      <p:sp>
        <p:nvSpPr>
          <p:cNvPr id="36" name="text-555"/>
          <p:cNvSpPr txBox="1"/>
          <p:nvPr/>
        </p:nvSpPr>
        <p:spPr>
          <a:xfrm>
            <a:off x="8778240" y="3630168"/>
            <a:ext cx="2862072" cy="438912"/>
          </a:xfrm>
          <a:prstGeom prst="rect">
            <a:avLst/>
          </a:prstGeom>
          <a:noFill/>
          <a:ln/>
        </p:spPr>
        <p:txBody>
          <a:bodyPr wrap="square" lIns="0" tIns="0" rIns="0" bIns="0" rtlCol="0" anchor="ctr"/>
          <a:lstStyle/>
          <a:p>
            <a:pPr indent="0" marL="0">
              <a:buNone/>
            </a:pPr>
            <a:r>
              <a:rPr lang="en-US" sz="1250" dirty="0">
                <a:solidFill>
                  <a:srgbClr val="242424"/>
                </a:solidFill>
                <a:latin typeface="Arial" pitchFamily="34" charset="0"/>
                <a:ea typeface="Arial" pitchFamily="34" charset="-122"/>
                <a:cs typeface="Arial" pitchFamily="34" charset="-120"/>
              </a:rPr>
              <a:t>Excel export with your layout</a:t>
            </a:r>
            <a:endParaRPr lang="en-US" sz="1250" dirty="0"/>
          </a:p>
        </p:txBody>
      </p:sp>
      <p:pic>
        <p:nvPicPr>
          <p:cNvPr id="37" name="icon-556" descr="preencoded.png">    </p:cNvPr>
          <p:cNvPicPr>
            <a:picLocks noChangeAspect="1"/>
          </p:cNvPicPr>
          <p:nvPr/>
        </p:nvPicPr>
        <p:blipFill>
          <a:blip r:embed="rId6"/>
          <a:stretch>
            <a:fillRect/>
          </a:stretch>
        </p:blipFill>
        <p:spPr>
          <a:xfrm>
            <a:off x="8366760" y="4224528"/>
            <a:ext cx="292608" cy="292608"/>
          </a:xfrm>
          <a:prstGeom prst="rect">
            <a:avLst/>
          </a:prstGeom>
        </p:spPr>
      </p:pic>
      <p:sp>
        <p:nvSpPr>
          <p:cNvPr id="38" name="text-557"/>
          <p:cNvSpPr txBox="1"/>
          <p:nvPr/>
        </p:nvSpPr>
        <p:spPr>
          <a:xfrm>
            <a:off x="8778240" y="4151376"/>
            <a:ext cx="2862072" cy="438912"/>
          </a:xfrm>
          <a:prstGeom prst="rect">
            <a:avLst/>
          </a:prstGeom>
          <a:noFill/>
          <a:ln/>
        </p:spPr>
        <p:txBody>
          <a:bodyPr wrap="square" lIns="0" tIns="0" rIns="0" bIns="0" rtlCol="0" anchor="ctr"/>
          <a:lstStyle/>
          <a:p>
            <a:pPr indent="0" marL="0">
              <a:buNone/>
            </a:pPr>
            <a:r>
              <a:rPr lang="en-US" sz="1250" dirty="0">
                <a:solidFill>
                  <a:srgbClr val="242424"/>
                </a:solidFill>
                <a:latin typeface="Arial" pitchFamily="34" charset="0"/>
                <a:ea typeface="Arial" pitchFamily="34" charset="-122"/>
                <a:cs typeface="Arial" pitchFamily="34" charset="-120"/>
              </a:rPr>
              <a:t>Previous analyses imported</a:t>
            </a:r>
            <a:endParaRPr lang="en-US" sz="1250" dirty="0"/>
          </a:p>
        </p:txBody>
      </p:sp>
      <p:pic>
        <p:nvPicPr>
          <p:cNvPr id="39" name="icon-558" descr="preencoded.png">    </p:cNvPr>
          <p:cNvPicPr>
            <a:picLocks noChangeAspect="1"/>
          </p:cNvPicPr>
          <p:nvPr/>
        </p:nvPicPr>
        <p:blipFill>
          <a:blip r:embed="rId7"/>
          <a:stretch>
            <a:fillRect/>
          </a:stretch>
        </p:blipFill>
        <p:spPr>
          <a:xfrm>
            <a:off x="8366760" y="4745736"/>
            <a:ext cx="292608" cy="292608"/>
          </a:xfrm>
          <a:prstGeom prst="rect">
            <a:avLst/>
          </a:prstGeom>
        </p:spPr>
      </p:pic>
      <p:sp>
        <p:nvSpPr>
          <p:cNvPr id="40" name="text-559"/>
          <p:cNvSpPr txBox="1"/>
          <p:nvPr/>
        </p:nvSpPr>
        <p:spPr>
          <a:xfrm>
            <a:off x="8778240" y="4672584"/>
            <a:ext cx="2862072" cy="438912"/>
          </a:xfrm>
          <a:prstGeom prst="rect">
            <a:avLst/>
          </a:prstGeom>
          <a:noFill/>
          <a:ln/>
        </p:spPr>
        <p:txBody>
          <a:bodyPr wrap="square" lIns="0" tIns="0" rIns="0" bIns="0" rtlCol="0" anchor="ctr"/>
          <a:lstStyle/>
          <a:p>
            <a:pPr indent="0" marL="0">
              <a:buNone/>
            </a:pPr>
            <a:r>
              <a:rPr lang="en-US" sz="1250" dirty="0">
                <a:solidFill>
                  <a:srgbClr val="242424"/>
                </a:solidFill>
                <a:latin typeface="Arial" pitchFamily="34" charset="0"/>
                <a:ea typeface="Arial" pitchFamily="34" charset="-122"/>
                <a:cs typeface="Arial" pitchFamily="34" charset="-120"/>
              </a:rPr>
              <a:t>Comments &amp; full history</a:t>
            </a:r>
            <a:endParaRPr lang="en-US" sz="1250" dirty="0"/>
          </a:p>
        </p:txBody>
      </p:sp>
      <p:sp>
        <p:nvSpPr>
          <p:cNvPr id="41" name="text-560"/>
          <p:cNvSpPr txBox="1"/>
          <p:nvPr/>
        </p:nvSpPr>
        <p:spPr>
          <a:xfrm>
            <a:off x="548640" y="5074920"/>
            <a:ext cx="3657600" cy="274320"/>
          </a:xfrm>
          <a:prstGeom prst="rect">
            <a:avLst/>
          </a:prstGeom>
          <a:noFill/>
          <a:ln/>
        </p:spPr>
        <p:txBody>
          <a:bodyPr wrap="square" lIns="0" tIns="0" rIns="0" bIns="0" rtlCol="0" anchor="ctr"/>
          <a:lstStyle/>
          <a:p>
            <a:pPr indent="0" marL="0">
              <a:buNone/>
            </a:pPr>
            <a:r>
              <a:rPr lang="en-US" sz="1100" dirty="0">
                <a:solidFill>
                  <a:srgbClr val="767676"/>
                </a:solidFill>
                <a:latin typeface="Arial" pitchFamily="34" charset="0"/>
                <a:ea typeface="Arial" pitchFamily="34" charset="-122"/>
                <a:cs typeface="Arial" pitchFamily="34" charset="-120"/>
              </a:rPr>
              <a:t>Six sections per call</a:t>
            </a:r>
            <a:endParaRPr lang="en-US" sz="1100" dirty="0"/>
          </a:p>
        </p:txBody>
      </p:sp>
      <p:sp>
        <p:nvSpPr>
          <p:cNvPr id="42" name="shape-561"/>
          <p:cNvSpPr/>
          <p:nvPr/>
        </p:nvSpPr>
        <p:spPr>
          <a:xfrm>
            <a:off x="548640" y="5394960"/>
            <a:ext cx="1947672" cy="640080"/>
          </a:xfrm>
          <a:prstGeom prst="homePlate">
            <a:avLst/>
          </a:prstGeom>
          <a:solidFill>
            <a:srgbClr val="CFE6FC"/>
          </a:solidFill>
          <a:ln w="19050">
            <a:solidFill>
              <a:srgbClr val="FFFFFF"/>
            </a:solidFill>
            <a:prstDash val="solid"/>
          </a:ln>
        </p:spPr>
      </p:sp>
      <p:sp>
        <p:nvSpPr>
          <p:cNvPr id="43" name="text-562"/>
          <p:cNvSpPr txBox="1"/>
          <p:nvPr/>
        </p:nvSpPr>
        <p:spPr>
          <a:xfrm>
            <a:off x="658368" y="5394960"/>
            <a:ext cx="1417320" cy="640080"/>
          </a:xfrm>
          <a:prstGeom prst="rect">
            <a:avLst/>
          </a:prstGeom>
          <a:noFill/>
          <a:ln/>
        </p:spPr>
        <p:txBody>
          <a:bodyPr wrap="square" lIns="0" tIns="0" rIns="0" bIns="0" rtlCol="0" anchor="ctr"/>
          <a:lstStyle/>
          <a:p>
            <a:pPr algn="ctr" indent="0" marL="0">
              <a:buNone/>
            </a:pPr>
            <a:r>
              <a:rPr lang="en-US" sz="1250" b="1" dirty="0">
                <a:solidFill>
                  <a:srgbClr val="242424"/>
                </a:solidFill>
                <a:latin typeface="Arial" pitchFamily="34" charset="0"/>
                <a:ea typeface="Arial" pitchFamily="34" charset="-122"/>
                <a:cs typeface="Arial" pitchFamily="34" charset="-120"/>
              </a:rPr>
              <a:t>General</a:t>
            </a:r>
            <a:endParaRPr lang="en-US" sz="1250" dirty="0"/>
          </a:p>
        </p:txBody>
      </p:sp>
      <p:sp>
        <p:nvSpPr>
          <p:cNvPr id="44" name="shape-563"/>
          <p:cNvSpPr/>
          <p:nvPr/>
        </p:nvSpPr>
        <p:spPr>
          <a:xfrm>
            <a:off x="2377440" y="5394960"/>
            <a:ext cx="1947672" cy="640080"/>
          </a:xfrm>
          <a:prstGeom prst="chevron">
            <a:avLst/>
          </a:prstGeom>
          <a:solidFill>
            <a:srgbClr val="9ACDF8"/>
          </a:solidFill>
          <a:ln w="19050">
            <a:solidFill>
              <a:srgbClr val="FFFFFF"/>
            </a:solidFill>
            <a:prstDash val="solid"/>
          </a:ln>
        </p:spPr>
      </p:sp>
      <p:sp>
        <p:nvSpPr>
          <p:cNvPr id="45" name="text-564"/>
          <p:cNvSpPr txBox="1"/>
          <p:nvPr/>
        </p:nvSpPr>
        <p:spPr>
          <a:xfrm>
            <a:off x="2724912" y="5394960"/>
            <a:ext cx="1417320" cy="640080"/>
          </a:xfrm>
          <a:prstGeom prst="rect">
            <a:avLst/>
          </a:prstGeom>
          <a:noFill/>
          <a:ln/>
        </p:spPr>
        <p:txBody>
          <a:bodyPr wrap="square" lIns="0" tIns="0" rIns="0" bIns="0" rtlCol="0" anchor="ctr"/>
          <a:lstStyle/>
          <a:p>
            <a:pPr algn="ctr" indent="0" marL="0">
              <a:buNone/>
            </a:pPr>
            <a:r>
              <a:rPr lang="en-US" sz="1250" b="1" dirty="0">
                <a:solidFill>
                  <a:srgbClr val="242424"/>
                </a:solidFill>
                <a:latin typeface="Arial" pitchFamily="34" charset="0"/>
                <a:ea typeface="Arial" pitchFamily="34" charset="-122"/>
                <a:cs typeface="Arial" pitchFamily="34" charset="-120"/>
              </a:rPr>
              <a:t>RCA</a:t>
            </a:r>
            <a:endParaRPr lang="en-US" sz="1250" dirty="0"/>
          </a:p>
        </p:txBody>
      </p:sp>
      <p:sp>
        <p:nvSpPr>
          <p:cNvPr id="46" name="shape-565"/>
          <p:cNvSpPr/>
          <p:nvPr/>
        </p:nvSpPr>
        <p:spPr>
          <a:xfrm>
            <a:off x="4206240" y="5394960"/>
            <a:ext cx="1947672" cy="640080"/>
          </a:xfrm>
          <a:prstGeom prst="chevron">
            <a:avLst/>
          </a:prstGeom>
          <a:solidFill>
            <a:srgbClr val="4DA8F5"/>
          </a:solidFill>
          <a:ln w="19050">
            <a:solidFill>
              <a:srgbClr val="FFFFFF"/>
            </a:solidFill>
            <a:prstDash val="solid"/>
          </a:ln>
        </p:spPr>
      </p:sp>
      <p:sp>
        <p:nvSpPr>
          <p:cNvPr id="47" name="text-566"/>
          <p:cNvSpPr txBox="1"/>
          <p:nvPr/>
        </p:nvSpPr>
        <p:spPr>
          <a:xfrm>
            <a:off x="4553712" y="5394960"/>
            <a:ext cx="1417320" cy="64008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Failure details</a:t>
            </a:r>
            <a:endParaRPr lang="en-US" sz="1250" dirty="0"/>
          </a:p>
        </p:txBody>
      </p:sp>
      <p:sp>
        <p:nvSpPr>
          <p:cNvPr id="48" name="shape-567"/>
          <p:cNvSpPr/>
          <p:nvPr/>
        </p:nvSpPr>
        <p:spPr>
          <a:xfrm>
            <a:off x="6035040" y="5394960"/>
            <a:ext cx="1947672" cy="640080"/>
          </a:xfrm>
          <a:prstGeom prst="chevron">
            <a:avLst/>
          </a:prstGeom>
          <a:solidFill>
            <a:srgbClr val="0082F0"/>
          </a:solidFill>
          <a:ln w="19050">
            <a:solidFill>
              <a:srgbClr val="FFFFFF"/>
            </a:solidFill>
            <a:prstDash val="solid"/>
          </a:ln>
        </p:spPr>
      </p:sp>
      <p:sp>
        <p:nvSpPr>
          <p:cNvPr id="49" name="text-568"/>
          <p:cNvSpPr txBox="1"/>
          <p:nvPr/>
        </p:nvSpPr>
        <p:spPr>
          <a:xfrm>
            <a:off x="6382512" y="5394960"/>
            <a:ext cx="1417320" cy="64008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Analysis</a:t>
            </a:r>
            <a:endParaRPr lang="en-US" sz="1250" dirty="0"/>
          </a:p>
        </p:txBody>
      </p:sp>
      <p:sp>
        <p:nvSpPr>
          <p:cNvPr id="50" name="shape-569"/>
          <p:cNvSpPr/>
          <p:nvPr/>
        </p:nvSpPr>
        <p:spPr>
          <a:xfrm>
            <a:off x="7863840" y="5394960"/>
            <a:ext cx="1947672" cy="640080"/>
          </a:xfrm>
          <a:prstGeom prst="chevron">
            <a:avLst/>
          </a:prstGeom>
          <a:solidFill>
            <a:srgbClr val="0068BF"/>
          </a:solidFill>
          <a:ln w="19050">
            <a:solidFill>
              <a:srgbClr val="FFFFFF"/>
            </a:solidFill>
            <a:prstDash val="solid"/>
          </a:ln>
        </p:spPr>
      </p:sp>
      <p:sp>
        <p:nvSpPr>
          <p:cNvPr id="51" name="text-570"/>
          <p:cNvSpPr txBox="1"/>
          <p:nvPr/>
        </p:nvSpPr>
        <p:spPr>
          <a:xfrm>
            <a:off x="8211312" y="5394960"/>
            <a:ext cx="1417320" cy="64008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Implementation</a:t>
            </a:r>
            <a:endParaRPr lang="en-US" sz="1250" dirty="0"/>
          </a:p>
        </p:txBody>
      </p:sp>
      <p:sp>
        <p:nvSpPr>
          <p:cNvPr id="52" name="shape-571"/>
          <p:cNvSpPr/>
          <p:nvPr/>
        </p:nvSpPr>
        <p:spPr>
          <a:xfrm>
            <a:off x="9692640" y="5394960"/>
            <a:ext cx="1947672" cy="640080"/>
          </a:xfrm>
          <a:prstGeom prst="chevron">
            <a:avLst/>
          </a:prstGeom>
          <a:solidFill>
            <a:srgbClr val="004E8F"/>
          </a:solidFill>
          <a:ln w="19050">
            <a:solidFill>
              <a:srgbClr val="FFFFFF"/>
            </a:solidFill>
            <a:prstDash val="solid"/>
          </a:ln>
        </p:spPr>
      </p:sp>
      <p:sp>
        <p:nvSpPr>
          <p:cNvPr id="53" name="text-572"/>
          <p:cNvSpPr txBox="1"/>
          <p:nvPr/>
        </p:nvSpPr>
        <p:spPr>
          <a:xfrm>
            <a:off x="10040112" y="5394960"/>
            <a:ext cx="1417320" cy="64008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Planning</a:t>
            </a:r>
            <a:endParaRPr lang="en-US" sz="1250" dirty="0"/>
          </a:p>
        </p:txBody>
      </p:sp>
      <p:sp>
        <p:nvSpPr>
          <p:cNvPr id="25" name="Slide Number Placeholder 0"/>
          <p:cNvSpPr>
            <a:spLocks noGrp="1"/>
          </p:cNvSpPr>
          <p:nvPr>
            <p:ph type="sldNum" sz="quarter" idx="4294967295"/>
          </p:nvPr>
        </p:nvSpPr>
        <p:spPr>
          <a:xfrm>
            <a:off x="548640" y="640080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67676"/>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0424160" cy="658368"/>
          </a:xfrm>
          <a:prstGeom prst="rect">
            <a:avLst/>
          </a:prstGeom>
          <a:noFill/>
          <a:ln/>
        </p:spPr>
        <p:txBody>
          <a:bodyPr wrap="square" lIns="0" tIns="0" rIns="0" bIns="0" rtlCol="0" anchor="ctr"/>
          <a:lstStyle/>
          <a:p>
            <a:pPr algn="l" indent="0" marL="0">
              <a:buNone/>
            </a:pPr>
            <a:r>
              <a:rPr lang="en-US" sz="3000" dirty="0">
                <a:solidFill>
                  <a:srgbClr val="000000"/>
                </a:solidFill>
                <a:latin typeface="Arial" pitchFamily="34" charset="0"/>
                <a:ea typeface="Arial" pitchFamily="34" charset="-122"/>
                <a:cs typeface="Arial" pitchFamily="34" charset="-120"/>
              </a:rPr>
              <a:t>Reporting — </a:t>
            </a:r>
            <a:pPr algn="l" indent="0" marL="0">
              <a:buNone/>
            </a:pPr>
            <a:r>
              <a:rPr lang="en-US" sz="3000" b="1" dirty="0">
                <a:solidFill>
                  <a:srgbClr val="0068BF"/>
                </a:solidFill>
                <a:latin typeface="Arial" pitchFamily="34" charset="0"/>
                <a:ea typeface="Arial" pitchFamily="34" charset="-122"/>
                <a:cs typeface="Arial" pitchFamily="34" charset="-120"/>
              </a:rPr>
              <a:t>from technical detail to executive story</a:t>
            </a:r>
            <a:endParaRPr lang="en-US" sz="3000" dirty="0"/>
          </a:p>
        </p:txBody>
      </p:sp>
      <p:sp>
        <p:nvSpPr>
          <p:cNvPr id="3" name="text-573"/>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dirty="0">
                <a:solidFill>
                  <a:srgbClr val="767676"/>
                </a:solidFill>
                <a:latin typeface="Arial" pitchFamily="34" charset="0"/>
                <a:ea typeface="Arial" pitchFamily="34" charset="-122"/>
                <a:cs typeface="Arial" pitchFamily="34" charset="-120"/>
              </a:rPr>
              <a:t>Compose once, generate PowerPoint and Word, schedule and email, automatically</a:t>
            </a:r>
            <a:endParaRPr lang="en-US" sz="1500" dirty="0"/>
          </a:p>
        </p:txBody>
      </p:sp>
      <p:sp>
        <p:nvSpPr>
          <p:cNvPr id="4" name="shape-574"/>
          <p:cNvSpPr/>
          <p:nvPr/>
        </p:nvSpPr>
        <p:spPr>
          <a:xfrm>
            <a:off x="548640" y="1737360"/>
            <a:ext cx="2514600" cy="457200"/>
          </a:xfrm>
          <a:prstGeom prst="roundRect">
            <a:avLst>
              <a:gd name="adj" fmla="val 50000"/>
            </a:avLst>
          </a:prstGeom>
          <a:solidFill>
            <a:srgbClr val="FFFFFF"/>
          </a:solidFill>
          <a:ln w="12700">
            <a:solidFill>
              <a:srgbClr val="E0E0E0"/>
            </a:solidFill>
            <a:prstDash val="solid"/>
          </a:ln>
        </p:spPr>
      </p:sp>
      <p:sp>
        <p:nvSpPr>
          <p:cNvPr id="5" name="shape-575"/>
          <p:cNvSpPr/>
          <p:nvPr/>
        </p:nvSpPr>
        <p:spPr>
          <a:xfrm>
            <a:off x="621792" y="1801368"/>
            <a:ext cx="329184" cy="329184"/>
          </a:xfrm>
          <a:prstGeom prst="ellipse">
            <a:avLst/>
          </a:prstGeom>
          <a:solidFill>
            <a:srgbClr val="4D4D4D"/>
          </a:solidFill>
          <a:ln w="12700">
            <a:solidFill>
              <a:srgbClr val="4D4D4D"/>
            </a:solidFill>
            <a:prstDash val="solid"/>
          </a:ln>
        </p:spPr>
      </p:sp>
      <p:pic>
        <p:nvPicPr>
          <p:cNvPr id="6" name="icon-576" descr="preencoded.png">    </p:cNvPr>
          <p:cNvPicPr>
            <a:picLocks noChangeAspect="1"/>
          </p:cNvPicPr>
          <p:nvPr/>
        </p:nvPicPr>
        <p:blipFill>
          <a:blip r:embed="rId1"/>
          <a:stretch>
            <a:fillRect/>
          </a:stretch>
        </p:blipFill>
        <p:spPr>
          <a:xfrm>
            <a:off x="694212" y="1873788"/>
            <a:ext cx="184343" cy="184343"/>
          </a:xfrm>
          <a:prstGeom prst="rect">
            <a:avLst/>
          </a:prstGeom>
        </p:spPr>
      </p:pic>
      <p:sp>
        <p:nvSpPr>
          <p:cNvPr id="7" name="text-577"/>
          <p:cNvSpPr txBox="1"/>
          <p:nvPr/>
        </p:nvSpPr>
        <p:spPr>
          <a:xfrm>
            <a:off x="1042416" y="1737360"/>
            <a:ext cx="1965960" cy="457200"/>
          </a:xfrm>
          <a:prstGeom prst="rect">
            <a:avLst/>
          </a:prstGeom>
          <a:noFill/>
          <a:ln/>
        </p:spPr>
        <p:txBody>
          <a:bodyPr wrap="square" lIns="0" tIns="0" rIns="0" bIns="0" rtlCol="0" anchor="ctr"/>
          <a:lstStyle/>
          <a:p>
            <a:pPr indent="0" marL="0">
              <a:buNone/>
            </a:pPr>
            <a:r>
              <a:rPr lang="en-US" sz="1250" b="1" dirty="0">
                <a:solidFill>
                  <a:srgbClr val="242424"/>
                </a:solidFill>
                <a:latin typeface="Arial" pitchFamily="34" charset="0"/>
                <a:ea typeface="Arial" pitchFamily="34" charset="-122"/>
                <a:cs typeface="Arial" pitchFamily="34" charset="-120"/>
              </a:rPr>
              <a:t>CDR Analysis</a:t>
            </a:r>
            <a:endParaRPr lang="en-US" sz="1250" dirty="0"/>
          </a:p>
        </p:txBody>
      </p:sp>
      <p:sp>
        <p:nvSpPr>
          <p:cNvPr id="8" name="shape-578"/>
          <p:cNvSpPr/>
          <p:nvPr/>
        </p:nvSpPr>
        <p:spPr>
          <a:xfrm>
            <a:off x="3063240" y="1965960"/>
            <a:ext cx="594360" cy="1133856"/>
          </a:xfrm>
          <a:prstGeom prst="line">
            <a:avLst/>
          </a:prstGeom>
          <a:noFill/>
          <a:ln w="15875">
            <a:solidFill>
              <a:srgbClr val="A0A0A0"/>
            </a:solidFill>
            <a:prstDash val="solid"/>
            <a:tailEnd type="triangle"/>
          </a:ln>
        </p:spPr>
      </p:sp>
      <p:sp>
        <p:nvSpPr>
          <p:cNvPr id="9" name="shape-579"/>
          <p:cNvSpPr/>
          <p:nvPr/>
        </p:nvSpPr>
        <p:spPr>
          <a:xfrm>
            <a:off x="548640" y="2304288"/>
            <a:ext cx="2514600" cy="457200"/>
          </a:xfrm>
          <a:prstGeom prst="roundRect">
            <a:avLst>
              <a:gd name="adj" fmla="val 50000"/>
            </a:avLst>
          </a:prstGeom>
          <a:solidFill>
            <a:srgbClr val="FFFFFF"/>
          </a:solidFill>
          <a:ln w="12700">
            <a:solidFill>
              <a:srgbClr val="E0E0E0"/>
            </a:solidFill>
            <a:prstDash val="solid"/>
          </a:ln>
        </p:spPr>
      </p:sp>
      <p:sp>
        <p:nvSpPr>
          <p:cNvPr id="10" name="shape-580"/>
          <p:cNvSpPr/>
          <p:nvPr/>
        </p:nvSpPr>
        <p:spPr>
          <a:xfrm>
            <a:off x="621792" y="2368296"/>
            <a:ext cx="329184" cy="329184"/>
          </a:xfrm>
          <a:prstGeom prst="ellipse">
            <a:avLst/>
          </a:prstGeom>
          <a:solidFill>
            <a:srgbClr val="E07800"/>
          </a:solidFill>
          <a:ln w="12700">
            <a:solidFill>
              <a:srgbClr val="E07800"/>
            </a:solidFill>
            <a:prstDash val="solid"/>
          </a:ln>
        </p:spPr>
      </p:sp>
      <p:pic>
        <p:nvPicPr>
          <p:cNvPr id="11" name="icon-581" descr="preencoded.png">    </p:cNvPr>
          <p:cNvPicPr>
            <a:picLocks noChangeAspect="1"/>
          </p:cNvPicPr>
          <p:nvPr/>
        </p:nvPicPr>
        <p:blipFill>
          <a:blip r:embed="rId2"/>
          <a:stretch>
            <a:fillRect/>
          </a:stretch>
        </p:blipFill>
        <p:spPr>
          <a:xfrm>
            <a:off x="694212" y="2440716"/>
            <a:ext cx="184343" cy="184343"/>
          </a:xfrm>
          <a:prstGeom prst="rect">
            <a:avLst/>
          </a:prstGeom>
        </p:spPr>
      </p:pic>
      <p:sp>
        <p:nvSpPr>
          <p:cNvPr id="12" name="text-582"/>
          <p:cNvSpPr txBox="1"/>
          <p:nvPr/>
        </p:nvSpPr>
        <p:spPr>
          <a:xfrm>
            <a:off x="1042416" y="2304288"/>
            <a:ext cx="1965960" cy="457200"/>
          </a:xfrm>
          <a:prstGeom prst="rect">
            <a:avLst/>
          </a:prstGeom>
          <a:noFill/>
          <a:ln/>
        </p:spPr>
        <p:txBody>
          <a:bodyPr wrap="square" lIns="0" tIns="0" rIns="0" bIns="0" rtlCol="0" anchor="ctr"/>
          <a:lstStyle/>
          <a:p>
            <a:pPr indent="0" marL="0">
              <a:buNone/>
            </a:pPr>
            <a:r>
              <a:rPr lang="en-US" sz="1250" b="1" dirty="0">
                <a:solidFill>
                  <a:srgbClr val="242424"/>
                </a:solidFill>
                <a:latin typeface="Arial" pitchFamily="34" charset="0"/>
                <a:ea typeface="Arial" pitchFamily="34" charset="-122"/>
                <a:cs typeface="Arial" pitchFamily="34" charset="-120"/>
              </a:rPr>
              <a:t>PPT Dashboards</a:t>
            </a:r>
            <a:endParaRPr lang="en-US" sz="1250" dirty="0"/>
          </a:p>
        </p:txBody>
      </p:sp>
      <p:sp>
        <p:nvSpPr>
          <p:cNvPr id="13" name="shape-583"/>
          <p:cNvSpPr/>
          <p:nvPr/>
        </p:nvSpPr>
        <p:spPr>
          <a:xfrm>
            <a:off x="3063240" y="2532888"/>
            <a:ext cx="594360" cy="566928"/>
          </a:xfrm>
          <a:prstGeom prst="line">
            <a:avLst/>
          </a:prstGeom>
          <a:noFill/>
          <a:ln w="15875">
            <a:solidFill>
              <a:srgbClr val="A0A0A0"/>
            </a:solidFill>
            <a:prstDash val="solid"/>
            <a:tailEnd type="triangle"/>
          </a:ln>
        </p:spPr>
      </p:sp>
      <p:sp>
        <p:nvSpPr>
          <p:cNvPr id="14" name="shape-584"/>
          <p:cNvSpPr/>
          <p:nvPr/>
        </p:nvSpPr>
        <p:spPr>
          <a:xfrm>
            <a:off x="548640" y="2871216"/>
            <a:ext cx="2514600" cy="457200"/>
          </a:xfrm>
          <a:prstGeom prst="roundRect">
            <a:avLst>
              <a:gd name="adj" fmla="val 50000"/>
            </a:avLst>
          </a:prstGeom>
          <a:solidFill>
            <a:srgbClr val="FFFFFF"/>
          </a:solidFill>
          <a:ln w="12700">
            <a:solidFill>
              <a:srgbClr val="E0E0E0"/>
            </a:solidFill>
            <a:prstDash val="solid"/>
          </a:ln>
        </p:spPr>
      </p:sp>
      <p:sp>
        <p:nvSpPr>
          <p:cNvPr id="15" name="shape-585"/>
          <p:cNvSpPr/>
          <p:nvPr/>
        </p:nvSpPr>
        <p:spPr>
          <a:xfrm>
            <a:off x="621792" y="2935224"/>
            <a:ext cx="329184" cy="329184"/>
          </a:xfrm>
          <a:prstGeom prst="ellipse">
            <a:avLst/>
          </a:prstGeom>
          <a:solidFill>
            <a:srgbClr val="0068BF"/>
          </a:solidFill>
          <a:ln w="12700">
            <a:solidFill>
              <a:srgbClr val="0068BF"/>
            </a:solidFill>
            <a:prstDash val="solid"/>
          </a:ln>
        </p:spPr>
      </p:sp>
      <p:pic>
        <p:nvPicPr>
          <p:cNvPr id="16" name="icon-586" descr="preencoded.png">    </p:cNvPr>
          <p:cNvPicPr>
            <a:picLocks noChangeAspect="1"/>
          </p:cNvPicPr>
          <p:nvPr/>
        </p:nvPicPr>
        <p:blipFill>
          <a:blip r:embed="rId3"/>
          <a:stretch>
            <a:fillRect/>
          </a:stretch>
        </p:blipFill>
        <p:spPr>
          <a:xfrm>
            <a:off x="694212" y="3007644"/>
            <a:ext cx="184343" cy="184343"/>
          </a:xfrm>
          <a:prstGeom prst="rect">
            <a:avLst/>
          </a:prstGeom>
        </p:spPr>
      </p:pic>
      <p:sp>
        <p:nvSpPr>
          <p:cNvPr id="17" name="text-587"/>
          <p:cNvSpPr txBox="1"/>
          <p:nvPr/>
        </p:nvSpPr>
        <p:spPr>
          <a:xfrm>
            <a:off x="1042416" y="2871216"/>
            <a:ext cx="1965960" cy="457200"/>
          </a:xfrm>
          <a:prstGeom prst="rect">
            <a:avLst/>
          </a:prstGeom>
          <a:noFill/>
          <a:ln/>
        </p:spPr>
        <p:txBody>
          <a:bodyPr wrap="square" lIns="0" tIns="0" rIns="0" bIns="0" rtlCol="0" anchor="ctr"/>
          <a:lstStyle/>
          <a:p>
            <a:pPr indent="0" marL="0">
              <a:buNone/>
            </a:pPr>
            <a:r>
              <a:rPr lang="en-US" sz="1250" b="1" dirty="0">
                <a:solidFill>
                  <a:srgbClr val="242424"/>
                </a:solidFill>
                <a:latin typeface="Arial" pitchFamily="34" charset="0"/>
                <a:ea typeface="Arial" pitchFamily="34" charset="-122"/>
                <a:cs typeface="Arial" pitchFamily="34" charset="-120"/>
              </a:rPr>
              <a:t>Scoring &amp; GAP Analysis</a:t>
            </a:r>
            <a:endParaRPr lang="en-US" sz="1250" dirty="0"/>
          </a:p>
        </p:txBody>
      </p:sp>
      <p:sp>
        <p:nvSpPr>
          <p:cNvPr id="18" name="shape-588"/>
          <p:cNvSpPr/>
          <p:nvPr/>
        </p:nvSpPr>
        <p:spPr>
          <a:xfrm>
            <a:off x="3063240" y="3099816"/>
            <a:ext cx="594360" cy="914"/>
          </a:xfrm>
          <a:prstGeom prst="line">
            <a:avLst/>
          </a:prstGeom>
          <a:noFill/>
          <a:ln w="15875">
            <a:solidFill>
              <a:srgbClr val="A0A0A0"/>
            </a:solidFill>
            <a:prstDash val="solid"/>
            <a:tailEnd type="triangle"/>
          </a:ln>
        </p:spPr>
      </p:sp>
      <p:sp>
        <p:nvSpPr>
          <p:cNvPr id="19" name="shape-589"/>
          <p:cNvSpPr/>
          <p:nvPr/>
        </p:nvSpPr>
        <p:spPr>
          <a:xfrm>
            <a:off x="548640" y="3438144"/>
            <a:ext cx="2514600" cy="457200"/>
          </a:xfrm>
          <a:prstGeom prst="roundRect">
            <a:avLst>
              <a:gd name="adj" fmla="val 50000"/>
            </a:avLst>
          </a:prstGeom>
          <a:solidFill>
            <a:srgbClr val="FFFFFF"/>
          </a:solidFill>
          <a:ln w="12700">
            <a:solidFill>
              <a:srgbClr val="E0E0E0"/>
            </a:solidFill>
            <a:prstDash val="solid"/>
          </a:ln>
        </p:spPr>
      </p:sp>
      <p:sp>
        <p:nvSpPr>
          <p:cNvPr id="20" name="shape-590"/>
          <p:cNvSpPr/>
          <p:nvPr/>
        </p:nvSpPr>
        <p:spPr>
          <a:xfrm>
            <a:off x="621792" y="3502152"/>
            <a:ext cx="329184" cy="329184"/>
          </a:xfrm>
          <a:prstGeom prst="ellipse">
            <a:avLst/>
          </a:prstGeom>
          <a:solidFill>
            <a:srgbClr val="0C9B5B"/>
          </a:solidFill>
          <a:ln w="12700">
            <a:solidFill>
              <a:srgbClr val="0C9B5B"/>
            </a:solidFill>
            <a:prstDash val="solid"/>
          </a:ln>
        </p:spPr>
      </p:sp>
      <p:pic>
        <p:nvPicPr>
          <p:cNvPr id="21" name="icon-591" descr="preencoded.png">    </p:cNvPr>
          <p:cNvPicPr>
            <a:picLocks noChangeAspect="1"/>
          </p:cNvPicPr>
          <p:nvPr/>
        </p:nvPicPr>
        <p:blipFill>
          <a:blip r:embed="rId4"/>
          <a:stretch>
            <a:fillRect/>
          </a:stretch>
        </p:blipFill>
        <p:spPr>
          <a:xfrm>
            <a:off x="694212" y="3574572"/>
            <a:ext cx="184343" cy="184343"/>
          </a:xfrm>
          <a:prstGeom prst="rect">
            <a:avLst/>
          </a:prstGeom>
        </p:spPr>
      </p:pic>
      <p:sp>
        <p:nvSpPr>
          <p:cNvPr id="22" name="text-592"/>
          <p:cNvSpPr txBox="1"/>
          <p:nvPr/>
        </p:nvSpPr>
        <p:spPr>
          <a:xfrm>
            <a:off x="1042416" y="3438144"/>
            <a:ext cx="1965960" cy="457200"/>
          </a:xfrm>
          <a:prstGeom prst="rect">
            <a:avLst/>
          </a:prstGeom>
          <a:noFill/>
          <a:ln/>
        </p:spPr>
        <p:txBody>
          <a:bodyPr wrap="square" lIns="0" tIns="0" rIns="0" bIns="0" rtlCol="0" anchor="ctr"/>
          <a:lstStyle/>
          <a:p>
            <a:pPr indent="0" marL="0">
              <a:buNone/>
            </a:pPr>
            <a:r>
              <a:rPr lang="en-US" sz="1250" b="1" dirty="0">
                <a:solidFill>
                  <a:srgbClr val="242424"/>
                </a:solidFill>
                <a:latin typeface="Arial" pitchFamily="34" charset="0"/>
                <a:ea typeface="Arial" pitchFamily="34" charset="-122"/>
                <a:cs typeface="Arial" pitchFamily="34" charset="-120"/>
              </a:rPr>
              <a:t>Network Insights</a:t>
            </a:r>
            <a:endParaRPr lang="en-US" sz="1250" dirty="0"/>
          </a:p>
        </p:txBody>
      </p:sp>
      <p:sp>
        <p:nvSpPr>
          <p:cNvPr id="23" name="shape-593"/>
          <p:cNvSpPr/>
          <p:nvPr/>
        </p:nvSpPr>
        <p:spPr>
          <a:xfrm flipV="1">
            <a:off x="3063240" y="3099816"/>
            <a:ext cx="594360" cy="566928"/>
          </a:xfrm>
          <a:prstGeom prst="line">
            <a:avLst/>
          </a:prstGeom>
          <a:noFill/>
          <a:ln w="15875">
            <a:solidFill>
              <a:srgbClr val="A0A0A0"/>
            </a:solidFill>
            <a:prstDash val="solid"/>
            <a:tailEnd type="triangle"/>
          </a:ln>
        </p:spPr>
      </p:sp>
      <p:sp>
        <p:nvSpPr>
          <p:cNvPr id="24" name="shape-594"/>
          <p:cNvSpPr/>
          <p:nvPr/>
        </p:nvSpPr>
        <p:spPr>
          <a:xfrm>
            <a:off x="548640" y="4005072"/>
            <a:ext cx="2514600" cy="457200"/>
          </a:xfrm>
          <a:prstGeom prst="roundRect">
            <a:avLst>
              <a:gd name="adj" fmla="val 50000"/>
            </a:avLst>
          </a:prstGeom>
          <a:solidFill>
            <a:srgbClr val="FFFFFF"/>
          </a:solidFill>
          <a:ln w="12700">
            <a:solidFill>
              <a:srgbClr val="E0E0E0"/>
            </a:solidFill>
            <a:prstDash val="solid"/>
          </a:ln>
        </p:spPr>
      </p:sp>
      <p:sp>
        <p:nvSpPr>
          <p:cNvPr id="25" name="shape-595"/>
          <p:cNvSpPr/>
          <p:nvPr/>
        </p:nvSpPr>
        <p:spPr>
          <a:xfrm>
            <a:off x="621792" y="4069080"/>
            <a:ext cx="329184" cy="329184"/>
          </a:xfrm>
          <a:prstGeom prst="ellipse">
            <a:avLst/>
          </a:prstGeom>
          <a:solidFill>
            <a:srgbClr val="D92B2B"/>
          </a:solidFill>
          <a:ln w="12700">
            <a:solidFill>
              <a:srgbClr val="D92B2B"/>
            </a:solidFill>
            <a:prstDash val="solid"/>
          </a:ln>
        </p:spPr>
      </p:sp>
      <p:pic>
        <p:nvPicPr>
          <p:cNvPr id="26" name="icon-596" descr="preencoded.png">    </p:cNvPr>
          <p:cNvPicPr>
            <a:picLocks noChangeAspect="1"/>
          </p:cNvPicPr>
          <p:nvPr/>
        </p:nvPicPr>
        <p:blipFill>
          <a:blip r:embed="rId5"/>
          <a:stretch>
            <a:fillRect/>
          </a:stretch>
        </p:blipFill>
        <p:spPr>
          <a:xfrm>
            <a:off x="694212" y="4141500"/>
            <a:ext cx="184343" cy="184343"/>
          </a:xfrm>
          <a:prstGeom prst="rect">
            <a:avLst/>
          </a:prstGeom>
        </p:spPr>
      </p:pic>
      <p:sp>
        <p:nvSpPr>
          <p:cNvPr id="27" name="text-597"/>
          <p:cNvSpPr txBox="1"/>
          <p:nvPr/>
        </p:nvSpPr>
        <p:spPr>
          <a:xfrm>
            <a:off x="1042416" y="4005072"/>
            <a:ext cx="1965960" cy="457200"/>
          </a:xfrm>
          <a:prstGeom prst="rect">
            <a:avLst/>
          </a:prstGeom>
          <a:noFill/>
          <a:ln/>
        </p:spPr>
        <p:txBody>
          <a:bodyPr wrap="square" lIns="0" tIns="0" rIns="0" bIns="0" rtlCol="0" anchor="ctr"/>
          <a:lstStyle/>
          <a:p>
            <a:pPr indent="0" marL="0">
              <a:buNone/>
            </a:pPr>
            <a:r>
              <a:rPr lang="en-US" sz="1250" b="1" dirty="0">
                <a:solidFill>
                  <a:srgbClr val="242424"/>
                </a:solidFill>
                <a:latin typeface="Arial" pitchFamily="34" charset="0"/>
                <a:ea typeface="Arial" pitchFamily="34" charset="-122"/>
                <a:cs typeface="Arial" pitchFamily="34" charset="-120"/>
              </a:rPr>
              <a:t>Non-Qualified Calls</a:t>
            </a:r>
            <a:endParaRPr lang="en-US" sz="1250" dirty="0"/>
          </a:p>
        </p:txBody>
      </p:sp>
      <p:sp>
        <p:nvSpPr>
          <p:cNvPr id="28" name="shape-598"/>
          <p:cNvSpPr/>
          <p:nvPr/>
        </p:nvSpPr>
        <p:spPr>
          <a:xfrm flipV="1">
            <a:off x="3063240" y="3099816"/>
            <a:ext cx="594360" cy="1133856"/>
          </a:xfrm>
          <a:prstGeom prst="line">
            <a:avLst/>
          </a:prstGeom>
          <a:noFill/>
          <a:ln w="15875">
            <a:solidFill>
              <a:srgbClr val="A0A0A0"/>
            </a:solidFill>
            <a:prstDash val="solid"/>
            <a:tailEnd type="triangle"/>
          </a:ln>
        </p:spPr>
      </p:sp>
      <p:sp>
        <p:nvSpPr>
          <p:cNvPr id="29" name="shape-599"/>
          <p:cNvSpPr/>
          <p:nvPr/>
        </p:nvSpPr>
        <p:spPr>
          <a:xfrm>
            <a:off x="3703320" y="1737360"/>
            <a:ext cx="2788920" cy="2724912"/>
          </a:xfrm>
          <a:prstGeom prst="roundRect">
            <a:avLst>
              <a:gd name="adj" fmla="val 4698"/>
            </a:avLst>
          </a:prstGeom>
          <a:solidFill>
            <a:srgbClr val="000000"/>
          </a:solidFill>
          <a:ln w="12700">
            <a:solidFill>
              <a:srgbClr val="000000"/>
            </a:solidFill>
            <a:prstDash val="solid"/>
          </a:ln>
        </p:spPr>
      </p:sp>
      <p:pic>
        <p:nvPicPr>
          <p:cNvPr id="30" name="icon-600" descr="preencoded.png">    </p:cNvPr>
          <p:cNvPicPr>
            <a:picLocks noChangeAspect="1"/>
          </p:cNvPicPr>
          <p:nvPr/>
        </p:nvPicPr>
        <p:blipFill>
          <a:blip r:embed="rId6"/>
          <a:stretch>
            <a:fillRect/>
          </a:stretch>
        </p:blipFill>
        <p:spPr>
          <a:xfrm>
            <a:off x="3931920" y="1938528"/>
            <a:ext cx="438912" cy="438912"/>
          </a:xfrm>
          <a:prstGeom prst="rect">
            <a:avLst/>
          </a:prstGeom>
        </p:spPr>
      </p:pic>
      <p:sp>
        <p:nvSpPr>
          <p:cNvPr id="31" name="text-601"/>
          <p:cNvSpPr txBox="1"/>
          <p:nvPr/>
        </p:nvSpPr>
        <p:spPr>
          <a:xfrm>
            <a:off x="3931920" y="246888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Bundle Report Template</a:t>
            </a:r>
            <a:endParaRPr lang="en-US" sz="1600" dirty="0"/>
          </a:p>
        </p:txBody>
      </p:sp>
      <p:sp>
        <p:nvSpPr>
          <p:cNvPr id="32" name="text-602"/>
          <p:cNvSpPr txBox="1"/>
          <p:nvPr/>
        </p:nvSpPr>
        <p:spPr>
          <a:xfrm>
            <a:off x="3931920" y="2834640"/>
            <a:ext cx="2423160" cy="594360"/>
          </a:xfrm>
          <a:prstGeom prst="rect">
            <a:avLst/>
          </a:prstGeom>
          <a:noFill/>
          <a:ln/>
        </p:spPr>
        <p:txBody>
          <a:bodyPr wrap="square" lIns="0" tIns="0" rIns="0" bIns="0" rtlCol="0" anchor="ctr"/>
          <a:lstStyle/>
          <a:p>
            <a:pPr indent="0" marL="0">
              <a:buNone/>
            </a:pPr>
            <a:r>
              <a:rPr lang="en-US" sz="1150" dirty="0">
                <a:solidFill>
                  <a:srgbClr val="A0A0A0"/>
                </a:solidFill>
                <a:latin typeface="Arial" pitchFamily="34" charset="0"/>
                <a:ea typeface="Arial" pitchFamily="34" charset="-122"/>
                <a:cs typeface="Arial" pitchFamily="34" charset="-120"/>
              </a:rPr>
              <a:t>One PowerPoint or Word with the sections you choose, in your order</a:t>
            </a:r>
            <a:endParaRPr lang="en-US" sz="1150" dirty="0"/>
          </a:p>
        </p:txBody>
      </p:sp>
      <p:sp>
        <p:nvSpPr>
          <p:cNvPr id="33" name="shape-603"/>
          <p:cNvSpPr/>
          <p:nvPr/>
        </p:nvSpPr>
        <p:spPr>
          <a:xfrm>
            <a:off x="3931920" y="3657600"/>
            <a:ext cx="402336" cy="292608"/>
          </a:xfrm>
          <a:prstGeom prst="roundRect">
            <a:avLst>
              <a:gd name="adj" fmla="val 15625"/>
            </a:avLst>
          </a:prstGeom>
          <a:solidFill>
            <a:srgbClr val="4D4D4D"/>
          </a:solidFill>
          <a:ln w="12700">
            <a:solidFill>
              <a:srgbClr val="4D4D4D"/>
            </a:solidFill>
            <a:prstDash val="solid"/>
          </a:ln>
        </p:spPr>
      </p:sp>
      <p:sp>
        <p:nvSpPr>
          <p:cNvPr id="34" name="text-604"/>
          <p:cNvSpPr txBox="1"/>
          <p:nvPr/>
        </p:nvSpPr>
        <p:spPr>
          <a:xfrm>
            <a:off x="3931920" y="3657600"/>
            <a:ext cx="40233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35" name="shape-605"/>
          <p:cNvSpPr/>
          <p:nvPr/>
        </p:nvSpPr>
        <p:spPr>
          <a:xfrm>
            <a:off x="4416552" y="3657600"/>
            <a:ext cx="402336" cy="292608"/>
          </a:xfrm>
          <a:prstGeom prst="roundRect">
            <a:avLst>
              <a:gd name="adj" fmla="val 15625"/>
            </a:avLst>
          </a:prstGeom>
          <a:solidFill>
            <a:srgbClr val="E07800"/>
          </a:solidFill>
          <a:ln w="12700">
            <a:solidFill>
              <a:srgbClr val="E07800"/>
            </a:solidFill>
            <a:prstDash val="solid"/>
          </a:ln>
        </p:spPr>
      </p:sp>
      <p:sp>
        <p:nvSpPr>
          <p:cNvPr id="36" name="text-606"/>
          <p:cNvSpPr txBox="1"/>
          <p:nvPr/>
        </p:nvSpPr>
        <p:spPr>
          <a:xfrm>
            <a:off x="4416552" y="3657600"/>
            <a:ext cx="40233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37" name="shape-607"/>
          <p:cNvSpPr/>
          <p:nvPr/>
        </p:nvSpPr>
        <p:spPr>
          <a:xfrm>
            <a:off x="4901184" y="3657600"/>
            <a:ext cx="402336" cy="292608"/>
          </a:xfrm>
          <a:prstGeom prst="roundRect">
            <a:avLst>
              <a:gd name="adj" fmla="val 15625"/>
            </a:avLst>
          </a:prstGeom>
          <a:solidFill>
            <a:srgbClr val="0068BF"/>
          </a:solidFill>
          <a:ln w="12700">
            <a:solidFill>
              <a:srgbClr val="0068BF"/>
            </a:solidFill>
            <a:prstDash val="solid"/>
          </a:ln>
        </p:spPr>
      </p:sp>
      <p:sp>
        <p:nvSpPr>
          <p:cNvPr id="38" name="text-608"/>
          <p:cNvSpPr txBox="1"/>
          <p:nvPr/>
        </p:nvSpPr>
        <p:spPr>
          <a:xfrm>
            <a:off x="4901184" y="3657600"/>
            <a:ext cx="40233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39" name="shape-609"/>
          <p:cNvSpPr/>
          <p:nvPr/>
        </p:nvSpPr>
        <p:spPr>
          <a:xfrm>
            <a:off x="5385816" y="3657600"/>
            <a:ext cx="402336" cy="292608"/>
          </a:xfrm>
          <a:prstGeom prst="roundRect">
            <a:avLst>
              <a:gd name="adj" fmla="val 15625"/>
            </a:avLst>
          </a:prstGeom>
          <a:solidFill>
            <a:srgbClr val="0C9B5B"/>
          </a:solidFill>
          <a:ln w="12700">
            <a:solidFill>
              <a:srgbClr val="0C9B5B"/>
            </a:solidFill>
            <a:prstDash val="solid"/>
          </a:ln>
        </p:spPr>
      </p:sp>
      <p:sp>
        <p:nvSpPr>
          <p:cNvPr id="40" name="text-610"/>
          <p:cNvSpPr txBox="1"/>
          <p:nvPr/>
        </p:nvSpPr>
        <p:spPr>
          <a:xfrm>
            <a:off x="5385816" y="3657600"/>
            <a:ext cx="40233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41" name="shape-611"/>
          <p:cNvSpPr/>
          <p:nvPr/>
        </p:nvSpPr>
        <p:spPr>
          <a:xfrm>
            <a:off x="5870448" y="3657600"/>
            <a:ext cx="402336" cy="292608"/>
          </a:xfrm>
          <a:prstGeom prst="roundRect">
            <a:avLst>
              <a:gd name="adj" fmla="val 15625"/>
            </a:avLst>
          </a:prstGeom>
          <a:solidFill>
            <a:srgbClr val="D92B2B"/>
          </a:solidFill>
          <a:ln w="12700">
            <a:solidFill>
              <a:srgbClr val="D92B2B"/>
            </a:solidFill>
            <a:prstDash val="solid"/>
          </a:ln>
        </p:spPr>
      </p:sp>
      <p:sp>
        <p:nvSpPr>
          <p:cNvPr id="42" name="text-612"/>
          <p:cNvSpPr txBox="1"/>
          <p:nvPr/>
        </p:nvSpPr>
        <p:spPr>
          <a:xfrm>
            <a:off x="5870448" y="3657600"/>
            <a:ext cx="40233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43" name="text-613"/>
          <p:cNvSpPr txBox="1"/>
          <p:nvPr/>
        </p:nvSpPr>
        <p:spPr>
          <a:xfrm>
            <a:off x="3931920" y="4041648"/>
            <a:ext cx="2468880" cy="274320"/>
          </a:xfrm>
          <a:prstGeom prst="rect">
            <a:avLst/>
          </a:prstGeom>
          <a:noFill/>
          <a:ln/>
        </p:spPr>
        <p:txBody>
          <a:bodyPr wrap="square" lIns="0" tIns="0" rIns="0" bIns="0" rtlCol="0" anchor="ctr"/>
          <a:lstStyle/>
          <a:p>
            <a:pPr indent="0" marL="0">
              <a:buNone/>
            </a:pPr>
            <a:r>
              <a:rPr lang="en-US" sz="1000" dirty="0">
                <a:solidFill>
                  <a:srgbClr val="A0A0A0"/>
                </a:solidFill>
                <a:latin typeface="Arial" pitchFamily="34" charset="0"/>
                <a:ea typeface="Arial" pitchFamily="34" charset="-122"/>
                <a:cs typeface="Arial" pitchFamily="34" charset="-120"/>
              </a:rPr>
              <a:t>Sections, filters and campaigns per report</a:t>
            </a:r>
            <a:endParaRPr lang="en-US" sz="1000" dirty="0"/>
          </a:p>
        </p:txBody>
      </p:sp>
      <p:sp>
        <p:nvSpPr>
          <p:cNvPr id="44" name="shape-614"/>
          <p:cNvSpPr/>
          <p:nvPr/>
        </p:nvSpPr>
        <p:spPr>
          <a:xfrm>
            <a:off x="6537960" y="3099816"/>
            <a:ext cx="329184" cy="0"/>
          </a:xfrm>
          <a:prstGeom prst="line">
            <a:avLst/>
          </a:prstGeom>
          <a:noFill/>
          <a:ln w="19050">
            <a:solidFill>
              <a:srgbClr val="A0A0A0"/>
            </a:solidFill>
            <a:prstDash val="solid"/>
            <a:tailEnd type="triangle"/>
          </a:ln>
        </p:spPr>
      </p:sp>
      <p:sp>
        <p:nvSpPr>
          <p:cNvPr id="45" name="shape-615"/>
          <p:cNvSpPr/>
          <p:nvPr/>
        </p:nvSpPr>
        <p:spPr>
          <a:xfrm>
            <a:off x="6903720" y="1737360"/>
            <a:ext cx="2377440" cy="2724912"/>
          </a:xfrm>
          <a:prstGeom prst="roundRect">
            <a:avLst>
              <a:gd name="adj" fmla="val 5385"/>
            </a:avLst>
          </a:prstGeom>
          <a:solidFill>
            <a:srgbClr val="F2F2F2"/>
          </a:solidFill>
          <a:ln w="12700">
            <a:solidFill>
              <a:srgbClr val="F2F2F2"/>
            </a:solidFill>
            <a:prstDash val="solid"/>
          </a:ln>
        </p:spPr>
      </p:sp>
      <p:pic>
        <p:nvPicPr>
          <p:cNvPr id="46" name="icon-616" descr="preencoded.png">    </p:cNvPr>
          <p:cNvPicPr>
            <a:picLocks noChangeAspect="1"/>
          </p:cNvPicPr>
          <p:nvPr/>
        </p:nvPicPr>
        <p:blipFill>
          <a:blip r:embed="rId7"/>
          <a:stretch>
            <a:fillRect/>
          </a:stretch>
        </p:blipFill>
        <p:spPr>
          <a:xfrm>
            <a:off x="7132320" y="1938528"/>
            <a:ext cx="438912" cy="438912"/>
          </a:xfrm>
          <a:prstGeom prst="rect">
            <a:avLst/>
          </a:prstGeom>
        </p:spPr>
      </p:pic>
      <p:sp>
        <p:nvSpPr>
          <p:cNvPr id="47" name="text-617"/>
          <p:cNvSpPr txBox="1"/>
          <p:nvPr/>
        </p:nvSpPr>
        <p:spPr>
          <a:xfrm>
            <a:off x="7132320" y="2468880"/>
            <a:ext cx="2057400" cy="365760"/>
          </a:xfrm>
          <a:prstGeom prst="rect">
            <a:avLst/>
          </a:prstGeom>
          <a:noFill/>
          <a:ln/>
        </p:spPr>
        <p:txBody>
          <a:bodyPr wrap="square" lIns="0" tIns="0" rIns="0" bIns="0" rtlCol="0" anchor="ctr"/>
          <a:lstStyle/>
          <a:p>
            <a:pPr indent="0" marL="0">
              <a:buNone/>
            </a:pPr>
            <a:r>
              <a:rPr lang="en-US" sz="1600" b="1" dirty="0">
                <a:solidFill>
                  <a:srgbClr val="242424"/>
                </a:solidFill>
                <a:latin typeface="Arial" pitchFamily="34" charset="0"/>
                <a:ea typeface="Arial" pitchFamily="34" charset="-122"/>
                <a:cs typeface="Arial" pitchFamily="34" charset="-120"/>
              </a:rPr>
              <a:t>Reporting Jobs</a:t>
            </a:r>
            <a:endParaRPr lang="en-US" sz="1600" dirty="0"/>
          </a:p>
        </p:txBody>
      </p:sp>
      <p:sp>
        <p:nvSpPr>
          <p:cNvPr id="48" name="shape-618"/>
          <p:cNvSpPr/>
          <p:nvPr/>
        </p:nvSpPr>
        <p:spPr>
          <a:xfrm>
            <a:off x="7132320" y="2926080"/>
            <a:ext cx="914400" cy="310896"/>
          </a:xfrm>
          <a:prstGeom prst="roundRect">
            <a:avLst>
              <a:gd name="adj" fmla="val 50000"/>
            </a:avLst>
          </a:prstGeom>
          <a:solidFill>
            <a:srgbClr val="FFFFFF"/>
          </a:solidFill>
          <a:ln w="12700">
            <a:solidFill>
              <a:srgbClr val="C9B6D9"/>
            </a:solidFill>
            <a:prstDash val="solid"/>
          </a:ln>
        </p:spPr>
      </p:sp>
      <p:sp>
        <p:nvSpPr>
          <p:cNvPr id="49" name="text-619"/>
          <p:cNvSpPr txBox="1"/>
          <p:nvPr/>
        </p:nvSpPr>
        <p:spPr>
          <a:xfrm>
            <a:off x="7132320" y="2926080"/>
            <a:ext cx="914400" cy="310896"/>
          </a:xfrm>
          <a:prstGeom prst="rect">
            <a:avLst/>
          </a:prstGeom>
          <a:noFill/>
          <a:ln/>
        </p:spPr>
        <p:txBody>
          <a:bodyPr wrap="square" lIns="0" tIns="0" rIns="0" bIns="0" rtlCol="0" anchor="ctr"/>
          <a:lstStyle/>
          <a:p>
            <a:pPr algn="ctr" indent="0" marL="0">
              <a:buNone/>
            </a:pPr>
            <a:r>
              <a:rPr lang="en-US" sz="1050" b="1" dirty="0">
                <a:solidFill>
                  <a:srgbClr val="8C60A8"/>
                </a:solidFill>
                <a:latin typeface="Arial" pitchFamily="34" charset="0"/>
                <a:ea typeface="Arial" pitchFamily="34" charset="-122"/>
                <a:cs typeface="Arial" pitchFamily="34" charset="-120"/>
              </a:rPr>
              <a:t>On demand</a:t>
            </a:r>
            <a:endParaRPr lang="en-US" sz="1050" dirty="0"/>
          </a:p>
        </p:txBody>
      </p:sp>
      <p:sp>
        <p:nvSpPr>
          <p:cNvPr id="50" name="shape-620"/>
          <p:cNvSpPr/>
          <p:nvPr/>
        </p:nvSpPr>
        <p:spPr>
          <a:xfrm>
            <a:off x="8138160" y="2926080"/>
            <a:ext cx="914400" cy="310896"/>
          </a:xfrm>
          <a:prstGeom prst="roundRect">
            <a:avLst>
              <a:gd name="adj" fmla="val 50000"/>
            </a:avLst>
          </a:prstGeom>
          <a:solidFill>
            <a:srgbClr val="FFFFFF"/>
          </a:solidFill>
          <a:ln w="12700">
            <a:solidFill>
              <a:srgbClr val="C9B6D9"/>
            </a:solidFill>
            <a:prstDash val="solid"/>
          </a:ln>
        </p:spPr>
      </p:sp>
      <p:sp>
        <p:nvSpPr>
          <p:cNvPr id="51" name="text-621"/>
          <p:cNvSpPr txBox="1"/>
          <p:nvPr/>
        </p:nvSpPr>
        <p:spPr>
          <a:xfrm>
            <a:off x="8138160" y="2926080"/>
            <a:ext cx="914400" cy="310896"/>
          </a:xfrm>
          <a:prstGeom prst="rect">
            <a:avLst/>
          </a:prstGeom>
          <a:noFill/>
          <a:ln/>
        </p:spPr>
        <p:txBody>
          <a:bodyPr wrap="square" lIns="0" tIns="0" rIns="0" bIns="0" rtlCol="0" anchor="ctr"/>
          <a:lstStyle/>
          <a:p>
            <a:pPr algn="ctr" indent="0" marL="0">
              <a:buNone/>
            </a:pPr>
            <a:r>
              <a:rPr lang="en-US" sz="1050" b="1" dirty="0">
                <a:solidFill>
                  <a:srgbClr val="8C60A8"/>
                </a:solidFill>
                <a:latin typeface="Arial" pitchFamily="34" charset="0"/>
                <a:ea typeface="Arial" pitchFamily="34" charset="-122"/>
                <a:cs typeface="Arial" pitchFamily="34" charset="-120"/>
              </a:rPr>
              <a:t>Daily</a:t>
            </a:r>
            <a:endParaRPr lang="en-US" sz="1050" dirty="0"/>
          </a:p>
        </p:txBody>
      </p:sp>
      <p:sp>
        <p:nvSpPr>
          <p:cNvPr id="52" name="shape-622"/>
          <p:cNvSpPr/>
          <p:nvPr/>
        </p:nvSpPr>
        <p:spPr>
          <a:xfrm>
            <a:off x="7132320" y="3337560"/>
            <a:ext cx="914400" cy="310896"/>
          </a:xfrm>
          <a:prstGeom prst="roundRect">
            <a:avLst>
              <a:gd name="adj" fmla="val 50000"/>
            </a:avLst>
          </a:prstGeom>
          <a:solidFill>
            <a:srgbClr val="FFFFFF"/>
          </a:solidFill>
          <a:ln w="12700">
            <a:solidFill>
              <a:srgbClr val="C9B6D9"/>
            </a:solidFill>
            <a:prstDash val="solid"/>
          </a:ln>
        </p:spPr>
      </p:sp>
      <p:sp>
        <p:nvSpPr>
          <p:cNvPr id="53" name="text-623"/>
          <p:cNvSpPr txBox="1"/>
          <p:nvPr/>
        </p:nvSpPr>
        <p:spPr>
          <a:xfrm>
            <a:off x="7132320" y="3337560"/>
            <a:ext cx="914400" cy="310896"/>
          </a:xfrm>
          <a:prstGeom prst="rect">
            <a:avLst/>
          </a:prstGeom>
          <a:noFill/>
          <a:ln/>
        </p:spPr>
        <p:txBody>
          <a:bodyPr wrap="square" lIns="0" tIns="0" rIns="0" bIns="0" rtlCol="0" anchor="ctr"/>
          <a:lstStyle/>
          <a:p>
            <a:pPr algn="ctr" indent="0" marL="0">
              <a:buNone/>
            </a:pPr>
            <a:r>
              <a:rPr lang="en-US" sz="1050" b="1" dirty="0">
                <a:solidFill>
                  <a:srgbClr val="8C60A8"/>
                </a:solidFill>
                <a:latin typeface="Arial" pitchFamily="34" charset="0"/>
                <a:ea typeface="Arial" pitchFamily="34" charset="-122"/>
                <a:cs typeface="Arial" pitchFamily="34" charset="-120"/>
              </a:rPr>
              <a:t>Weekly</a:t>
            </a:r>
            <a:endParaRPr lang="en-US" sz="1050" dirty="0"/>
          </a:p>
        </p:txBody>
      </p:sp>
      <p:sp>
        <p:nvSpPr>
          <p:cNvPr id="54" name="shape-624"/>
          <p:cNvSpPr/>
          <p:nvPr/>
        </p:nvSpPr>
        <p:spPr>
          <a:xfrm>
            <a:off x="8138160" y="3337560"/>
            <a:ext cx="914400" cy="310896"/>
          </a:xfrm>
          <a:prstGeom prst="roundRect">
            <a:avLst>
              <a:gd name="adj" fmla="val 50000"/>
            </a:avLst>
          </a:prstGeom>
          <a:solidFill>
            <a:srgbClr val="FFFFFF"/>
          </a:solidFill>
          <a:ln w="12700">
            <a:solidFill>
              <a:srgbClr val="C9B6D9"/>
            </a:solidFill>
            <a:prstDash val="solid"/>
          </a:ln>
        </p:spPr>
      </p:sp>
      <p:sp>
        <p:nvSpPr>
          <p:cNvPr id="55" name="text-625"/>
          <p:cNvSpPr txBox="1"/>
          <p:nvPr/>
        </p:nvSpPr>
        <p:spPr>
          <a:xfrm>
            <a:off x="8138160" y="3337560"/>
            <a:ext cx="914400" cy="310896"/>
          </a:xfrm>
          <a:prstGeom prst="rect">
            <a:avLst/>
          </a:prstGeom>
          <a:noFill/>
          <a:ln/>
        </p:spPr>
        <p:txBody>
          <a:bodyPr wrap="square" lIns="0" tIns="0" rIns="0" bIns="0" rtlCol="0" anchor="ctr"/>
          <a:lstStyle/>
          <a:p>
            <a:pPr algn="ctr" indent="0" marL="0">
              <a:buNone/>
            </a:pPr>
            <a:r>
              <a:rPr lang="en-US" sz="1050" b="1" dirty="0">
                <a:solidFill>
                  <a:srgbClr val="8C60A8"/>
                </a:solidFill>
                <a:latin typeface="Arial" pitchFamily="34" charset="0"/>
                <a:ea typeface="Arial" pitchFamily="34" charset="-122"/>
                <a:cs typeface="Arial" pitchFamily="34" charset="-120"/>
              </a:rPr>
              <a:t>Monthly</a:t>
            </a:r>
            <a:endParaRPr lang="en-US" sz="1050" dirty="0"/>
          </a:p>
        </p:txBody>
      </p:sp>
      <p:sp>
        <p:nvSpPr>
          <p:cNvPr id="56" name="text-626"/>
          <p:cNvSpPr txBox="1"/>
          <p:nvPr/>
        </p:nvSpPr>
        <p:spPr>
          <a:xfrm>
            <a:off x="7132320" y="3840480"/>
            <a:ext cx="2057400" cy="457200"/>
          </a:xfrm>
          <a:prstGeom prst="rect">
            <a:avLst/>
          </a:prstGeom>
          <a:noFill/>
          <a:ln/>
        </p:spPr>
        <p:txBody>
          <a:bodyPr wrap="square" lIns="0" tIns="0" rIns="0" bIns="0" rtlCol="0" anchor="ctr"/>
          <a:lstStyle/>
          <a:p>
            <a:pPr indent="0" marL="0">
              <a:buNone/>
            </a:pPr>
            <a:r>
              <a:rPr lang="en-US" sz="1050" dirty="0">
                <a:solidFill>
                  <a:srgbClr val="767676"/>
                </a:solidFill>
                <a:latin typeface="Arial" pitchFamily="34" charset="0"/>
                <a:ea typeface="Arial" pitchFamily="34" charset="-122"/>
                <a:cs typeface="Arial" pitchFamily="34" charset="-120"/>
              </a:rPr>
              <a:t>Run History with Stop and Rerun</a:t>
            </a:r>
            <a:endParaRPr lang="en-US" sz="1050" dirty="0"/>
          </a:p>
        </p:txBody>
      </p:sp>
      <p:sp>
        <p:nvSpPr>
          <p:cNvPr id="57" name="shape-627"/>
          <p:cNvSpPr/>
          <p:nvPr/>
        </p:nvSpPr>
        <p:spPr>
          <a:xfrm>
            <a:off x="9326880" y="3099816"/>
            <a:ext cx="292608" cy="0"/>
          </a:xfrm>
          <a:prstGeom prst="line">
            <a:avLst/>
          </a:prstGeom>
          <a:noFill/>
          <a:ln w="19050">
            <a:solidFill>
              <a:srgbClr val="A0A0A0"/>
            </a:solidFill>
            <a:prstDash val="solid"/>
            <a:tailEnd type="triangle"/>
          </a:ln>
        </p:spPr>
      </p:sp>
      <p:sp>
        <p:nvSpPr>
          <p:cNvPr id="58" name="shape-628"/>
          <p:cNvSpPr/>
          <p:nvPr/>
        </p:nvSpPr>
        <p:spPr>
          <a:xfrm>
            <a:off x="9692640" y="1874520"/>
            <a:ext cx="566928" cy="566928"/>
          </a:xfrm>
          <a:prstGeom prst="ellipse">
            <a:avLst/>
          </a:prstGeom>
          <a:solidFill>
            <a:srgbClr val="D35230"/>
          </a:solidFill>
          <a:ln w="12700">
            <a:solidFill>
              <a:srgbClr val="D35230"/>
            </a:solidFill>
            <a:prstDash val="solid"/>
          </a:ln>
        </p:spPr>
      </p:sp>
      <p:pic>
        <p:nvPicPr>
          <p:cNvPr id="59" name="icon-629" descr="preencoded.png">    </p:cNvPr>
          <p:cNvPicPr>
            <a:picLocks noChangeAspect="1"/>
          </p:cNvPicPr>
          <p:nvPr/>
        </p:nvPicPr>
        <p:blipFill>
          <a:blip r:embed="rId8"/>
          <a:stretch>
            <a:fillRect/>
          </a:stretch>
        </p:blipFill>
        <p:spPr>
          <a:xfrm>
            <a:off x="9817364" y="1999244"/>
            <a:ext cx="317480" cy="317480"/>
          </a:xfrm>
          <a:prstGeom prst="rect">
            <a:avLst/>
          </a:prstGeom>
        </p:spPr>
      </p:pic>
      <p:sp>
        <p:nvSpPr>
          <p:cNvPr id="60" name="text-630"/>
          <p:cNvSpPr txBox="1"/>
          <p:nvPr/>
        </p:nvSpPr>
        <p:spPr>
          <a:xfrm>
            <a:off x="10351008" y="1874520"/>
            <a:ext cx="1325880" cy="566928"/>
          </a:xfrm>
          <a:prstGeom prst="rect">
            <a:avLst/>
          </a:prstGeom>
          <a:noFill/>
          <a:ln/>
        </p:spPr>
        <p:txBody>
          <a:bodyPr wrap="square" lIns="0" tIns="0" rIns="0" bIns="0" rtlCol="0" anchor="ctr"/>
          <a:lstStyle/>
          <a:p>
            <a:pPr indent="0" marL="0">
              <a:buNone/>
            </a:pPr>
            <a:r>
              <a:rPr lang="en-US" sz="1250" b="1" dirty="0">
                <a:solidFill>
                  <a:srgbClr val="242424"/>
                </a:solidFill>
                <a:latin typeface="Arial" pitchFamily="34" charset="0"/>
                <a:ea typeface="Arial" pitchFamily="34" charset="-122"/>
                <a:cs typeface="Arial" pitchFamily="34" charset="-120"/>
              </a:rPr>
              <a:t>PowerPoint</a:t>
            </a:r>
            <a:endParaRPr lang="en-US" sz="1250" dirty="0"/>
          </a:p>
        </p:txBody>
      </p:sp>
      <p:sp>
        <p:nvSpPr>
          <p:cNvPr id="61" name="shape-631"/>
          <p:cNvSpPr/>
          <p:nvPr/>
        </p:nvSpPr>
        <p:spPr>
          <a:xfrm>
            <a:off x="9692640" y="2743200"/>
            <a:ext cx="566928" cy="566928"/>
          </a:xfrm>
          <a:prstGeom prst="ellipse">
            <a:avLst/>
          </a:prstGeom>
          <a:solidFill>
            <a:srgbClr val="2B579A"/>
          </a:solidFill>
          <a:ln w="12700">
            <a:solidFill>
              <a:srgbClr val="2B579A"/>
            </a:solidFill>
            <a:prstDash val="solid"/>
          </a:ln>
        </p:spPr>
      </p:sp>
      <p:pic>
        <p:nvPicPr>
          <p:cNvPr id="62" name="icon-632" descr="preencoded.png">    </p:cNvPr>
          <p:cNvPicPr>
            <a:picLocks noChangeAspect="1"/>
          </p:cNvPicPr>
          <p:nvPr/>
        </p:nvPicPr>
        <p:blipFill>
          <a:blip r:embed="rId9"/>
          <a:stretch>
            <a:fillRect/>
          </a:stretch>
        </p:blipFill>
        <p:spPr>
          <a:xfrm>
            <a:off x="9817364" y="2867924"/>
            <a:ext cx="317480" cy="317480"/>
          </a:xfrm>
          <a:prstGeom prst="rect">
            <a:avLst/>
          </a:prstGeom>
        </p:spPr>
      </p:pic>
      <p:sp>
        <p:nvSpPr>
          <p:cNvPr id="63" name="text-633"/>
          <p:cNvSpPr txBox="1"/>
          <p:nvPr/>
        </p:nvSpPr>
        <p:spPr>
          <a:xfrm>
            <a:off x="10351008" y="2743200"/>
            <a:ext cx="1325880" cy="566928"/>
          </a:xfrm>
          <a:prstGeom prst="rect">
            <a:avLst/>
          </a:prstGeom>
          <a:noFill/>
          <a:ln/>
        </p:spPr>
        <p:txBody>
          <a:bodyPr wrap="square" lIns="0" tIns="0" rIns="0" bIns="0" rtlCol="0" anchor="ctr"/>
          <a:lstStyle/>
          <a:p>
            <a:pPr indent="0" marL="0">
              <a:buNone/>
            </a:pPr>
            <a:r>
              <a:rPr lang="en-US" sz="1250" b="1" dirty="0">
                <a:solidFill>
                  <a:srgbClr val="242424"/>
                </a:solidFill>
                <a:latin typeface="Arial" pitchFamily="34" charset="0"/>
                <a:ea typeface="Arial" pitchFamily="34" charset="-122"/>
                <a:cs typeface="Arial" pitchFamily="34" charset="-120"/>
              </a:rPr>
              <a:t>Word</a:t>
            </a:r>
            <a:endParaRPr lang="en-US" sz="1250" dirty="0"/>
          </a:p>
        </p:txBody>
      </p:sp>
      <p:sp>
        <p:nvSpPr>
          <p:cNvPr id="64" name="shape-634"/>
          <p:cNvSpPr/>
          <p:nvPr/>
        </p:nvSpPr>
        <p:spPr>
          <a:xfrm>
            <a:off x="9692640" y="3611880"/>
            <a:ext cx="566928" cy="566928"/>
          </a:xfrm>
          <a:prstGeom prst="ellipse">
            <a:avLst/>
          </a:prstGeom>
          <a:solidFill>
            <a:srgbClr val="0068BF"/>
          </a:solidFill>
          <a:ln w="12700">
            <a:solidFill>
              <a:srgbClr val="0068BF"/>
            </a:solidFill>
            <a:prstDash val="solid"/>
          </a:ln>
        </p:spPr>
      </p:sp>
      <p:pic>
        <p:nvPicPr>
          <p:cNvPr id="65" name="icon-635" descr="preencoded.png">    </p:cNvPr>
          <p:cNvPicPr>
            <a:picLocks noChangeAspect="1"/>
          </p:cNvPicPr>
          <p:nvPr/>
        </p:nvPicPr>
        <p:blipFill>
          <a:blip r:embed="rId10"/>
          <a:stretch>
            <a:fillRect/>
          </a:stretch>
        </p:blipFill>
        <p:spPr>
          <a:xfrm>
            <a:off x="9817364" y="3736604"/>
            <a:ext cx="317480" cy="317480"/>
          </a:xfrm>
          <a:prstGeom prst="rect">
            <a:avLst/>
          </a:prstGeom>
        </p:spPr>
      </p:pic>
      <p:sp>
        <p:nvSpPr>
          <p:cNvPr id="66" name="text-636"/>
          <p:cNvSpPr txBox="1"/>
          <p:nvPr/>
        </p:nvSpPr>
        <p:spPr>
          <a:xfrm>
            <a:off x="10351008" y="3611880"/>
            <a:ext cx="1325880" cy="566928"/>
          </a:xfrm>
          <a:prstGeom prst="rect">
            <a:avLst/>
          </a:prstGeom>
          <a:noFill/>
          <a:ln/>
        </p:spPr>
        <p:txBody>
          <a:bodyPr wrap="square" lIns="0" tIns="0" rIns="0" bIns="0" rtlCol="0" anchor="ctr"/>
          <a:lstStyle/>
          <a:p>
            <a:pPr indent="0" marL="0">
              <a:buNone/>
            </a:pPr>
            <a:r>
              <a:rPr lang="en-US" sz="1250" b="1" dirty="0">
                <a:solidFill>
                  <a:srgbClr val="242424"/>
                </a:solidFill>
                <a:latin typeface="Arial" pitchFamily="34" charset="0"/>
                <a:ea typeface="Arial" pitchFamily="34" charset="-122"/>
                <a:cs typeface="Arial" pitchFamily="34" charset="-120"/>
              </a:rPr>
              <a:t>Email to recipients</a:t>
            </a:r>
            <a:endParaRPr lang="en-US" sz="1250" dirty="0"/>
          </a:p>
        </p:txBody>
      </p:sp>
      <p:sp>
        <p:nvSpPr>
          <p:cNvPr id="67" name="text-637"/>
          <p:cNvSpPr txBox="1"/>
          <p:nvPr/>
        </p:nvSpPr>
        <p:spPr>
          <a:xfrm>
            <a:off x="548640" y="4754880"/>
            <a:ext cx="2194560" cy="731520"/>
          </a:xfrm>
          <a:prstGeom prst="rect">
            <a:avLst/>
          </a:prstGeom>
          <a:noFill/>
          <a:ln/>
        </p:spPr>
        <p:txBody>
          <a:bodyPr wrap="square" lIns="0" tIns="0" rIns="0" bIns="0" rtlCol="0" anchor="ctr"/>
          <a:lstStyle/>
          <a:p>
            <a:pPr indent="0" marL="0">
              <a:buNone/>
            </a:pPr>
            <a:r>
              <a:rPr lang="en-US" sz="4800" b="1" dirty="0">
                <a:solidFill>
                  <a:srgbClr val="0068BF"/>
                </a:solidFill>
                <a:latin typeface="Arial" pitchFamily="34" charset="0"/>
                <a:ea typeface="Arial" pitchFamily="34" charset="-122"/>
                <a:cs typeface="Arial" pitchFamily="34" charset="-120"/>
              </a:rPr>
              <a:t>7</a:t>
            </a:r>
            <a:endParaRPr lang="en-US" sz="4800" dirty="0"/>
          </a:p>
        </p:txBody>
      </p:sp>
      <p:sp>
        <p:nvSpPr>
          <p:cNvPr id="68" name="text-638"/>
          <p:cNvSpPr txBox="1"/>
          <p:nvPr/>
        </p:nvSpPr>
        <p:spPr>
          <a:xfrm>
            <a:off x="548640" y="5486400"/>
            <a:ext cx="2194560" cy="594360"/>
          </a:xfrm>
          <a:prstGeom prst="rect">
            <a:avLst/>
          </a:prstGeom>
          <a:noFill/>
          <a:ln/>
        </p:spPr>
        <p:txBody>
          <a:bodyPr wrap="square" lIns="0" tIns="0" rIns="0" bIns="0" rtlCol="0" anchor="ctr"/>
          <a:lstStyle/>
          <a:p>
            <a:pPr indent="0" marL="0">
              <a:buNone/>
            </a:pPr>
            <a:r>
              <a:rPr lang="en-US" sz="1150" dirty="0">
                <a:solidFill>
                  <a:srgbClr val="767676"/>
                </a:solidFill>
                <a:latin typeface="Arial" pitchFamily="34" charset="0"/>
                <a:ea typeface="Arial" pitchFamily="34" charset="-122"/>
                <a:cs typeface="Arial" pitchFamily="34" charset="-120"/>
              </a:rPr>
              <a:t>themes, one click: from the operator brand to the boardroom</a:t>
            </a:r>
            <a:endParaRPr lang="en-US" sz="1150" dirty="0"/>
          </a:p>
        </p:txBody>
      </p:sp>
      <p:sp>
        <p:nvSpPr>
          <p:cNvPr id="69" name="shape-639"/>
          <p:cNvSpPr/>
          <p:nvPr/>
        </p:nvSpPr>
        <p:spPr>
          <a:xfrm>
            <a:off x="2971800" y="4800600"/>
            <a:ext cx="1115568" cy="713232"/>
          </a:xfrm>
          <a:prstGeom prst="roundRect">
            <a:avLst>
              <a:gd name="adj" fmla="val 7692"/>
            </a:avLst>
          </a:prstGeom>
          <a:solidFill>
            <a:srgbClr val="FFFFFF"/>
          </a:solidFill>
          <a:ln w="12700">
            <a:solidFill>
              <a:srgbClr val="E0E0E0"/>
            </a:solidFill>
            <a:prstDash val="solid"/>
          </a:ln>
          <a:effectLst>
            <a:outerShdw sx="100000" sy="100000" kx="0" ky="0" algn="bl" rotWithShape="0" blurRad="50800" dist="19050" dir="5400000">
              <a:srgbClr val="000000">
                <a:alpha val="12000"/>
              </a:srgbClr>
            </a:outerShdw>
          </a:effectLst>
        </p:spPr>
      </p:sp>
      <p:sp>
        <p:nvSpPr>
          <p:cNvPr id="70" name="shape-640"/>
          <p:cNvSpPr/>
          <p:nvPr/>
        </p:nvSpPr>
        <p:spPr>
          <a:xfrm>
            <a:off x="3063240" y="4892040"/>
            <a:ext cx="566928" cy="64008"/>
          </a:xfrm>
          <a:prstGeom prst="rect">
            <a:avLst/>
          </a:prstGeom>
          <a:solidFill>
            <a:srgbClr val="1450A8"/>
          </a:solidFill>
          <a:ln w="12700">
            <a:solidFill>
              <a:srgbClr val="1450A8"/>
            </a:solidFill>
            <a:prstDash val="solid"/>
          </a:ln>
        </p:spPr>
      </p:sp>
      <p:sp>
        <p:nvSpPr>
          <p:cNvPr id="71" name="shape-641"/>
          <p:cNvSpPr/>
          <p:nvPr/>
        </p:nvSpPr>
        <p:spPr>
          <a:xfrm>
            <a:off x="3099816" y="5129784"/>
            <a:ext cx="219456" cy="292608"/>
          </a:xfrm>
          <a:prstGeom prst="rect">
            <a:avLst/>
          </a:prstGeom>
          <a:solidFill>
            <a:srgbClr val="245E5A"/>
          </a:solidFill>
          <a:ln w="12700">
            <a:solidFill>
              <a:srgbClr val="245E5A"/>
            </a:solidFill>
            <a:prstDash val="solid"/>
          </a:ln>
        </p:spPr>
      </p:sp>
      <p:sp>
        <p:nvSpPr>
          <p:cNvPr id="72" name="shape-642"/>
          <p:cNvSpPr/>
          <p:nvPr/>
        </p:nvSpPr>
        <p:spPr>
          <a:xfrm>
            <a:off x="3401568" y="5221224"/>
            <a:ext cx="219456" cy="201168"/>
          </a:xfrm>
          <a:prstGeom prst="rect">
            <a:avLst/>
          </a:prstGeom>
          <a:solidFill>
            <a:srgbClr val="5B9A44"/>
          </a:solidFill>
          <a:ln w="12700">
            <a:solidFill>
              <a:srgbClr val="5B9A44"/>
            </a:solidFill>
            <a:prstDash val="solid"/>
          </a:ln>
        </p:spPr>
      </p:sp>
      <p:sp>
        <p:nvSpPr>
          <p:cNvPr id="73" name="shape-643"/>
          <p:cNvSpPr/>
          <p:nvPr/>
        </p:nvSpPr>
        <p:spPr>
          <a:xfrm>
            <a:off x="3703320" y="5056632"/>
            <a:ext cx="219456" cy="365760"/>
          </a:xfrm>
          <a:prstGeom prst="rect">
            <a:avLst/>
          </a:prstGeom>
          <a:solidFill>
            <a:srgbClr val="C9483F"/>
          </a:solidFill>
          <a:ln w="12700">
            <a:solidFill>
              <a:srgbClr val="C9483F"/>
            </a:solidFill>
            <a:prstDash val="solid"/>
          </a:ln>
        </p:spPr>
      </p:sp>
      <p:sp>
        <p:nvSpPr>
          <p:cNvPr id="74" name="text-644"/>
          <p:cNvSpPr txBox="1"/>
          <p:nvPr/>
        </p:nvSpPr>
        <p:spPr>
          <a:xfrm>
            <a:off x="2926080" y="5577840"/>
            <a:ext cx="1207008" cy="274320"/>
          </a:xfrm>
          <a:prstGeom prst="rect">
            <a:avLst/>
          </a:prstGeom>
          <a:noFill/>
          <a:ln/>
        </p:spPr>
        <p:txBody>
          <a:bodyPr wrap="square" lIns="0" tIns="0" rIns="0" bIns="0" rtlCol="0" anchor="ctr"/>
          <a:lstStyle/>
          <a:p>
            <a:pPr algn="ctr" indent="0" marL="0">
              <a:buNone/>
            </a:pPr>
            <a:r>
              <a:rPr lang="en-US" sz="1100" dirty="0">
                <a:solidFill>
                  <a:srgbClr val="242424"/>
                </a:solidFill>
                <a:latin typeface="Arial" pitchFamily="34" charset="0"/>
                <a:ea typeface="Arial" pitchFamily="34" charset="-122"/>
                <a:cs typeface="Arial" pitchFamily="34" charset="-120"/>
              </a:rPr>
              <a:t>NetCheck</a:t>
            </a:r>
            <a:endParaRPr lang="en-US" sz="1100" dirty="0"/>
          </a:p>
        </p:txBody>
      </p:sp>
      <p:sp>
        <p:nvSpPr>
          <p:cNvPr id="75" name="shape-645"/>
          <p:cNvSpPr/>
          <p:nvPr/>
        </p:nvSpPr>
        <p:spPr>
          <a:xfrm>
            <a:off x="4215384" y="4800600"/>
            <a:ext cx="1115568" cy="713232"/>
          </a:xfrm>
          <a:prstGeom prst="roundRect">
            <a:avLst>
              <a:gd name="adj" fmla="val 7692"/>
            </a:avLst>
          </a:prstGeom>
          <a:solidFill>
            <a:srgbClr val="FFFFFF"/>
          </a:solidFill>
          <a:ln w="12700">
            <a:solidFill>
              <a:srgbClr val="E0E0E0"/>
            </a:solidFill>
            <a:prstDash val="solid"/>
          </a:ln>
          <a:effectLst>
            <a:outerShdw sx="100000" sy="100000" kx="0" ky="0" algn="bl" rotWithShape="0" blurRad="50800" dist="19050" dir="5400000">
              <a:srgbClr val="000000">
                <a:alpha val="12000"/>
              </a:srgbClr>
            </a:outerShdw>
          </a:effectLst>
        </p:spPr>
      </p:sp>
      <p:sp>
        <p:nvSpPr>
          <p:cNvPr id="76" name="shape-646"/>
          <p:cNvSpPr/>
          <p:nvPr/>
        </p:nvSpPr>
        <p:spPr>
          <a:xfrm>
            <a:off x="4306824" y="4892040"/>
            <a:ext cx="566928" cy="64008"/>
          </a:xfrm>
          <a:prstGeom prst="rect">
            <a:avLst/>
          </a:prstGeom>
          <a:solidFill>
            <a:srgbClr val="A6192E"/>
          </a:solidFill>
          <a:ln w="12700">
            <a:solidFill>
              <a:srgbClr val="A6192E"/>
            </a:solidFill>
            <a:prstDash val="solid"/>
          </a:ln>
        </p:spPr>
      </p:sp>
      <p:sp>
        <p:nvSpPr>
          <p:cNvPr id="77" name="shape-647"/>
          <p:cNvSpPr/>
          <p:nvPr/>
        </p:nvSpPr>
        <p:spPr>
          <a:xfrm>
            <a:off x="4343400" y="5129784"/>
            <a:ext cx="219456" cy="292608"/>
          </a:xfrm>
          <a:prstGeom prst="rect">
            <a:avLst/>
          </a:prstGeom>
          <a:solidFill>
            <a:srgbClr val="5B7A99"/>
          </a:solidFill>
          <a:ln w="12700">
            <a:solidFill>
              <a:srgbClr val="5B7A99"/>
            </a:solidFill>
            <a:prstDash val="solid"/>
          </a:ln>
        </p:spPr>
      </p:sp>
      <p:sp>
        <p:nvSpPr>
          <p:cNvPr id="78" name="shape-648"/>
          <p:cNvSpPr/>
          <p:nvPr/>
        </p:nvSpPr>
        <p:spPr>
          <a:xfrm>
            <a:off x="4645152" y="5221224"/>
            <a:ext cx="219456" cy="201168"/>
          </a:xfrm>
          <a:prstGeom prst="rect">
            <a:avLst/>
          </a:prstGeom>
          <a:solidFill>
            <a:srgbClr val="8E87A0"/>
          </a:solidFill>
          <a:ln w="12700">
            <a:solidFill>
              <a:srgbClr val="8E87A0"/>
            </a:solidFill>
            <a:prstDash val="solid"/>
          </a:ln>
        </p:spPr>
      </p:sp>
      <p:sp>
        <p:nvSpPr>
          <p:cNvPr id="79" name="shape-649"/>
          <p:cNvSpPr/>
          <p:nvPr/>
        </p:nvSpPr>
        <p:spPr>
          <a:xfrm>
            <a:off x="4946904" y="5056632"/>
            <a:ext cx="219456" cy="365760"/>
          </a:xfrm>
          <a:prstGeom prst="rect">
            <a:avLst/>
          </a:prstGeom>
          <a:solidFill>
            <a:srgbClr val="A6192E"/>
          </a:solidFill>
          <a:ln w="12700">
            <a:solidFill>
              <a:srgbClr val="A6192E"/>
            </a:solidFill>
            <a:prstDash val="solid"/>
          </a:ln>
        </p:spPr>
      </p:sp>
      <p:sp>
        <p:nvSpPr>
          <p:cNvPr id="80" name="text-650"/>
          <p:cNvSpPr txBox="1"/>
          <p:nvPr/>
        </p:nvSpPr>
        <p:spPr>
          <a:xfrm>
            <a:off x="4169664" y="5577840"/>
            <a:ext cx="1207008" cy="274320"/>
          </a:xfrm>
          <a:prstGeom prst="rect">
            <a:avLst/>
          </a:prstGeom>
          <a:noFill/>
          <a:ln/>
        </p:spPr>
        <p:txBody>
          <a:bodyPr wrap="square" lIns="0" tIns="0" rIns="0" bIns="0" rtlCol="0" anchor="ctr"/>
          <a:lstStyle/>
          <a:p>
            <a:pPr algn="ctr" indent="0" marL="0">
              <a:buNone/>
            </a:pPr>
            <a:r>
              <a:rPr lang="en-US" sz="1100" dirty="0">
                <a:solidFill>
                  <a:srgbClr val="242424"/>
                </a:solidFill>
                <a:latin typeface="Arial" pitchFamily="34" charset="0"/>
                <a:ea typeface="Arial" pitchFamily="34" charset="-122"/>
                <a:cs typeface="Arial" pitchFamily="34" charset="-120"/>
              </a:rPr>
              <a:t>Umlaut</a:t>
            </a:r>
            <a:endParaRPr lang="en-US" sz="1100" dirty="0"/>
          </a:p>
        </p:txBody>
      </p:sp>
      <p:sp>
        <p:nvSpPr>
          <p:cNvPr id="81" name="shape-651"/>
          <p:cNvSpPr/>
          <p:nvPr/>
        </p:nvSpPr>
        <p:spPr>
          <a:xfrm>
            <a:off x="5458968" y="4800600"/>
            <a:ext cx="1115568" cy="713232"/>
          </a:xfrm>
          <a:prstGeom prst="roundRect">
            <a:avLst>
              <a:gd name="adj" fmla="val 7692"/>
            </a:avLst>
          </a:prstGeom>
          <a:solidFill>
            <a:srgbClr val="FFFFFF"/>
          </a:solidFill>
          <a:ln w="12700">
            <a:solidFill>
              <a:srgbClr val="E0E0E0"/>
            </a:solidFill>
            <a:prstDash val="solid"/>
          </a:ln>
          <a:effectLst>
            <a:outerShdw sx="100000" sy="100000" kx="0" ky="0" algn="bl" rotWithShape="0" blurRad="50800" dist="19050" dir="5400000">
              <a:srgbClr val="000000">
                <a:alpha val="12000"/>
              </a:srgbClr>
            </a:outerShdw>
          </a:effectLst>
        </p:spPr>
      </p:sp>
      <p:sp>
        <p:nvSpPr>
          <p:cNvPr id="82" name="shape-652"/>
          <p:cNvSpPr/>
          <p:nvPr/>
        </p:nvSpPr>
        <p:spPr>
          <a:xfrm>
            <a:off x="5550408" y="4892040"/>
            <a:ext cx="566928" cy="64008"/>
          </a:xfrm>
          <a:prstGeom prst="rect">
            <a:avLst/>
          </a:prstGeom>
          <a:solidFill>
            <a:srgbClr val="0068BF"/>
          </a:solidFill>
          <a:ln w="12700">
            <a:solidFill>
              <a:srgbClr val="0068BF"/>
            </a:solidFill>
            <a:prstDash val="solid"/>
          </a:ln>
        </p:spPr>
      </p:sp>
      <p:sp>
        <p:nvSpPr>
          <p:cNvPr id="83" name="shape-653"/>
          <p:cNvSpPr/>
          <p:nvPr/>
        </p:nvSpPr>
        <p:spPr>
          <a:xfrm>
            <a:off x="5586984" y="5129784"/>
            <a:ext cx="219456" cy="292608"/>
          </a:xfrm>
          <a:prstGeom prst="rect">
            <a:avLst/>
          </a:prstGeom>
          <a:solidFill>
            <a:srgbClr val="0068BF"/>
          </a:solidFill>
          <a:ln w="12700">
            <a:solidFill>
              <a:srgbClr val="0068BF"/>
            </a:solidFill>
            <a:prstDash val="solid"/>
          </a:ln>
        </p:spPr>
      </p:sp>
      <p:sp>
        <p:nvSpPr>
          <p:cNvPr id="84" name="shape-654"/>
          <p:cNvSpPr/>
          <p:nvPr/>
        </p:nvSpPr>
        <p:spPr>
          <a:xfrm>
            <a:off x="5888736" y="5221224"/>
            <a:ext cx="219456" cy="201168"/>
          </a:xfrm>
          <a:prstGeom prst="rect">
            <a:avLst/>
          </a:prstGeom>
          <a:solidFill>
            <a:srgbClr val="8C60A8"/>
          </a:solidFill>
          <a:ln w="12700">
            <a:solidFill>
              <a:srgbClr val="8C60A8"/>
            </a:solidFill>
            <a:prstDash val="solid"/>
          </a:ln>
        </p:spPr>
      </p:sp>
      <p:sp>
        <p:nvSpPr>
          <p:cNvPr id="85" name="shape-655"/>
          <p:cNvSpPr/>
          <p:nvPr/>
        </p:nvSpPr>
        <p:spPr>
          <a:xfrm>
            <a:off x="6190488" y="5056632"/>
            <a:ext cx="219456" cy="365760"/>
          </a:xfrm>
          <a:prstGeom prst="rect">
            <a:avLst/>
          </a:prstGeom>
          <a:solidFill>
            <a:srgbClr val="0C9B5B"/>
          </a:solidFill>
          <a:ln w="12700">
            <a:solidFill>
              <a:srgbClr val="0C9B5B"/>
            </a:solidFill>
            <a:prstDash val="solid"/>
          </a:ln>
        </p:spPr>
      </p:sp>
      <p:sp>
        <p:nvSpPr>
          <p:cNvPr id="86" name="text-656"/>
          <p:cNvSpPr txBox="1"/>
          <p:nvPr/>
        </p:nvSpPr>
        <p:spPr>
          <a:xfrm>
            <a:off x="5413248" y="5577840"/>
            <a:ext cx="1207008" cy="274320"/>
          </a:xfrm>
          <a:prstGeom prst="rect">
            <a:avLst/>
          </a:prstGeom>
          <a:noFill/>
          <a:ln/>
        </p:spPr>
        <p:txBody>
          <a:bodyPr wrap="square" lIns="0" tIns="0" rIns="0" bIns="0" rtlCol="0" anchor="ctr"/>
          <a:lstStyle/>
          <a:p>
            <a:pPr algn="ctr" indent="0" marL="0">
              <a:buNone/>
            </a:pPr>
            <a:r>
              <a:rPr lang="en-US" sz="1100" dirty="0">
                <a:solidFill>
                  <a:srgbClr val="242424"/>
                </a:solidFill>
                <a:latin typeface="Arial" pitchFamily="34" charset="0"/>
                <a:ea typeface="Arial" pitchFamily="34" charset="-122"/>
                <a:cs typeface="Arial" pitchFamily="34" charset="-120"/>
              </a:rPr>
              <a:t>Ericsson</a:t>
            </a:r>
            <a:endParaRPr lang="en-US" sz="1100" dirty="0"/>
          </a:p>
        </p:txBody>
      </p:sp>
      <p:sp>
        <p:nvSpPr>
          <p:cNvPr id="87" name="shape-657"/>
          <p:cNvSpPr/>
          <p:nvPr/>
        </p:nvSpPr>
        <p:spPr>
          <a:xfrm>
            <a:off x="6702552" y="4800600"/>
            <a:ext cx="1115568" cy="713232"/>
          </a:xfrm>
          <a:prstGeom prst="roundRect">
            <a:avLst>
              <a:gd name="adj" fmla="val 7692"/>
            </a:avLst>
          </a:prstGeom>
          <a:solidFill>
            <a:srgbClr val="FFFFFF"/>
          </a:solidFill>
          <a:ln w="12700">
            <a:solidFill>
              <a:srgbClr val="E0E0E0"/>
            </a:solidFill>
            <a:prstDash val="solid"/>
          </a:ln>
          <a:effectLst>
            <a:outerShdw sx="100000" sy="100000" kx="0" ky="0" algn="bl" rotWithShape="0" blurRad="50800" dist="19050" dir="5400000">
              <a:srgbClr val="000000">
                <a:alpha val="12000"/>
              </a:srgbClr>
            </a:outerShdw>
          </a:effectLst>
        </p:spPr>
      </p:sp>
      <p:sp>
        <p:nvSpPr>
          <p:cNvPr id="88" name="shape-658"/>
          <p:cNvSpPr/>
          <p:nvPr/>
        </p:nvSpPr>
        <p:spPr>
          <a:xfrm>
            <a:off x="6793992" y="4892040"/>
            <a:ext cx="566928" cy="64008"/>
          </a:xfrm>
          <a:prstGeom prst="rect">
            <a:avLst/>
          </a:prstGeom>
          <a:solidFill>
            <a:srgbClr val="E60000"/>
          </a:solidFill>
          <a:ln w="12700">
            <a:solidFill>
              <a:srgbClr val="E60000"/>
            </a:solidFill>
            <a:prstDash val="solid"/>
          </a:ln>
        </p:spPr>
      </p:sp>
      <p:sp>
        <p:nvSpPr>
          <p:cNvPr id="89" name="shape-659"/>
          <p:cNvSpPr/>
          <p:nvPr/>
        </p:nvSpPr>
        <p:spPr>
          <a:xfrm>
            <a:off x="6830568" y="5129784"/>
            <a:ext cx="219456" cy="292608"/>
          </a:xfrm>
          <a:prstGeom prst="rect">
            <a:avLst/>
          </a:prstGeom>
          <a:solidFill>
            <a:srgbClr val="E60000"/>
          </a:solidFill>
          <a:ln w="12700">
            <a:solidFill>
              <a:srgbClr val="E60000"/>
            </a:solidFill>
            <a:prstDash val="solid"/>
          </a:ln>
        </p:spPr>
      </p:sp>
      <p:sp>
        <p:nvSpPr>
          <p:cNvPr id="90" name="shape-660"/>
          <p:cNvSpPr/>
          <p:nvPr/>
        </p:nvSpPr>
        <p:spPr>
          <a:xfrm>
            <a:off x="7132320" y="5221224"/>
            <a:ext cx="219456" cy="201168"/>
          </a:xfrm>
          <a:prstGeom prst="rect">
            <a:avLst/>
          </a:prstGeom>
          <a:solidFill>
            <a:srgbClr val="00B0CA"/>
          </a:solidFill>
          <a:ln w="12700">
            <a:solidFill>
              <a:srgbClr val="00B0CA"/>
            </a:solidFill>
            <a:prstDash val="solid"/>
          </a:ln>
        </p:spPr>
      </p:sp>
      <p:sp>
        <p:nvSpPr>
          <p:cNvPr id="91" name="shape-661"/>
          <p:cNvSpPr/>
          <p:nvPr/>
        </p:nvSpPr>
        <p:spPr>
          <a:xfrm>
            <a:off x="7434072" y="5056632"/>
            <a:ext cx="219456" cy="365760"/>
          </a:xfrm>
          <a:prstGeom prst="rect">
            <a:avLst/>
          </a:prstGeom>
          <a:solidFill>
            <a:srgbClr val="5E2750"/>
          </a:solidFill>
          <a:ln w="12700">
            <a:solidFill>
              <a:srgbClr val="5E2750"/>
            </a:solidFill>
            <a:prstDash val="solid"/>
          </a:ln>
        </p:spPr>
      </p:sp>
      <p:sp>
        <p:nvSpPr>
          <p:cNvPr id="92" name="text-662"/>
          <p:cNvSpPr txBox="1"/>
          <p:nvPr/>
        </p:nvSpPr>
        <p:spPr>
          <a:xfrm>
            <a:off x="6656832" y="5577840"/>
            <a:ext cx="1207008" cy="274320"/>
          </a:xfrm>
          <a:prstGeom prst="rect">
            <a:avLst/>
          </a:prstGeom>
          <a:noFill/>
          <a:ln/>
        </p:spPr>
        <p:txBody>
          <a:bodyPr wrap="square" lIns="0" tIns="0" rIns="0" bIns="0" rtlCol="0" anchor="ctr"/>
          <a:lstStyle/>
          <a:p>
            <a:pPr algn="ctr" indent="0" marL="0">
              <a:buNone/>
            </a:pPr>
            <a:r>
              <a:rPr lang="en-US" sz="1100" dirty="0">
                <a:solidFill>
                  <a:srgbClr val="242424"/>
                </a:solidFill>
                <a:latin typeface="Arial" pitchFamily="34" charset="0"/>
                <a:ea typeface="Arial" pitchFamily="34" charset="-122"/>
                <a:cs typeface="Arial" pitchFamily="34" charset="-120"/>
              </a:rPr>
              <a:t>Vodafone</a:t>
            </a:r>
            <a:endParaRPr lang="en-US" sz="1100" dirty="0"/>
          </a:p>
        </p:txBody>
      </p:sp>
      <p:sp>
        <p:nvSpPr>
          <p:cNvPr id="93" name="shape-663"/>
          <p:cNvSpPr/>
          <p:nvPr/>
        </p:nvSpPr>
        <p:spPr>
          <a:xfrm>
            <a:off x="7946136" y="4800600"/>
            <a:ext cx="1115568" cy="713232"/>
          </a:xfrm>
          <a:prstGeom prst="roundRect">
            <a:avLst>
              <a:gd name="adj" fmla="val 7692"/>
            </a:avLst>
          </a:prstGeom>
          <a:solidFill>
            <a:srgbClr val="080D18"/>
          </a:solidFill>
          <a:ln w="12700">
            <a:solidFill>
              <a:srgbClr val="E0E0E0"/>
            </a:solidFill>
            <a:prstDash val="solid"/>
          </a:ln>
          <a:effectLst>
            <a:outerShdw sx="100000" sy="100000" kx="0" ky="0" algn="bl" rotWithShape="0" blurRad="50800" dist="19050" dir="5400000">
              <a:srgbClr val="000000">
                <a:alpha val="12000"/>
              </a:srgbClr>
            </a:outerShdw>
          </a:effectLst>
        </p:spPr>
      </p:sp>
      <p:sp>
        <p:nvSpPr>
          <p:cNvPr id="94" name="shape-664"/>
          <p:cNvSpPr/>
          <p:nvPr/>
        </p:nvSpPr>
        <p:spPr>
          <a:xfrm>
            <a:off x="8037576" y="4892040"/>
            <a:ext cx="566928" cy="64008"/>
          </a:xfrm>
          <a:prstGeom prst="rect">
            <a:avLst/>
          </a:prstGeom>
          <a:solidFill>
            <a:srgbClr val="22C7E8"/>
          </a:solidFill>
          <a:ln w="12700">
            <a:solidFill>
              <a:srgbClr val="22C7E8"/>
            </a:solidFill>
            <a:prstDash val="solid"/>
          </a:ln>
        </p:spPr>
      </p:sp>
      <p:sp>
        <p:nvSpPr>
          <p:cNvPr id="95" name="shape-665"/>
          <p:cNvSpPr/>
          <p:nvPr/>
        </p:nvSpPr>
        <p:spPr>
          <a:xfrm>
            <a:off x="8074152" y="5129784"/>
            <a:ext cx="219456" cy="292608"/>
          </a:xfrm>
          <a:prstGeom prst="rect">
            <a:avLst/>
          </a:prstGeom>
          <a:solidFill>
            <a:srgbClr val="3DB9FF"/>
          </a:solidFill>
          <a:ln w="12700">
            <a:solidFill>
              <a:srgbClr val="3DB9FF"/>
            </a:solidFill>
            <a:prstDash val="solid"/>
          </a:ln>
        </p:spPr>
      </p:sp>
      <p:sp>
        <p:nvSpPr>
          <p:cNvPr id="96" name="shape-666"/>
          <p:cNvSpPr/>
          <p:nvPr/>
        </p:nvSpPr>
        <p:spPr>
          <a:xfrm>
            <a:off x="8375904" y="5221224"/>
            <a:ext cx="219456" cy="201168"/>
          </a:xfrm>
          <a:prstGeom prst="rect">
            <a:avLst/>
          </a:prstGeom>
          <a:solidFill>
            <a:srgbClr val="B47CFF"/>
          </a:solidFill>
          <a:ln w="12700">
            <a:solidFill>
              <a:srgbClr val="B47CFF"/>
            </a:solidFill>
            <a:prstDash val="solid"/>
          </a:ln>
        </p:spPr>
      </p:sp>
      <p:sp>
        <p:nvSpPr>
          <p:cNvPr id="97" name="shape-667"/>
          <p:cNvSpPr/>
          <p:nvPr/>
        </p:nvSpPr>
        <p:spPr>
          <a:xfrm>
            <a:off x="8677656" y="5056632"/>
            <a:ext cx="219456" cy="365760"/>
          </a:xfrm>
          <a:prstGeom prst="rect">
            <a:avLst/>
          </a:prstGeom>
          <a:solidFill>
            <a:srgbClr val="2EE6A6"/>
          </a:solidFill>
          <a:ln w="12700">
            <a:solidFill>
              <a:srgbClr val="2EE6A6"/>
            </a:solidFill>
            <a:prstDash val="solid"/>
          </a:ln>
        </p:spPr>
      </p:sp>
      <p:sp>
        <p:nvSpPr>
          <p:cNvPr id="98" name="text-668"/>
          <p:cNvSpPr txBox="1"/>
          <p:nvPr/>
        </p:nvSpPr>
        <p:spPr>
          <a:xfrm>
            <a:off x="7900416" y="5577840"/>
            <a:ext cx="1207008" cy="274320"/>
          </a:xfrm>
          <a:prstGeom prst="rect">
            <a:avLst/>
          </a:prstGeom>
          <a:noFill/>
          <a:ln/>
        </p:spPr>
        <p:txBody>
          <a:bodyPr wrap="square" lIns="0" tIns="0" rIns="0" bIns="0" rtlCol="0" anchor="ctr"/>
          <a:lstStyle/>
          <a:p>
            <a:pPr algn="ctr" indent="0" marL="0">
              <a:buNone/>
            </a:pPr>
            <a:r>
              <a:rPr lang="en-US" sz="1100" dirty="0">
                <a:solidFill>
                  <a:srgbClr val="242424"/>
                </a:solidFill>
                <a:latin typeface="Arial" pitchFamily="34" charset="0"/>
                <a:ea typeface="Arial" pitchFamily="34" charset="-122"/>
                <a:cs typeface="Arial" pitchFamily="34" charset="-120"/>
              </a:rPr>
              <a:t>Midnight</a:t>
            </a:r>
            <a:endParaRPr lang="en-US" sz="1100" dirty="0"/>
          </a:p>
        </p:txBody>
      </p:sp>
      <p:sp>
        <p:nvSpPr>
          <p:cNvPr id="99" name="shape-669"/>
          <p:cNvSpPr/>
          <p:nvPr/>
        </p:nvSpPr>
        <p:spPr>
          <a:xfrm>
            <a:off x="9189720" y="4800600"/>
            <a:ext cx="1115568" cy="713232"/>
          </a:xfrm>
          <a:prstGeom prst="roundRect">
            <a:avLst>
              <a:gd name="adj" fmla="val 7692"/>
            </a:avLst>
          </a:prstGeom>
          <a:solidFill>
            <a:srgbClr val="FFFEFB"/>
          </a:solidFill>
          <a:ln w="12700">
            <a:solidFill>
              <a:srgbClr val="E0E0E0"/>
            </a:solidFill>
            <a:prstDash val="solid"/>
          </a:ln>
          <a:effectLst>
            <a:outerShdw sx="100000" sy="100000" kx="0" ky="0" algn="bl" rotWithShape="0" blurRad="50800" dist="19050" dir="5400000">
              <a:srgbClr val="000000">
                <a:alpha val="12000"/>
              </a:srgbClr>
            </a:outerShdw>
          </a:effectLst>
        </p:spPr>
      </p:sp>
      <p:sp>
        <p:nvSpPr>
          <p:cNvPr id="100" name="shape-670"/>
          <p:cNvSpPr/>
          <p:nvPr/>
        </p:nvSpPr>
        <p:spPr>
          <a:xfrm>
            <a:off x="9281160" y="4892040"/>
            <a:ext cx="566928" cy="64008"/>
          </a:xfrm>
          <a:prstGeom prst="rect">
            <a:avLst/>
          </a:prstGeom>
          <a:solidFill>
            <a:srgbClr val="7A1F1F"/>
          </a:solidFill>
          <a:ln w="12700">
            <a:solidFill>
              <a:srgbClr val="7A1F1F"/>
            </a:solidFill>
            <a:prstDash val="solid"/>
          </a:ln>
        </p:spPr>
      </p:sp>
      <p:sp>
        <p:nvSpPr>
          <p:cNvPr id="101" name="shape-671"/>
          <p:cNvSpPr/>
          <p:nvPr/>
        </p:nvSpPr>
        <p:spPr>
          <a:xfrm>
            <a:off x="9317736" y="5129784"/>
            <a:ext cx="219456" cy="292608"/>
          </a:xfrm>
          <a:prstGeom prst="rect">
            <a:avLst/>
          </a:prstGeom>
          <a:solidFill>
            <a:srgbClr val="2F3B4A"/>
          </a:solidFill>
          <a:ln w="12700">
            <a:solidFill>
              <a:srgbClr val="2F3B4A"/>
            </a:solidFill>
            <a:prstDash val="solid"/>
          </a:ln>
        </p:spPr>
      </p:sp>
      <p:sp>
        <p:nvSpPr>
          <p:cNvPr id="102" name="shape-672"/>
          <p:cNvSpPr/>
          <p:nvPr/>
        </p:nvSpPr>
        <p:spPr>
          <a:xfrm>
            <a:off x="9619488" y="5221224"/>
            <a:ext cx="219456" cy="201168"/>
          </a:xfrm>
          <a:prstGeom prst="rect">
            <a:avLst/>
          </a:prstGeom>
          <a:solidFill>
            <a:srgbClr val="8C7B5A"/>
          </a:solidFill>
          <a:ln w="12700">
            <a:solidFill>
              <a:srgbClr val="8C7B5A"/>
            </a:solidFill>
            <a:prstDash val="solid"/>
          </a:ln>
        </p:spPr>
      </p:sp>
      <p:sp>
        <p:nvSpPr>
          <p:cNvPr id="103" name="shape-673"/>
          <p:cNvSpPr/>
          <p:nvPr/>
        </p:nvSpPr>
        <p:spPr>
          <a:xfrm>
            <a:off x="9921240" y="5056632"/>
            <a:ext cx="219456" cy="365760"/>
          </a:xfrm>
          <a:prstGeom prst="rect">
            <a:avLst/>
          </a:prstGeom>
          <a:solidFill>
            <a:srgbClr val="7A1F1F"/>
          </a:solidFill>
          <a:ln w="12700">
            <a:solidFill>
              <a:srgbClr val="7A1F1F"/>
            </a:solidFill>
            <a:prstDash val="solid"/>
          </a:ln>
        </p:spPr>
      </p:sp>
      <p:sp>
        <p:nvSpPr>
          <p:cNvPr id="104" name="text-674"/>
          <p:cNvSpPr txBox="1"/>
          <p:nvPr/>
        </p:nvSpPr>
        <p:spPr>
          <a:xfrm>
            <a:off x="9144000" y="5577840"/>
            <a:ext cx="1207008" cy="274320"/>
          </a:xfrm>
          <a:prstGeom prst="rect">
            <a:avLst/>
          </a:prstGeom>
          <a:noFill/>
          <a:ln/>
        </p:spPr>
        <p:txBody>
          <a:bodyPr wrap="square" lIns="0" tIns="0" rIns="0" bIns="0" rtlCol="0" anchor="ctr"/>
          <a:lstStyle/>
          <a:p>
            <a:pPr algn="ctr" indent="0" marL="0">
              <a:buNone/>
            </a:pPr>
            <a:r>
              <a:rPr lang="en-US" sz="1100" dirty="0">
                <a:solidFill>
                  <a:srgbClr val="242424"/>
                </a:solidFill>
                <a:latin typeface="Arial" pitchFamily="34" charset="0"/>
                <a:ea typeface="Arial" pitchFamily="34" charset="-122"/>
                <a:cs typeface="Arial" pitchFamily="34" charset="-120"/>
              </a:rPr>
              <a:t>Paper</a:t>
            </a:r>
            <a:endParaRPr lang="en-US" sz="1100" dirty="0"/>
          </a:p>
        </p:txBody>
      </p:sp>
      <p:sp>
        <p:nvSpPr>
          <p:cNvPr id="105" name="shape-675"/>
          <p:cNvSpPr/>
          <p:nvPr/>
        </p:nvSpPr>
        <p:spPr>
          <a:xfrm>
            <a:off x="10433304" y="4800600"/>
            <a:ext cx="1115568" cy="713232"/>
          </a:xfrm>
          <a:prstGeom prst="roundRect">
            <a:avLst>
              <a:gd name="adj" fmla="val 7692"/>
            </a:avLst>
          </a:prstGeom>
          <a:solidFill>
            <a:srgbClr val="FFFFFF"/>
          </a:solidFill>
          <a:ln w="12700">
            <a:solidFill>
              <a:srgbClr val="E0E0E0"/>
            </a:solidFill>
            <a:prstDash val="solid"/>
          </a:ln>
          <a:effectLst>
            <a:outerShdw sx="100000" sy="100000" kx="0" ky="0" algn="bl" rotWithShape="0" blurRad="50800" dist="19050" dir="5400000">
              <a:srgbClr val="000000">
                <a:alpha val="12000"/>
              </a:srgbClr>
            </a:outerShdw>
          </a:effectLst>
        </p:spPr>
      </p:sp>
      <p:sp>
        <p:nvSpPr>
          <p:cNvPr id="106" name="shape-676"/>
          <p:cNvSpPr/>
          <p:nvPr/>
        </p:nvSpPr>
        <p:spPr>
          <a:xfrm>
            <a:off x="10524744" y="4892040"/>
            <a:ext cx="566928" cy="64008"/>
          </a:xfrm>
          <a:prstGeom prst="rect">
            <a:avLst/>
          </a:prstGeom>
          <a:solidFill>
            <a:srgbClr val="2A9D8F"/>
          </a:solidFill>
          <a:ln w="12700">
            <a:solidFill>
              <a:srgbClr val="2A9D8F"/>
            </a:solidFill>
            <a:prstDash val="solid"/>
          </a:ln>
        </p:spPr>
      </p:sp>
      <p:sp>
        <p:nvSpPr>
          <p:cNvPr id="107" name="shape-677"/>
          <p:cNvSpPr/>
          <p:nvPr/>
        </p:nvSpPr>
        <p:spPr>
          <a:xfrm>
            <a:off x="10561320" y="5129784"/>
            <a:ext cx="219456" cy="292608"/>
          </a:xfrm>
          <a:prstGeom prst="rect">
            <a:avLst/>
          </a:prstGeom>
          <a:solidFill>
            <a:srgbClr val="2A9D8F"/>
          </a:solidFill>
          <a:ln w="12700">
            <a:solidFill>
              <a:srgbClr val="2A9D8F"/>
            </a:solidFill>
            <a:prstDash val="solid"/>
          </a:ln>
        </p:spPr>
      </p:sp>
      <p:sp>
        <p:nvSpPr>
          <p:cNvPr id="108" name="shape-678"/>
          <p:cNvSpPr/>
          <p:nvPr/>
        </p:nvSpPr>
        <p:spPr>
          <a:xfrm>
            <a:off x="10863072" y="5221224"/>
            <a:ext cx="219456" cy="201168"/>
          </a:xfrm>
          <a:prstGeom prst="rect">
            <a:avLst/>
          </a:prstGeom>
          <a:solidFill>
            <a:srgbClr val="E89B2E"/>
          </a:solidFill>
          <a:ln w="12700">
            <a:solidFill>
              <a:srgbClr val="E89B2E"/>
            </a:solidFill>
            <a:prstDash val="solid"/>
          </a:ln>
        </p:spPr>
      </p:sp>
      <p:sp>
        <p:nvSpPr>
          <p:cNvPr id="109" name="shape-679"/>
          <p:cNvSpPr/>
          <p:nvPr/>
        </p:nvSpPr>
        <p:spPr>
          <a:xfrm>
            <a:off x="11164824" y="5056632"/>
            <a:ext cx="219456" cy="365760"/>
          </a:xfrm>
          <a:prstGeom prst="rect">
            <a:avLst/>
          </a:prstGeom>
          <a:solidFill>
            <a:srgbClr val="E05A4F"/>
          </a:solidFill>
          <a:ln w="12700">
            <a:solidFill>
              <a:srgbClr val="E05A4F"/>
            </a:solidFill>
            <a:prstDash val="solid"/>
          </a:ln>
        </p:spPr>
      </p:sp>
      <p:sp>
        <p:nvSpPr>
          <p:cNvPr id="110" name="text-680"/>
          <p:cNvSpPr txBox="1"/>
          <p:nvPr/>
        </p:nvSpPr>
        <p:spPr>
          <a:xfrm>
            <a:off x="10387584" y="5577840"/>
            <a:ext cx="1207008" cy="274320"/>
          </a:xfrm>
          <a:prstGeom prst="rect">
            <a:avLst/>
          </a:prstGeom>
          <a:noFill/>
          <a:ln/>
        </p:spPr>
        <p:txBody>
          <a:bodyPr wrap="square" lIns="0" tIns="0" rIns="0" bIns="0" rtlCol="0" anchor="ctr"/>
          <a:lstStyle/>
          <a:p>
            <a:pPr algn="ctr" indent="0" marL="0">
              <a:buNone/>
            </a:pPr>
            <a:r>
              <a:rPr lang="en-US" sz="1100" dirty="0">
                <a:solidFill>
                  <a:srgbClr val="242424"/>
                </a:solidFill>
                <a:latin typeface="Arial" pitchFamily="34" charset="0"/>
                <a:ea typeface="Arial" pitchFamily="34" charset="-122"/>
                <a:cs typeface="Arial" pitchFamily="34" charset="-120"/>
              </a:rPr>
              <a:t>Heatmap</a:t>
            </a:r>
            <a:endParaRPr lang="en-US" sz="1100" dirty="0"/>
          </a:p>
        </p:txBody>
      </p:sp>
      <p:sp>
        <p:nvSpPr>
          <p:cNvPr id="25" name="Slide Number Placeholder 0"/>
          <p:cNvSpPr>
            <a:spLocks noGrp="1"/>
          </p:cNvSpPr>
          <p:nvPr>
            <p:ph type="sldNum" sz="quarter" idx="4294967295"/>
          </p:nvPr>
        </p:nvSpPr>
        <p:spPr>
          <a:xfrm>
            <a:off x="548640" y="640080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67676"/>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0424160" cy="658368"/>
          </a:xfrm>
          <a:prstGeom prst="rect">
            <a:avLst/>
          </a:prstGeom>
          <a:noFill/>
          <a:ln/>
        </p:spPr>
        <p:txBody>
          <a:bodyPr wrap="square" lIns="0" tIns="0" rIns="0" bIns="0" rtlCol="0" anchor="ctr"/>
          <a:lstStyle/>
          <a:p>
            <a:pPr algn="l" indent="0" marL="0">
              <a:buNone/>
            </a:pPr>
            <a:r>
              <a:rPr lang="en-US" sz="3000" dirty="0">
                <a:solidFill>
                  <a:srgbClr val="000000"/>
                </a:solidFill>
                <a:latin typeface="Arial" pitchFamily="34" charset="0"/>
                <a:ea typeface="Arial" pitchFamily="34" charset="-122"/>
                <a:cs typeface="Arial" pitchFamily="34" charset="-120"/>
              </a:rPr>
              <a:t>Builders — </a:t>
            </a:r>
            <a:pPr algn="l" indent="0" marL="0">
              <a:buNone/>
            </a:pPr>
            <a:r>
              <a:rPr lang="en-US" sz="3000" b="1" dirty="0">
                <a:solidFill>
                  <a:srgbClr val="0068BF"/>
                </a:solidFill>
                <a:latin typeface="Arial" pitchFamily="34" charset="0"/>
                <a:ea typeface="Arial" pitchFamily="34" charset="-122"/>
                <a:cs typeface="Arial" pitchFamily="34" charset="-120"/>
              </a:rPr>
              <a:t>ad-hoc charts and SQL, in seconds</a:t>
            </a:r>
            <a:endParaRPr lang="en-US" sz="3000" dirty="0"/>
          </a:p>
        </p:txBody>
      </p:sp>
      <p:sp>
        <p:nvSpPr>
          <p:cNvPr id="3" name="text-68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dirty="0">
                <a:solidFill>
                  <a:srgbClr val="767676"/>
                </a:solidFill>
                <a:latin typeface="Arial" pitchFamily="34" charset="0"/>
                <a:ea typeface="Arial" pitchFamily="34" charset="-122"/>
                <a:cs typeface="Arial" pitchFamily="34" charset="-120"/>
              </a:rPr>
              <a:t>Chart Builder and Query Builder explore any KPI or field of the CDRs, without changing a template</a:t>
            </a:r>
            <a:endParaRPr lang="en-US" sz="1500" dirty="0"/>
          </a:p>
        </p:txBody>
      </p:sp>
      <p:sp>
        <p:nvSpPr>
          <p:cNvPr id="4" name="shape-682"/>
          <p:cNvSpPr/>
          <p:nvPr/>
        </p:nvSpPr>
        <p:spPr>
          <a:xfrm>
            <a:off x="548640" y="1645920"/>
            <a:ext cx="5440680" cy="4526280"/>
          </a:xfrm>
          <a:prstGeom prst="roundRect">
            <a:avLst>
              <a:gd name="adj" fmla="val 2828"/>
            </a:avLst>
          </a:prstGeom>
          <a:solidFill>
            <a:srgbClr val="F2F2F2"/>
          </a:solidFill>
          <a:ln w="12700">
            <a:solidFill>
              <a:srgbClr val="F2F2F2"/>
            </a:solidFill>
            <a:prstDash val="solid"/>
          </a:ln>
        </p:spPr>
      </p:sp>
      <p:sp>
        <p:nvSpPr>
          <p:cNvPr id="5" name="shape-683"/>
          <p:cNvSpPr/>
          <p:nvPr/>
        </p:nvSpPr>
        <p:spPr>
          <a:xfrm>
            <a:off x="749808" y="1810512"/>
            <a:ext cx="457200" cy="457200"/>
          </a:xfrm>
          <a:prstGeom prst="ellipse">
            <a:avLst/>
          </a:prstGeom>
          <a:solidFill>
            <a:srgbClr val="0082F0"/>
          </a:solidFill>
          <a:ln w="12700">
            <a:solidFill>
              <a:srgbClr val="0082F0"/>
            </a:solidFill>
            <a:prstDash val="solid"/>
          </a:ln>
        </p:spPr>
      </p:sp>
      <p:pic>
        <p:nvPicPr>
          <p:cNvPr id="6" name="icon-684" descr="preencoded.png">    </p:cNvPr>
          <p:cNvPicPr>
            <a:picLocks noChangeAspect="1"/>
          </p:cNvPicPr>
          <p:nvPr/>
        </p:nvPicPr>
        <p:blipFill>
          <a:blip r:embed="rId1"/>
          <a:stretch>
            <a:fillRect/>
          </a:stretch>
        </p:blipFill>
        <p:spPr>
          <a:xfrm>
            <a:off x="850392" y="1911096"/>
            <a:ext cx="256032" cy="256032"/>
          </a:xfrm>
          <a:prstGeom prst="rect">
            <a:avLst/>
          </a:prstGeom>
        </p:spPr>
      </p:pic>
      <p:sp>
        <p:nvSpPr>
          <p:cNvPr id="7" name="text-685"/>
          <p:cNvSpPr txBox="1"/>
          <p:nvPr/>
        </p:nvSpPr>
        <p:spPr>
          <a:xfrm>
            <a:off x="1335024" y="1792224"/>
            <a:ext cx="4480560" cy="292608"/>
          </a:xfrm>
          <a:prstGeom prst="rect">
            <a:avLst/>
          </a:prstGeom>
          <a:noFill/>
          <a:ln/>
        </p:spPr>
        <p:txBody>
          <a:bodyPr wrap="square" lIns="0" tIns="0" rIns="0" bIns="0" rtlCol="0" anchor="ctr"/>
          <a:lstStyle/>
          <a:p>
            <a:pPr indent="0" marL="0">
              <a:buNone/>
            </a:pPr>
            <a:r>
              <a:rPr lang="en-US" sz="1600" b="1" dirty="0">
                <a:solidFill>
                  <a:srgbClr val="242424"/>
                </a:solidFill>
                <a:latin typeface="Arial" pitchFamily="34" charset="0"/>
                <a:ea typeface="Arial" pitchFamily="34" charset="-122"/>
                <a:cs typeface="Arial" pitchFamily="34" charset="-120"/>
              </a:rPr>
              <a:t>Chart Builder</a:t>
            </a:r>
            <a:endParaRPr lang="en-US" sz="1600" dirty="0"/>
          </a:p>
        </p:txBody>
      </p:sp>
      <p:sp>
        <p:nvSpPr>
          <p:cNvPr id="8" name="text-686"/>
          <p:cNvSpPr txBox="1"/>
          <p:nvPr/>
        </p:nvSpPr>
        <p:spPr>
          <a:xfrm>
            <a:off x="1335024" y="2084832"/>
            <a:ext cx="4480560" cy="256032"/>
          </a:xfrm>
          <a:prstGeom prst="rect">
            <a:avLst/>
          </a:prstGeom>
          <a:noFill/>
          <a:ln/>
        </p:spPr>
        <p:txBody>
          <a:bodyPr wrap="square" lIns="0" tIns="0" rIns="0" bIns="0" rtlCol="0" anchor="ctr"/>
          <a:lstStyle/>
          <a:p>
            <a:pPr indent="0" marL="0">
              <a:buNone/>
            </a:pPr>
            <a:r>
              <a:rPr lang="en-US" sz="1150" dirty="0">
                <a:solidFill>
                  <a:srgbClr val="767676"/>
                </a:solidFill>
                <a:latin typeface="Arial" pitchFamily="34" charset="0"/>
                <a:ea typeface="Arial" pitchFamily="34" charset="-122"/>
                <a:cs typeface="Arial" pitchFamily="34" charset="-120"/>
              </a:rPr>
              <a:t>Any KPI as a chart, split by rows and columns</a:t>
            </a:r>
            <a:endParaRPr lang="en-US" sz="1150" dirty="0"/>
          </a:p>
        </p:txBody>
      </p:sp>
      <p:sp>
        <p:nvSpPr>
          <p:cNvPr id="9" name="shape-687"/>
          <p:cNvSpPr/>
          <p:nvPr/>
        </p:nvSpPr>
        <p:spPr>
          <a:xfrm>
            <a:off x="6199632" y="1645920"/>
            <a:ext cx="5440680" cy="4526280"/>
          </a:xfrm>
          <a:prstGeom prst="roundRect">
            <a:avLst>
              <a:gd name="adj" fmla="val 2828"/>
            </a:avLst>
          </a:prstGeom>
          <a:solidFill>
            <a:srgbClr val="F2F2F2"/>
          </a:solidFill>
          <a:ln w="12700">
            <a:solidFill>
              <a:srgbClr val="F2F2F2"/>
            </a:solidFill>
            <a:prstDash val="solid"/>
          </a:ln>
        </p:spPr>
      </p:sp>
      <p:sp>
        <p:nvSpPr>
          <p:cNvPr id="10" name="shape-688"/>
          <p:cNvSpPr/>
          <p:nvPr/>
        </p:nvSpPr>
        <p:spPr>
          <a:xfrm>
            <a:off x="6400800" y="1810512"/>
            <a:ext cx="457200" cy="457200"/>
          </a:xfrm>
          <a:prstGeom prst="ellipse">
            <a:avLst/>
          </a:prstGeom>
          <a:solidFill>
            <a:srgbClr val="0082F0"/>
          </a:solidFill>
          <a:ln w="12700">
            <a:solidFill>
              <a:srgbClr val="0082F0"/>
            </a:solidFill>
            <a:prstDash val="solid"/>
          </a:ln>
        </p:spPr>
      </p:sp>
      <p:pic>
        <p:nvPicPr>
          <p:cNvPr id="11" name="icon-689" descr="preencoded.png">    </p:cNvPr>
          <p:cNvPicPr>
            <a:picLocks noChangeAspect="1"/>
          </p:cNvPicPr>
          <p:nvPr/>
        </p:nvPicPr>
        <p:blipFill>
          <a:blip r:embed="rId2"/>
          <a:stretch>
            <a:fillRect/>
          </a:stretch>
        </p:blipFill>
        <p:spPr>
          <a:xfrm>
            <a:off x="6501384" y="1911096"/>
            <a:ext cx="256032" cy="256032"/>
          </a:xfrm>
          <a:prstGeom prst="rect">
            <a:avLst/>
          </a:prstGeom>
        </p:spPr>
      </p:pic>
      <p:sp>
        <p:nvSpPr>
          <p:cNvPr id="12" name="text-690"/>
          <p:cNvSpPr txBox="1"/>
          <p:nvPr/>
        </p:nvSpPr>
        <p:spPr>
          <a:xfrm>
            <a:off x="6986016" y="1792224"/>
            <a:ext cx="4480560" cy="292608"/>
          </a:xfrm>
          <a:prstGeom prst="rect">
            <a:avLst/>
          </a:prstGeom>
          <a:noFill/>
          <a:ln/>
        </p:spPr>
        <p:txBody>
          <a:bodyPr wrap="square" lIns="0" tIns="0" rIns="0" bIns="0" rtlCol="0" anchor="ctr"/>
          <a:lstStyle/>
          <a:p>
            <a:pPr indent="0" marL="0">
              <a:buNone/>
            </a:pPr>
            <a:r>
              <a:rPr lang="en-US" sz="1600" b="1" dirty="0">
                <a:solidFill>
                  <a:srgbClr val="242424"/>
                </a:solidFill>
                <a:latin typeface="Arial" pitchFamily="34" charset="0"/>
                <a:ea typeface="Arial" pitchFamily="34" charset="-122"/>
                <a:cs typeface="Arial" pitchFamily="34" charset="-120"/>
              </a:rPr>
              <a:t>Query Builder</a:t>
            </a:r>
            <a:endParaRPr lang="en-US" sz="1600" dirty="0"/>
          </a:p>
        </p:txBody>
      </p:sp>
      <p:sp>
        <p:nvSpPr>
          <p:cNvPr id="13" name="text-691"/>
          <p:cNvSpPr txBox="1"/>
          <p:nvPr/>
        </p:nvSpPr>
        <p:spPr>
          <a:xfrm>
            <a:off x="6986016" y="2084832"/>
            <a:ext cx="4480560" cy="256032"/>
          </a:xfrm>
          <a:prstGeom prst="rect">
            <a:avLst/>
          </a:prstGeom>
          <a:noFill/>
          <a:ln/>
        </p:spPr>
        <p:txBody>
          <a:bodyPr wrap="square" lIns="0" tIns="0" rIns="0" bIns="0" rtlCol="0" anchor="ctr"/>
          <a:lstStyle/>
          <a:p>
            <a:pPr indent="0" marL="0">
              <a:buNone/>
            </a:pPr>
            <a:r>
              <a:rPr lang="en-US" sz="1150" dirty="0">
                <a:solidFill>
                  <a:srgbClr val="767676"/>
                </a:solidFill>
                <a:latin typeface="Arial" pitchFamily="34" charset="0"/>
                <a:ea typeface="Arial" pitchFamily="34" charset="-122"/>
                <a:cs typeface="Arial" pitchFamily="34" charset="-120"/>
              </a:rPr>
              <a:t>Read-only SQL on the CDRs, assisted or by hand</a:t>
            </a:r>
            <a:endParaRPr lang="en-US" sz="1150" dirty="0"/>
          </a:p>
        </p:txBody>
      </p:sp>
      <p:sp>
        <p:nvSpPr>
          <p:cNvPr id="14" name="text-692"/>
          <p:cNvSpPr txBox="1"/>
          <p:nvPr/>
        </p:nvSpPr>
        <p:spPr>
          <a:xfrm>
            <a:off x="731520" y="2487168"/>
            <a:ext cx="5074920" cy="256032"/>
          </a:xfrm>
          <a:prstGeom prst="rect">
            <a:avLst/>
          </a:prstGeom>
          <a:noFill/>
          <a:ln/>
        </p:spPr>
        <p:txBody>
          <a:bodyPr wrap="square" lIns="0" tIns="0" rIns="0" bIns="0" rtlCol="0" anchor="ctr"/>
          <a:lstStyle/>
          <a:p>
            <a:pPr algn="ctr" indent="0" marL="0">
              <a:buNone/>
            </a:pPr>
            <a:r>
              <a:rPr lang="en-US" sz="1200" dirty="0">
                <a:solidFill>
                  <a:srgbClr val="767676"/>
                </a:solidFill>
                <a:latin typeface="Arial" pitchFamily="34" charset="0"/>
                <a:ea typeface="Arial" pitchFamily="34" charset="-122"/>
                <a:cs typeface="Arial" pitchFamily="34" charset="-120"/>
              </a:rPr>
              <a:t>Median DL throughput (Mbps) by city</a:t>
            </a:r>
            <a:endParaRPr lang="en-US" sz="1200" dirty="0"/>
          </a:p>
        </p:txBody>
      </p:sp>
      <p:sp>
        <p:nvSpPr>
          <p:cNvPr id="15" name="shape-693"/>
          <p:cNvSpPr/>
          <p:nvPr/>
        </p:nvSpPr>
        <p:spPr>
          <a:xfrm>
            <a:off x="777240" y="4681728"/>
            <a:ext cx="4983480" cy="0"/>
          </a:xfrm>
          <a:prstGeom prst="line">
            <a:avLst/>
          </a:prstGeom>
          <a:noFill/>
          <a:ln w="12700">
            <a:solidFill>
              <a:srgbClr val="A0A0A0"/>
            </a:solidFill>
            <a:prstDash val="solid"/>
          </a:ln>
        </p:spPr>
      </p:sp>
      <p:sp>
        <p:nvSpPr>
          <p:cNvPr id="16" name="shape-694"/>
          <p:cNvSpPr/>
          <p:nvPr/>
        </p:nvSpPr>
        <p:spPr>
          <a:xfrm>
            <a:off x="908685" y="3200400"/>
            <a:ext cx="438912" cy="1481328"/>
          </a:xfrm>
          <a:prstGeom prst="rect">
            <a:avLst/>
          </a:prstGeom>
          <a:solidFill>
            <a:srgbClr val="0068BF"/>
          </a:solidFill>
          <a:ln w="12700">
            <a:solidFill>
              <a:srgbClr val="0068BF"/>
            </a:solidFill>
            <a:prstDash val="solid"/>
          </a:ln>
        </p:spPr>
      </p:sp>
      <p:sp>
        <p:nvSpPr>
          <p:cNvPr id="17" name="text-695"/>
          <p:cNvSpPr txBox="1"/>
          <p:nvPr/>
        </p:nvSpPr>
        <p:spPr>
          <a:xfrm>
            <a:off x="817245" y="2962656"/>
            <a:ext cx="621792" cy="219456"/>
          </a:xfrm>
          <a:prstGeom prst="rect">
            <a:avLst/>
          </a:prstGeom>
          <a:noFill/>
          <a:ln/>
        </p:spPr>
        <p:txBody>
          <a:bodyPr wrap="square" lIns="0" tIns="0" rIns="0" bIns="0" rtlCol="0" anchor="b"/>
          <a:lstStyle/>
          <a:p>
            <a:pPr algn="ctr" indent="0" marL="0">
              <a:buNone/>
            </a:pPr>
            <a:r>
              <a:rPr lang="en-US" sz="1000" b="1" dirty="0">
                <a:solidFill>
                  <a:srgbClr val="242424"/>
                </a:solidFill>
                <a:latin typeface="Arial" pitchFamily="34" charset="0"/>
                <a:ea typeface="Arial" pitchFamily="34" charset="-122"/>
                <a:cs typeface="Arial" pitchFamily="34" charset="-120"/>
              </a:rPr>
              <a:t>162</a:t>
            </a:r>
            <a:endParaRPr lang="en-US" sz="1000" dirty="0"/>
          </a:p>
        </p:txBody>
      </p:sp>
      <p:sp>
        <p:nvSpPr>
          <p:cNvPr id="18" name="shape-696"/>
          <p:cNvSpPr/>
          <p:nvPr/>
        </p:nvSpPr>
        <p:spPr>
          <a:xfrm>
            <a:off x="1384173" y="3392424"/>
            <a:ext cx="438912" cy="1289304"/>
          </a:xfrm>
          <a:prstGeom prst="rect">
            <a:avLst/>
          </a:prstGeom>
          <a:solidFill>
            <a:srgbClr val="8C60A8"/>
          </a:solidFill>
          <a:ln w="12700">
            <a:solidFill>
              <a:srgbClr val="8C60A8"/>
            </a:solidFill>
            <a:prstDash val="solid"/>
          </a:ln>
        </p:spPr>
      </p:sp>
      <p:sp>
        <p:nvSpPr>
          <p:cNvPr id="19" name="text-697"/>
          <p:cNvSpPr txBox="1"/>
          <p:nvPr/>
        </p:nvSpPr>
        <p:spPr>
          <a:xfrm>
            <a:off x="1292733" y="3154680"/>
            <a:ext cx="621792" cy="219456"/>
          </a:xfrm>
          <a:prstGeom prst="rect">
            <a:avLst/>
          </a:prstGeom>
          <a:noFill/>
          <a:ln/>
        </p:spPr>
        <p:txBody>
          <a:bodyPr wrap="square" lIns="0" tIns="0" rIns="0" bIns="0" rtlCol="0" anchor="b"/>
          <a:lstStyle/>
          <a:p>
            <a:pPr algn="ctr" indent="0" marL="0">
              <a:buNone/>
            </a:pPr>
            <a:r>
              <a:rPr lang="en-US" sz="1000" b="1" dirty="0">
                <a:solidFill>
                  <a:srgbClr val="242424"/>
                </a:solidFill>
                <a:latin typeface="Arial" pitchFamily="34" charset="0"/>
                <a:ea typeface="Arial" pitchFamily="34" charset="-122"/>
                <a:cs typeface="Arial" pitchFamily="34" charset="-120"/>
              </a:rPr>
              <a:t>141</a:t>
            </a:r>
            <a:endParaRPr lang="en-US" sz="1000" dirty="0"/>
          </a:p>
        </p:txBody>
      </p:sp>
      <p:sp>
        <p:nvSpPr>
          <p:cNvPr id="20" name="text-698"/>
          <p:cNvSpPr txBox="1"/>
          <p:nvPr/>
        </p:nvSpPr>
        <p:spPr>
          <a:xfrm>
            <a:off x="731520" y="4727448"/>
            <a:ext cx="1268730" cy="237744"/>
          </a:xfrm>
          <a:prstGeom prst="rect">
            <a:avLst/>
          </a:prstGeom>
          <a:noFill/>
          <a:ln/>
        </p:spPr>
        <p:txBody>
          <a:bodyPr wrap="square" lIns="0" tIns="0" rIns="0" bIns="0" rtlCol="0" anchor="ctr"/>
          <a:lstStyle/>
          <a:p>
            <a:pPr algn="ctr" indent="0" marL="0">
              <a:buNone/>
            </a:pPr>
            <a:r>
              <a:rPr lang="en-US" sz="1100" dirty="0">
                <a:solidFill>
                  <a:srgbClr val="242424"/>
                </a:solidFill>
                <a:latin typeface="Arial" pitchFamily="34" charset="0"/>
                <a:ea typeface="Arial" pitchFamily="34" charset="-122"/>
                <a:cs typeface="Arial" pitchFamily="34" charset="-120"/>
              </a:rPr>
              <a:t>London</a:t>
            </a:r>
            <a:endParaRPr lang="en-US" sz="1100" dirty="0"/>
          </a:p>
        </p:txBody>
      </p:sp>
      <p:sp>
        <p:nvSpPr>
          <p:cNvPr id="21" name="shape-699"/>
          <p:cNvSpPr/>
          <p:nvPr/>
        </p:nvSpPr>
        <p:spPr>
          <a:xfrm>
            <a:off x="2177415" y="3328416"/>
            <a:ext cx="438912" cy="1353312"/>
          </a:xfrm>
          <a:prstGeom prst="rect">
            <a:avLst/>
          </a:prstGeom>
          <a:solidFill>
            <a:srgbClr val="0068BF"/>
          </a:solidFill>
          <a:ln w="12700">
            <a:solidFill>
              <a:srgbClr val="0068BF"/>
            </a:solidFill>
            <a:prstDash val="solid"/>
          </a:ln>
        </p:spPr>
      </p:sp>
      <p:sp>
        <p:nvSpPr>
          <p:cNvPr id="22" name="text-700"/>
          <p:cNvSpPr txBox="1"/>
          <p:nvPr/>
        </p:nvSpPr>
        <p:spPr>
          <a:xfrm>
            <a:off x="2085975" y="3090672"/>
            <a:ext cx="621792" cy="219456"/>
          </a:xfrm>
          <a:prstGeom prst="rect">
            <a:avLst/>
          </a:prstGeom>
          <a:noFill/>
          <a:ln/>
        </p:spPr>
        <p:txBody>
          <a:bodyPr wrap="square" lIns="0" tIns="0" rIns="0" bIns="0" rtlCol="0" anchor="b"/>
          <a:lstStyle/>
          <a:p>
            <a:pPr algn="ctr" indent="0" marL="0">
              <a:buNone/>
            </a:pPr>
            <a:r>
              <a:rPr lang="en-US" sz="1000" b="1" dirty="0">
                <a:solidFill>
                  <a:srgbClr val="242424"/>
                </a:solidFill>
                <a:latin typeface="Arial" pitchFamily="34" charset="0"/>
                <a:ea typeface="Arial" pitchFamily="34" charset="-122"/>
                <a:cs typeface="Arial" pitchFamily="34" charset="-120"/>
              </a:rPr>
              <a:t>148</a:t>
            </a:r>
            <a:endParaRPr lang="en-US" sz="1000" dirty="0"/>
          </a:p>
        </p:txBody>
      </p:sp>
      <p:sp>
        <p:nvSpPr>
          <p:cNvPr id="23" name="shape-701"/>
          <p:cNvSpPr/>
          <p:nvPr/>
        </p:nvSpPr>
        <p:spPr>
          <a:xfrm>
            <a:off x="2652903" y="3291840"/>
            <a:ext cx="438912" cy="1389888"/>
          </a:xfrm>
          <a:prstGeom prst="rect">
            <a:avLst/>
          </a:prstGeom>
          <a:solidFill>
            <a:srgbClr val="8C60A8"/>
          </a:solidFill>
          <a:ln w="12700">
            <a:solidFill>
              <a:srgbClr val="8C60A8"/>
            </a:solidFill>
            <a:prstDash val="solid"/>
          </a:ln>
        </p:spPr>
      </p:sp>
      <p:sp>
        <p:nvSpPr>
          <p:cNvPr id="24" name="text-702"/>
          <p:cNvSpPr txBox="1"/>
          <p:nvPr/>
        </p:nvSpPr>
        <p:spPr>
          <a:xfrm>
            <a:off x="2561463" y="3054096"/>
            <a:ext cx="621792" cy="219456"/>
          </a:xfrm>
          <a:prstGeom prst="rect">
            <a:avLst/>
          </a:prstGeom>
          <a:noFill/>
          <a:ln/>
        </p:spPr>
        <p:txBody>
          <a:bodyPr wrap="square" lIns="0" tIns="0" rIns="0" bIns="0" rtlCol="0" anchor="b"/>
          <a:lstStyle/>
          <a:p>
            <a:pPr algn="ctr" indent="0" marL="0">
              <a:buNone/>
            </a:pPr>
            <a:r>
              <a:rPr lang="en-US" sz="1000" b="1" dirty="0">
                <a:solidFill>
                  <a:srgbClr val="242424"/>
                </a:solidFill>
                <a:latin typeface="Arial" pitchFamily="34" charset="0"/>
                <a:ea typeface="Arial" pitchFamily="34" charset="-122"/>
                <a:cs typeface="Arial" pitchFamily="34" charset="-120"/>
              </a:rPr>
              <a:t>152</a:t>
            </a:r>
            <a:endParaRPr lang="en-US" sz="1000" dirty="0"/>
          </a:p>
        </p:txBody>
      </p:sp>
      <p:sp>
        <p:nvSpPr>
          <p:cNvPr id="25" name="text-703"/>
          <p:cNvSpPr txBox="1"/>
          <p:nvPr/>
        </p:nvSpPr>
        <p:spPr>
          <a:xfrm>
            <a:off x="2000250" y="4727448"/>
            <a:ext cx="1268730" cy="237744"/>
          </a:xfrm>
          <a:prstGeom prst="rect">
            <a:avLst/>
          </a:prstGeom>
          <a:noFill/>
          <a:ln/>
        </p:spPr>
        <p:txBody>
          <a:bodyPr wrap="square" lIns="0" tIns="0" rIns="0" bIns="0" rtlCol="0" anchor="ctr"/>
          <a:lstStyle/>
          <a:p>
            <a:pPr algn="ctr" indent="0" marL="0">
              <a:buNone/>
            </a:pPr>
            <a:r>
              <a:rPr lang="en-US" sz="1100" dirty="0">
                <a:solidFill>
                  <a:srgbClr val="242424"/>
                </a:solidFill>
                <a:latin typeface="Arial" pitchFamily="34" charset="0"/>
                <a:ea typeface="Arial" pitchFamily="34" charset="-122"/>
                <a:cs typeface="Arial" pitchFamily="34" charset="-120"/>
              </a:rPr>
              <a:t>Leeds</a:t>
            </a:r>
            <a:endParaRPr lang="en-US" sz="1100" dirty="0"/>
          </a:p>
        </p:txBody>
      </p:sp>
      <p:sp>
        <p:nvSpPr>
          <p:cNvPr id="26" name="shape-704"/>
          <p:cNvSpPr/>
          <p:nvPr/>
        </p:nvSpPr>
        <p:spPr>
          <a:xfrm>
            <a:off x="3446145" y="3483864"/>
            <a:ext cx="438912" cy="1197864"/>
          </a:xfrm>
          <a:prstGeom prst="rect">
            <a:avLst/>
          </a:prstGeom>
          <a:solidFill>
            <a:srgbClr val="0068BF"/>
          </a:solidFill>
          <a:ln w="12700">
            <a:solidFill>
              <a:srgbClr val="0068BF"/>
            </a:solidFill>
            <a:prstDash val="solid"/>
          </a:ln>
        </p:spPr>
      </p:sp>
      <p:sp>
        <p:nvSpPr>
          <p:cNvPr id="27" name="text-705"/>
          <p:cNvSpPr txBox="1"/>
          <p:nvPr/>
        </p:nvSpPr>
        <p:spPr>
          <a:xfrm>
            <a:off x="3354705" y="3246120"/>
            <a:ext cx="621792" cy="219456"/>
          </a:xfrm>
          <a:prstGeom prst="rect">
            <a:avLst/>
          </a:prstGeom>
          <a:noFill/>
          <a:ln/>
        </p:spPr>
        <p:txBody>
          <a:bodyPr wrap="square" lIns="0" tIns="0" rIns="0" bIns="0" rtlCol="0" anchor="b"/>
          <a:lstStyle/>
          <a:p>
            <a:pPr algn="ctr" indent="0" marL="0">
              <a:buNone/>
            </a:pPr>
            <a:r>
              <a:rPr lang="en-US" sz="1000" b="1" dirty="0">
                <a:solidFill>
                  <a:srgbClr val="242424"/>
                </a:solidFill>
                <a:latin typeface="Arial" pitchFamily="34" charset="0"/>
                <a:ea typeface="Arial" pitchFamily="34" charset="-122"/>
                <a:cs typeface="Arial" pitchFamily="34" charset="-120"/>
              </a:rPr>
              <a:t>131</a:t>
            </a:r>
            <a:endParaRPr lang="en-US" sz="1000" dirty="0"/>
          </a:p>
        </p:txBody>
      </p:sp>
      <p:sp>
        <p:nvSpPr>
          <p:cNvPr id="28" name="shape-706"/>
          <p:cNvSpPr/>
          <p:nvPr/>
        </p:nvSpPr>
        <p:spPr>
          <a:xfrm>
            <a:off x="3921633" y="3602736"/>
            <a:ext cx="438912" cy="1078992"/>
          </a:xfrm>
          <a:prstGeom prst="rect">
            <a:avLst/>
          </a:prstGeom>
          <a:solidFill>
            <a:srgbClr val="8C60A8"/>
          </a:solidFill>
          <a:ln w="12700">
            <a:solidFill>
              <a:srgbClr val="8C60A8"/>
            </a:solidFill>
            <a:prstDash val="solid"/>
          </a:ln>
        </p:spPr>
      </p:sp>
      <p:sp>
        <p:nvSpPr>
          <p:cNvPr id="29" name="text-707"/>
          <p:cNvSpPr txBox="1"/>
          <p:nvPr/>
        </p:nvSpPr>
        <p:spPr>
          <a:xfrm>
            <a:off x="3830193" y="3364992"/>
            <a:ext cx="621792" cy="219456"/>
          </a:xfrm>
          <a:prstGeom prst="rect">
            <a:avLst/>
          </a:prstGeom>
          <a:noFill/>
          <a:ln/>
        </p:spPr>
        <p:txBody>
          <a:bodyPr wrap="square" lIns="0" tIns="0" rIns="0" bIns="0" rtlCol="0" anchor="b"/>
          <a:lstStyle/>
          <a:p>
            <a:pPr algn="ctr" indent="0" marL="0">
              <a:buNone/>
            </a:pPr>
            <a:r>
              <a:rPr lang="en-US" sz="1000" b="1" dirty="0">
                <a:solidFill>
                  <a:srgbClr val="242424"/>
                </a:solidFill>
                <a:latin typeface="Arial" pitchFamily="34" charset="0"/>
                <a:ea typeface="Arial" pitchFamily="34" charset="-122"/>
                <a:cs typeface="Arial" pitchFamily="34" charset="-120"/>
              </a:rPr>
              <a:t>118</a:t>
            </a:r>
            <a:endParaRPr lang="en-US" sz="1000" dirty="0"/>
          </a:p>
        </p:txBody>
      </p:sp>
      <p:sp>
        <p:nvSpPr>
          <p:cNvPr id="30" name="text-708"/>
          <p:cNvSpPr txBox="1"/>
          <p:nvPr/>
        </p:nvSpPr>
        <p:spPr>
          <a:xfrm>
            <a:off x="3268980" y="4727448"/>
            <a:ext cx="1268730" cy="237744"/>
          </a:xfrm>
          <a:prstGeom prst="rect">
            <a:avLst/>
          </a:prstGeom>
          <a:noFill/>
          <a:ln/>
        </p:spPr>
        <p:txBody>
          <a:bodyPr wrap="square" lIns="0" tIns="0" rIns="0" bIns="0" rtlCol="0" anchor="ctr"/>
          <a:lstStyle/>
          <a:p>
            <a:pPr algn="ctr" indent="0" marL="0">
              <a:buNone/>
            </a:pPr>
            <a:r>
              <a:rPr lang="en-US" sz="1100" dirty="0">
                <a:solidFill>
                  <a:srgbClr val="242424"/>
                </a:solidFill>
                <a:latin typeface="Arial" pitchFamily="34" charset="0"/>
                <a:ea typeface="Arial" pitchFamily="34" charset="-122"/>
                <a:cs typeface="Arial" pitchFamily="34" charset="-120"/>
              </a:rPr>
              <a:t>Glasgow</a:t>
            </a:r>
            <a:endParaRPr lang="en-US" sz="1100" dirty="0"/>
          </a:p>
        </p:txBody>
      </p:sp>
      <p:sp>
        <p:nvSpPr>
          <p:cNvPr id="31" name="shape-709"/>
          <p:cNvSpPr/>
          <p:nvPr/>
        </p:nvSpPr>
        <p:spPr>
          <a:xfrm>
            <a:off x="4714875" y="3410712"/>
            <a:ext cx="438912" cy="1271016"/>
          </a:xfrm>
          <a:prstGeom prst="rect">
            <a:avLst/>
          </a:prstGeom>
          <a:solidFill>
            <a:srgbClr val="0068BF"/>
          </a:solidFill>
          <a:ln w="12700">
            <a:solidFill>
              <a:srgbClr val="0068BF"/>
            </a:solidFill>
            <a:prstDash val="solid"/>
          </a:ln>
        </p:spPr>
      </p:sp>
      <p:sp>
        <p:nvSpPr>
          <p:cNvPr id="32" name="text-710"/>
          <p:cNvSpPr txBox="1"/>
          <p:nvPr/>
        </p:nvSpPr>
        <p:spPr>
          <a:xfrm>
            <a:off x="4623435" y="3172968"/>
            <a:ext cx="621792" cy="219456"/>
          </a:xfrm>
          <a:prstGeom prst="rect">
            <a:avLst/>
          </a:prstGeom>
          <a:noFill/>
          <a:ln/>
        </p:spPr>
        <p:txBody>
          <a:bodyPr wrap="square" lIns="0" tIns="0" rIns="0" bIns="0" rtlCol="0" anchor="b"/>
          <a:lstStyle/>
          <a:p>
            <a:pPr algn="ctr" indent="0" marL="0">
              <a:buNone/>
            </a:pPr>
            <a:r>
              <a:rPr lang="en-US" sz="1000" b="1" dirty="0">
                <a:solidFill>
                  <a:srgbClr val="242424"/>
                </a:solidFill>
                <a:latin typeface="Arial" pitchFamily="34" charset="0"/>
                <a:ea typeface="Arial" pitchFamily="34" charset="-122"/>
                <a:cs typeface="Arial" pitchFamily="34" charset="-120"/>
              </a:rPr>
              <a:t>139</a:t>
            </a:r>
            <a:endParaRPr lang="en-US" sz="1000" dirty="0"/>
          </a:p>
        </p:txBody>
      </p:sp>
      <p:sp>
        <p:nvSpPr>
          <p:cNvPr id="33" name="shape-711"/>
          <p:cNvSpPr/>
          <p:nvPr/>
        </p:nvSpPr>
        <p:spPr>
          <a:xfrm>
            <a:off x="5190363" y="3529584"/>
            <a:ext cx="438912" cy="1152144"/>
          </a:xfrm>
          <a:prstGeom prst="rect">
            <a:avLst/>
          </a:prstGeom>
          <a:solidFill>
            <a:srgbClr val="8C60A8"/>
          </a:solidFill>
          <a:ln w="12700">
            <a:solidFill>
              <a:srgbClr val="8C60A8"/>
            </a:solidFill>
            <a:prstDash val="solid"/>
          </a:ln>
        </p:spPr>
      </p:sp>
      <p:sp>
        <p:nvSpPr>
          <p:cNvPr id="34" name="text-712"/>
          <p:cNvSpPr txBox="1"/>
          <p:nvPr/>
        </p:nvSpPr>
        <p:spPr>
          <a:xfrm>
            <a:off x="5098923" y="3291840"/>
            <a:ext cx="621792" cy="219456"/>
          </a:xfrm>
          <a:prstGeom prst="rect">
            <a:avLst/>
          </a:prstGeom>
          <a:noFill/>
          <a:ln/>
        </p:spPr>
        <p:txBody>
          <a:bodyPr wrap="square" lIns="0" tIns="0" rIns="0" bIns="0" rtlCol="0" anchor="b"/>
          <a:lstStyle/>
          <a:p>
            <a:pPr algn="ctr" indent="0" marL="0">
              <a:buNone/>
            </a:pPr>
            <a:r>
              <a:rPr lang="en-US" sz="1000" b="1" dirty="0">
                <a:solidFill>
                  <a:srgbClr val="242424"/>
                </a:solidFill>
                <a:latin typeface="Arial" pitchFamily="34" charset="0"/>
                <a:ea typeface="Arial" pitchFamily="34" charset="-122"/>
                <a:cs typeface="Arial" pitchFamily="34" charset="-120"/>
              </a:rPr>
              <a:t>126</a:t>
            </a:r>
            <a:endParaRPr lang="en-US" sz="1000" dirty="0"/>
          </a:p>
        </p:txBody>
      </p:sp>
      <p:sp>
        <p:nvSpPr>
          <p:cNvPr id="35" name="text-713"/>
          <p:cNvSpPr txBox="1"/>
          <p:nvPr/>
        </p:nvSpPr>
        <p:spPr>
          <a:xfrm>
            <a:off x="4537710" y="4727448"/>
            <a:ext cx="1268730" cy="237744"/>
          </a:xfrm>
          <a:prstGeom prst="rect">
            <a:avLst/>
          </a:prstGeom>
          <a:noFill/>
          <a:ln/>
        </p:spPr>
        <p:txBody>
          <a:bodyPr wrap="square" lIns="0" tIns="0" rIns="0" bIns="0" rtlCol="0" anchor="ctr"/>
          <a:lstStyle/>
          <a:p>
            <a:pPr algn="ctr" indent="0" marL="0">
              <a:buNone/>
            </a:pPr>
            <a:r>
              <a:rPr lang="en-US" sz="1100" dirty="0">
                <a:solidFill>
                  <a:srgbClr val="242424"/>
                </a:solidFill>
                <a:latin typeface="Arial" pitchFamily="34" charset="0"/>
                <a:ea typeface="Arial" pitchFamily="34" charset="-122"/>
                <a:cs typeface="Arial" pitchFamily="34" charset="-120"/>
              </a:rPr>
              <a:t>Cardiff</a:t>
            </a:r>
            <a:endParaRPr lang="en-US" sz="1100" dirty="0"/>
          </a:p>
        </p:txBody>
      </p:sp>
      <p:sp>
        <p:nvSpPr>
          <p:cNvPr id="36" name="shape-714"/>
          <p:cNvSpPr/>
          <p:nvPr/>
        </p:nvSpPr>
        <p:spPr>
          <a:xfrm>
            <a:off x="777240" y="5093208"/>
            <a:ext cx="146304" cy="146304"/>
          </a:xfrm>
          <a:prstGeom prst="rect">
            <a:avLst/>
          </a:prstGeom>
          <a:solidFill>
            <a:srgbClr val="0068BF"/>
          </a:solidFill>
          <a:ln w="12700">
            <a:solidFill>
              <a:srgbClr val="0068BF"/>
            </a:solidFill>
            <a:prstDash val="solid"/>
          </a:ln>
        </p:spPr>
      </p:sp>
      <p:sp>
        <p:nvSpPr>
          <p:cNvPr id="37" name="text-715"/>
          <p:cNvSpPr txBox="1"/>
          <p:nvPr/>
        </p:nvSpPr>
        <p:spPr>
          <a:xfrm>
            <a:off x="978408" y="5047488"/>
            <a:ext cx="1005840" cy="237744"/>
          </a:xfrm>
          <a:prstGeom prst="rect">
            <a:avLst/>
          </a:prstGeom>
          <a:noFill/>
          <a:ln/>
        </p:spPr>
        <p:txBody>
          <a:bodyPr wrap="square" lIns="0" tIns="0" rIns="0" bIns="0" rtlCol="0" anchor="ctr"/>
          <a:lstStyle/>
          <a:p>
            <a:pPr indent="0" marL="0">
              <a:buNone/>
            </a:pPr>
            <a:r>
              <a:rPr lang="en-US" sz="1050" dirty="0">
                <a:solidFill>
                  <a:srgbClr val="242424"/>
                </a:solidFill>
                <a:latin typeface="Arial" pitchFamily="34" charset="0"/>
                <a:ea typeface="Arial" pitchFamily="34" charset="-122"/>
                <a:cs typeface="Arial" pitchFamily="34" charset="-120"/>
              </a:rPr>
              <a:t>Operator A</a:t>
            </a:r>
            <a:endParaRPr lang="en-US" sz="1050" dirty="0"/>
          </a:p>
        </p:txBody>
      </p:sp>
      <p:sp>
        <p:nvSpPr>
          <p:cNvPr id="38" name="shape-716"/>
          <p:cNvSpPr/>
          <p:nvPr/>
        </p:nvSpPr>
        <p:spPr>
          <a:xfrm>
            <a:off x="2103120" y="5093208"/>
            <a:ext cx="146304" cy="146304"/>
          </a:xfrm>
          <a:prstGeom prst="rect">
            <a:avLst/>
          </a:prstGeom>
          <a:solidFill>
            <a:srgbClr val="8C60A8"/>
          </a:solidFill>
          <a:ln w="12700">
            <a:solidFill>
              <a:srgbClr val="8C60A8"/>
            </a:solidFill>
            <a:prstDash val="solid"/>
          </a:ln>
        </p:spPr>
      </p:sp>
      <p:sp>
        <p:nvSpPr>
          <p:cNvPr id="39" name="text-717"/>
          <p:cNvSpPr txBox="1"/>
          <p:nvPr/>
        </p:nvSpPr>
        <p:spPr>
          <a:xfrm>
            <a:off x="2304288" y="5047488"/>
            <a:ext cx="1005840" cy="237744"/>
          </a:xfrm>
          <a:prstGeom prst="rect">
            <a:avLst/>
          </a:prstGeom>
          <a:noFill/>
          <a:ln/>
        </p:spPr>
        <p:txBody>
          <a:bodyPr wrap="square" lIns="0" tIns="0" rIns="0" bIns="0" rtlCol="0" anchor="ctr"/>
          <a:lstStyle/>
          <a:p>
            <a:pPr indent="0" marL="0">
              <a:buNone/>
            </a:pPr>
            <a:r>
              <a:rPr lang="en-US" sz="1050" dirty="0">
                <a:solidFill>
                  <a:srgbClr val="242424"/>
                </a:solidFill>
                <a:latin typeface="Arial" pitchFamily="34" charset="0"/>
                <a:ea typeface="Arial" pitchFamily="34" charset="-122"/>
                <a:cs typeface="Arial" pitchFamily="34" charset="-120"/>
              </a:rPr>
              <a:t>Operator B</a:t>
            </a:r>
            <a:endParaRPr lang="en-US" sz="1050" dirty="0"/>
          </a:p>
        </p:txBody>
      </p:sp>
      <p:sp>
        <p:nvSpPr>
          <p:cNvPr id="40" name="shape-718"/>
          <p:cNvSpPr/>
          <p:nvPr/>
        </p:nvSpPr>
        <p:spPr>
          <a:xfrm>
            <a:off x="6400800" y="2514600"/>
            <a:ext cx="5029200" cy="1371600"/>
          </a:xfrm>
          <a:prstGeom prst="roundRect">
            <a:avLst>
              <a:gd name="adj" fmla="val 5333"/>
            </a:avLst>
          </a:prstGeom>
          <a:solidFill>
            <a:srgbClr val="1E1E1E"/>
          </a:solidFill>
          <a:ln w="12700">
            <a:solidFill>
              <a:srgbClr val="1E1E1E"/>
            </a:solidFill>
            <a:prstDash val="solid"/>
          </a:ln>
        </p:spPr>
      </p:sp>
      <p:sp>
        <p:nvSpPr>
          <p:cNvPr id="41" name="text-719"/>
          <p:cNvSpPr txBox="1"/>
          <p:nvPr/>
        </p:nvSpPr>
        <p:spPr>
          <a:xfrm>
            <a:off x="6565392" y="2606040"/>
            <a:ext cx="4754880" cy="1188720"/>
          </a:xfrm>
          <a:prstGeom prst="rect">
            <a:avLst/>
          </a:prstGeom>
          <a:noFill/>
          <a:ln/>
        </p:spPr>
        <p:txBody>
          <a:bodyPr wrap="square" lIns="0" tIns="0" rIns="0" bIns="0" rtlCol="0" anchor="ctr"/>
          <a:lstStyle/>
          <a:p>
            <a:pPr indent="0" marL="0">
              <a:buNone/>
            </a:pPr>
            <a:r>
              <a:rPr lang="en-US" sz="1100" dirty="0">
                <a:solidFill>
                  <a:srgbClr val="6CB6FF"/>
                </a:solidFill>
                <a:latin typeface="Courier New" pitchFamily="34" charset="0"/>
                <a:ea typeface="Courier New" pitchFamily="34" charset="-122"/>
                <a:cs typeface="Courier New" pitchFamily="34" charset="-120"/>
              </a:rPr>
              <a:t>SELECT </a:t>
            </a:r>
            <a:pPr indent="0" marL="0">
              <a:buNone/>
            </a:pPr>
            <a:r>
              <a:rPr lang="en-US" sz="1100" dirty="0">
                <a:solidFill>
                  <a:srgbClr val="E6E6E6"/>
                </a:solidFill>
                <a:latin typeface="Courier New" pitchFamily="34" charset="0"/>
                <a:ea typeface="Courier New" pitchFamily="34" charset="-122"/>
                <a:cs typeface="Courier New" pitchFamily="34" charset="-120"/>
              </a:rPr>
              <a:t>operator, COUNT(*) AS samples,</a:t>
            </a:r>
            <a:endParaRPr lang="en-US" sz="1100" dirty="0"/>
          </a:p>
          <a:p>
            <a:pPr indent="0" marL="0">
              <a:buNone/>
            </a:pPr>
            <a:r>
              <a:rPr lang="en-US" sz="1100" dirty="0">
                <a:solidFill>
                  <a:srgbClr val="E6E6E6"/>
                </a:solidFill>
                <a:latin typeface="Courier New" pitchFamily="34" charset="0"/>
                <a:ea typeface="Courier New" pitchFamily="34" charset="-122"/>
                <a:cs typeface="Courier New" pitchFamily="34" charset="-120"/>
              </a:rPr>
              <a:t>       MEDIAN(dl_throughput) AS median_dl</a:t>
            </a:r>
            <a:endParaRPr lang="en-US" sz="1100" dirty="0"/>
          </a:p>
          <a:p>
            <a:pPr indent="0" marL="0">
              <a:buNone/>
            </a:pPr>
            <a:r>
              <a:rPr lang="en-US" sz="1100" dirty="0">
                <a:solidFill>
                  <a:srgbClr val="6CB6FF"/>
                </a:solidFill>
                <a:latin typeface="Courier New" pitchFamily="34" charset="0"/>
                <a:ea typeface="Courier New" pitchFamily="34" charset="-122"/>
                <a:cs typeface="Courier New" pitchFamily="34" charset="-120"/>
              </a:rPr>
              <a:t>FROM </a:t>
            </a:r>
            <a:pPr indent="0" marL="0">
              <a:buNone/>
            </a:pPr>
            <a:r>
              <a:rPr lang="en-US" sz="1100" dirty="0">
                <a:solidFill>
                  <a:srgbClr val="E6E6E6"/>
                </a:solidFill>
                <a:latin typeface="Courier New" pitchFamily="34" charset="0"/>
                <a:ea typeface="Courier New" pitchFamily="34" charset="-122"/>
                <a:cs typeface="Courier New" pitchFamily="34" charset="-120"/>
              </a:rPr>
              <a:t>cdr_data </a:t>
            </a:r>
            <a:pPr indent="0" marL="0">
              <a:buNone/>
            </a:pPr>
            <a:r>
              <a:rPr lang="en-US" sz="1100" dirty="0">
                <a:solidFill>
                  <a:srgbClr val="6CB6FF"/>
                </a:solidFill>
                <a:latin typeface="Courier New" pitchFamily="34" charset="0"/>
                <a:ea typeface="Courier New" pitchFamily="34" charset="-122"/>
                <a:cs typeface="Courier New" pitchFamily="34" charset="-120"/>
              </a:rPr>
              <a:t>WHERE </a:t>
            </a:r>
            <a:pPr indent="0" marL="0">
              <a:buNone/>
            </a:pPr>
            <a:r>
              <a:rPr lang="en-US" sz="1100" dirty="0">
                <a:solidFill>
                  <a:srgbClr val="F2B880"/>
                </a:solidFill>
                <a:latin typeface="Courier New" pitchFamily="34" charset="0"/>
                <a:ea typeface="Courier New" pitchFamily="34" charset="-122"/>
                <a:cs typeface="Courier New" pitchFamily="34" charset="-120"/>
              </a:rPr>
              <a:t>campaign = 'Q3_2026'</a:t>
            </a:r>
            <a:endParaRPr lang="en-US" sz="1100" dirty="0"/>
          </a:p>
          <a:p>
            <a:pPr indent="0" marL="0">
              <a:buNone/>
            </a:pPr>
            <a:r>
              <a:rPr lang="en-US" sz="1100" dirty="0">
                <a:solidFill>
                  <a:srgbClr val="6CB6FF"/>
                </a:solidFill>
                <a:latin typeface="Courier New" pitchFamily="34" charset="0"/>
                <a:ea typeface="Courier New" pitchFamily="34" charset="-122"/>
                <a:cs typeface="Courier New" pitchFamily="34" charset="-120"/>
              </a:rPr>
              <a:t>GROUP BY </a:t>
            </a:r>
            <a:pPr indent="0" marL="0">
              <a:buNone/>
            </a:pPr>
            <a:r>
              <a:rPr lang="en-US" sz="1100" dirty="0">
                <a:solidFill>
                  <a:srgbClr val="E6E6E6"/>
                </a:solidFill>
                <a:latin typeface="Courier New" pitchFamily="34" charset="0"/>
                <a:ea typeface="Courier New" pitchFamily="34" charset="-122"/>
                <a:cs typeface="Courier New" pitchFamily="34" charset="-120"/>
              </a:rPr>
              <a:t>operator</a:t>
            </a:r>
            <a:endParaRPr lang="en-US" sz="1100" dirty="0"/>
          </a:p>
        </p:txBody>
      </p:sp>
      <p:graphicFrame>
        <p:nvGraphicFramePr>
          <p:cNvPr id="12" name="Query Builder results"/>
          <p:cNvGraphicFramePr>
            <a:graphicFrameLocks noGrp="1"/>
          </p:cNvGraphicFramePr>
          <p:nvPr>
            <p:extLst>
              <p:ext uri="{D42A27DB-BD31-4B8C-83A1-F6EECF244321}">
                <p14:modId xmlns:p14="http://schemas.microsoft.com/office/powerpoint/2010/main" val="1579011935"/>
              </p:ext>
            </p:extLst>
          </p:nvPr>
        </p:nvGraphicFramePr>
        <p:xfrm>
          <a:off x="6400800" y="4005072"/>
          <a:ext cx="5029200" cy="914400"/>
        </p:xfrm>
        <a:graphic>
          <a:graphicData uri="http://schemas.openxmlformats.org/drawingml/2006/table">
            <a:tbl>
              <a:tblPr/>
              <a:tblGrid>
                <a:gridCol w="1920240"/>
                <a:gridCol w="1554480"/>
                <a:gridCol w="1554480"/>
              </a:tblGrid>
              <a:tr h="274320">
                <a:tc>
                  <a:txBody>
                    <a:bodyPr/>
                    <a:lstStyle/>
                    <a:p>
                      <a:pPr indent="0" marL="0">
                        <a:buNone/>
                      </a:pPr>
                      <a:r>
                        <a:rPr lang="en-US" sz="1050" b="1" dirty="0">
                          <a:solidFill>
                            <a:srgbClr val="FFFFFF"/>
                          </a:solidFill>
                          <a:latin typeface="Courier New" pitchFamily="34" charset="0"/>
                          <a:ea typeface="Courier New" pitchFamily="34" charset="-122"/>
                          <a:cs typeface="Courier New" pitchFamily="34" charset="-120"/>
                        </a:rPr>
                        <a:t>operator</a:t>
                      </a:r>
                      <a:endParaRPr lang="en-US" sz="1050" dirty="0">
                        <a:latin typeface="Courier New" charset="0"/>
                        <a:ea typeface="Courier New" charset="0"/>
                        <a:cs typeface="Courier New" charset="0"/>
                      </a:endParaRPr>
                    </a:p>
                  </a:txBody>
                  <a:tcPr marL="45720" marR="45720" marT="45720" marB="45720">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0082F0"/>
                    </a:solidFill>
                  </a:tcPr>
                </a:tc>
                <a:tc>
                  <a:txBody>
                    <a:bodyPr/>
                    <a:lstStyle/>
                    <a:p>
                      <a:pPr indent="0" marL="0">
                        <a:buNone/>
                      </a:pPr>
                      <a:r>
                        <a:rPr lang="en-US" sz="1050" b="1" dirty="0">
                          <a:solidFill>
                            <a:srgbClr val="FFFFFF"/>
                          </a:solidFill>
                          <a:latin typeface="Courier New" pitchFamily="34" charset="0"/>
                          <a:ea typeface="Courier New" pitchFamily="34" charset="-122"/>
                          <a:cs typeface="Courier New" pitchFamily="34" charset="-120"/>
                        </a:rPr>
                        <a:t>samples</a:t>
                      </a:r>
                      <a:endParaRPr lang="en-US" sz="1050" dirty="0">
                        <a:latin typeface="Courier New" charset="0"/>
                        <a:ea typeface="Courier New" charset="0"/>
                        <a:cs typeface="Courier New" charset="0"/>
                      </a:endParaRPr>
                    </a:p>
                  </a:txBody>
                  <a:tcPr marL="45720" marR="45720" marT="45720" marB="45720">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0082F0"/>
                    </a:solidFill>
                  </a:tcPr>
                </a:tc>
                <a:tc>
                  <a:txBody>
                    <a:bodyPr/>
                    <a:lstStyle/>
                    <a:p>
                      <a:pPr indent="0" marL="0">
                        <a:buNone/>
                      </a:pPr>
                      <a:r>
                        <a:rPr lang="en-US" sz="1050" b="1" dirty="0">
                          <a:solidFill>
                            <a:srgbClr val="FFFFFF"/>
                          </a:solidFill>
                          <a:latin typeface="Courier New" pitchFamily="34" charset="0"/>
                          <a:ea typeface="Courier New" pitchFamily="34" charset="-122"/>
                          <a:cs typeface="Courier New" pitchFamily="34" charset="-120"/>
                        </a:rPr>
                        <a:t>median_dl</a:t>
                      </a:r>
                      <a:endParaRPr lang="en-US" sz="1050" dirty="0">
                        <a:latin typeface="Courier New" charset="0"/>
                        <a:ea typeface="Courier New" charset="0"/>
                        <a:cs typeface="Courier New" charset="0"/>
                      </a:endParaRPr>
                    </a:p>
                  </a:txBody>
                  <a:tcPr marL="45720" marR="45720" marT="45720" marB="45720">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0082F0"/>
                    </a:solidFill>
                  </a:tcPr>
                </a:tc>
              </a:tr>
              <a:tr h="274320">
                <a:tc>
                  <a:txBody>
                    <a:bodyPr/>
                    <a:lstStyle/>
                    <a:p>
                      <a:pPr indent="0" marL="0">
                        <a:buNone/>
                      </a:pPr>
                      <a:r>
                        <a:rPr lang="en-US" sz="1050" dirty="0">
                          <a:solidFill>
                            <a:srgbClr val="242424"/>
                          </a:solidFill>
                          <a:latin typeface="Courier New" pitchFamily="34" charset="0"/>
                          <a:ea typeface="Courier New" pitchFamily="34" charset="-122"/>
                          <a:cs typeface="Courier New" pitchFamily="34" charset="-120"/>
                        </a:rPr>
                        <a:t>Operator A</a:t>
                      </a:r>
                      <a:endParaRPr lang="en-US" sz="1050" dirty="0">
                        <a:latin typeface="Courier New" charset="0"/>
                        <a:ea typeface="Courier New" charset="0"/>
                        <a:cs typeface="Courier New" charset="0"/>
                      </a:endParaRPr>
                    </a:p>
                  </a:txBody>
                  <a:tcPr marL="45720" marR="45720" marT="45720" marB="45720">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050" dirty="0">
                          <a:solidFill>
                            <a:srgbClr val="242424"/>
                          </a:solidFill>
                          <a:latin typeface="Courier New" pitchFamily="34" charset="0"/>
                          <a:ea typeface="Courier New" pitchFamily="34" charset="-122"/>
                          <a:cs typeface="Courier New" pitchFamily="34" charset="-120"/>
                        </a:rPr>
                        <a:t>41,203</a:t>
                      </a:r>
                      <a:endParaRPr lang="en-US" sz="1050" dirty="0">
                        <a:latin typeface="Courier New" charset="0"/>
                        <a:ea typeface="Courier New" charset="0"/>
                        <a:cs typeface="Courier New" charset="0"/>
                      </a:endParaRPr>
                    </a:p>
                  </a:txBody>
                  <a:tcPr marL="45720" marR="45720" marT="45720" marB="45720">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050" dirty="0">
                          <a:solidFill>
                            <a:srgbClr val="242424"/>
                          </a:solidFill>
                          <a:latin typeface="Courier New" pitchFamily="34" charset="0"/>
                          <a:ea typeface="Courier New" pitchFamily="34" charset="-122"/>
                          <a:cs typeface="Courier New" pitchFamily="34" charset="-120"/>
                        </a:rPr>
                        <a:t>148.9</a:t>
                      </a:r>
                      <a:endParaRPr lang="en-US" sz="1050" dirty="0">
                        <a:latin typeface="Courier New" charset="0"/>
                        <a:ea typeface="Courier New" charset="0"/>
                        <a:cs typeface="Courier New" charset="0"/>
                      </a:endParaRPr>
                    </a:p>
                  </a:txBody>
                  <a:tcPr marL="45720" marR="45720" marT="45720" marB="45720">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242424"/>
                          </a:solidFill>
                          <a:latin typeface="Courier New" pitchFamily="34" charset="0"/>
                          <a:ea typeface="Courier New" pitchFamily="34" charset="-122"/>
                          <a:cs typeface="Courier New" pitchFamily="34" charset="-120"/>
                        </a:rPr>
                        <a:t>Operator B</a:t>
                      </a:r>
                      <a:endParaRPr lang="en-US" sz="1050" dirty="0">
                        <a:latin typeface="Courier New" charset="0"/>
                        <a:ea typeface="Courier New" charset="0"/>
                        <a:cs typeface="Courier New" charset="0"/>
                      </a:endParaRPr>
                    </a:p>
                  </a:txBody>
                  <a:tcPr marL="45720" marR="45720" marT="45720" marB="45720">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050" dirty="0">
                          <a:solidFill>
                            <a:srgbClr val="242424"/>
                          </a:solidFill>
                          <a:latin typeface="Courier New" pitchFamily="34" charset="0"/>
                          <a:ea typeface="Courier New" pitchFamily="34" charset="-122"/>
                          <a:cs typeface="Courier New" pitchFamily="34" charset="-120"/>
                        </a:rPr>
                        <a:t>39,877</a:t>
                      </a:r>
                      <a:endParaRPr lang="en-US" sz="1050" dirty="0">
                        <a:latin typeface="Courier New" charset="0"/>
                        <a:ea typeface="Courier New" charset="0"/>
                        <a:cs typeface="Courier New" charset="0"/>
                      </a:endParaRPr>
                    </a:p>
                  </a:txBody>
                  <a:tcPr marL="45720" marR="45720" marT="45720" marB="45720">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050" dirty="0">
                          <a:solidFill>
                            <a:srgbClr val="242424"/>
                          </a:solidFill>
                          <a:latin typeface="Courier New" pitchFamily="34" charset="0"/>
                          <a:ea typeface="Courier New" pitchFamily="34" charset="-122"/>
                          <a:cs typeface="Courier New" pitchFamily="34" charset="-120"/>
                        </a:rPr>
                        <a:t>137.6</a:t>
                      </a:r>
                      <a:endParaRPr lang="en-US" sz="1050" dirty="0">
                        <a:latin typeface="Courier New" charset="0"/>
                        <a:ea typeface="Courier New" charset="0"/>
                        <a:cs typeface="Courier New" charset="0"/>
                      </a:endParaRPr>
                    </a:p>
                  </a:txBody>
                  <a:tcPr marL="45720" marR="45720" marT="45720" marB="45720">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242424"/>
                          </a:solidFill>
                          <a:latin typeface="Courier New" pitchFamily="34" charset="0"/>
                          <a:ea typeface="Courier New" pitchFamily="34" charset="-122"/>
                          <a:cs typeface="Courier New" pitchFamily="34" charset="-120"/>
                        </a:rPr>
                        <a:t>Operator C</a:t>
                      </a:r>
                      <a:endParaRPr lang="en-US" sz="1050" dirty="0">
                        <a:latin typeface="Courier New" charset="0"/>
                        <a:ea typeface="Courier New" charset="0"/>
                        <a:cs typeface="Courier New" charset="0"/>
                      </a:endParaRPr>
                    </a:p>
                  </a:txBody>
                  <a:tcPr marL="45720" marR="45720" marT="45720" marB="45720">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050" dirty="0">
                          <a:solidFill>
                            <a:srgbClr val="242424"/>
                          </a:solidFill>
                          <a:latin typeface="Courier New" pitchFamily="34" charset="0"/>
                          <a:ea typeface="Courier New" pitchFamily="34" charset="-122"/>
                          <a:cs typeface="Courier New" pitchFamily="34" charset="-120"/>
                        </a:rPr>
                        <a:t>38,512</a:t>
                      </a:r>
                      <a:endParaRPr lang="en-US" sz="1050" dirty="0">
                        <a:latin typeface="Courier New" charset="0"/>
                        <a:ea typeface="Courier New" charset="0"/>
                        <a:cs typeface="Courier New" charset="0"/>
                      </a:endParaRPr>
                    </a:p>
                  </a:txBody>
                  <a:tcPr marL="45720" marR="45720" marT="45720" marB="45720">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050" dirty="0">
                          <a:solidFill>
                            <a:srgbClr val="242424"/>
                          </a:solidFill>
                          <a:latin typeface="Courier New" pitchFamily="34" charset="0"/>
                          <a:ea typeface="Courier New" pitchFamily="34" charset="-122"/>
                          <a:cs typeface="Courier New" pitchFamily="34" charset="-120"/>
                        </a:rPr>
                        <a:t>121.3</a:t>
                      </a:r>
                      <a:endParaRPr lang="en-US" sz="1050" dirty="0">
                        <a:latin typeface="Courier New" charset="0"/>
                        <a:ea typeface="Courier New" charset="0"/>
                        <a:cs typeface="Courier New" charset="0"/>
                      </a:endParaRPr>
                    </a:p>
                  </a:txBody>
                  <a:tcPr marL="45720" marR="45720" marT="45720" marB="45720">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r>
            </a:tbl>
          </a:graphicData>
        </a:graphic>
      </p:graphicFrame>
      <p:sp>
        <p:nvSpPr>
          <p:cNvPr id="43" name="text-720"/>
          <p:cNvSpPr txBox="1"/>
          <p:nvPr/>
        </p:nvSpPr>
        <p:spPr>
          <a:xfrm>
            <a:off x="4389120" y="5047488"/>
            <a:ext cx="1371600" cy="237744"/>
          </a:xfrm>
          <a:prstGeom prst="rect">
            <a:avLst/>
          </a:prstGeom>
          <a:noFill/>
          <a:ln/>
        </p:spPr>
        <p:txBody>
          <a:bodyPr wrap="square" lIns="0" tIns="0" rIns="0" bIns="0" rtlCol="0" anchor="ctr"/>
          <a:lstStyle/>
          <a:p>
            <a:pPr algn="r" indent="0" marL="0">
              <a:buNone/>
            </a:pPr>
            <a:r>
              <a:rPr lang="en-US" sz="1000" dirty="0">
                <a:solidFill>
                  <a:srgbClr val="A0A0A0"/>
                </a:solidFill>
                <a:latin typeface="Arial" pitchFamily="34" charset="0"/>
                <a:ea typeface="Arial" pitchFamily="34" charset="-122"/>
                <a:cs typeface="Arial" pitchFamily="34" charset="-120"/>
              </a:rPr>
              <a:t>Illustrative data</a:t>
            </a:r>
            <a:endParaRPr lang="en-US" sz="1000" dirty="0"/>
          </a:p>
        </p:txBody>
      </p:sp>
      <p:sp>
        <p:nvSpPr>
          <p:cNvPr id="44" name="shape-721"/>
          <p:cNvSpPr/>
          <p:nvPr/>
        </p:nvSpPr>
        <p:spPr>
          <a:xfrm>
            <a:off x="731520" y="5486400"/>
            <a:ext cx="1627632" cy="457200"/>
          </a:xfrm>
          <a:prstGeom prst="roundRect">
            <a:avLst>
              <a:gd name="adj" fmla="val 24000"/>
            </a:avLst>
          </a:prstGeom>
          <a:solidFill>
            <a:srgbClr val="FFFFFF"/>
          </a:solidFill>
          <a:ln w="12700">
            <a:solidFill>
              <a:srgbClr val="E0E0E0"/>
            </a:solidFill>
            <a:prstDash val="solid"/>
          </a:ln>
        </p:spPr>
      </p:sp>
      <p:pic>
        <p:nvPicPr>
          <p:cNvPr id="45" name="icon-722" descr="preencoded.png">    </p:cNvPr>
          <p:cNvPicPr>
            <a:picLocks noChangeAspect="1"/>
          </p:cNvPicPr>
          <p:nvPr/>
        </p:nvPicPr>
        <p:blipFill>
          <a:blip r:embed="rId3"/>
          <a:stretch>
            <a:fillRect/>
          </a:stretch>
        </p:blipFill>
        <p:spPr>
          <a:xfrm>
            <a:off x="841248" y="5596128"/>
            <a:ext cx="237744" cy="237744"/>
          </a:xfrm>
          <a:prstGeom prst="rect">
            <a:avLst/>
          </a:prstGeom>
        </p:spPr>
      </p:pic>
      <p:sp>
        <p:nvSpPr>
          <p:cNvPr id="46" name="text-723"/>
          <p:cNvSpPr txBox="1"/>
          <p:nvPr/>
        </p:nvSpPr>
        <p:spPr>
          <a:xfrm>
            <a:off x="1143000" y="5486400"/>
            <a:ext cx="1188720" cy="457200"/>
          </a:xfrm>
          <a:prstGeom prst="rect">
            <a:avLst/>
          </a:prstGeom>
          <a:noFill/>
          <a:ln/>
        </p:spPr>
        <p:txBody>
          <a:bodyPr wrap="square" lIns="0" tIns="0" rIns="0" bIns="0" rtlCol="0" anchor="ctr"/>
          <a:lstStyle/>
          <a:p>
            <a:pPr indent="0" marL="0">
              <a:buNone/>
            </a:pPr>
            <a:r>
              <a:rPr lang="en-US" sz="1050" b="1" dirty="0">
                <a:solidFill>
                  <a:srgbClr val="242424"/>
                </a:solidFill>
                <a:latin typeface="Arial" pitchFamily="34" charset="0"/>
                <a:ea typeface="Arial" pitchFamily="34" charset="-122"/>
                <a:cs typeface="Arial" pitchFamily="34" charset="-120"/>
              </a:rPr>
              <a:t>Filter Builder</a:t>
            </a:r>
            <a:endParaRPr lang="en-US" sz="1050" dirty="0"/>
          </a:p>
        </p:txBody>
      </p:sp>
      <p:sp>
        <p:nvSpPr>
          <p:cNvPr id="47" name="shape-724"/>
          <p:cNvSpPr/>
          <p:nvPr/>
        </p:nvSpPr>
        <p:spPr>
          <a:xfrm>
            <a:off x="2450592" y="5486400"/>
            <a:ext cx="1627632" cy="457200"/>
          </a:xfrm>
          <a:prstGeom prst="roundRect">
            <a:avLst>
              <a:gd name="adj" fmla="val 24000"/>
            </a:avLst>
          </a:prstGeom>
          <a:solidFill>
            <a:srgbClr val="FFFFFF"/>
          </a:solidFill>
          <a:ln w="12700">
            <a:solidFill>
              <a:srgbClr val="E0E0E0"/>
            </a:solidFill>
            <a:prstDash val="solid"/>
          </a:ln>
        </p:spPr>
      </p:sp>
      <p:pic>
        <p:nvPicPr>
          <p:cNvPr id="48" name="icon-725" descr="preencoded.png">    </p:cNvPr>
          <p:cNvPicPr>
            <a:picLocks noChangeAspect="1"/>
          </p:cNvPicPr>
          <p:nvPr/>
        </p:nvPicPr>
        <p:blipFill>
          <a:blip r:embed="rId4"/>
          <a:stretch>
            <a:fillRect/>
          </a:stretch>
        </p:blipFill>
        <p:spPr>
          <a:xfrm>
            <a:off x="2560320" y="5596128"/>
            <a:ext cx="237744" cy="237744"/>
          </a:xfrm>
          <a:prstGeom prst="rect">
            <a:avLst/>
          </a:prstGeom>
        </p:spPr>
      </p:pic>
      <p:sp>
        <p:nvSpPr>
          <p:cNvPr id="49" name="text-726"/>
          <p:cNvSpPr txBox="1"/>
          <p:nvPr/>
        </p:nvSpPr>
        <p:spPr>
          <a:xfrm>
            <a:off x="2862072" y="5486400"/>
            <a:ext cx="1188720" cy="457200"/>
          </a:xfrm>
          <a:prstGeom prst="rect">
            <a:avLst/>
          </a:prstGeom>
          <a:noFill/>
          <a:ln/>
        </p:spPr>
        <p:txBody>
          <a:bodyPr wrap="square" lIns="0" tIns="0" rIns="0" bIns="0" rtlCol="0" anchor="ctr"/>
          <a:lstStyle/>
          <a:p>
            <a:pPr indent="0" marL="0">
              <a:buNone/>
            </a:pPr>
            <a:r>
              <a:rPr lang="en-US" sz="1050" b="1" dirty="0">
                <a:solidFill>
                  <a:srgbClr val="242424"/>
                </a:solidFill>
                <a:latin typeface="Arial" pitchFamily="34" charset="0"/>
                <a:ea typeface="Arial" pitchFamily="34" charset="-122"/>
                <a:cs typeface="Arial" pitchFamily="34" charset="-120"/>
              </a:rPr>
              <a:t>Rows &amp; columns</a:t>
            </a:r>
            <a:endParaRPr lang="en-US" sz="1050" dirty="0"/>
          </a:p>
        </p:txBody>
      </p:sp>
      <p:sp>
        <p:nvSpPr>
          <p:cNvPr id="50" name="shape-727"/>
          <p:cNvSpPr/>
          <p:nvPr/>
        </p:nvSpPr>
        <p:spPr>
          <a:xfrm>
            <a:off x="4169664" y="5486400"/>
            <a:ext cx="1627632" cy="457200"/>
          </a:xfrm>
          <a:prstGeom prst="roundRect">
            <a:avLst>
              <a:gd name="adj" fmla="val 24000"/>
            </a:avLst>
          </a:prstGeom>
          <a:solidFill>
            <a:srgbClr val="FFFFFF"/>
          </a:solidFill>
          <a:ln w="12700">
            <a:solidFill>
              <a:srgbClr val="E0E0E0"/>
            </a:solidFill>
            <a:prstDash val="solid"/>
          </a:ln>
        </p:spPr>
      </p:sp>
      <p:pic>
        <p:nvPicPr>
          <p:cNvPr id="51" name="icon-728" descr="preencoded.png">    </p:cNvPr>
          <p:cNvPicPr>
            <a:picLocks noChangeAspect="1"/>
          </p:cNvPicPr>
          <p:nvPr/>
        </p:nvPicPr>
        <p:blipFill>
          <a:blip r:embed="rId5"/>
          <a:stretch>
            <a:fillRect/>
          </a:stretch>
        </p:blipFill>
        <p:spPr>
          <a:xfrm>
            <a:off x="4279392" y="5596128"/>
            <a:ext cx="237744" cy="237744"/>
          </a:xfrm>
          <a:prstGeom prst="rect">
            <a:avLst/>
          </a:prstGeom>
        </p:spPr>
      </p:pic>
      <p:sp>
        <p:nvSpPr>
          <p:cNvPr id="52" name="text-729"/>
          <p:cNvSpPr txBox="1"/>
          <p:nvPr/>
        </p:nvSpPr>
        <p:spPr>
          <a:xfrm>
            <a:off x="4581144" y="5486400"/>
            <a:ext cx="1188720" cy="457200"/>
          </a:xfrm>
          <a:prstGeom prst="rect">
            <a:avLst/>
          </a:prstGeom>
          <a:noFill/>
          <a:ln/>
        </p:spPr>
        <p:txBody>
          <a:bodyPr wrap="square" lIns="0" tIns="0" rIns="0" bIns="0" rtlCol="0" anchor="ctr"/>
          <a:lstStyle/>
          <a:p>
            <a:pPr indent="0" marL="0">
              <a:buNone/>
            </a:pPr>
            <a:r>
              <a:rPr lang="en-US" sz="1050" b="1" dirty="0">
                <a:solidFill>
                  <a:srgbClr val="242424"/>
                </a:solidFill>
                <a:latin typeface="Arial" pitchFamily="34" charset="0"/>
                <a:ea typeface="Arial" pitchFamily="34" charset="-122"/>
                <a:cs typeface="Arial" pitchFamily="34" charset="-120"/>
              </a:rPr>
              <a:t>Legend &amp; title</a:t>
            </a:r>
            <a:endParaRPr lang="en-US" sz="1050" dirty="0"/>
          </a:p>
        </p:txBody>
      </p:sp>
      <p:sp>
        <p:nvSpPr>
          <p:cNvPr id="53" name="shape-730"/>
          <p:cNvSpPr/>
          <p:nvPr/>
        </p:nvSpPr>
        <p:spPr>
          <a:xfrm>
            <a:off x="6382512" y="5486400"/>
            <a:ext cx="1627632" cy="457200"/>
          </a:xfrm>
          <a:prstGeom prst="roundRect">
            <a:avLst>
              <a:gd name="adj" fmla="val 24000"/>
            </a:avLst>
          </a:prstGeom>
          <a:solidFill>
            <a:srgbClr val="FFFFFF"/>
          </a:solidFill>
          <a:ln w="12700">
            <a:solidFill>
              <a:srgbClr val="E0E0E0"/>
            </a:solidFill>
            <a:prstDash val="solid"/>
          </a:ln>
        </p:spPr>
      </p:sp>
      <p:pic>
        <p:nvPicPr>
          <p:cNvPr id="54" name="icon-731" descr="preencoded.png">    </p:cNvPr>
          <p:cNvPicPr>
            <a:picLocks noChangeAspect="1"/>
          </p:cNvPicPr>
          <p:nvPr/>
        </p:nvPicPr>
        <p:blipFill>
          <a:blip r:embed="rId6"/>
          <a:stretch>
            <a:fillRect/>
          </a:stretch>
        </p:blipFill>
        <p:spPr>
          <a:xfrm>
            <a:off x="6492240" y="5596128"/>
            <a:ext cx="237744" cy="237744"/>
          </a:xfrm>
          <a:prstGeom prst="rect">
            <a:avLst/>
          </a:prstGeom>
        </p:spPr>
      </p:pic>
      <p:sp>
        <p:nvSpPr>
          <p:cNvPr id="55" name="text-732"/>
          <p:cNvSpPr txBox="1"/>
          <p:nvPr/>
        </p:nvSpPr>
        <p:spPr>
          <a:xfrm>
            <a:off x="6793992" y="5486400"/>
            <a:ext cx="1188720" cy="457200"/>
          </a:xfrm>
          <a:prstGeom prst="rect">
            <a:avLst/>
          </a:prstGeom>
          <a:noFill/>
          <a:ln/>
        </p:spPr>
        <p:txBody>
          <a:bodyPr wrap="square" lIns="0" tIns="0" rIns="0" bIns="0" rtlCol="0" anchor="ctr"/>
          <a:lstStyle/>
          <a:p>
            <a:pPr indent="0" marL="0">
              <a:buNone/>
            </a:pPr>
            <a:r>
              <a:rPr lang="en-US" sz="1050" b="1" dirty="0">
                <a:solidFill>
                  <a:srgbClr val="242424"/>
                </a:solidFill>
                <a:latin typeface="Arial" pitchFamily="34" charset="0"/>
                <a:ea typeface="Arial" pitchFamily="34" charset="-122"/>
                <a:cs typeface="Arial" pitchFamily="34" charset="-120"/>
              </a:rPr>
              <a:t>Assistance Mode</a:t>
            </a:r>
            <a:endParaRPr lang="en-US" sz="1050" dirty="0"/>
          </a:p>
        </p:txBody>
      </p:sp>
      <p:sp>
        <p:nvSpPr>
          <p:cNvPr id="56" name="shape-733"/>
          <p:cNvSpPr/>
          <p:nvPr/>
        </p:nvSpPr>
        <p:spPr>
          <a:xfrm>
            <a:off x="8101584" y="5486400"/>
            <a:ext cx="1627632" cy="457200"/>
          </a:xfrm>
          <a:prstGeom prst="roundRect">
            <a:avLst>
              <a:gd name="adj" fmla="val 24000"/>
            </a:avLst>
          </a:prstGeom>
          <a:solidFill>
            <a:srgbClr val="FFFFFF"/>
          </a:solidFill>
          <a:ln w="12700">
            <a:solidFill>
              <a:srgbClr val="E0E0E0"/>
            </a:solidFill>
            <a:prstDash val="solid"/>
          </a:ln>
        </p:spPr>
      </p:sp>
      <p:pic>
        <p:nvPicPr>
          <p:cNvPr id="57" name="icon-734" descr="preencoded.png">    </p:cNvPr>
          <p:cNvPicPr>
            <a:picLocks noChangeAspect="1"/>
          </p:cNvPicPr>
          <p:nvPr/>
        </p:nvPicPr>
        <p:blipFill>
          <a:blip r:embed="rId7"/>
          <a:stretch>
            <a:fillRect/>
          </a:stretch>
        </p:blipFill>
        <p:spPr>
          <a:xfrm>
            <a:off x="8211312" y="5596128"/>
            <a:ext cx="237744" cy="237744"/>
          </a:xfrm>
          <a:prstGeom prst="rect">
            <a:avLst/>
          </a:prstGeom>
        </p:spPr>
      </p:pic>
      <p:sp>
        <p:nvSpPr>
          <p:cNvPr id="58" name="text-735"/>
          <p:cNvSpPr txBox="1"/>
          <p:nvPr/>
        </p:nvSpPr>
        <p:spPr>
          <a:xfrm>
            <a:off x="8513064" y="5486400"/>
            <a:ext cx="1188720" cy="457200"/>
          </a:xfrm>
          <a:prstGeom prst="rect">
            <a:avLst/>
          </a:prstGeom>
          <a:noFill/>
          <a:ln/>
        </p:spPr>
        <p:txBody>
          <a:bodyPr wrap="square" lIns="0" tIns="0" rIns="0" bIns="0" rtlCol="0" anchor="ctr"/>
          <a:lstStyle/>
          <a:p>
            <a:pPr indent="0" marL="0">
              <a:buNone/>
            </a:pPr>
            <a:r>
              <a:rPr lang="en-US" sz="1050" b="1" dirty="0">
                <a:solidFill>
                  <a:srgbClr val="242424"/>
                </a:solidFill>
                <a:latin typeface="Arial" pitchFamily="34" charset="0"/>
                <a:ea typeface="Arial" pitchFamily="34" charset="-122"/>
                <a:cs typeface="Arial" pitchFamily="34" charset="-120"/>
              </a:rPr>
              <a:t>SQL Mode</a:t>
            </a:r>
            <a:endParaRPr lang="en-US" sz="1050" dirty="0"/>
          </a:p>
        </p:txBody>
      </p:sp>
      <p:sp>
        <p:nvSpPr>
          <p:cNvPr id="59" name="shape-736"/>
          <p:cNvSpPr/>
          <p:nvPr/>
        </p:nvSpPr>
        <p:spPr>
          <a:xfrm>
            <a:off x="9820656" y="5486400"/>
            <a:ext cx="1627632" cy="457200"/>
          </a:xfrm>
          <a:prstGeom prst="roundRect">
            <a:avLst>
              <a:gd name="adj" fmla="val 24000"/>
            </a:avLst>
          </a:prstGeom>
          <a:solidFill>
            <a:srgbClr val="FFFFFF"/>
          </a:solidFill>
          <a:ln w="12700">
            <a:solidFill>
              <a:srgbClr val="E0E0E0"/>
            </a:solidFill>
            <a:prstDash val="solid"/>
          </a:ln>
        </p:spPr>
      </p:sp>
      <p:pic>
        <p:nvPicPr>
          <p:cNvPr id="60" name="icon-737" descr="preencoded.png">    </p:cNvPr>
          <p:cNvPicPr>
            <a:picLocks noChangeAspect="1"/>
          </p:cNvPicPr>
          <p:nvPr/>
        </p:nvPicPr>
        <p:blipFill>
          <a:blip r:embed="rId8"/>
          <a:stretch>
            <a:fillRect/>
          </a:stretch>
        </p:blipFill>
        <p:spPr>
          <a:xfrm>
            <a:off x="9930384" y="5596128"/>
            <a:ext cx="237744" cy="237744"/>
          </a:xfrm>
          <a:prstGeom prst="rect">
            <a:avLst/>
          </a:prstGeom>
        </p:spPr>
      </p:pic>
      <p:sp>
        <p:nvSpPr>
          <p:cNvPr id="61" name="text-738"/>
          <p:cNvSpPr txBox="1"/>
          <p:nvPr/>
        </p:nvSpPr>
        <p:spPr>
          <a:xfrm>
            <a:off x="10232136" y="5486400"/>
            <a:ext cx="1188720" cy="457200"/>
          </a:xfrm>
          <a:prstGeom prst="rect">
            <a:avLst/>
          </a:prstGeom>
          <a:noFill/>
          <a:ln/>
        </p:spPr>
        <p:txBody>
          <a:bodyPr wrap="square" lIns="0" tIns="0" rIns="0" bIns="0" rtlCol="0" anchor="ctr"/>
          <a:lstStyle/>
          <a:p>
            <a:pPr indent="0" marL="0">
              <a:buNone/>
            </a:pPr>
            <a:r>
              <a:rPr lang="en-US" sz="1050" b="1" dirty="0">
                <a:solidFill>
                  <a:srgbClr val="242424"/>
                </a:solidFill>
                <a:latin typeface="Arial" pitchFamily="34" charset="0"/>
                <a:ea typeface="Arial" pitchFamily="34" charset="-122"/>
                <a:cs typeface="Arial" pitchFamily="34" charset="-120"/>
              </a:rPr>
              <a:t>Saved · CSV</a:t>
            </a:r>
            <a:endParaRPr lang="en-US" sz="1050" dirty="0"/>
          </a:p>
        </p:txBody>
      </p:sp>
      <p:sp>
        <p:nvSpPr>
          <p:cNvPr id="25" name="Slide Number Placeholder 0"/>
          <p:cNvSpPr>
            <a:spLocks noGrp="1"/>
          </p:cNvSpPr>
          <p:nvPr>
            <p:ph type="sldNum" sz="quarter" idx="4294967295"/>
          </p:nvPr>
        </p:nvSpPr>
        <p:spPr>
          <a:xfrm>
            <a:off x="548640" y="640080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67676"/>
                </a:solidFill>
                <a:latin typeface="Arial"/>
                <a:ea typeface="Arial"/>
                <a:cs typeface="Aria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0424160" cy="658368"/>
          </a:xfrm>
          <a:prstGeom prst="rect">
            <a:avLst/>
          </a:prstGeom>
          <a:noFill/>
          <a:ln/>
        </p:spPr>
        <p:txBody>
          <a:bodyPr wrap="square" lIns="0" tIns="0" rIns="0" bIns="0" rtlCol="0" anchor="ctr"/>
          <a:lstStyle/>
          <a:p>
            <a:pPr algn="l" indent="0" marL="0">
              <a:buNone/>
            </a:pPr>
            <a:r>
              <a:rPr lang="en-US" sz="3000" dirty="0">
                <a:solidFill>
                  <a:srgbClr val="000000"/>
                </a:solidFill>
                <a:latin typeface="Arial" pitchFamily="34" charset="0"/>
                <a:ea typeface="Arial" pitchFamily="34" charset="-122"/>
                <a:cs typeface="Arial" pitchFamily="34" charset="-120"/>
              </a:rPr>
              <a:t>Ticket Center — </a:t>
            </a:r>
            <a:pPr algn="l" indent="0" marL="0">
              <a:buNone/>
            </a:pPr>
            <a:r>
              <a:rPr lang="en-US" sz="3000" b="1" dirty="0">
                <a:solidFill>
                  <a:srgbClr val="0068BF"/>
                </a:solidFill>
                <a:latin typeface="Arial" pitchFamily="34" charset="0"/>
                <a:ea typeface="Arial" pitchFamily="34" charset="-122"/>
                <a:cs typeface="Arial" pitchFamily="34" charset="-120"/>
              </a:rPr>
              <a:t>every bug and idea, tracked to closure</a:t>
            </a:r>
            <a:endParaRPr lang="en-US" sz="3000" dirty="0"/>
          </a:p>
        </p:txBody>
      </p:sp>
      <p:sp>
        <p:nvSpPr>
          <p:cNvPr id="3" name="text-739"/>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dirty="0">
                <a:solidFill>
                  <a:srgbClr val="767676"/>
                </a:solidFill>
                <a:latin typeface="Arial" pitchFamily="34" charset="0"/>
                <a:ea typeface="Arial" pitchFamily="34" charset="-122"/>
                <a:cs typeface="Arial" pitchFamily="34" charset="-120"/>
              </a:rPr>
              <a:t>Report bugs, improvements and new features with their screenshots, and follow each one until it is resolved</a:t>
            </a:r>
            <a:endParaRPr lang="en-US" sz="1500" dirty="0"/>
          </a:p>
        </p:txBody>
      </p:sp>
      <p:sp>
        <p:nvSpPr>
          <p:cNvPr id="4" name="shape-740"/>
          <p:cNvSpPr/>
          <p:nvPr/>
        </p:nvSpPr>
        <p:spPr>
          <a:xfrm>
            <a:off x="548640" y="1691640"/>
            <a:ext cx="2487168" cy="658368"/>
          </a:xfrm>
          <a:prstGeom prst="homePlate">
            <a:avLst/>
          </a:prstGeom>
          <a:solidFill>
            <a:srgbClr val="0082F0"/>
          </a:solidFill>
          <a:ln w="19050">
            <a:solidFill>
              <a:srgbClr val="FFFFFF"/>
            </a:solidFill>
            <a:prstDash val="solid"/>
          </a:ln>
        </p:spPr>
      </p:sp>
      <p:sp>
        <p:nvSpPr>
          <p:cNvPr id="5" name="text-741"/>
          <p:cNvSpPr txBox="1"/>
          <p:nvPr/>
        </p:nvSpPr>
        <p:spPr>
          <a:xfrm>
            <a:off x="685800" y="1691640"/>
            <a:ext cx="1828800"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New</a:t>
            </a:r>
            <a:endParaRPr lang="en-US" sz="1300" dirty="0"/>
          </a:p>
        </p:txBody>
      </p:sp>
      <p:sp>
        <p:nvSpPr>
          <p:cNvPr id="6" name="shape-742"/>
          <p:cNvSpPr/>
          <p:nvPr/>
        </p:nvSpPr>
        <p:spPr>
          <a:xfrm>
            <a:off x="2926080" y="1691640"/>
            <a:ext cx="2487168" cy="658368"/>
          </a:xfrm>
          <a:prstGeom prst="chevron">
            <a:avLst/>
          </a:prstGeom>
          <a:solidFill>
            <a:srgbClr val="0068BF"/>
          </a:solidFill>
          <a:ln w="19050">
            <a:solidFill>
              <a:srgbClr val="FFFFFF"/>
            </a:solidFill>
            <a:prstDash val="solid"/>
          </a:ln>
        </p:spPr>
      </p:sp>
      <p:sp>
        <p:nvSpPr>
          <p:cNvPr id="7" name="text-743"/>
          <p:cNvSpPr txBox="1"/>
          <p:nvPr/>
        </p:nvSpPr>
        <p:spPr>
          <a:xfrm>
            <a:off x="3291840" y="1691640"/>
            <a:ext cx="1828800"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In Progress</a:t>
            </a:r>
            <a:endParaRPr lang="en-US" sz="1300" dirty="0"/>
          </a:p>
        </p:txBody>
      </p:sp>
      <p:sp>
        <p:nvSpPr>
          <p:cNvPr id="8" name="shape-744"/>
          <p:cNvSpPr/>
          <p:nvPr/>
        </p:nvSpPr>
        <p:spPr>
          <a:xfrm>
            <a:off x="5303520" y="1691640"/>
            <a:ext cx="2487168" cy="658368"/>
          </a:xfrm>
          <a:prstGeom prst="chevron">
            <a:avLst/>
          </a:prstGeom>
          <a:solidFill>
            <a:srgbClr val="E07800"/>
          </a:solidFill>
          <a:ln w="19050">
            <a:solidFill>
              <a:srgbClr val="FFFFFF"/>
            </a:solidFill>
            <a:prstDash val="solid"/>
          </a:ln>
        </p:spPr>
      </p:sp>
      <p:sp>
        <p:nvSpPr>
          <p:cNvPr id="9" name="text-745"/>
          <p:cNvSpPr txBox="1"/>
          <p:nvPr/>
        </p:nvSpPr>
        <p:spPr>
          <a:xfrm>
            <a:off x="5669280" y="1691640"/>
            <a:ext cx="1828800"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Waiting for Info</a:t>
            </a:r>
            <a:endParaRPr lang="en-US" sz="1300" dirty="0"/>
          </a:p>
        </p:txBody>
      </p:sp>
      <p:sp>
        <p:nvSpPr>
          <p:cNvPr id="10" name="shape-746"/>
          <p:cNvSpPr/>
          <p:nvPr/>
        </p:nvSpPr>
        <p:spPr>
          <a:xfrm>
            <a:off x="7680960" y="1691640"/>
            <a:ext cx="2487168" cy="658368"/>
          </a:xfrm>
          <a:prstGeom prst="chevron">
            <a:avLst/>
          </a:prstGeom>
          <a:solidFill>
            <a:srgbClr val="0C9B5B"/>
          </a:solidFill>
          <a:ln w="19050">
            <a:solidFill>
              <a:srgbClr val="FFFFFF"/>
            </a:solidFill>
            <a:prstDash val="solid"/>
          </a:ln>
        </p:spPr>
      </p:sp>
      <p:sp>
        <p:nvSpPr>
          <p:cNvPr id="11" name="text-747"/>
          <p:cNvSpPr txBox="1"/>
          <p:nvPr/>
        </p:nvSpPr>
        <p:spPr>
          <a:xfrm>
            <a:off x="8046720" y="1691640"/>
            <a:ext cx="1828800"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Resolved</a:t>
            </a:r>
            <a:endParaRPr lang="en-US" sz="1300" dirty="0"/>
          </a:p>
        </p:txBody>
      </p:sp>
      <p:sp>
        <p:nvSpPr>
          <p:cNvPr id="12" name="shape-748"/>
          <p:cNvSpPr/>
          <p:nvPr/>
        </p:nvSpPr>
        <p:spPr>
          <a:xfrm>
            <a:off x="10332720" y="1691640"/>
            <a:ext cx="1307592" cy="292608"/>
          </a:xfrm>
          <a:prstGeom prst="roundRect">
            <a:avLst>
              <a:gd name="adj" fmla="val 50000"/>
            </a:avLst>
          </a:prstGeom>
          <a:solidFill>
            <a:srgbClr val="767676"/>
          </a:solidFill>
          <a:ln w="12700">
            <a:solidFill>
              <a:srgbClr val="767676"/>
            </a:solidFill>
            <a:prstDash val="solid"/>
          </a:ln>
        </p:spPr>
      </p:sp>
      <p:sp>
        <p:nvSpPr>
          <p:cNvPr id="13" name="text-749"/>
          <p:cNvSpPr txBox="1"/>
          <p:nvPr/>
        </p:nvSpPr>
        <p:spPr>
          <a:xfrm>
            <a:off x="10332720" y="1691640"/>
            <a:ext cx="130759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Closed</a:t>
            </a:r>
            <a:endParaRPr lang="en-US" sz="1100" dirty="0"/>
          </a:p>
        </p:txBody>
      </p:sp>
      <p:sp>
        <p:nvSpPr>
          <p:cNvPr id="14" name="shape-750"/>
          <p:cNvSpPr/>
          <p:nvPr/>
        </p:nvSpPr>
        <p:spPr>
          <a:xfrm>
            <a:off x="10332720" y="2057400"/>
            <a:ext cx="1307592" cy="292608"/>
          </a:xfrm>
          <a:prstGeom prst="roundRect">
            <a:avLst>
              <a:gd name="adj" fmla="val 50000"/>
            </a:avLst>
          </a:prstGeom>
          <a:solidFill>
            <a:srgbClr val="CC2828"/>
          </a:solidFill>
          <a:ln w="12700">
            <a:solidFill>
              <a:srgbClr val="CC2828"/>
            </a:solidFill>
            <a:prstDash val="solid"/>
          </a:ln>
        </p:spPr>
      </p:sp>
      <p:sp>
        <p:nvSpPr>
          <p:cNvPr id="15" name="text-751"/>
          <p:cNvSpPr txBox="1"/>
          <p:nvPr/>
        </p:nvSpPr>
        <p:spPr>
          <a:xfrm>
            <a:off x="10332720" y="2057400"/>
            <a:ext cx="130759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Rejected</a:t>
            </a:r>
            <a:endParaRPr lang="en-US" sz="1100" dirty="0"/>
          </a:p>
        </p:txBody>
      </p:sp>
      <p:sp>
        <p:nvSpPr>
          <p:cNvPr id="16" name="shape-752"/>
          <p:cNvSpPr/>
          <p:nvPr/>
        </p:nvSpPr>
        <p:spPr>
          <a:xfrm>
            <a:off x="548640" y="2651760"/>
            <a:ext cx="5440680" cy="2240280"/>
          </a:xfrm>
          <a:prstGeom prst="roundRect">
            <a:avLst>
              <a:gd name="adj" fmla="val 5714"/>
            </a:avLst>
          </a:prstGeom>
          <a:solidFill>
            <a:srgbClr val="F2F2F2"/>
          </a:solidFill>
          <a:ln w="12700">
            <a:solidFill>
              <a:srgbClr val="F2F2F2"/>
            </a:solidFill>
            <a:prstDash val="solid"/>
          </a:ln>
        </p:spPr>
      </p:sp>
      <p:sp>
        <p:nvSpPr>
          <p:cNvPr id="17" name="text-753"/>
          <p:cNvSpPr txBox="1"/>
          <p:nvPr/>
        </p:nvSpPr>
        <p:spPr>
          <a:xfrm>
            <a:off x="777240" y="2761488"/>
            <a:ext cx="4572000" cy="274320"/>
          </a:xfrm>
          <a:prstGeom prst="rect">
            <a:avLst/>
          </a:prstGeom>
          <a:noFill/>
          <a:ln/>
        </p:spPr>
        <p:txBody>
          <a:bodyPr wrap="square" lIns="0" tIns="0" rIns="0" bIns="0" rtlCol="0" anchor="ctr"/>
          <a:lstStyle/>
          <a:p>
            <a:pPr indent="0" marL="0">
              <a:buNone/>
            </a:pPr>
            <a:r>
              <a:rPr lang="en-US" sz="1100" b="1" spc="100" kern="0" dirty="0">
                <a:solidFill>
                  <a:srgbClr val="767676"/>
                </a:solidFill>
                <a:latin typeface="Arial" pitchFamily="34" charset="0"/>
                <a:ea typeface="Arial" pitchFamily="34" charset="-122"/>
                <a:cs typeface="Arial" pitchFamily="34" charset="-120"/>
              </a:rPr>
              <a:t>TYPES</a:t>
            </a:r>
            <a:endParaRPr lang="en-US" sz="1100" dirty="0"/>
          </a:p>
        </p:txBody>
      </p:sp>
      <p:sp>
        <p:nvSpPr>
          <p:cNvPr id="18" name="shape-754"/>
          <p:cNvSpPr/>
          <p:nvPr/>
        </p:nvSpPr>
        <p:spPr>
          <a:xfrm>
            <a:off x="777240" y="3154680"/>
            <a:ext cx="1691640" cy="420624"/>
          </a:xfrm>
          <a:prstGeom prst="roundRect">
            <a:avLst>
              <a:gd name="adj" fmla="val 50000"/>
            </a:avLst>
          </a:prstGeom>
          <a:solidFill>
            <a:srgbClr val="CC2828"/>
          </a:solidFill>
          <a:ln w="12700">
            <a:solidFill>
              <a:srgbClr val="CC2828"/>
            </a:solidFill>
            <a:prstDash val="solid"/>
          </a:ln>
        </p:spPr>
      </p:sp>
      <p:pic>
        <p:nvPicPr>
          <p:cNvPr id="19" name="icon-755" descr="preencoded.png">    </p:cNvPr>
          <p:cNvPicPr>
            <a:picLocks noChangeAspect="1"/>
          </p:cNvPicPr>
          <p:nvPr/>
        </p:nvPicPr>
        <p:blipFill>
          <a:blip r:embed="rId1"/>
          <a:stretch>
            <a:fillRect/>
          </a:stretch>
        </p:blipFill>
        <p:spPr>
          <a:xfrm>
            <a:off x="896112" y="3236976"/>
            <a:ext cx="256032" cy="256032"/>
          </a:xfrm>
          <a:prstGeom prst="rect">
            <a:avLst/>
          </a:prstGeom>
        </p:spPr>
      </p:pic>
      <p:sp>
        <p:nvSpPr>
          <p:cNvPr id="20" name="text-756"/>
          <p:cNvSpPr txBox="1"/>
          <p:nvPr/>
        </p:nvSpPr>
        <p:spPr>
          <a:xfrm>
            <a:off x="1207008" y="3154680"/>
            <a:ext cx="1234440" cy="42062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Bug</a:t>
            </a:r>
            <a:endParaRPr lang="en-US" sz="1200" dirty="0"/>
          </a:p>
        </p:txBody>
      </p:sp>
      <p:sp>
        <p:nvSpPr>
          <p:cNvPr id="21" name="text-757"/>
          <p:cNvSpPr txBox="1"/>
          <p:nvPr/>
        </p:nvSpPr>
        <p:spPr>
          <a:xfrm>
            <a:off x="2606040" y="3154680"/>
            <a:ext cx="3246120" cy="420624"/>
          </a:xfrm>
          <a:prstGeom prst="rect">
            <a:avLst/>
          </a:prstGeom>
          <a:noFill/>
          <a:ln/>
        </p:spPr>
        <p:txBody>
          <a:bodyPr wrap="square" lIns="0" tIns="0" rIns="0" bIns="0" rtlCol="0" anchor="ctr"/>
          <a:lstStyle/>
          <a:p>
            <a:pPr indent="0" marL="0">
              <a:buNone/>
            </a:pPr>
            <a:r>
              <a:rPr lang="en-US" sz="1150" dirty="0">
                <a:solidFill>
                  <a:srgbClr val="242424"/>
                </a:solidFill>
                <a:latin typeface="Arial" pitchFamily="34" charset="0"/>
                <a:ea typeface="Arial" pitchFamily="34" charset="-122"/>
                <a:cs typeface="Arial" pitchFamily="34" charset="-120"/>
              </a:rPr>
              <a:t>Something does not work as it should</a:t>
            </a:r>
            <a:endParaRPr lang="en-US" sz="1150" dirty="0"/>
          </a:p>
        </p:txBody>
      </p:sp>
      <p:sp>
        <p:nvSpPr>
          <p:cNvPr id="22" name="shape-758"/>
          <p:cNvSpPr/>
          <p:nvPr/>
        </p:nvSpPr>
        <p:spPr>
          <a:xfrm>
            <a:off x="777240" y="3721608"/>
            <a:ext cx="1691640" cy="420624"/>
          </a:xfrm>
          <a:prstGeom prst="roundRect">
            <a:avLst>
              <a:gd name="adj" fmla="val 50000"/>
            </a:avLst>
          </a:prstGeom>
          <a:solidFill>
            <a:srgbClr val="0C9B5B"/>
          </a:solidFill>
          <a:ln w="12700">
            <a:solidFill>
              <a:srgbClr val="0C9B5B"/>
            </a:solidFill>
            <a:prstDash val="solid"/>
          </a:ln>
        </p:spPr>
      </p:sp>
      <p:pic>
        <p:nvPicPr>
          <p:cNvPr id="23" name="icon-759" descr="preencoded.png">    </p:cNvPr>
          <p:cNvPicPr>
            <a:picLocks noChangeAspect="1"/>
          </p:cNvPicPr>
          <p:nvPr/>
        </p:nvPicPr>
        <p:blipFill>
          <a:blip r:embed="rId2"/>
          <a:stretch>
            <a:fillRect/>
          </a:stretch>
        </p:blipFill>
        <p:spPr>
          <a:xfrm>
            <a:off x="896112" y="3803904"/>
            <a:ext cx="256032" cy="256032"/>
          </a:xfrm>
          <a:prstGeom prst="rect">
            <a:avLst/>
          </a:prstGeom>
        </p:spPr>
      </p:pic>
      <p:sp>
        <p:nvSpPr>
          <p:cNvPr id="24" name="text-760"/>
          <p:cNvSpPr txBox="1"/>
          <p:nvPr/>
        </p:nvSpPr>
        <p:spPr>
          <a:xfrm>
            <a:off x="1207008" y="3721608"/>
            <a:ext cx="1234440" cy="42062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Improvement</a:t>
            </a:r>
            <a:endParaRPr lang="en-US" sz="1200" dirty="0"/>
          </a:p>
        </p:txBody>
      </p:sp>
      <p:sp>
        <p:nvSpPr>
          <p:cNvPr id="25" name="text-761"/>
          <p:cNvSpPr txBox="1"/>
          <p:nvPr/>
        </p:nvSpPr>
        <p:spPr>
          <a:xfrm>
            <a:off x="2606040" y="3721608"/>
            <a:ext cx="3246120" cy="420624"/>
          </a:xfrm>
          <a:prstGeom prst="rect">
            <a:avLst/>
          </a:prstGeom>
          <a:noFill/>
          <a:ln/>
        </p:spPr>
        <p:txBody>
          <a:bodyPr wrap="square" lIns="0" tIns="0" rIns="0" bIns="0" rtlCol="0" anchor="ctr"/>
          <a:lstStyle/>
          <a:p>
            <a:pPr indent="0" marL="0">
              <a:buNone/>
            </a:pPr>
            <a:r>
              <a:rPr lang="en-US" sz="1150" dirty="0">
                <a:solidFill>
                  <a:srgbClr val="242424"/>
                </a:solidFill>
                <a:latin typeface="Arial" pitchFamily="34" charset="0"/>
                <a:ea typeface="Arial" pitchFamily="34" charset="-122"/>
                <a:cs typeface="Arial" pitchFamily="34" charset="-120"/>
              </a:rPr>
              <a:t>Something that works could work better</a:t>
            </a:r>
            <a:endParaRPr lang="en-US" sz="1150" dirty="0"/>
          </a:p>
        </p:txBody>
      </p:sp>
      <p:sp>
        <p:nvSpPr>
          <p:cNvPr id="26" name="shape-762"/>
          <p:cNvSpPr/>
          <p:nvPr/>
        </p:nvSpPr>
        <p:spPr>
          <a:xfrm>
            <a:off x="777240" y="4288536"/>
            <a:ext cx="1691640" cy="420624"/>
          </a:xfrm>
          <a:prstGeom prst="roundRect">
            <a:avLst>
              <a:gd name="adj" fmla="val 50000"/>
            </a:avLst>
          </a:prstGeom>
          <a:solidFill>
            <a:srgbClr val="8C60A8"/>
          </a:solidFill>
          <a:ln w="12700">
            <a:solidFill>
              <a:srgbClr val="8C60A8"/>
            </a:solidFill>
            <a:prstDash val="solid"/>
          </a:ln>
        </p:spPr>
      </p:sp>
      <p:pic>
        <p:nvPicPr>
          <p:cNvPr id="27" name="icon-763" descr="preencoded.png">    </p:cNvPr>
          <p:cNvPicPr>
            <a:picLocks noChangeAspect="1"/>
          </p:cNvPicPr>
          <p:nvPr/>
        </p:nvPicPr>
        <p:blipFill>
          <a:blip r:embed="rId3"/>
          <a:stretch>
            <a:fillRect/>
          </a:stretch>
        </p:blipFill>
        <p:spPr>
          <a:xfrm>
            <a:off x="896112" y="4370832"/>
            <a:ext cx="256032" cy="256032"/>
          </a:xfrm>
          <a:prstGeom prst="rect">
            <a:avLst/>
          </a:prstGeom>
        </p:spPr>
      </p:pic>
      <p:sp>
        <p:nvSpPr>
          <p:cNvPr id="28" name="text-764"/>
          <p:cNvSpPr txBox="1"/>
          <p:nvPr/>
        </p:nvSpPr>
        <p:spPr>
          <a:xfrm>
            <a:off x="1207008" y="4288536"/>
            <a:ext cx="1234440" cy="42062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New Feature</a:t>
            </a:r>
            <a:endParaRPr lang="en-US" sz="1200" dirty="0"/>
          </a:p>
        </p:txBody>
      </p:sp>
      <p:sp>
        <p:nvSpPr>
          <p:cNvPr id="29" name="text-765"/>
          <p:cNvSpPr txBox="1"/>
          <p:nvPr/>
        </p:nvSpPr>
        <p:spPr>
          <a:xfrm>
            <a:off x="2606040" y="4288536"/>
            <a:ext cx="3246120" cy="420624"/>
          </a:xfrm>
          <a:prstGeom prst="rect">
            <a:avLst/>
          </a:prstGeom>
          <a:noFill/>
          <a:ln/>
        </p:spPr>
        <p:txBody>
          <a:bodyPr wrap="square" lIns="0" tIns="0" rIns="0" bIns="0" rtlCol="0" anchor="ctr"/>
          <a:lstStyle/>
          <a:p>
            <a:pPr indent="0" marL="0">
              <a:buNone/>
            </a:pPr>
            <a:r>
              <a:rPr lang="en-US" sz="1150" dirty="0">
                <a:solidFill>
                  <a:srgbClr val="242424"/>
                </a:solidFill>
                <a:latin typeface="Arial" pitchFamily="34" charset="0"/>
                <a:ea typeface="Arial" pitchFamily="34" charset="-122"/>
                <a:cs typeface="Arial" pitchFamily="34" charset="-120"/>
              </a:rPr>
              <a:t>Something the tool cannot do yet</a:t>
            </a:r>
            <a:endParaRPr lang="en-US" sz="1150" dirty="0"/>
          </a:p>
        </p:txBody>
      </p:sp>
      <p:sp>
        <p:nvSpPr>
          <p:cNvPr id="30" name="shape-766"/>
          <p:cNvSpPr/>
          <p:nvPr/>
        </p:nvSpPr>
        <p:spPr>
          <a:xfrm>
            <a:off x="6199632" y="2651760"/>
            <a:ext cx="5440680" cy="2240280"/>
          </a:xfrm>
          <a:prstGeom prst="roundRect">
            <a:avLst>
              <a:gd name="adj" fmla="val 5714"/>
            </a:avLst>
          </a:prstGeom>
          <a:solidFill>
            <a:srgbClr val="F2F2F2"/>
          </a:solidFill>
          <a:ln w="12700">
            <a:solidFill>
              <a:srgbClr val="F2F2F2"/>
            </a:solidFill>
            <a:prstDash val="solid"/>
          </a:ln>
        </p:spPr>
      </p:sp>
      <p:sp>
        <p:nvSpPr>
          <p:cNvPr id="31" name="text-767"/>
          <p:cNvSpPr txBox="1"/>
          <p:nvPr/>
        </p:nvSpPr>
        <p:spPr>
          <a:xfrm>
            <a:off x="6428232" y="2761488"/>
            <a:ext cx="4572000" cy="274320"/>
          </a:xfrm>
          <a:prstGeom prst="rect">
            <a:avLst/>
          </a:prstGeom>
          <a:noFill/>
          <a:ln/>
        </p:spPr>
        <p:txBody>
          <a:bodyPr wrap="square" lIns="0" tIns="0" rIns="0" bIns="0" rtlCol="0" anchor="ctr"/>
          <a:lstStyle/>
          <a:p>
            <a:pPr indent="0" marL="0">
              <a:buNone/>
            </a:pPr>
            <a:r>
              <a:rPr lang="en-US" sz="1100" b="1" spc="100" kern="0" dirty="0">
                <a:solidFill>
                  <a:srgbClr val="767676"/>
                </a:solidFill>
                <a:latin typeface="Arial" pitchFamily="34" charset="0"/>
                <a:ea typeface="Arial" pitchFamily="34" charset="-122"/>
                <a:cs typeface="Arial" pitchFamily="34" charset="-120"/>
              </a:rPr>
              <a:t>PRIORITIES</a:t>
            </a:r>
            <a:endParaRPr lang="en-US" sz="1100" dirty="0"/>
          </a:p>
        </p:txBody>
      </p:sp>
      <p:sp>
        <p:nvSpPr>
          <p:cNvPr id="32" name="shape-768"/>
          <p:cNvSpPr/>
          <p:nvPr/>
        </p:nvSpPr>
        <p:spPr>
          <a:xfrm>
            <a:off x="6428232" y="3127248"/>
            <a:ext cx="4983480" cy="274320"/>
          </a:xfrm>
          <a:prstGeom prst="roundRect">
            <a:avLst>
              <a:gd name="adj" fmla="val 26667"/>
            </a:avLst>
          </a:prstGeom>
          <a:solidFill>
            <a:srgbClr val="CC2828"/>
          </a:solidFill>
          <a:ln w="12700">
            <a:solidFill>
              <a:srgbClr val="CC2828"/>
            </a:solidFill>
            <a:prstDash val="solid"/>
          </a:ln>
        </p:spPr>
      </p:sp>
      <p:sp>
        <p:nvSpPr>
          <p:cNvPr id="33" name="text-769"/>
          <p:cNvSpPr txBox="1"/>
          <p:nvPr/>
        </p:nvSpPr>
        <p:spPr>
          <a:xfrm>
            <a:off x="6537960" y="3127248"/>
            <a:ext cx="2011680" cy="27432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P1 · Critical</a:t>
            </a:r>
            <a:endParaRPr lang="en-US" sz="1100" dirty="0"/>
          </a:p>
        </p:txBody>
      </p:sp>
      <p:sp>
        <p:nvSpPr>
          <p:cNvPr id="34" name="shape-770"/>
          <p:cNvSpPr/>
          <p:nvPr/>
        </p:nvSpPr>
        <p:spPr>
          <a:xfrm>
            <a:off x="6428232" y="3465576"/>
            <a:ext cx="4235958" cy="274320"/>
          </a:xfrm>
          <a:prstGeom prst="roundRect">
            <a:avLst>
              <a:gd name="adj" fmla="val 26667"/>
            </a:avLst>
          </a:prstGeom>
          <a:solidFill>
            <a:srgbClr val="E07800"/>
          </a:solidFill>
          <a:ln w="12700">
            <a:solidFill>
              <a:srgbClr val="E07800"/>
            </a:solidFill>
            <a:prstDash val="solid"/>
          </a:ln>
        </p:spPr>
      </p:sp>
      <p:sp>
        <p:nvSpPr>
          <p:cNvPr id="35" name="text-771"/>
          <p:cNvSpPr txBox="1"/>
          <p:nvPr/>
        </p:nvSpPr>
        <p:spPr>
          <a:xfrm>
            <a:off x="6537960" y="3465576"/>
            <a:ext cx="2011680" cy="27432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P2 · High</a:t>
            </a:r>
            <a:endParaRPr lang="en-US" sz="1100" dirty="0"/>
          </a:p>
        </p:txBody>
      </p:sp>
      <p:sp>
        <p:nvSpPr>
          <p:cNvPr id="36" name="shape-772"/>
          <p:cNvSpPr/>
          <p:nvPr/>
        </p:nvSpPr>
        <p:spPr>
          <a:xfrm>
            <a:off x="6428232" y="3803904"/>
            <a:ext cx="3488436" cy="274320"/>
          </a:xfrm>
          <a:prstGeom prst="roundRect">
            <a:avLst>
              <a:gd name="adj" fmla="val 26667"/>
            </a:avLst>
          </a:prstGeom>
          <a:solidFill>
            <a:srgbClr val="FAD22D"/>
          </a:solidFill>
          <a:ln w="12700">
            <a:solidFill>
              <a:srgbClr val="FAD22D"/>
            </a:solidFill>
            <a:prstDash val="solid"/>
          </a:ln>
        </p:spPr>
      </p:sp>
      <p:sp>
        <p:nvSpPr>
          <p:cNvPr id="37" name="text-773"/>
          <p:cNvSpPr txBox="1"/>
          <p:nvPr/>
        </p:nvSpPr>
        <p:spPr>
          <a:xfrm>
            <a:off x="6537960" y="3803904"/>
            <a:ext cx="2011680" cy="274320"/>
          </a:xfrm>
          <a:prstGeom prst="rect">
            <a:avLst/>
          </a:prstGeom>
          <a:noFill/>
          <a:ln/>
        </p:spPr>
        <p:txBody>
          <a:bodyPr wrap="square" lIns="0" tIns="0" rIns="0" bIns="0" rtlCol="0" anchor="ctr"/>
          <a:lstStyle/>
          <a:p>
            <a:pPr indent="0" marL="0">
              <a:buNone/>
            </a:pPr>
            <a:r>
              <a:rPr lang="en-US" sz="1100" b="1" dirty="0">
                <a:solidFill>
                  <a:srgbClr val="242424"/>
                </a:solidFill>
                <a:latin typeface="Arial" pitchFamily="34" charset="0"/>
                <a:ea typeface="Arial" pitchFamily="34" charset="-122"/>
                <a:cs typeface="Arial" pitchFamily="34" charset="-120"/>
              </a:rPr>
              <a:t>P3 · Medium</a:t>
            </a:r>
            <a:endParaRPr lang="en-US" sz="1100" dirty="0"/>
          </a:p>
        </p:txBody>
      </p:sp>
      <p:sp>
        <p:nvSpPr>
          <p:cNvPr id="38" name="shape-774"/>
          <p:cNvSpPr/>
          <p:nvPr/>
        </p:nvSpPr>
        <p:spPr>
          <a:xfrm>
            <a:off x="6428232" y="4142232"/>
            <a:ext cx="2740914" cy="274320"/>
          </a:xfrm>
          <a:prstGeom prst="roundRect">
            <a:avLst>
              <a:gd name="adj" fmla="val 26667"/>
            </a:avLst>
          </a:prstGeom>
          <a:solidFill>
            <a:srgbClr val="0082F0"/>
          </a:solidFill>
          <a:ln w="12700">
            <a:solidFill>
              <a:srgbClr val="0082F0"/>
            </a:solidFill>
            <a:prstDash val="solid"/>
          </a:ln>
        </p:spPr>
      </p:sp>
      <p:sp>
        <p:nvSpPr>
          <p:cNvPr id="39" name="text-775"/>
          <p:cNvSpPr txBox="1"/>
          <p:nvPr/>
        </p:nvSpPr>
        <p:spPr>
          <a:xfrm>
            <a:off x="6537960" y="4142232"/>
            <a:ext cx="2011680" cy="27432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P4 · Low</a:t>
            </a:r>
            <a:endParaRPr lang="en-US" sz="1100" dirty="0"/>
          </a:p>
        </p:txBody>
      </p:sp>
      <p:sp>
        <p:nvSpPr>
          <p:cNvPr id="40" name="shape-776"/>
          <p:cNvSpPr/>
          <p:nvPr/>
        </p:nvSpPr>
        <p:spPr>
          <a:xfrm>
            <a:off x="6428232" y="4480560"/>
            <a:ext cx="1993392" cy="274320"/>
          </a:xfrm>
          <a:prstGeom prst="roundRect">
            <a:avLst>
              <a:gd name="adj" fmla="val 26667"/>
            </a:avLst>
          </a:prstGeom>
          <a:solidFill>
            <a:srgbClr val="A0A0A0"/>
          </a:solidFill>
          <a:ln w="12700">
            <a:solidFill>
              <a:srgbClr val="A0A0A0"/>
            </a:solidFill>
            <a:prstDash val="solid"/>
          </a:ln>
        </p:spPr>
      </p:sp>
      <p:sp>
        <p:nvSpPr>
          <p:cNvPr id="41" name="text-777"/>
          <p:cNvSpPr txBox="1"/>
          <p:nvPr/>
        </p:nvSpPr>
        <p:spPr>
          <a:xfrm>
            <a:off x="6537960" y="4480560"/>
            <a:ext cx="2011680" cy="27432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P5 · Trivial</a:t>
            </a:r>
            <a:endParaRPr lang="en-US" sz="1100" dirty="0"/>
          </a:p>
        </p:txBody>
      </p:sp>
      <p:sp>
        <p:nvSpPr>
          <p:cNvPr id="42" name="shape-778"/>
          <p:cNvSpPr/>
          <p:nvPr/>
        </p:nvSpPr>
        <p:spPr>
          <a:xfrm>
            <a:off x="548640" y="5120640"/>
            <a:ext cx="3611880" cy="438912"/>
          </a:xfrm>
          <a:prstGeom prst="roundRect">
            <a:avLst>
              <a:gd name="adj" fmla="val 25000"/>
            </a:avLst>
          </a:prstGeom>
          <a:solidFill>
            <a:srgbClr val="FFFFFF"/>
          </a:solidFill>
          <a:ln w="12700">
            <a:solidFill>
              <a:srgbClr val="E0E0E0"/>
            </a:solidFill>
            <a:prstDash val="solid"/>
          </a:ln>
        </p:spPr>
      </p:sp>
      <p:pic>
        <p:nvPicPr>
          <p:cNvPr id="43" name="icon-779" descr="preencoded.png">    </p:cNvPr>
          <p:cNvPicPr>
            <a:picLocks noChangeAspect="1"/>
          </p:cNvPicPr>
          <p:nvPr/>
        </p:nvPicPr>
        <p:blipFill>
          <a:blip r:embed="rId4"/>
          <a:stretch>
            <a:fillRect/>
          </a:stretch>
        </p:blipFill>
        <p:spPr>
          <a:xfrm>
            <a:off x="676656" y="5212080"/>
            <a:ext cx="256032" cy="256032"/>
          </a:xfrm>
          <a:prstGeom prst="rect">
            <a:avLst/>
          </a:prstGeom>
        </p:spPr>
      </p:pic>
      <p:sp>
        <p:nvSpPr>
          <p:cNvPr id="44" name="text-780"/>
          <p:cNvSpPr txBox="1"/>
          <p:nvPr/>
        </p:nvSpPr>
        <p:spPr>
          <a:xfrm>
            <a:off x="1024128" y="5120640"/>
            <a:ext cx="3063240" cy="438912"/>
          </a:xfrm>
          <a:prstGeom prst="rect">
            <a:avLst/>
          </a:prstGeom>
          <a:noFill/>
          <a:ln/>
        </p:spPr>
        <p:txBody>
          <a:bodyPr wrap="square" lIns="0" tIns="0" rIns="0" bIns="0" rtlCol="0" anchor="ctr"/>
          <a:lstStyle/>
          <a:p>
            <a:pPr indent="0" marL="0">
              <a:buNone/>
            </a:pPr>
            <a:r>
              <a:rPr lang="en-US" sz="1150" b="1" dirty="0">
                <a:solidFill>
                  <a:srgbClr val="242424"/>
                </a:solidFill>
                <a:latin typeface="Arial" pitchFamily="34" charset="0"/>
                <a:ea typeface="Arial" pitchFamily="34" charset="-122"/>
                <a:cs typeface="Arial" pitchFamily="34" charset="-120"/>
              </a:rPr>
              <a:t>Open, resolved &amp; mine tiles</a:t>
            </a:r>
            <a:endParaRPr lang="en-US" sz="1150" dirty="0"/>
          </a:p>
        </p:txBody>
      </p:sp>
      <p:sp>
        <p:nvSpPr>
          <p:cNvPr id="45" name="shape-781"/>
          <p:cNvSpPr/>
          <p:nvPr/>
        </p:nvSpPr>
        <p:spPr>
          <a:xfrm>
            <a:off x="4288536" y="5120640"/>
            <a:ext cx="3611880" cy="438912"/>
          </a:xfrm>
          <a:prstGeom prst="roundRect">
            <a:avLst>
              <a:gd name="adj" fmla="val 25000"/>
            </a:avLst>
          </a:prstGeom>
          <a:solidFill>
            <a:srgbClr val="FFFFFF"/>
          </a:solidFill>
          <a:ln w="12700">
            <a:solidFill>
              <a:srgbClr val="E0E0E0"/>
            </a:solidFill>
            <a:prstDash val="solid"/>
          </a:ln>
        </p:spPr>
      </p:sp>
      <p:pic>
        <p:nvPicPr>
          <p:cNvPr id="46" name="icon-782" descr="preencoded.png">    </p:cNvPr>
          <p:cNvPicPr>
            <a:picLocks noChangeAspect="1"/>
          </p:cNvPicPr>
          <p:nvPr/>
        </p:nvPicPr>
        <p:blipFill>
          <a:blip r:embed="rId5"/>
          <a:stretch>
            <a:fillRect/>
          </a:stretch>
        </p:blipFill>
        <p:spPr>
          <a:xfrm>
            <a:off x="4416552" y="5212080"/>
            <a:ext cx="256032" cy="256032"/>
          </a:xfrm>
          <a:prstGeom prst="rect">
            <a:avLst/>
          </a:prstGeom>
        </p:spPr>
      </p:pic>
      <p:sp>
        <p:nvSpPr>
          <p:cNvPr id="47" name="text-783"/>
          <p:cNvSpPr txBox="1"/>
          <p:nvPr/>
        </p:nvSpPr>
        <p:spPr>
          <a:xfrm>
            <a:off x="4764024" y="5120640"/>
            <a:ext cx="3063240" cy="438912"/>
          </a:xfrm>
          <a:prstGeom prst="rect">
            <a:avLst/>
          </a:prstGeom>
          <a:noFill/>
          <a:ln/>
        </p:spPr>
        <p:txBody>
          <a:bodyPr wrap="square" lIns="0" tIns="0" rIns="0" bIns="0" rtlCol="0" anchor="ctr"/>
          <a:lstStyle/>
          <a:p>
            <a:pPr indent="0" marL="0">
              <a:buNone/>
            </a:pPr>
            <a:r>
              <a:rPr lang="en-US" sz="1150" b="1" dirty="0">
                <a:solidFill>
                  <a:srgbClr val="242424"/>
                </a:solidFill>
                <a:latin typeface="Arial" pitchFamily="34" charset="0"/>
                <a:ea typeface="Arial" pitchFamily="34" charset="-122"/>
                <a:cs typeface="Arial" pitchFamily="34" charset="-120"/>
              </a:rPr>
              <a:t>Created vs resolved per week</a:t>
            </a:r>
            <a:endParaRPr lang="en-US" sz="1150" dirty="0"/>
          </a:p>
        </p:txBody>
      </p:sp>
      <p:sp>
        <p:nvSpPr>
          <p:cNvPr id="48" name="shape-784"/>
          <p:cNvSpPr/>
          <p:nvPr/>
        </p:nvSpPr>
        <p:spPr>
          <a:xfrm>
            <a:off x="8028432" y="5120640"/>
            <a:ext cx="3611880" cy="438912"/>
          </a:xfrm>
          <a:prstGeom prst="roundRect">
            <a:avLst>
              <a:gd name="adj" fmla="val 25000"/>
            </a:avLst>
          </a:prstGeom>
          <a:solidFill>
            <a:srgbClr val="FFFFFF"/>
          </a:solidFill>
          <a:ln w="12700">
            <a:solidFill>
              <a:srgbClr val="E0E0E0"/>
            </a:solidFill>
            <a:prstDash val="solid"/>
          </a:ln>
        </p:spPr>
      </p:sp>
      <p:pic>
        <p:nvPicPr>
          <p:cNvPr id="49" name="icon-785" descr="preencoded.png">    </p:cNvPr>
          <p:cNvPicPr>
            <a:picLocks noChangeAspect="1"/>
          </p:cNvPicPr>
          <p:nvPr/>
        </p:nvPicPr>
        <p:blipFill>
          <a:blip r:embed="rId6"/>
          <a:stretch>
            <a:fillRect/>
          </a:stretch>
        </p:blipFill>
        <p:spPr>
          <a:xfrm>
            <a:off x="8156448" y="5212080"/>
            <a:ext cx="256032" cy="256032"/>
          </a:xfrm>
          <a:prstGeom prst="rect">
            <a:avLst/>
          </a:prstGeom>
        </p:spPr>
      </p:pic>
      <p:sp>
        <p:nvSpPr>
          <p:cNvPr id="50" name="text-786"/>
          <p:cNvSpPr txBox="1"/>
          <p:nvPr/>
        </p:nvSpPr>
        <p:spPr>
          <a:xfrm>
            <a:off x="8503920" y="5120640"/>
            <a:ext cx="3063240" cy="438912"/>
          </a:xfrm>
          <a:prstGeom prst="rect">
            <a:avLst/>
          </a:prstGeom>
          <a:noFill/>
          <a:ln/>
        </p:spPr>
        <p:txBody>
          <a:bodyPr wrap="square" lIns="0" tIns="0" rIns="0" bIns="0" rtlCol="0" anchor="ctr"/>
          <a:lstStyle/>
          <a:p>
            <a:pPr indent="0" marL="0">
              <a:buNone/>
            </a:pPr>
            <a:r>
              <a:rPr lang="en-US" sz="1150" b="1" dirty="0">
                <a:solidFill>
                  <a:srgbClr val="242424"/>
                </a:solidFill>
                <a:latin typeface="Arial" pitchFamily="34" charset="0"/>
                <a:ea typeface="Arial" pitchFamily="34" charset="-122"/>
                <a:cs typeface="Arial" pitchFamily="34" charset="-120"/>
              </a:rPr>
              <a:t>Age of the oldest open ticket</a:t>
            </a:r>
            <a:endParaRPr lang="en-US" sz="1150" dirty="0"/>
          </a:p>
        </p:txBody>
      </p:sp>
      <p:sp>
        <p:nvSpPr>
          <p:cNvPr id="51" name="shape-787"/>
          <p:cNvSpPr/>
          <p:nvPr/>
        </p:nvSpPr>
        <p:spPr>
          <a:xfrm>
            <a:off x="548640" y="5669280"/>
            <a:ext cx="3611880" cy="438912"/>
          </a:xfrm>
          <a:prstGeom prst="roundRect">
            <a:avLst>
              <a:gd name="adj" fmla="val 25000"/>
            </a:avLst>
          </a:prstGeom>
          <a:solidFill>
            <a:srgbClr val="FFFFFF"/>
          </a:solidFill>
          <a:ln w="12700">
            <a:solidFill>
              <a:srgbClr val="E0E0E0"/>
            </a:solidFill>
            <a:prstDash val="solid"/>
          </a:ln>
        </p:spPr>
      </p:sp>
      <p:pic>
        <p:nvPicPr>
          <p:cNvPr id="52" name="icon-788" descr="preencoded.png">    </p:cNvPr>
          <p:cNvPicPr>
            <a:picLocks noChangeAspect="1"/>
          </p:cNvPicPr>
          <p:nvPr/>
        </p:nvPicPr>
        <p:blipFill>
          <a:blip r:embed="rId7"/>
          <a:stretch>
            <a:fillRect/>
          </a:stretch>
        </p:blipFill>
        <p:spPr>
          <a:xfrm>
            <a:off x="676656" y="5760720"/>
            <a:ext cx="256032" cy="256032"/>
          </a:xfrm>
          <a:prstGeom prst="rect">
            <a:avLst/>
          </a:prstGeom>
        </p:spPr>
      </p:pic>
      <p:sp>
        <p:nvSpPr>
          <p:cNvPr id="53" name="text-789"/>
          <p:cNvSpPr txBox="1"/>
          <p:nvPr/>
        </p:nvSpPr>
        <p:spPr>
          <a:xfrm>
            <a:off x="1024128" y="5669280"/>
            <a:ext cx="3063240" cy="438912"/>
          </a:xfrm>
          <a:prstGeom prst="rect">
            <a:avLst/>
          </a:prstGeom>
          <a:noFill/>
          <a:ln/>
        </p:spPr>
        <p:txBody>
          <a:bodyPr wrap="square" lIns="0" tIns="0" rIns="0" bIns="0" rtlCol="0" anchor="ctr"/>
          <a:lstStyle/>
          <a:p>
            <a:pPr indent="0" marL="0">
              <a:buNone/>
            </a:pPr>
            <a:r>
              <a:rPr lang="en-US" sz="1150" b="1" dirty="0">
                <a:solidFill>
                  <a:srgbClr val="242424"/>
                </a:solidFill>
                <a:latin typeface="Arial" pitchFamily="34" charset="0"/>
                <a:ea typeface="Arial" pitchFamily="34" charset="-122"/>
                <a:cs typeface="Arial" pitchFamily="34" charset="-120"/>
              </a:rPr>
              <a:t>Timeline of comments &amp; changes</a:t>
            </a:r>
            <a:endParaRPr lang="en-US" sz="1150" dirty="0"/>
          </a:p>
        </p:txBody>
      </p:sp>
      <p:sp>
        <p:nvSpPr>
          <p:cNvPr id="54" name="shape-790"/>
          <p:cNvSpPr/>
          <p:nvPr/>
        </p:nvSpPr>
        <p:spPr>
          <a:xfrm>
            <a:off x="4288536" y="5669280"/>
            <a:ext cx="3611880" cy="438912"/>
          </a:xfrm>
          <a:prstGeom prst="roundRect">
            <a:avLst>
              <a:gd name="adj" fmla="val 25000"/>
            </a:avLst>
          </a:prstGeom>
          <a:solidFill>
            <a:srgbClr val="FFFFFF"/>
          </a:solidFill>
          <a:ln w="12700">
            <a:solidFill>
              <a:srgbClr val="E0E0E0"/>
            </a:solidFill>
            <a:prstDash val="solid"/>
          </a:ln>
        </p:spPr>
      </p:sp>
      <p:pic>
        <p:nvPicPr>
          <p:cNvPr id="55" name="icon-791" descr="preencoded.png">    </p:cNvPr>
          <p:cNvPicPr>
            <a:picLocks noChangeAspect="1"/>
          </p:cNvPicPr>
          <p:nvPr/>
        </p:nvPicPr>
        <p:blipFill>
          <a:blip r:embed="rId8"/>
          <a:stretch>
            <a:fillRect/>
          </a:stretch>
        </p:blipFill>
        <p:spPr>
          <a:xfrm>
            <a:off x="4416552" y="5760720"/>
            <a:ext cx="256032" cy="256032"/>
          </a:xfrm>
          <a:prstGeom prst="rect">
            <a:avLst/>
          </a:prstGeom>
        </p:spPr>
      </p:pic>
      <p:sp>
        <p:nvSpPr>
          <p:cNvPr id="56" name="text-792"/>
          <p:cNvSpPr txBox="1"/>
          <p:nvPr/>
        </p:nvSpPr>
        <p:spPr>
          <a:xfrm>
            <a:off x="4764024" y="5669280"/>
            <a:ext cx="3063240" cy="438912"/>
          </a:xfrm>
          <a:prstGeom prst="rect">
            <a:avLst/>
          </a:prstGeom>
          <a:noFill/>
          <a:ln/>
        </p:spPr>
        <p:txBody>
          <a:bodyPr wrap="square" lIns="0" tIns="0" rIns="0" bIns="0" rtlCol="0" anchor="ctr"/>
          <a:lstStyle/>
          <a:p>
            <a:pPr indent="0" marL="0">
              <a:buNone/>
            </a:pPr>
            <a:r>
              <a:rPr lang="en-US" sz="1150" b="1" dirty="0">
                <a:solidFill>
                  <a:srgbClr val="242424"/>
                </a:solidFill>
                <a:latin typeface="Arial" pitchFamily="34" charset="0"/>
                <a:ea typeface="Arial" pitchFamily="34" charset="-122"/>
                <a:cs typeface="Arial" pitchFamily="34" charset="-120"/>
              </a:rPr>
              <a:t>Screenshots in every ticket</a:t>
            </a:r>
            <a:endParaRPr lang="en-US" sz="1150" dirty="0"/>
          </a:p>
        </p:txBody>
      </p:sp>
      <p:sp>
        <p:nvSpPr>
          <p:cNvPr id="57" name="shape-793"/>
          <p:cNvSpPr/>
          <p:nvPr/>
        </p:nvSpPr>
        <p:spPr>
          <a:xfrm>
            <a:off x="8028432" y="5669280"/>
            <a:ext cx="3611880" cy="438912"/>
          </a:xfrm>
          <a:prstGeom prst="roundRect">
            <a:avLst>
              <a:gd name="adj" fmla="val 25000"/>
            </a:avLst>
          </a:prstGeom>
          <a:solidFill>
            <a:srgbClr val="FFFFFF"/>
          </a:solidFill>
          <a:ln w="12700">
            <a:solidFill>
              <a:srgbClr val="E0E0E0"/>
            </a:solidFill>
            <a:prstDash val="solid"/>
          </a:ln>
        </p:spPr>
      </p:sp>
      <p:pic>
        <p:nvPicPr>
          <p:cNvPr id="58" name="icon-794" descr="preencoded.png">    </p:cNvPr>
          <p:cNvPicPr>
            <a:picLocks noChangeAspect="1"/>
          </p:cNvPicPr>
          <p:nvPr/>
        </p:nvPicPr>
        <p:blipFill>
          <a:blip r:embed="rId9"/>
          <a:stretch>
            <a:fillRect/>
          </a:stretch>
        </p:blipFill>
        <p:spPr>
          <a:xfrm>
            <a:off x="8156448" y="5760720"/>
            <a:ext cx="256032" cy="256032"/>
          </a:xfrm>
          <a:prstGeom prst="rect">
            <a:avLst/>
          </a:prstGeom>
        </p:spPr>
      </p:pic>
      <p:sp>
        <p:nvSpPr>
          <p:cNvPr id="59" name="text-795"/>
          <p:cNvSpPr txBox="1"/>
          <p:nvPr/>
        </p:nvSpPr>
        <p:spPr>
          <a:xfrm>
            <a:off x="8503920" y="5669280"/>
            <a:ext cx="3063240" cy="438912"/>
          </a:xfrm>
          <a:prstGeom prst="rect">
            <a:avLst/>
          </a:prstGeom>
          <a:noFill/>
          <a:ln/>
        </p:spPr>
        <p:txBody>
          <a:bodyPr wrap="square" lIns="0" tIns="0" rIns="0" bIns="0" rtlCol="0" anchor="ctr"/>
          <a:lstStyle/>
          <a:p>
            <a:pPr indent="0" marL="0">
              <a:buNone/>
            </a:pPr>
            <a:r>
              <a:rPr lang="en-US" sz="1150" b="1" dirty="0">
                <a:solidFill>
                  <a:srgbClr val="242424"/>
                </a:solidFill>
                <a:latin typeface="Arial" pitchFamily="34" charset="0"/>
                <a:ea typeface="Arial" pitchFamily="34" charset="-122"/>
                <a:cs typeface="Arial" pitchFamily="34" charset="-120"/>
              </a:rPr>
              <a:t>Version it was opened with</a:t>
            </a:r>
            <a:endParaRPr lang="en-US" sz="1150" dirty="0"/>
          </a:p>
        </p:txBody>
      </p:sp>
      <p:sp>
        <p:nvSpPr>
          <p:cNvPr id="25" name="Slide Number Placeholder 0"/>
          <p:cNvSpPr>
            <a:spLocks noGrp="1"/>
          </p:cNvSpPr>
          <p:nvPr>
            <p:ph type="sldNum" sz="quarter" idx="4294967295"/>
          </p:nvPr>
        </p:nvSpPr>
        <p:spPr>
          <a:xfrm>
            <a:off x="548640" y="640080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67676"/>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0424160" cy="658368"/>
          </a:xfrm>
          <a:prstGeom prst="rect">
            <a:avLst/>
          </a:prstGeom>
          <a:noFill/>
          <a:ln/>
        </p:spPr>
        <p:txBody>
          <a:bodyPr wrap="square" lIns="0" tIns="0" rIns="0" bIns="0" rtlCol="0" anchor="ctr"/>
          <a:lstStyle/>
          <a:p>
            <a:pPr algn="l" indent="0" marL="0">
              <a:buNone/>
            </a:pPr>
            <a:r>
              <a:rPr lang="en-US" sz="3000" dirty="0">
                <a:solidFill>
                  <a:srgbClr val="000000"/>
                </a:solidFill>
                <a:latin typeface="Arial" pitchFamily="34" charset="0"/>
                <a:ea typeface="Arial" pitchFamily="34" charset="-122"/>
                <a:cs typeface="Arial" pitchFamily="34" charset="-120"/>
              </a:rPr>
              <a:t>Built for </a:t>
            </a:r>
            <a:pPr algn="l" indent="0" marL="0">
              <a:buNone/>
            </a:pPr>
            <a:r>
              <a:rPr lang="en-US" sz="3000" b="1" dirty="0">
                <a:solidFill>
                  <a:srgbClr val="0068BF"/>
                </a:solidFill>
                <a:latin typeface="Arial" pitchFamily="34" charset="0"/>
                <a:ea typeface="Arial" pitchFamily="34" charset="-122"/>
                <a:cs typeface="Arial" pitchFamily="34" charset="-120"/>
              </a:rPr>
              <a:t>every team</a:t>
            </a:r>
            <a:endParaRPr lang="en-US" sz="3000" dirty="0"/>
          </a:p>
        </p:txBody>
      </p:sp>
      <p:sp>
        <p:nvSpPr>
          <p:cNvPr id="3" name="text-796"/>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dirty="0">
                <a:solidFill>
                  <a:srgbClr val="767676"/>
                </a:solidFill>
                <a:latin typeface="Arial" pitchFamily="34" charset="0"/>
                <a:ea typeface="Arial" pitchFamily="34" charset="-122"/>
                <a:cs typeface="Arial" pitchFamily="34" charset="-120"/>
              </a:rPr>
              <a:t>Each team starts where it adds value, on the same data</a:t>
            </a:r>
            <a:endParaRPr lang="en-US" sz="1500" dirty="0"/>
          </a:p>
        </p:txBody>
      </p:sp>
      <p:sp>
        <p:nvSpPr>
          <p:cNvPr id="4" name="shape-797"/>
          <p:cNvSpPr/>
          <p:nvPr/>
        </p:nvSpPr>
        <p:spPr>
          <a:xfrm>
            <a:off x="9464040" y="1106424"/>
            <a:ext cx="182880" cy="182880"/>
          </a:xfrm>
          <a:prstGeom prst="ellipse">
            <a:avLst/>
          </a:prstGeom>
          <a:solidFill>
            <a:srgbClr val="0068BF"/>
          </a:solidFill>
          <a:ln w="12700">
            <a:solidFill>
              <a:srgbClr val="0068BF"/>
            </a:solidFill>
            <a:prstDash val="solid"/>
          </a:ln>
        </p:spPr>
      </p:sp>
      <p:sp>
        <p:nvSpPr>
          <p:cNvPr id="5" name="text-798"/>
          <p:cNvSpPr txBox="1"/>
          <p:nvPr/>
        </p:nvSpPr>
        <p:spPr>
          <a:xfrm>
            <a:off x="9710928" y="1060704"/>
            <a:ext cx="640080" cy="274320"/>
          </a:xfrm>
          <a:prstGeom prst="rect">
            <a:avLst/>
          </a:prstGeom>
          <a:noFill/>
          <a:ln/>
        </p:spPr>
        <p:txBody>
          <a:bodyPr wrap="square" lIns="0" tIns="0" rIns="0" bIns="0" rtlCol="0" anchor="ctr"/>
          <a:lstStyle/>
          <a:p>
            <a:pPr indent="0" marL="0">
              <a:buNone/>
            </a:pPr>
            <a:r>
              <a:rPr lang="en-US" sz="1100" dirty="0">
                <a:solidFill>
                  <a:srgbClr val="767676"/>
                </a:solidFill>
                <a:latin typeface="Arial" pitchFamily="34" charset="0"/>
                <a:ea typeface="Arial" pitchFamily="34" charset="-122"/>
                <a:cs typeface="Arial" pitchFamily="34" charset="-120"/>
              </a:rPr>
              <a:t>Core</a:t>
            </a:r>
            <a:endParaRPr lang="en-US" sz="1100" dirty="0"/>
          </a:p>
        </p:txBody>
      </p:sp>
      <p:sp>
        <p:nvSpPr>
          <p:cNvPr id="6" name="shape-799"/>
          <p:cNvSpPr/>
          <p:nvPr/>
        </p:nvSpPr>
        <p:spPr>
          <a:xfrm>
            <a:off x="10378440" y="1106424"/>
            <a:ext cx="182880" cy="182880"/>
          </a:xfrm>
          <a:prstGeom prst="ellipse">
            <a:avLst/>
          </a:prstGeom>
          <a:solidFill>
            <a:srgbClr val="FFFFFF"/>
          </a:solidFill>
          <a:ln w="19050">
            <a:solidFill>
              <a:srgbClr val="0082F0"/>
            </a:solidFill>
            <a:prstDash val="solid"/>
          </a:ln>
        </p:spPr>
      </p:sp>
      <p:sp>
        <p:nvSpPr>
          <p:cNvPr id="7" name="text-800"/>
          <p:cNvSpPr txBox="1"/>
          <p:nvPr/>
        </p:nvSpPr>
        <p:spPr>
          <a:xfrm>
            <a:off x="10625328" y="1060704"/>
            <a:ext cx="1005840" cy="274320"/>
          </a:xfrm>
          <a:prstGeom prst="rect">
            <a:avLst/>
          </a:prstGeom>
          <a:noFill/>
          <a:ln/>
        </p:spPr>
        <p:txBody>
          <a:bodyPr wrap="square" lIns="0" tIns="0" rIns="0" bIns="0" rtlCol="0" anchor="ctr"/>
          <a:lstStyle/>
          <a:p>
            <a:pPr indent="0" marL="0">
              <a:buNone/>
            </a:pPr>
            <a:r>
              <a:rPr lang="en-US" sz="1100" dirty="0">
                <a:solidFill>
                  <a:srgbClr val="767676"/>
                </a:solidFill>
                <a:latin typeface="Arial" pitchFamily="34" charset="0"/>
                <a:ea typeface="Arial" pitchFamily="34" charset="-122"/>
                <a:cs typeface="Arial" pitchFamily="34" charset="-120"/>
              </a:rPr>
              <a:t>Supporting</a:t>
            </a:r>
            <a:endParaRPr lang="en-US" sz="1100" dirty="0"/>
          </a:p>
        </p:txBody>
      </p:sp>
      <p:sp>
        <p:nvSpPr>
          <p:cNvPr id="8" name="shape-801"/>
          <p:cNvSpPr/>
          <p:nvPr/>
        </p:nvSpPr>
        <p:spPr>
          <a:xfrm>
            <a:off x="4846320" y="1600200"/>
            <a:ext cx="457200" cy="457200"/>
          </a:xfrm>
          <a:prstGeom prst="ellipse">
            <a:avLst/>
          </a:prstGeom>
          <a:solidFill>
            <a:srgbClr val="4D4D4D"/>
          </a:solidFill>
          <a:ln w="12700">
            <a:solidFill>
              <a:srgbClr val="4D4D4D"/>
            </a:solidFill>
            <a:prstDash val="solid"/>
          </a:ln>
        </p:spPr>
      </p:sp>
      <p:pic>
        <p:nvPicPr>
          <p:cNvPr id="9" name="icon-802" descr="preencoded.png">    </p:cNvPr>
          <p:cNvPicPr>
            <a:picLocks noChangeAspect="1"/>
          </p:cNvPicPr>
          <p:nvPr/>
        </p:nvPicPr>
        <p:blipFill>
          <a:blip r:embed="rId1"/>
          <a:stretch>
            <a:fillRect/>
          </a:stretch>
        </p:blipFill>
        <p:spPr>
          <a:xfrm>
            <a:off x="4946904" y="1700784"/>
            <a:ext cx="256032" cy="256032"/>
          </a:xfrm>
          <a:prstGeom prst="rect">
            <a:avLst/>
          </a:prstGeom>
        </p:spPr>
      </p:pic>
      <p:sp>
        <p:nvSpPr>
          <p:cNvPr id="10" name="text-803"/>
          <p:cNvSpPr txBox="1"/>
          <p:nvPr/>
        </p:nvSpPr>
        <p:spPr>
          <a:xfrm>
            <a:off x="4572000" y="2103120"/>
            <a:ext cx="1005840" cy="457200"/>
          </a:xfrm>
          <a:prstGeom prst="rect">
            <a:avLst/>
          </a:prstGeom>
          <a:noFill/>
          <a:ln/>
        </p:spPr>
        <p:txBody>
          <a:bodyPr wrap="square" lIns="0" tIns="0" rIns="0" bIns="0" rtlCol="0" anchor="t"/>
          <a:lstStyle/>
          <a:p>
            <a:pPr algn="ctr" indent="0" marL="0">
              <a:buNone/>
            </a:pPr>
            <a:r>
              <a:rPr lang="en-US" sz="1050" b="1" dirty="0">
                <a:solidFill>
                  <a:srgbClr val="242424"/>
                </a:solidFill>
                <a:latin typeface="Arial" pitchFamily="34" charset="0"/>
                <a:ea typeface="Arial" pitchFamily="34" charset="-122"/>
                <a:cs typeface="Arial" pitchFamily="34" charset="-120"/>
              </a:rPr>
              <a:t>CDR Analysis</a:t>
            </a:r>
            <a:endParaRPr lang="en-US" sz="1050" dirty="0"/>
          </a:p>
        </p:txBody>
      </p:sp>
      <p:sp>
        <p:nvSpPr>
          <p:cNvPr id="11" name="shape-804"/>
          <p:cNvSpPr/>
          <p:nvPr/>
        </p:nvSpPr>
        <p:spPr>
          <a:xfrm>
            <a:off x="5852160" y="1600200"/>
            <a:ext cx="457200" cy="457200"/>
          </a:xfrm>
          <a:prstGeom prst="ellipse">
            <a:avLst/>
          </a:prstGeom>
          <a:solidFill>
            <a:srgbClr val="E07800"/>
          </a:solidFill>
          <a:ln w="12700">
            <a:solidFill>
              <a:srgbClr val="E07800"/>
            </a:solidFill>
            <a:prstDash val="solid"/>
          </a:ln>
        </p:spPr>
      </p:sp>
      <p:pic>
        <p:nvPicPr>
          <p:cNvPr id="12" name="icon-805" descr="preencoded.png">    </p:cNvPr>
          <p:cNvPicPr>
            <a:picLocks noChangeAspect="1"/>
          </p:cNvPicPr>
          <p:nvPr/>
        </p:nvPicPr>
        <p:blipFill>
          <a:blip r:embed="rId2"/>
          <a:stretch>
            <a:fillRect/>
          </a:stretch>
        </p:blipFill>
        <p:spPr>
          <a:xfrm>
            <a:off x="5952744" y="1700784"/>
            <a:ext cx="256032" cy="256032"/>
          </a:xfrm>
          <a:prstGeom prst="rect">
            <a:avLst/>
          </a:prstGeom>
        </p:spPr>
      </p:pic>
      <p:sp>
        <p:nvSpPr>
          <p:cNvPr id="13" name="text-806"/>
          <p:cNvSpPr txBox="1"/>
          <p:nvPr/>
        </p:nvSpPr>
        <p:spPr>
          <a:xfrm>
            <a:off x="5577840" y="2103120"/>
            <a:ext cx="1005840" cy="457200"/>
          </a:xfrm>
          <a:prstGeom prst="rect">
            <a:avLst/>
          </a:prstGeom>
          <a:noFill/>
          <a:ln/>
        </p:spPr>
        <p:txBody>
          <a:bodyPr wrap="square" lIns="0" tIns="0" rIns="0" bIns="0" rtlCol="0" anchor="t"/>
          <a:lstStyle/>
          <a:p>
            <a:pPr algn="ctr" indent="0" marL="0">
              <a:buNone/>
            </a:pPr>
            <a:r>
              <a:rPr lang="en-US" sz="1050" b="1" dirty="0">
                <a:solidFill>
                  <a:srgbClr val="242424"/>
                </a:solidFill>
                <a:latin typeface="Arial" pitchFamily="34" charset="0"/>
                <a:ea typeface="Arial" pitchFamily="34" charset="-122"/>
                <a:cs typeface="Arial" pitchFamily="34" charset="-120"/>
              </a:rPr>
              <a:t>PPT Dashboards</a:t>
            </a:r>
            <a:endParaRPr lang="en-US" sz="1050" dirty="0"/>
          </a:p>
        </p:txBody>
      </p:sp>
      <p:sp>
        <p:nvSpPr>
          <p:cNvPr id="14" name="shape-807"/>
          <p:cNvSpPr/>
          <p:nvPr/>
        </p:nvSpPr>
        <p:spPr>
          <a:xfrm>
            <a:off x="6858000" y="1600200"/>
            <a:ext cx="457200" cy="457200"/>
          </a:xfrm>
          <a:prstGeom prst="ellipse">
            <a:avLst/>
          </a:prstGeom>
          <a:solidFill>
            <a:srgbClr val="0068BF"/>
          </a:solidFill>
          <a:ln w="12700">
            <a:solidFill>
              <a:srgbClr val="0068BF"/>
            </a:solidFill>
            <a:prstDash val="solid"/>
          </a:ln>
        </p:spPr>
      </p:sp>
      <p:pic>
        <p:nvPicPr>
          <p:cNvPr id="15" name="icon-808" descr="preencoded.png">    </p:cNvPr>
          <p:cNvPicPr>
            <a:picLocks noChangeAspect="1"/>
          </p:cNvPicPr>
          <p:nvPr/>
        </p:nvPicPr>
        <p:blipFill>
          <a:blip r:embed="rId3"/>
          <a:stretch>
            <a:fillRect/>
          </a:stretch>
        </p:blipFill>
        <p:spPr>
          <a:xfrm>
            <a:off x="6958584" y="1700784"/>
            <a:ext cx="256032" cy="256032"/>
          </a:xfrm>
          <a:prstGeom prst="rect">
            <a:avLst/>
          </a:prstGeom>
        </p:spPr>
      </p:pic>
      <p:sp>
        <p:nvSpPr>
          <p:cNvPr id="16" name="text-809"/>
          <p:cNvSpPr txBox="1"/>
          <p:nvPr/>
        </p:nvSpPr>
        <p:spPr>
          <a:xfrm>
            <a:off x="6583680" y="2103120"/>
            <a:ext cx="1005840" cy="457200"/>
          </a:xfrm>
          <a:prstGeom prst="rect">
            <a:avLst/>
          </a:prstGeom>
          <a:noFill/>
          <a:ln/>
        </p:spPr>
        <p:txBody>
          <a:bodyPr wrap="square" lIns="0" tIns="0" rIns="0" bIns="0" rtlCol="0" anchor="t"/>
          <a:lstStyle/>
          <a:p>
            <a:pPr algn="ctr" indent="0" marL="0">
              <a:buNone/>
            </a:pPr>
            <a:r>
              <a:rPr lang="en-US" sz="1050" b="1" dirty="0">
                <a:solidFill>
                  <a:srgbClr val="242424"/>
                </a:solidFill>
                <a:latin typeface="Arial" pitchFamily="34" charset="0"/>
                <a:ea typeface="Arial" pitchFamily="34" charset="-122"/>
                <a:cs typeface="Arial" pitchFamily="34" charset="-120"/>
              </a:rPr>
              <a:t>Scoring &amp; GAP</a:t>
            </a:r>
            <a:endParaRPr lang="en-US" sz="1050" dirty="0"/>
          </a:p>
        </p:txBody>
      </p:sp>
      <p:sp>
        <p:nvSpPr>
          <p:cNvPr id="17" name="shape-810"/>
          <p:cNvSpPr/>
          <p:nvPr/>
        </p:nvSpPr>
        <p:spPr>
          <a:xfrm>
            <a:off x="7863840" y="1600200"/>
            <a:ext cx="457200" cy="457200"/>
          </a:xfrm>
          <a:prstGeom prst="ellipse">
            <a:avLst/>
          </a:prstGeom>
          <a:solidFill>
            <a:srgbClr val="0C9B5B"/>
          </a:solidFill>
          <a:ln w="12700">
            <a:solidFill>
              <a:srgbClr val="0C9B5B"/>
            </a:solidFill>
            <a:prstDash val="solid"/>
          </a:ln>
        </p:spPr>
      </p:sp>
      <p:pic>
        <p:nvPicPr>
          <p:cNvPr id="18" name="icon-811" descr="preencoded.png">    </p:cNvPr>
          <p:cNvPicPr>
            <a:picLocks noChangeAspect="1"/>
          </p:cNvPicPr>
          <p:nvPr/>
        </p:nvPicPr>
        <p:blipFill>
          <a:blip r:embed="rId4"/>
          <a:stretch>
            <a:fillRect/>
          </a:stretch>
        </p:blipFill>
        <p:spPr>
          <a:xfrm>
            <a:off x="7964424" y="1700784"/>
            <a:ext cx="256032" cy="256032"/>
          </a:xfrm>
          <a:prstGeom prst="rect">
            <a:avLst/>
          </a:prstGeom>
        </p:spPr>
      </p:pic>
      <p:sp>
        <p:nvSpPr>
          <p:cNvPr id="19" name="text-812"/>
          <p:cNvSpPr txBox="1"/>
          <p:nvPr/>
        </p:nvSpPr>
        <p:spPr>
          <a:xfrm>
            <a:off x="7589520" y="2103120"/>
            <a:ext cx="1005840" cy="457200"/>
          </a:xfrm>
          <a:prstGeom prst="rect">
            <a:avLst/>
          </a:prstGeom>
          <a:noFill/>
          <a:ln/>
        </p:spPr>
        <p:txBody>
          <a:bodyPr wrap="square" lIns="0" tIns="0" rIns="0" bIns="0" rtlCol="0" anchor="t"/>
          <a:lstStyle/>
          <a:p>
            <a:pPr algn="ctr" indent="0" marL="0">
              <a:buNone/>
            </a:pPr>
            <a:r>
              <a:rPr lang="en-US" sz="1050" b="1" dirty="0">
                <a:solidFill>
                  <a:srgbClr val="242424"/>
                </a:solidFill>
                <a:latin typeface="Arial" pitchFamily="34" charset="0"/>
                <a:ea typeface="Arial" pitchFamily="34" charset="-122"/>
                <a:cs typeface="Arial" pitchFamily="34" charset="-120"/>
              </a:rPr>
              <a:t>Network Insights</a:t>
            </a:r>
            <a:endParaRPr lang="en-US" sz="1050" dirty="0"/>
          </a:p>
        </p:txBody>
      </p:sp>
      <p:sp>
        <p:nvSpPr>
          <p:cNvPr id="20" name="shape-813"/>
          <p:cNvSpPr/>
          <p:nvPr/>
        </p:nvSpPr>
        <p:spPr>
          <a:xfrm>
            <a:off x="8869680" y="1600200"/>
            <a:ext cx="457200" cy="457200"/>
          </a:xfrm>
          <a:prstGeom prst="ellipse">
            <a:avLst/>
          </a:prstGeom>
          <a:solidFill>
            <a:srgbClr val="D92B2B"/>
          </a:solidFill>
          <a:ln w="12700">
            <a:solidFill>
              <a:srgbClr val="D92B2B"/>
            </a:solidFill>
            <a:prstDash val="solid"/>
          </a:ln>
        </p:spPr>
      </p:sp>
      <p:pic>
        <p:nvPicPr>
          <p:cNvPr id="21" name="icon-814" descr="preencoded.png">    </p:cNvPr>
          <p:cNvPicPr>
            <a:picLocks noChangeAspect="1"/>
          </p:cNvPicPr>
          <p:nvPr/>
        </p:nvPicPr>
        <p:blipFill>
          <a:blip r:embed="rId5"/>
          <a:stretch>
            <a:fillRect/>
          </a:stretch>
        </p:blipFill>
        <p:spPr>
          <a:xfrm>
            <a:off x="8970264" y="1700784"/>
            <a:ext cx="256032" cy="256032"/>
          </a:xfrm>
          <a:prstGeom prst="rect">
            <a:avLst/>
          </a:prstGeom>
        </p:spPr>
      </p:pic>
      <p:sp>
        <p:nvSpPr>
          <p:cNvPr id="22" name="text-815"/>
          <p:cNvSpPr txBox="1"/>
          <p:nvPr/>
        </p:nvSpPr>
        <p:spPr>
          <a:xfrm>
            <a:off x="8595360" y="2103120"/>
            <a:ext cx="1005840" cy="457200"/>
          </a:xfrm>
          <a:prstGeom prst="rect">
            <a:avLst/>
          </a:prstGeom>
          <a:noFill/>
          <a:ln/>
        </p:spPr>
        <p:txBody>
          <a:bodyPr wrap="square" lIns="0" tIns="0" rIns="0" bIns="0" rtlCol="0" anchor="t"/>
          <a:lstStyle/>
          <a:p>
            <a:pPr algn="ctr" indent="0" marL="0">
              <a:buNone/>
            </a:pPr>
            <a:r>
              <a:rPr lang="en-US" sz="1050" b="1" dirty="0">
                <a:solidFill>
                  <a:srgbClr val="242424"/>
                </a:solidFill>
                <a:latin typeface="Arial" pitchFamily="34" charset="0"/>
                <a:ea typeface="Arial" pitchFamily="34" charset="-122"/>
                <a:cs typeface="Arial" pitchFamily="34" charset="-120"/>
              </a:rPr>
              <a:t>NQ Calls</a:t>
            </a:r>
            <a:endParaRPr lang="en-US" sz="1050" dirty="0"/>
          </a:p>
        </p:txBody>
      </p:sp>
      <p:sp>
        <p:nvSpPr>
          <p:cNvPr id="23" name="shape-816"/>
          <p:cNvSpPr/>
          <p:nvPr/>
        </p:nvSpPr>
        <p:spPr>
          <a:xfrm>
            <a:off x="9875520" y="1600200"/>
            <a:ext cx="457200" cy="457200"/>
          </a:xfrm>
          <a:prstGeom prst="ellipse">
            <a:avLst/>
          </a:prstGeom>
          <a:solidFill>
            <a:srgbClr val="8C60A8"/>
          </a:solidFill>
          <a:ln w="12700">
            <a:solidFill>
              <a:srgbClr val="8C60A8"/>
            </a:solidFill>
            <a:prstDash val="solid"/>
          </a:ln>
        </p:spPr>
      </p:sp>
      <p:pic>
        <p:nvPicPr>
          <p:cNvPr id="24" name="icon-817" descr="preencoded.png">    </p:cNvPr>
          <p:cNvPicPr>
            <a:picLocks noChangeAspect="1"/>
          </p:cNvPicPr>
          <p:nvPr/>
        </p:nvPicPr>
        <p:blipFill>
          <a:blip r:embed="rId6"/>
          <a:stretch>
            <a:fillRect/>
          </a:stretch>
        </p:blipFill>
        <p:spPr>
          <a:xfrm>
            <a:off x="9976104" y="1700784"/>
            <a:ext cx="256032" cy="256032"/>
          </a:xfrm>
          <a:prstGeom prst="rect">
            <a:avLst/>
          </a:prstGeom>
        </p:spPr>
      </p:pic>
      <p:sp>
        <p:nvSpPr>
          <p:cNvPr id="25" name="text-818"/>
          <p:cNvSpPr txBox="1"/>
          <p:nvPr/>
        </p:nvSpPr>
        <p:spPr>
          <a:xfrm>
            <a:off x="9601200" y="2103120"/>
            <a:ext cx="1005840" cy="457200"/>
          </a:xfrm>
          <a:prstGeom prst="rect">
            <a:avLst/>
          </a:prstGeom>
          <a:noFill/>
          <a:ln/>
        </p:spPr>
        <p:txBody>
          <a:bodyPr wrap="square" lIns="0" tIns="0" rIns="0" bIns="0" rtlCol="0" anchor="t"/>
          <a:lstStyle/>
          <a:p>
            <a:pPr algn="ctr" indent="0" marL="0">
              <a:buNone/>
            </a:pPr>
            <a:r>
              <a:rPr lang="en-US" sz="1050" b="1" dirty="0">
                <a:solidFill>
                  <a:srgbClr val="242424"/>
                </a:solidFill>
                <a:latin typeface="Arial" pitchFamily="34" charset="0"/>
                <a:ea typeface="Arial" pitchFamily="34" charset="-122"/>
                <a:cs typeface="Arial" pitchFamily="34" charset="-120"/>
              </a:rPr>
              <a:t>Reporting</a:t>
            </a:r>
            <a:endParaRPr lang="en-US" sz="1050" dirty="0"/>
          </a:p>
        </p:txBody>
      </p:sp>
      <p:sp>
        <p:nvSpPr>
          <p:cNvPr id="26" name="shape-819"/>
          <p:cNvSpPr/>
          <p:nvPr/>
        </p:nvSpPr>
        <p:spPr>
          <a:xfrm>
            <a:off x="10881360" y="1600200"/>
            <a:ext cx="457200" cy="457200"/>
          </a:xfrm>
          <a:prstGeom prst="ellipse">
            <a:avLst/>
          </a:prstGeom>
          <a:solidFill>
            <a:srgbClr val="0082F0"/>
          </a:solidFill>
          <a:ln w="12700">
            <a:solidFill>
              <a:srgbClr val="0082F0"/>
            </a:solidFill>
            <a:prstDash val="solid"/>
          </a:ln>
        </p:spPr>
      </p:sp>
      <p:pic>
        <p:nvPicPr>
          <p:cNvPr id="27" name="icon-820" descr="preencoded.png">    </p:cNvPr>
          <p:cNvPicPr>
            <a:picLocks noChangeAspect="1"/>
          </p:cNvPicPr>
          <p:nvPr/>
        </p:nvPicPr>
        <p:blipFill>
          <a:blip r:embed="rId7"/>
          <a:stretch>
            <a:fillRect/>
          </a:stretch>
        </p:blipFill>
        <p:spPr>
          <a:xfrm>
            <a:off x="10981944" y="1700784"/>
            <a:ext cx="256032" cy="256032"/>
          </a:xfrm>
          <a:prstGeom prst="rect">
            <a:avLst/>
          </a:prstGeom>
        </p:spPr>
      </p:pic>
      <p:sp>
        <p:nvSpPr>
          <p:cNvPr id="28" name="text-821"/>
          <p:cNvSpPr txBox="1"/>
          <p:nvPr/>
        </p:nvSpPr>
        <p:spPr>
          <a:xfrm>
            <a:off x="10607040" y="2103120"/>
            <a:ext cx="1005840" cy="457200"/>
          </a:xfrm>
          <a:prstGeom prst="rect">
            <a:avLst/>
          </a:prstGeom>
          <a:noFill/>
          <a:ln/>
        </p:spPr>
        <p:txBody>
          <a:bodyPr wrap="square" lIns="0" tIns="0" rIns="0" bIns="0" rtlCol="0" anchor="t"/>
          <a:lstStyle/>
          <a:p>
            <a:pPr algn="ctr" indent="0" marL="0">
              <a:buNone/>
            </a:pPr>
            <a:r>
              <a:rPr lang="en-US" sz="1050" b="1" dirty="0">
                <a:solidFill>
                  <a:srgbClr val="242424"/>
                </a:solidFill>
                <a:latin typeface="Arial" pitchFamily="34" charset="0"/>
                <a:ea typeface="Arial" pitchFamily="34" charset="-122"/>
                <a:cs typeface="Arial" pitchFamily="34" charset="-120"/>
              </a:rPr>
              <a:t>Builders</a:t>
            </a:r>
            <a:endParaRPr lang="en-US" sz="1050" dirty="0"/>
          </a:p>
        </p:txBody>
      </p:sp>
      <p:sp>
        <p:nvSpPr>
          <p:cNvPr id="29" name="shape-822"/>
          <p:cNvSpPr/>
          <p:nvPr/>
        </p:nvSpPr>
        <p:spPr>
          <a:xfrm>
            <a:off x="548640" y="2697480"/>
            <a:ext cx="11064240" cy="676656"/>
          </a:xfrm>
          <a:prstGeom prst="roundRect">
            <a:avLst>
              <a:gd name="adj" fmla="val 13514"/>
            </a:avLst>
          </a:prstGeom>
          <a:solidFill>
            <a:srgbClr val="F2F2F2"/>
          </a:solidFill>
          <a:ln w="12700">
            <a:solidFill>
              <a:srgbClr val="F2F2F2"/>
            </a:solidFill>
            <a:prstDash val="solid"/>
          </a:ln>
        </p:spPr>
      </p:sp>
      <p:sp>
        <p:nvSpPr>
          <p:cNvPr id="30" name="shape-823"/>
          <p:cNvSpPr/>
          <p:nvPr/>
        </p:nvSpPr>
        <p:spPr>
          <a:xfrm>
            <a:off x="685800" y="2807208"/>
            <a:ext cx="457200" cy="457200"/>
          </a:xfrm>
          <a:prstGeom prst="ellipse">
            <a:avLst/>
          </a:prstGeom>
          <a:solidFill>
            <a:srgbClr val="242424"/>
          </a:solidFill>
          <a:ln w="12700">
            <a:solidFill>
              <a:srgbClr val="242424"/>
            </a:solidFill>
            <a:prstDash val="solid"/>
          </a:ln>
        </p:spPr>
      </p:sp>
      <p:pic>
        <p:nvPicPr>
          <p:cNvPr id="31" name="icon-824" descr="preencoded.png">    </p:cNvPr>
          <p:cNvPicPr>
            <a:picLocks noChangeAspect="1"/>
          </p:cNvPicPr>
          <p:nvPr/>
        </p:nvPicPr>
        <p:blipFill>
          <a:blip r:embed="rId8"/>
          <a:stretch>
            <a:fillRect/>
          </a:stretch>
        </p:blipFill>
        <p:spPr>
          <a:xfrm>
            <a:off x="786384" y="2907792"/>
            <a:ext cx="256032" cy="256032"/>
          </a:xfrm>
          <a:prstGeom prst="rect">
            <a:avLst/>
          </a:prstGeom>
        </p:spPr>
      </p:pic>
      <p:sp>
        <p:nvSpPr>
          <p:cNvPr id="32" name="text-825"/>
          <p:cNvSpPr txBox="1"/>
          <p:nvPr/>
        </p:nvSpPr>
        <p:spPr>
          <a:xfrm>
            <a:off x="1298448" y="2761488"/>
            <a:ext cx="3200400" cy="292608"/>
          </a:xfrm>
          <a:prstGeom prst="rect">
            <a:avLst/>
          </a:prstGeom>
          <a:noFill/>
          <a:ln/>
        </p:spPr>
        <p:txBody>
          <a:bodyPr wrap="square" lIns="0" tIns="0" rIns="0" bIns="0" rtlCol="0" anchor="ctr"/>
          <a:lstStyle/>
          <a:p>
            <a:pPr indent="0" marL="0">
              <a:buNone/>
            </a:pPr>
            <a:r>
              <a:rPr lang="en-US" sz="1500" b="1" dirty="0">
                <a:solidFill>
                  <a:srgbClr val="242424"/>
                </a:solidFill>
                <a:latin typeface="Arial" pitchFamily="34" charset="0"/>
                <a:ea typeface="Arial" pitchFamily="34" charset="-122"/>
                <a:cs typeface="Arial" pitchFamily="34" charset="-120"/>
              </a:rPr>
              <a:t>Benchmarking</a:t>
            </a:r>
            <a:endParaRPr lang="en-US" sz="1500" dirty="0"/>
          </a:p>
        </p:txBody>
      </p:sp>
      <p:sp>
        <p:nvSpPr>
          <p:cNvPr id="33" name="text-826"/>
          <p:cNvSpPr txBox="1"/>
          <p:nvPr/>
        </p:nvSpPr>
        <p:spPr>
          <a:xfrm>
            <a:off x="1298448" y="3054096"/>
            <a:ext cx="3246120" cy="256032"/>
          </a:xfrm>
          <a:prstGeom prst="rect">
            <a:avLst/>
          </a:prstGeom>
          <a:noFill/>
          <a:ln/>
        </p:spPr>
        <p:txBody>
          <a:bodyPr wrap="square" lIns="0" tIns="0" rIns="0" bIns="0" rtlCol="0" anchor="ctr"/>
          <a:lstStyle/>
          <a:p>
            <a:pPr indent="0" marL="0">
              <a:buNone/>
            </a:pPr>
            <a:r>
              <a:rPr lang="en-US" sz="1100" dirty="0">
                <a:solidFill>
                  <a:srgbClr val="767676"/>
                </a:solidFill>
                <a:latin typeface="Arial" pitchFamily="34" charset="0"/>
                <a:ea typeface="Arial" pitchFamily="34" charset="-122"/>
                <a:cs typeface="Arial" pitchFamily="34" charset="-120"/>
              </a:rPr>
              <a:t>Who wins, by how much, city by city</a:t>
            </a:r>
            <a:endParaRPr lang="en-US" sz="1100" dirty="0"/>
          </a:p>
        </p:txBody>
      </p:sp>
      <p:sp>
        <p:nvSpPr>
          <p:cNvPr id="34" name="shape-827"/>
          <p:cNvSpPr/>
          <p:nvPr/>
        </p:nvSpPr>
        <p:spPr>
          <a:xfrm>
            <a:off x="4946904" y="2907792"/>
            <a:ext cx="256032" cy="256032"/>
          </a:xfrm>
          <a:prstGeom prst="ellipse">
            <a:avLst/>
          </a:prstGeom>
          <a:solidFill>
            <a:srgbClr val="FFFFFF"/>
          </a:solidFill>
          <a:ln w="19050">
            <a:solidFill>
              <a:srgbClr val="0082F0"/>
            </a:solidFill>
            <a:prstDash val="solid"/>
          </a:ln>
        </p:spPr>
      </p:sp>
      <p:sp>
        <p:nvSpPr>
          <p:cNvPr id="35" name="shape-828"/>
          <p:cNvSpPr/>
          <p:nvPr/>
        </p:nvSpPr>
        <p:spPr>
          <a:xfrm>
            <a:off x="5952744" y="2907792"/>
            <a:ext cx="256032" cy="256032"/>
          </a:xfrm>
          <a:prstGeom prst="ellipse">
            <a:avLst/>
          </a:prstGeom>
          <a:solidFill>
            <a:srgbClr val="0068BF"/>
          </a:solidFill>
          <a:ln w="19050">
            <a:solidFill>
              <a:srgbClr val="0068BF"/>
            </a:solidFill>
            <a:prstDash val="solid"/>
          </a:ln>
        </p:spPr>
      </p:sp>
      <p:sp>
        <p:nvSpPr>
          <p:cNvPr id="36" name="shape-829"/>
          <p:cNvSpPr/>
          <p:nvPr/>
        </p:nvSpPr>
        <p:spPr>
          <a:xfrm>
            <a:off x="6958584" y="2907792"/>
            <a:ext cx="256032" cy="256032"/>
          </a:xfrm>
          <a:prstGeom prst="ellipse">
            <a:avLst/>
          </a:prstGeom>
          <a:solidFill>
            <a:srgbClr val="0068BF"/>
          </a:solidFill>
          <a:ln w="19050">
            <a:solidFill>
              <a:srgbClr val="0068BF"/>
            </a:solidFill>
            <a:prstDash val="solid"/>
          </a:ln>
        </p:spPr>
      </p:sp>
      <p:sp>
        <p:nvSpPr>
          <p:cNvPr id="37" name="shape-830"/>
          <p:cNvSpPr/>
          <p:nvPr/>
        </p:nvSpPr>
        <p:spPr>
          <a:xfrm>
            <a:off x="7964424" y="2907792"/>
            <a:ext cx="256032" cy="256032"/>
          </a:xfrm>
          <a:prstGeom prst="ellipse">
            <a:avLst/>
          </a:prstGeom>
          <a:solidFill>
            <a:srgbClr val="FFFFFF"/>
          </a:solidFill>
          <a:ln w="19050">
            <a:solidFill>
              <a:srgbClr val="0082F0"/>
            </a:solidFill>
            <a:prstDash val="solid"/>
          </a:ln>
        </p:spPr>
      </p:sp>
      <p:sp>
        <p:nvSpPr>
          <p:cNvPr id="38" name="shape-831"/>
          <p:cNvSpPr/>
          <p:nvPr/>
        </p:nvSpPr>
        <p:spPr>
          <a:xfrm>
            <a:off x="9976104" y="2907792"/>
            <a:ext cx="256032" cy="256032"/>
          </a:xfrm>
          <a:prstGeom prst="ellipse">
            <a:avLst/>
          </a:prstGeom>
          <a:solidFill>
            <a:srgbClr val="0068BF"/>
          </a:solidFill>
          <a:ln w="19050">
            <a:solidFill>
              <a:srgbClr val="0068BF"/>
            </a:solidFill>
            <a:prstDash val="solid"/>
          </a:ln>
        </p:spPr>
      </p:sp>
      <p:sp>
        <p:nvSpPr>
          <p:cNvPr id="39" name="shape-832"/>
          <p:cNvSpPr/>
          <p:nvPr/>
        </p:nvSpPr>
        <p:spPr>
          <a:xfrm>
            <a:off x="10981944" y="2907792"/>
            <a:ext cx="256032" cy="256032"/>
          </a:xfrm>
          <a:prstGeom prst="ellipse">
            <a:avLst/>
          </a:prstGeom>
          <a:solidFill>
            <a:srgbClr val="FFFFFF"/>
          </a:solidFill>
          <a:ln w="19050">
            <a:solidFill>
              <a:srgbClr val="0082F0"/>
            </a:solidFill>
            <a:prstDash val="solid"/>
          </a:ln>
        </p:spPr>
      </p:sp>
      <p:sp>
        <p:nvSpPr>
          <p:cNvPr id="40" name="shape-833"/>
          <p:cNvSpPr/>
          <p:nvPr/>
        </p:nvSpPr>
        <p:spPr>
          <a:xfrm>
            <a:off x="685800" y="3520440"/>
            <a:ext cx="457200" cy="457200"/>
          </a:xfrm>
          <a:prstGeom prst="ellipse">
            <a:avLst/>
          </a:prstGeom>
          <a:solidFill>
            <a:srgbClr val="242424"/>
          </a:solidFill>
          <a:ln w="12700">
            <a:solidFill>
              <a:srgbClr val="242424"/>
            </a:solidFill>
            <a:prstDash val="solid"/>
          </a:ln>
        </p:spPr>
      </p:sp>
      <p:pic>
        <p:nvPicPr>
          <p:cNvPr id="41" name="icon-834" descr="preencoded.png">    </p:cNvPr>
          <p:cNvPicPr>
            <a:picLocks noChangeAspect="1"/>
          </p:cNvPicPr>
          <p:nvPr/>
        </p:nvPicPr>
        <p:blipFill>
          <a:blip r:embed="rId9"/>
          <a:stretch>
            <a:fillRect/>
          </a:stretch>
        </p:blipFill>
        <p:spPr>
          <a:xfrm>
            <a:off x="786384" y="3621024"/>
            <a:ext cx="256032" cy="256032"/>
          </a:xfrm>
          <a:prstGeom prst="rect">
            <a:avLst/>
          </a:prstGeom>
        </p:spPr>
      </p:pic>
      <p:sp>
        <p:nvSpPr>
          <p:cNvPr id="42" name="text-835"/>
          <p:cNvSpPr txBox="1"/>
          <p:nvPr/>
        </p:nvSpPr>
        <p:spPr>
          <a:xfrm>
            <a:off x="1298448" y="3474720"/>
            <a:ext cx="3200400" cy="292608"/>
          </a:xfrm>
          <a:prstGeom prst="rect">
            <a:avLst/>
          </a:prstGeom>
          <a:noFill/>
          <a:ln/>
        </p:spPr>
        <p:txBody>
          <a:bodyPr wrap="square" lIns="0" tIns="0" rIns="0" bIns="0" rtlCol="0" anchor="ctr"/>
          <a:lstStyle/>
          <a:p>
            <a:pPr indent="0" marL="0">
              <a:buNone/>
            </a:pPr>
            <a:r>
              <a:rPr lang="en-US" sz="1500" b="1" dirty="0">
                <a:solidFill>
                  <a:srgbClr val="242424"/>
                </a:solidFill>
                <a:latin typeface="Arial" pitchFamily="34" charset="0"/>
                <a:ea typeface="Arial" pitchFamily="34" charset="-122"/>
                <a:cs typeface="Arial" pitchFamily="34" charset="-120"/>
              </a:rPr>
              <a:t>NQ Calls</a:t>
            </a:r>
            <a:endParaRPr lang="en-US" sz="1500" dirty="0"/>
          </a:p>
        </p:txBody>
      </p:sp>
      <p:sp>
        <p:nvSpPr>
          <p:cNvPr id="43" name="text-836"/>
          <p:cNvSpPr txBox="1"/>
          <p:nvPr/>
        </p:nvSpPr>
        <p:spPr>
          <a:xfrm>
            <a:off x="1298448" y="3767328"/>
            <a:ext cx="3246120" cy="256032"/>
          </a:xfrm>
          <a:prstGeom prst="rect">
            <a:avLst/>
          </a:prstGeom>
          <a:noFill/>
          <a:ln/>
        </p:spPr>
        <p:txBody>
          <a:bodyPr wrap="square" lIns="0" tIns="0" rIns="0" bIns="0" rtlCol="0" anchor="ctr"/>
          <a:lstStyle/>
          <a:p>
            <a:pPr indent="0" marL="0">
              <a:buNone/>
            </a:pPr>
            <a:r>
              <a:rPr lang="en-US" sz="1100" dirty="0">
                <a:solidFill>
                  <a:srgbClr val="767676"/>
                </a:solidFill>
                <a:latin typeface="Arial" pitchFamily="34" charset="0"/>
                <a:ea typeface="Arial" pitchFamily="34" charset="-122"/>
                <a:cs typeface="Arial" pitchFamily="34" charset="-120"/>
              </a:rPr>
              <a:t>Every failed call root-caused and closed</a:t>
            </a:r>
            <a:endParaRPr lang="en-US" sz="1100" dirty="0"/>
          </a:p>
        </p:txBody>
      </p:sp>
      <p:sp>
        <p:nvSpPr>
          <p:cNvPr id="44" name="shape-837"/>
          <p:cNvSpPr/>
          <p:nvPr/>
        </p:nvSpPr>
        <p:spPr>
          <a:xfrm>
            <a:off x="4946904" y="3621024"/>
            <a:ext cx="256032" cy="256032"/>
          </a:xfrm>
          <a:prstGeom prst="ellipse">
            <a:avLst/>
          </a:prstGeom>
          <a:solidFill>
            <a:srgbClr val="FFFFFF"/>
          </a:solidFill>
          <a:ln w="19050">
            <a:solidFill>
              <a:srgbClr val="0082F0"/>
            </a:solidFill>
            <a:prstDash val="solid"/>
          </a:ln>
        </p:spPr>
      </p:sp>
      <p:sp>
        <p:nvSpPr>
          <p:cNvPr id="45" name="shape-838"/>
          <p:cNvSpPr/>
          <p:nvPr/>
        </p:nvSpPr>
        <p:spPr>
          <a:xfrm>
            <a:off x="7964424" y="3621024"/>
            <a:ext cx="256032" cy="256032"/>
          </a:xfrm>
          <a:prstGeom prst="ellipse">
            <a:avLst/>
          </a:prstGeom>
          <a:solidFill>
            <a:srgbClr val="FFFFFF"/>
          </a:solidFill>
          <a:ln w="19050">
            <a:solidFill>
              <a:srgbClr val="0082F0"/>
            </a:solidFill>
            <a:prstDash val="solid"/>
          </a:ln>
        </p:spPr>
      </p:sp>
      <p:sp>
        <p:nvSpPr>
          <p:cNvPr id="46" name="shape-839"/>
          <p:cNvSpPr/>
          <p:nvPr/>
        </p:nvSpPr>
        <p:spPr>
          <a:xfrm>
            <a:off x="8970264" y="3621024"/>
            <a:ext cx="256032" cy="256032"/>
          </a:xfrm>
          <a:prstGeom prst="ellipse">
            <a:avLst/>
          </a:prstGeom>
          <a:solidFill>
            <a:srgbClr val="0068BF"/>
          </a:solidFill>
          <a:ln w="19050">
            <a:solidFill>
              <a:srgbClr val="0068BF"/>
            </a:solidFill>
            <a:prstDash val="solid"/>
          </a:ln>
        </p:spPr>
      </p:sp>
      <p:sp>
        <p:nvSpPr>
          <p:cNvPr id="47" name="shape-840"/>
          <p:cNvSpPr/>
          <p:nvPr/>
        </p:nvSpPr>
        <p:spPr>
          <a:xfrm>
            <a:off x="9976104" y="3621024"/>
            <a:ext cx="256032" cy="256032"/>
          </a:xfrm>
          <a:prstGeom prst="ellipse">
            <a:avLst/>
          </a:prstGeom>
          <a:solidFill>
            <a:srgbClr val="FFFFFF"/>
          </a:solidFill>
          <a:ln w="19050">
            <a:solidFill>
              <a:srgbClr val="0082F0"/>
            </a:solidFill>
            <a:prstDash val="solid"/>
          </a:ln>
        </p:spPr>
      </p:sp>
      <p:sp>
        <p:nvSpPr>
          <p:cNvPr id="48" name="shape-841"/>
          <p:cNvSpPr/>
          <p:nvPr/>
        </p:nvSpPr>
        <p:spPr>
          <a:xfrm>
            <a:off x="10981944" y="3621024"/>
            <a:ext cx="256032" cy="256032"/>
          </a:xfrm>
          <a:prstGeom prst="ellipse">
            <a:avLst/>
          </a:prstGeom>
          <a:solidFill>
            <a:srgbClr val="FFFFFF"/>
          </a:solidFill>
          <a:ln w="19050">
            <a:solidFill>
              <a:srgbClr val="0082F0"/>
            </a:solidFill>
            <a:prstDash val="solid"/>
          </a:ln>
        </p:spPr>
      </p:sp>
      <p:sp>
        <p:nvSpPr>
          <p:cNvPr id="49" name="shape-842"/>
          <p:cNvSpPr/>
          <p:nvPr/>
        </p:nvSpPr>
        <p:spPr>
          <a:xfrm>
            <a:off x="548640" y="4123944"/>
            <a:ext cx="11064240" cy="676656"/>
          </a:xfrm>
          <a:prstGeom prst="roundRect">
            <a:avLst>
              <a:gd name="adj" fmla="val 13514"/>
            </a:avLst>
          </a:prstGeom>
          <a:solidFill>
            <a:srgbClr val="F2F2F2"/>
          </a:solidFill>
          <a:ln w="12700">
            <a:solidFill>
              <a:srgbClr val="F2F2F2"/>
            </a:solidFill>
            <a:prstDash val="solid"/>
          </a:ln>
        </p:spPr>
      </p:sp>
      <p:sp>
        <p:nvSpPr>
          <p:cNvPr id="50" name="shape-843"/>
          <p:cNvSpPr/>
          <p:nvPr/>
        </p:nvSpPr>
        <p:spPr>
          <a:xfrm>
            <a:off x="685800" y="4233672"/>
            <a:ext cx="457200" cy="457200"/>
          </a:xfrm>
          <a:prstGeom prst="ellipse">
            <a:avLst/>
          </a:prstGeom>
          <a:solidFill>
            <a:srgbClr val="242424"/>
          </a:solidFill>
          <a:ln w="12700">
            <a:solidFill>
              <a:srgbClr val="242424"/>
            </a:solidFill>
            <a:prstDash val="solid"/>
          </a:ln>
        </p:spPr>
      </p:sp>
      <p:pic>
        <p:nvPicPr>
          <p:cNvPr id="51" name="icon-844" descr="preencoded.png">    </p:cNvPr>
          <p:cNvPicPr>
            <a:picLocks noChangeAspect="1"/>
          </p:cNvPicPr>
          <p:nvPr/>
        </p:nvPicPr>
        <p:blipFill>
          <a:blip r:embed="rId10"/>
          <a:stretch>
            <a:fillRect/>
          </a:stretch>
        </p:blipFill>
        <p:spPr>
          <a:xfrm>
            <a:off x="786384" y="4334256"/>
            <a:ext cx="256032" cy="256032"/>
          </a:xfrm>
          <a:prstGeom prst="rect">
            <a:avLst/>
          </a:prstGeom>
        </p:spPr>
      </p:pic>
      <p:sp>
        <p:nvSpPr>
          <p:cNvPr id="52" name="text-845"/>
          <p:cNvSpPr txBox="1"/>
          <p:nvPr/>
        </p:nvSpPr>
        <p:spPr>
          <a:xfrm>
            <a:off x="1298448" y="4187952"/>
            <a:ext cx="3200400" cy="292608"/>
          </a:xfrm>
          <a:prstGeom prst="rect">
            <a:avLst/>
          </a:prstGeom>
          <a:noFill/>
          <a:ln/>
        </p:spPr>
        <p:txBody>
          <a:bodyPr wrap="square" lIns="0" tIns="0" rIns="0" bIns="0" rtlCol="0" anchor="ctr"/>
          <a:lstStyle/>
          <a:p>
            <a:pPr indent="0" marL="0">
              <a:buNone/>
            </a:pPr>
            <a:r>
              <a:rPr lang="en-US" sz="1500" b="1" dirty="0">
                <a:solidFill>
                  <a:srgbClr val="242424"/>
                </a:solidFill>
                <a:latin typeface="Arial" pitchFamily="34" charset="0"/>
                <a:ea typeface="Arial" pitchFamily="34" charset="-122"/>
                <a:cs typeface="Arial" pitchFamily="34" charset="-120"/>
              </a:rPr>
              <a:t>Troubleshooting</a:t>
            </a:r>
            <a:endParaRPr lang="en-US" sz="1500" dirty="0"/>
          </a:p>
        </p:txBody>
      </p:sp>
      <p:sp>
        <p:nvSpPr>
          <p:cNvPr id="53" name="text-846"/>
          <p:cNvSpPr txBox="1"/>
          <p:nvPr/>
        </p:nvSpPr>
        <p:spPr>
          <a:xfrm>
            <a:off x="1298448" y="4480560"/>
            <a:ext cx="3246120" cy="256032"/>
          </a:xfrm>
          <a:prstGeom prst="rect">
            <a:avLst/>
          </a:prstGeom>
          <a:noFill/>
          <a:ln/>
        </p:spPr>
        <p:txBody>
          <a:bodyPr wrap="square" lIns="0" tIns="0" rIns="0" bIns="0" rtlCol="0" anchor="ctr"/>
          <a:lstStyle/>
          <a:p>
            <a:pPr indent="0" marL="0">
              <a:buNone/>
            </a:pPr>
            <a:r>
              <a:rPr lang="en-US" sz="1100" dirty="0">
                <a:solidFill>
                  <a:srgbClr val="767676"/>
                </a:solidFill>
                <a:latin typeface="Arial" pitchFamily="34" charset="0"/>
                <a:ea typeface="Arial" pitchFamily="34" charset="-122"/>
                <a:cs typeface="Arial" pitchFamily="34" charset="-120"/>
              </a:rPr>
              <a:t>Where coverage and cells hurt the KPIs</a:t>
            </a:r>
            <a:endParaRPr lang="en-US" sz="1100" dirty="0"/>
          </a:p>
        </p:txBody>
      </p:sp>
      <p:sp>
        <p:nvSpPr>
          <p:cNvPr id="54" name="shape-847"/>
          <p:cNvSpPr/>
          <p:nvPr/>
        </p:nvSpPr>
        <p:spPr>
          <a:xfrm>
            <a:off x="4946904" y="4334256"/>
            <a:ext cx="256032" cy="256032"/>
          </a:xfrm>
          <a:prstGeom prst="ellipse">
            <a:avLst/>
          </a:prstGeom>
          <a:solidFill>
            <a:srgbClr val="0068BF"/>
          </a:solidFill>
          <a:ln w="19050">
            <a:solidFill>
              <a:srgbClr val="0068BF"/>
            </a:solidFill>
            <a:prstDash val="solid"/>
          </a:ln>
        </p:spPr>
      </p:sp>
      <p:sp>
        <p:nvSpPr>
          <p:cNvPr id="55" name="shape-848"/>
          <p:cNvSpPr/>
          <p:nvPr/>
        </p:nvSpPr>
        <p:spPr>
          <a:xfrm>
            <a:off x="6958584" y="4334256"/>
            <a:ext cx="256032" cy="256032"/>
          </a:xfrm>
          <a:prstGeom prst="ellipse">
            <a:avLst/>
          </a:prstGeom>
          <a:solidFill>
            <a:srgbClr val="FFFFFF"/>
          </a:solidFill>
          <a:ln w="19050">
            <a:solidFill>
              <a:srgbClr val="0082F0"/>
            </a:solidFill>
            <a:prstDash val="solid"/>
          </a:ln>
        </p:spPr>
      </p:sp>
      <p:sp>
        <p:nvSpPr>
          <p:cNvPr id="56" name="shape-849"/>
          <p:cNvSpPr/>
          <p:nvPr/>
        </p:nvSpPr>
        <p:spPr>
          <a:xfrm>
            <a:off x="7964424" y="4334256"/>
            <a:ext cx="256032" cy="256032"/>
          </a:xfrm>
          <a:prstGeom prst="ellipse">
            <a:avLst/>
          </a:prstGeom>
          <a:solidFill>
            <a:srgbClr val="0068BF"/>
          </a:solidFill>
          <a:ln w="19050">
            <a:solidFill>
              <a:srgbClr val="0068BF"/>
            </a:solidFill>
            <a:prstDash val="solid"/>
          </a:ln>
        </p:spPr>
      </p:sp>
      <p:sp>
        <p:nvSpPr>
          <p:cNvPr id="57" name="shape-850"/>
          <p:cNvSpPr/>
          <p:nvPr/>
        </p:nvSpPr>
        <p:spPr>
          <a:xfrm>
            <a:off x="8970264" y="4334256"/>
            <a:ext cx="256032" cy="256032"/>
          </a:xfrm>
          <a:prstGeom prst="ellipse">
            <a:avLst/>
          </a:prstGeom>
          <a:solidFill>
            <a:srgbClr val="FFFFFF"/>
          </a:solidFill>
          <a:ln w="19050">
            <a:solidFill>
              <a:srgbClr val="0082F0"/>
            </a:solidFill>
            <a:prstDash val="solid"/>
          </a:ln>
        </p:spPr>
      </p:sp>
      <p:sp>
        <p:nvSpPr>
          <p:cNvPr id="58" name="shape-851"/>
          <p:cNvSpPr/>
          <p:nvPr/>
        </p:nvSpPr>
        <p:spPr>
          <a:xfrm>
            <a:off x="10981944" y="4334256"/>
            <a:ext cx="256032" cy="256032"/>
          </a:xfrm>
          <a:prstGeom prst="ellipse">
            <a:avLst/>
          </a:prstGeom>
          <a:solidFill>
            <a:srgbClr val="0068BF"/>
          </a:solidFill>
          <a:ln w="19050">
            <a:solidFill>
              <a:srgbClr val="0068BF"/>
            </a:solidFill>
            <a:prstDash val="solid"/>
          </a:ln>
        </p:spPr>
      </p:sp>
      <p:sp>
        <p:nvSpPr>
          <p:cNvPr id="59" name="shape-852"/>
          <p:cNvSpPr/>
          <p:nvPr/>
        </p:nvSpPr>
        <p:spPr>
          <a:xfrm>
            <a:off x="685800" y="4946904"/>
            <a:ext cx="457200" cy="457200"/>
          </a:xfrm>
          <a:prstGeom prst="ellipse">
            <a:avLst/>
          </a:prstGeom>
          <a:solidFill>
            <a:srgbClr val="242424"/>
          </a:solidFill>
          <a:ln w="12700">
            <a:solidFill>
              <a:srgbClr val="242424"/>
            </a:solidFill>
            <a:prstDash val="solid"/>
          </a:ln>
        </p:spPr>
      </p:sp>
      <p:pic>
        <p:nvPicPr>
          <p:cNvPr id="60" name="icon-853" descr="preencoded.png">    </p:cNvPr>
          <p:cNvPicPr>
            <a:picLocks noChangeAspect="1"/>
          </p:cNvPicPr>
          <p:nvPr/>
        </p:nvPicPr>
        <p:blipFill>
          <a:blip r:embed="rId11"/>
          <a:stretch>
            <a:fillRect/>
          </a:stretch>
        </p:blipFill>
        <p:spPr>
          <a:xfrm>
            <a:off x="786384" y="5047488"/>
            <a:ext cx="256032" cy="256032"/>
          </a:xfrm>
          <a:prstGeom prst="rect">
            <a:avLst/>
          </a:prstGeom>
        </p:spPr>
      </p:pic>
      <p:sp>
        <p:nvSpPr>
          <p:cNvPr id="61" name="text-854"/>
          <p:cNvSpPr txBox="1"/>
          <p:nvPr/>
        </p:nvSpPr>
        <p:spPr>
          <a:xfrm>
            <a:off x="1298448" y="4901184"/>
            <a:ext cx="3200400" cy="292608"/>
          </a:xfrm>
          <a:prstGeom prst="rect">
            <a:avLst/>
          </a:prstGeom>
          <a:noFill/>
          <a:ln/>
        </p:spPr>
        <p:txBody>
          <a:bodyPr wrap="square" lIns="0" tIns="0" rIns="0" bIns="0" rtlCol="0" anchor="ctr"/>
          <a:lstStyle/>
          <a:p>
            <a:pPr indent="0" marL="0">
              <a:buNone/>
            </a:pPr>
            <a:r>
              <a:rPr lang="en-US" sz="1500" b="1" dirty="0">
                <a:solidFill>
                  <a:srgbClr val="242424"/>
                </a:solidFill>
                <a:latin typeface="Arial" pitchFamily="34" charset="0"/>
                <a:ea typeface="Arial" pitchFamily="34" charset="-122"/>
                <a:cs typeface="Arial" pitchFamily="34" charset="-120"/>
              </a:rPr>
              <a:t>Technical reporting</a:t>
            </a:r>
            <a:endParaRPr lang="en-US" sz="1500" dirty="0"/>
          </a:p>
        </p:txBody>
      </p:sp>
      <p:sp>
        <p:nvSpPr>
          <p:cNvPr id="62" name="text-855"/>
          <p:cNvSpPr txBox="1"/>
          <p:nvPr/>
        </p:nvSpPr>
        <p:spPr>
          <a:xfrm>
            <a:off x="1298448" y="5193792"/>
            <a:ext cx="3246120" cy="256032"/>
          </a:xfrm>
          <a:prstGeom prst="rect">
            <a:avLst/>
          </a:prstGeom>
          <a:noFill/>
          <a:ln/>
        </p:spPr>
        <p:txBody>
          <a:bodyPr wrap="square" lIns="0" tIns="0" rIns="0" bIns="0" rtlCol="0" anchor="ctr"/>
          <a:lstStyle/>
          <a:p>
            <a:pPr indent="0" marL="0">
              <a:buNone/>
            </a:pPr>
            <a:r>
              <a:rPr lang="en-US" sz="1100" dirty="0">
                <a:solidFill>
                  <a:srgbClr val="767676"/>
                </a:solidFill>
                <a:latin typeface="Arial" pitchFamily="34" charset="0"/>
                <a:ea typeface="Arial" pitchFamily="34" charset="-122"/>
                <a:cs typeface="Arial" pitchFamily="34" charset="-120"/>
              </a:rPr>
              <a:t>Template-driven KPI decks in minutes</a:t>
            </a:r>
            <a:endParaRPr lang="en-US" sz="1100" dirty="0"/>
          </a:p>
        </p:txBody>
      </p:sp>
      <p:sp>
        <p:nvSpPr>
          <p:cNvPr id="63" name="shape-856"/>
          <p:cNvSpPr/>
          <p:nvPr/>
        </p:nvSpPr>
        <p:spPr>
          <a:xfrm>
            <a:off x="4946904" y="5047488"/>
            <a:ext cx="256032" cy="256032"/>
          </a:xfrm>
          <a:prstGeom prst="ellipse">
            <a:avLst/>
          </a:prstGeom>
          <a:solidFill>
            <a:srgbClr val="FFFFFF"/>
          </a:solidFill>
          <a:ln w="19050">
            <a:solidFill>
              <a:srgbClr val="0082F0"/>
            </a:solidFill>
            <a:prstDash val="solid"/>
          </a:ln>
        </p:spPr>
      </p:sp>
      <p:sp>
        <p:nvSpPr>
          <p:cNvPr id="64" name="shape-857"/>
          <p:cNvSpPr/>
          <p:nvPr/>
        </p:nvSpPr>
        <p:spPr>
          <a:xfrm>
            <a:off x="5952744" y="5047488"/>
            <a:ext cx="256032" cy="256032"/>
          </a:xfrm>
          <a:prstGeom prst="ellipse">
            <a:avLst/>
          </a:prstGeom>
          <a:solidFill>
            <a:srgbClr val="0068BF"/>
          </a:solidFill>
          <a:ln w="19050">
            <a:solidFill>
              <a:srgbClr val="0068BF"/>
            </a:solidFill>
            <a:prstDash val="solid"/>
          </a:ln>
        </p:spPr>
      </p:sp>
      <p:sp>
        <p:nvSpPr>
          <p:cNvPr id="65" name="shape-858"/>
          <p:cNvSpPr/>
          <p:nvPr/>
        </p:nvSpPr>
        <p:spPr>
          <a:xfrm>
            <a:off x="6958584" y="5047488"/>
            <a:ext cx="256032" cy="256032"/>
          </a:xfrm>
          <a:prstGeom prst="ellipse">
            <a:avLst/>
          </a:prstGeom>
          <a:solidFill>
            <a:srgbClr val="FFFFFF"/>
          </a:solidFill>
          <a:ln w="19050">
            <a:solidFill>
              <a:srgbClr val="0082F0"/>
            </a:solidFill>
            <a:prstDash val="solid"/>
          </a:ln>
        </p:spPr>
      </p:sp>
      <p:sp>
        <p:nvSpPr>
          <p:cNvPr id="66" name="shape-859"/>
          <p:cNvSpPr/>
          <p:nvPr/>
        </p:nvSpPr>
        <p:spPr>
          <a:xfrm>
            <a:off x="7964424" y="5047488"/>
            <a:ext cx="256032" cy="256032"/>
          </a:xfrm>
          <a:prstGeom prst="ellipse">
            <a:avLst/>
          </a:prstGeom>
          <a:solidFill>
            <a:srgbClr val="FFFFFF"/>
          </a:solidFill>
          <a:ln w="19050">
            <a:solidFill>
              <a:srgbClr val="0082F0"/>
            </a:solidFill>
            <a:prstDash val="solid"/>
          </a:ln>
        </p:spPr>
      </p:sp>
      <p:sp>
        <p:nvSpPr>
          <p:cNvPr id="67" name="shape-860"/>
          <p:cNvSpPr/>
          <p:nvPr/>
        </p:nvSpPr>
        <p:spPr>
          <a:xfrm>
            <a:off x="9976104" y="5047488"/>
            <a:ext cx="256032" cy="256032"/>
          </a:xfrm>
          <a:prstGeom prst="ellipse">
            <a:avLst/>
          </a:prstGeom>
          <a:solidFill>
            <a:srgbClr val="0068BF"/>
          </a:solidFill>
          <a:ln w="19050">
            <a:solidFill>
              <a:srgbClr val="0068BF"/>
            </a:solidFill>
            <a:prstDash val="solid"/>
          </a:ln>
        </p:spPr>
      </p:sp>
      <p:sp>
        <p:nvSpPr>
          <p:cNvPr id="68" name="shape-861"/>
          <p:cNvSpPr/>
          <p:nvPr/>
        </p:nvSpPr>
        <p:spPr>
          <a:xfrm>
            <a:off x="548640" y="5550408"/>
            <a:ext cx="11064240" cy="676656"/>
          </a:xfrm>
          <a:prstGeom prst="roundRect">
            <a:avLst>
              <a:gd name="adj" fmla="val 13514"/>
            </a:avLst>
          </a:prstGeom>
          <a:solidFill>
            <a:srgbClr val="F2F2F2"/>
          </a:solidFill>
          <a:ln w="12700">
            <a:solidFill>
              <a:srgbClr val="F2F2F2"/>
            </a:solidFill>
            <a:prstDash val="solid"/>
          </a:ln>
        </p:spPr>
      </p:sp>
      <p:sp>
        <p:nvSpPr>
          <p:cNvPr id="69" name="shape-862"/>
          <p:cNvSpPr/>
          <p:nvPr/>
        </p:nvSpPr>
        <p:spPr>
          <a:xfrm>
            <a:off x="685800" y="5660136"/>
            <a:ext cx="457200" cy="457200"/>
          </a:xfrm>
          <a:prstGeom prst="ellipse">
            <a:avLst/>
          </a:prstGeom>
          <a:solidFill>
            <a:srgbClr val="242424"/>
          </a:solidFill>
          <a:ln w="12700">
            <a:solidFill>
              <a:srgbClr val="242424"/>
            </a:solidFill>
            <a:prstDash val="solid"/>
          </a:ln>
        </p:spPr>
      </p:sp>
      <p:pic>
        <p:nvPicPr>
          <p:cNvPr id="70" name="icon-863" descr="preencoded.png">    </p:cNvPr>
          <p:cNvPicPr>
            <a:picLocks noChangeAspect="1"/>
          </p:cNvPicPr>
          <p:nvPr/>
        </p:nvPicPr>
        <p:blipFill>
          <a:blip r:embed="rId12"/>
          <a:stretch>
            <a:fillRect/>
          </a:stretch>
        </p:blipFill>
        <p:spPr>
          <a:xfrm>
            <a:off x="786384" y="5760720"/>
            <a:ext cx="256032" cy="256032"/>
          </a:xfrm>
          <a:prstGeom prst="rect">
            <a:avLst/>
          </a:prstGeom>
        </p:spPr>
      </p:pic>
      <p:sp>
        <p:nvSpPr>
          <p:cNvPr id="71" name="text-864"/>
          <p:cNvSpPr txBox="1"/>
          <p:nvPr/>
        </p:nvSpPr>
        <p:spPr>
          <a:xfrm>
            <a:off x="1298448" y="5614416"/>
            <a:ext cx="3200400" cy="292608"/>
          </a:xfrm>
          <a:prstGeom prst="rect">
            <a:avLst/>
          </a:prstGeom>
          <a:noFill/>
          <a:ln/>
        </p:spPr>
        <p:txBody>
          <a:bodyPr wrap="square" lIns="0" tIns="0" rIns="0" bIns="0" rtlCol="0" anchor="ctr"/>
          <a:lstStyle/>
          <a:p>
            <a:pPr indent="0" marL="0">
              <a:buNone/>
            </a:pPr>
            <a:r>
              <a:rPr lang="en-US" sz="1500" b="1" dirty="0">
                <a:solidFill>
                  <a:srgbClr val="242424"/>
                </a:solidFill>
                <a:latin typeface="Arial" pitchFamily="34" charset="0"/>
                <a:ea typeface="Arial" pitchFamily="34" charset="-122"/>
                <a:cs typeface="Arial" pitchFamily="34" charset="-120"/>
              </a:rPr>
              <a:t>Executive reporting</a:t>
            </a:r>
            <a:endParaRPr lang="en-US" sz="1500" dirty="0"/>
          </a:p>
        </p:txBody>
      </p:sp>
      <p:sp>
        <p:nvSpPr>
          <p:cNvPr id="72" name="text-865"/>
          <p:cNvSpPr txBox="1"/>
          <p:nvPr/>
        </p:nvSpPr>
        <p:spPr>
          <a:xfrm>
            <a:off x="1298448" y="5907024"/>
            <a:ext cx="3246120" cy="256032"/>
          </a:xfrm>
          <a:prstGeom prst="rect">
            <a:avLst/>
          </a:prstGeom>
          <a:noFill/>
          <a:ln/>
        </p:spPr>
        <p:txBody>
          <a:bodyPr wrap="square" lIns="0" tIns="0" rIns="0" bIns="0" rtlCol="0" anchor="ctr"/>
          <a:lstStyle/>
          <a:p>
            <a:pPr indent="0" marL="0">
              <a:buNone/>
            </a:pPr>
            <a:r>
              <a:rPr lang="en-US" sz="1100" dirty="0">
                <a:solidFill>
                  <a:srgbClr val="767676"/>
                </a:solidFill>
                <a:latin typeface="Arial" pitchFamily="34" charset="0"/>
                <a:ea typeface="Arial" pitchFamily="34" charset="-122"/>
                <a:cs typeface="Arial" pitchFamily="34" charset="-120"/>
              </a:rPr>
              <a:t>One scheduled story for the leadership</a:t>
            </a:r>
            <a:endParaRPr lang="en-US" sz="1100" dirty="0"/>
          </a:p>
        </p:txBody>
      </p:sp>
      <p:sp>
        <p:nvSpPr>
          <p:cNvPr id="73" name="shape-866"/>
          <p:cNvSpPr/>
          <p:nvPr/>
        </p:nvSpPr>
        <p:spPr>
          <a:xfrm>
            <a:off x="5952744" y="5760720"/>
            <a:ext cx="256032" cy="256032"/>
          </a:xfrm>
          <a:prstGeom prst="ellipse">
            <a:avLst/>
          </a:prstGeom>
          <a:solidFill>
            <a:srgbClr val="FFFFFF"/>
          </a:solidFill>
          <a:ln w="19050">
            <a:solidFill>
              <a:srgbClr val="0082F0"/>
            </a:solidFill>
            <a:prstDash val="solid"/>
          </a:ln>
        </p:spPr>
      </p:sp>
      <p:sp>
        <p:nvSpPr>
          <p:cNvPr id="74" name="shape-867"/>
          <p:cNvSpPr/>
          <p:nvPr/>
        </p:nvSpPr>
        <p:spPr>
          <a:xfrm>
            <a:off x="6958584" y="5760720"/>
            <a:ext cx="256032" cy="256032"/>
          </a:xfrm>
          <a:prstGeom prst="ellipse">
            <a:avLst/>
          </a:prstGeom>
          <a:solidFill>
            <a:srgbClr val="0068BF"/>
          </a:solidFill>
          <a:ln w="19050">
            <a:solidFill>
              <a:srgbClr val="0068BF"/>
            </a:solidFill>
            <a:prstDash val="solid"/>
          </a:ln>
        </p:spPr>
      </p:sp>
      <p:sp>
        <p:nvSpPr>
          <p:cNvPr id="75" name="shape-868"/>
          <p:cNvSpPr/>
          <p:nvPr/>
        </p:nvSpPr>
        <p:spPr>
          <a:xfrm>
            <a:off x="7964424" y="5760720"/>
            <a:ext cx="256032" cy="256032"/>
          </a:xfrm>
          <a:prstGeom prst="ellipse">
            <a:avLst/>
          </a:prstGeom>
          <a:solidFill>
            <a:srgbClr val="FFFFFF"/>
          </a:solidFill>
          <a:ln w="19050">
            <a:solidFill>
              <a:srgbClr val="0082F0"/>
            </a:solidFill>
            <a:prstDash val="solid"/>
          </a:ln>
        </p:spPr>
      </p:sp>
      <p:sp>
        <p:nvSpPr>
          <p:cNvPr id="76" name="shape-869"/>
          <p:cNvSpPr/>
          <p:nvPr/>
        </p:nvSpPr>
        <p:spPr>
          <a:xfrm>
            <a:off x="9976104" y="5760720"/>
            <a:ext cx="256032" cy="256032"/>
          </a:xfrm>
          <a:prstGeom prst="ellipse">
            <a:avLst/>
          </a:prstGeom>
          <a:solidFill>
            <a:srgbClr val="0068BF"/>
          </a:solidFill>
          <a:ln w="19050">
            <a:solidFill>
              <a:srgbClr val="0068BF"/>
            </a:solidFill>
            <a:prstDash val="solid"/>
          </a:ln>
        </p:spPr>
      </p:sp>
      <p:sp>
        <p:nvSpPr>
          <p:cNvPr id="25" name="Slide Number Placeholder 0"/>
          <p:cNvSpPr>
            <a:spLocks noGrp="1"/>
          </p:cNvSpPr>
          <p:nvPr>
            <p:ph type="sldNum" sz="quarter" idx="4294967295"/>
          </p:nvPr>
        </p:nvSpPr>
        <p:spPr>
          <a:xfrm>
            <a:off x="548640" y="640080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67676"/>
                </a:solidFill>
                <a:latin typeface="Arial"/>
                <a:ea typeface="Arial"/>
                <a:cs typeface="Aria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0424160" cy="658368"/>
          </a:xfrm>
          <a:prstGeom prst="rect">
            <a:avLst/>
          </a:prstGeom>
          <a:noFill/>
          <a:ln/>
        </p:spPr>
        <p:txBody>
          <a:bodyPr wrap="square" lIns="0" tIns="0" rIns="0" bIns="0" rtlCol="0" anchor="ctr"/>
          <a:lstStyle/>
          <a:p>
            <a:pPr algn="l" indent="0" marL="0">
              <a:buNone/>
            </a:pPr>
            <a:r>
              <a:rPr lang="en-US" sz="3000" dirty="0">
                <a:solidFill>
                  <a:srgbClr val="000000"/>
                </a:solidFill>
                <a:latin typeface="Arial" pitchFamily="34" charset="0"/>
                <a:ea typeface="Arial" pitchFamily="34" charset="-122"/>
                <a:cs typeface="Arial" pitchFamily="34" charset="-120"/>
              </a:rPr>
              <a:t>Enterprise-ready: </a:t>
            </a:r>
            <a:pPr algn="l" indent="0" marL="0">
              <a:buNone/>
            </a:pPr>
            <a:r>
              <a:rPr lang="en-US" sz="3000" b="1" dirty="0">
                <a:solidFill>
                  <a:srgbClr val="0068BF"/>
                </a:solidFill>
                <a:latin typeface="Arial" pitchFamily="34" charset="0"/>
                <a:ea typeface="Arial" pitchFamily="34" charset="-122"/>
                <a:cs typeface="Arial" pitchFamily="34" charset="-120"/>
              </a:rPr>
              <a:t>secure, governed, backed up</a:t>
            </a:r>
            <a:endParaRPr lang="en-US" sz="3000" dirty="0"/>
          </a:p>
        </p:txBody>
      </p:sp>
      <p:sp>
        <p:nvSpPr>
          <p:cNvPr id="3" name="text-870"/>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dirty="0">
                <a:solidFill>
                  <a:srgbClr val="767676"/>
                </a:solidFill>
                <a:latin typeface="Arial" pitchFamily="34" charset="0"/>
                <a:ea typeface="Arial" pitchFamily="34" charset="-122"/>
                <a:cs typeface="Arial" pitchFamily="34" charset="-120"/>
              </a:rPr>
              <a:t>Cloud deployment, role-based access, isolated workspaces, automated backups and built-in support</a:t>
            </a:r>
            <a:endParaRPr lang="en-US" sz="1500" dirty="0"/>
          </a:p>
        </p:txBody>
      </p:sp>
      <p:sp>
        <p:nvSpPr>
          <p:cNvPr id="4" name="shape-871"/>
          <p:cNvSpPr/>
          <p:nvPr/>
        </p:nvSpPr>
        <p:spPr>
          <a:xfrm>
            <a:off x="548640" y="1645920"/>
            <a:ext cx="3063240" cy="4526280"/>
          </a:xfrm>
          <a:prstGeom prst="roundRect">
            <a:avLst>
              <a:gd name="adj" fmla="val 4179"/>
            </a:avLst>
          </a:prstGeom>
          <a:solidFill>
            <a:srgbClr val="F2F2F2"/>
          </a:solidFill>
          <a:ln w="12700">
            <a:solidFill>
              <a:srgbClr val="F2F2F2"/>
            </a:solidFill>
            <a:prstDash val="solid"/>
          </a:ln>
        </p:spPr>
      </p:sp>
      <p:pic>
        <p:nvPicPr>
          <p:cNvPr id="5" name="icon-872" descr="preencoded.png">    </p:cNvPr>
          <p:cNvPicPr>
            <a:picLocks noChangeAspect="1"/>
          </p:cNvPicPr>
          <p:nvPr/>
        </p:nvPicPr>
        <p:blipFill>
          <a:blip r:embed="rId1"/>
          <a:stretch>
            <a:fillRect/>
          </a:stretch>
        </p:blipFill>
        <p:spPr>
          <a:xfrm>
            <a:off x="749808" y="1810512"/>
            <a:ext cx="329184" cy="329184"/>
          </a:xfrm>
          <a:prstGeom prst="rect">
            <a:avLst/>
          </a:prstGeom>
        </p:spPr>
      </p:pic>
      <p:sp>
        <p:nvSpPr>
          <p:cNvPr id="6" name="text-873"/>
          <p:cNvSpPr txBox="1"/>
          <p:nvPr/>
        </p:nvSpPr>
        <p:spPr>
          <a:xfrm>
            <a:off x="1170432" y="1792224"/>
            <a:ext cx="2377440" cy="365760"/>
          </a:xfrm>
          <a:prstGeom prst="rect">
            <a:avLst/>
          </a:prstGeom>
          <a:noFill/>
          <a:ln/>
        </p:spPr>
        <p:txBody>
          <a:bodyPr wrap="square" lIns="0" tIns="0" rIns="0" bIns="0" rtlCol="0" anchor="ctr"/>
          <a:lstStyle/>
          <a:p>
            <a:pPr indent="0" marL="0">
              <a:buNone/>
            </a:pPr>
            <a:r>
              <a:rPr lang="en-US" sz="1500" b="1" dirty="0">
                <a:solidFill>
                  <a:srgbClr val="242424"/>
                </a:solidFill>
                <a:latin typeface="Arial" pitchFamily="34" charset="0"/>
                <a:ea typeface="Arial" pitchFamily="34" charset="-122"/>
                <a:cs typeface="Arial" pitchFamily="34" charset="-120"/>
              </a:rPr>
              <a:t>Cloud deployment</a:t>
            </a:r>
            <a:endParaRPr lang="en-US" sz="1500" dirty="0"/>
          </a:p>
        </p:txBody>
      </p:sp>
      <p:sp>
        <p:nvSpPr>
          <p:cNvPr id="7" name="shape-874"/>
          <p:cNvSpPr/>
          <p:nvPr/>
        </p:nvSpPr>
        <p:spPr>
          <a:xfrm>
            <a:off x="731520" y="2331720"/>
            <a:ext cx="2697480" cy="3657600"/>
          </a:xfrm>
          <a:prstGeom prst="roundRect">
            <a:avLst>
              <a:gd name="adj" fmla="val 4068"/>
            </a:avLst>
          </a:prstGeom>
          <a:solidFill>
            <a:srgbClr val="FFFFFF"/>
          </a:solidFill>
          <a:ln w="15875">
            <a:solidFill>
              <a:srgbClr val="E47911"/>
            </a:solidFill>
            <a:prstDash val="dash"/>
          </a:ln>
        </p:spPr>
      </p:sp>
      <p:sp>
        <p:nvSpPr>
          <p:cNvPr id="8" name="text-875"/>
          <p:cNvSpPr txBox="1"/>
          <p:nvPr/>
        </p:nvSpPr>
        <p:spPr>
          <a:xfrm>
            <a:off x="868680" y="2395728"/>
            <a:ext cx="2286000" cy="274320"/>
          </a:xfrm>
          <a:prstGeom prst="rect">
            <a:avLst/>
          </a:prstGeom>
          <a:noFill/>
          <a:ln/>
        </p:spPr>
        <p:txBody>
          <a:bodyPr wrap="square" lIns="0" tIns="0" rIns="0" bIns="0" rtlCol="0" anchor="ctr"/>
          <a:lstStyle/>
          <a:p>
            <a:pPr indent="0" marL="0">
              <a:buNone/>
            </a:pPr>
            <a:r>
              <a:rPr lang="en-US" sz="1100" b="1" dirty="0">
                <a:solidFill>
                  <a:srgbClr val="B35F0E"/>
                </a:solidFill>
                <a:latin typeface="Arial" pitchFamily="34" charset="0"/>
                <a:ea typeface="Arial" pitchFamily="34" charset="-122"/>
                <a:cs typeface="Arial" pitchFamily="34" charset="-120"/>
              </a:rPr>
              <a:t>AWS cloud</a:t>
            </a:r>
            <a:endParaRPr lang="en-US" sz="1100" dirty="0"/>
          </a:p>
        </p:txBody>
      </p:sp>
      <p:sp>
        <p:nvSpPr>
          <p:cNvPr id="9" name="shape-876"/>
          <p:cNvSpPr/>
          <p:nvPr/>
        </p:nvSpPr>
        <p:spPr>
          <a:xfrm>
            <a:off x="868680" y="2724912"/>
            <a:ext cx="2423160" cy="3127248"/>
          </a:xfrm>
          <a:prstGeom prst="roundRect">
            <a:avLst>
              <a:gd name="adj" fmla="val 3774"/>
            </a:avLst>
          </a:prstGeom>
          <a:solidFill>
            <a:srgbClr val="F4F9FE"/>
          </a:solidFill>
          <a:ln w="15875">
            <a:solidFill>
              <a:srgbClr val="0082F0"/>
            </a:solidFill>
            <a:prstDash val="solid"/>
          </a:ln>
        </p:spPr>
      </p:sp>
      <p:pic>
        <p:nvPicPr>
          <p:cNvPr id="10" name="icon-877" descr="preencoded.png">    </p:cNvPr>
          <p:cNvPicPr>
            <a:picLocks noChangeAspect="1"/>
          </p:cNvPicPr>
          <p:nvPr/>
        </p:nvPicPr>
        <p:blipFill>
          <a:blip r:embed="rId2"/>
          <a:stretch>
            <a:fillRect/>
          </a:stretch>
        </p:blipFill>
        <p:spPr>
          <a:xfrm>
            <a:off x="987552" y="2798064"/>
            <a:ext cx="256032" cy="256032"/>
          </a:xfrm>
          <a:prstGeom prst="rect">
            <a:avLst/>
          </a:prstGeom>
        </p:spPr>
      </p:pic>
      <p:sp>
        <p:nvSpPr>
          <p:cNvPr id="11" name="text-878"/>
          <p:cNvSpPr txBox="1"/>
          <p:nvPr/>
        </p:nvSpPr>
        <p:spPr>
          <a:xfrm>
            <a:off x="1298448" y="2779776"/>
            <a:ext cx="1920240" cy="292608"/>
          </a:xfrm>
          <a:prstGeom prst="rect">
            <a:avLst/>
          </a:prstGeom>
          <a:noFill/>
          <a:ln/>
        </p:spPr>
        <p:txBody>
          <a:bodyPr wrap="square" lIns="0" tIns="0" rIns="0" bIns="0" rtlCol="0" anchor="ctr"/>
          <a:lstStyle/>
          <a:p>
            <a:pPr indent="0" marL="0">
              <a:buNone/>
            </a:pPr>
            <a:r>
              <a:rPr lang="en-US" sz="1050" b="1" dirty="0">
                <a:solidFill>
                  <a:srgbClr val="0068BF"/>
                </a:solidFill>
                <a:latin typeface="Arial" pitchFamily="34" charset="0"/>
                <a:ea typeface="Arial" pitchFamily="34" charset="-122"/>
                <a:cs typeface="Arial" pitchFamily="34" charset="-120"/>
              </a:rPr>
              <a:t>Docker · AMD64 &amp; ARM64</a:t>
            </a:r>
            <a:endParaRPr lang="en-US" sz="1050" dirty="0"/>
          </a:p>
        </p:txBody>
      </p:sp>
      <p:sp>
        <p:nvSpPr>
          <p:cNvPr id="12" name="shape-879"/>
          <p:cNvSpPr/>
          <p:nvPr/>
        </p:nvSpPr>
        <p:spPr>
          <a:xfrm>
            <a:off x="1005840" y="3154680"/>
            <a:ext cx="2148840" cy="914400"/>
          </a:xfrm>
          <a:prstGeom prst="roundRect">
            <a:avLst>
              <a:gd name="adj" fmla="val 8000"/>
            </a:avLst>
          </a:prstGeom>
          <a:solidFill>
            <a:srgbClr val="000000"/>
          </a:solidFill>
          <a:ln w="12700">
            <a:solidFill>
              <a:srgbClr val="000000"/>
            </a:solidFill>
            <a:prstDash val="solid"/>
          </a:ln>
        </p:spPr>
      </p:sp>
      <p:sp>
        <p:nvSpPr>
          <p:cNvPr id="13" name="text-880"/>
          <p:cNvSpPr txBox="1"/>
          <p:nvPr/>
        </p:nvSpPr>
        <p:spPr>
          <a:xfrm>
            <a:off x="1115568" y="3154680"/>
            <a:ext cx="1965960" cy="91440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DriveTest Analyzer</a:t>
            </a:r>
            <a:endParaRPr lang="en-US" sz="1250" dirty="0"/>
          </a:p>
          <a:p>
            <a:pPr indent="0" marL="0">
              <a:buNone/>
            </a:pPr>
            <a:r>
              <a:rPr lang="en-US" sz="1000" dirty="0">
                <a:solidFill>
                  <a:srgbClr val="A0A0A0"/>
                </a:solidFill>
                <a:latin typeface="Arial" pitchFamily="34" charset="0"/>
                <a:ea typeface="Arial" pitchFamily="34" charset="-122"/>
                <a:cs typeface="Arial" pitchFamily="34" charset="-120"/>
              </a:rPr>
              <a:t>web app + background workers</a:t>
            </a:r>
            <a:endParaRPr lang="en-US" sz="1250" dirty="0"/>
          </a:p>
        </p:txBody>
      </p:sp>
      <p:sp>
        <p:nvSpPr>
          <p:cNvPr id="14" name="shape-881"/>
          <p:cNvSpPr/>
          <p:nvPr/>
        </p:nvSpPr>
        <p:spPr>
          <a:xfrm>
            <a:off x="1005840" y="4224528"/>
            <a:ext cx="1005840" cy="868680"/>
          </a:xfrm>
          <a:prstGeom prst="roundRect">
            <a:avLst>
              <a:gd name="adj" fmla="val 8421"/>
            </a:avLst>
          </a:prstGeom>
          <a:solidFill>
            <a:srgbClr val="FFFFFF"/>
          </a:solidFill>
          <a:ln w="12700">
            <a:solidFill>
              <a:srgbClr val="E0E0E0"/>
            </a:solidFill>
            <a:prstDash val="solid"/>
          </a:ln>
        </p:spPr>
      </p:sp>
      <p:pic>
        <p:nvPicPr>
          <p:cNvPr id="15" name="icon-882" descr="preencoded.png">    </p:cNvPr>
          <p:cNvPicPr>
            <a:picLocks noChangeAspect="1"/>
          </p:cNvPicPr>
          <p:nvPr/>
        </p:nvPicPr>
        <p:blipFill>
          <a:blip r:embed="rId3"/>
          <a:stretch>
            <a:fillRect/>
          </a:stretch>
        </p:blipFill>
        <p:spPr>
          <a:xfrm>
            <a:off x="1353312" y="4297680"/>
            <a:ext cx="310896" cy="310896"/>
          </a:xfrm>
          <a:prstGeom prst="rect">
            <a:avLst/>
          </a:prstGeom>
        </p:spPr>
      </p:pic>
      <p:sp>
        <p:nvSpPr>
          <p:cNvPr id="16" name="text-883"/>
          <p:cNvSpPr txBox="1"/>
          <p:nvPr/>
        </p:nvSpPr>
        <p:spPr>
          <a:xfrm>
            <a:off x="1005840" y="4626864"/>
            <a:ext cx="1005840" cy="438912"/>
          </a:xfrm>
          <a:prstGeom prst="rect">
            <a:avLst/>
          </a:prstGeom>
          <a:noFill/>
          <a:ln/>
        </p:spPr>
        <p:txBody>
          <a:bodyPr wrap="square" lIns="0" tIns="0" rIns="0" bIns="0" rtlCol="0" anchor="ctr"/>
          <a:lstStyle/>
          <a:p>
            <a:pPr algn="ctr" indent="0" marL="0">
              <a:buNone/>
            </a:pPr>
            <a:r>
              <a:rPr lang="en-US" sz="1200" b="1" dirty="0">
                <a:solidFill>
                  <a:srgbClr val="242424"/>
                </a:solidFill>
                <a:latin typeface="Arial" pitchFamily="34" charset="0"/>
                <a:ea typeface="Arial" pitchFamily="34" charset="-122"/>
                <a:cs typeface="Arial" pitchFamily="34" charset="-120"/>
              </a:rPr>
              <a:t>UK</a:t>
            </a:r>
            <a:endParaRPr lang="en-US" sz="1200" dirty="0"/>
          </a:p>
          <a:p>
            <a:pPr algn="ctr" indent="0" marL="0">
              <a:buNone/>
            </a:pPr>
            <a:r>
              <a:rPr lang="en-US" sz="950" dirty="0">
                <a:solidFill>
                  <a:srgbClr val="767676"/>
                </a:solidFill>
                <a:latin typeface="Arial" pitchFamily="34" charset="0"/>
                <a:ea typeface="Arial" pitchFamily="34" charset="-122"/>
                <a:cs typeface="Arial" pitchFamily="34" charset="-120"/>
              </a:rPr>
              <a:t>9 campaigns</a:t>
            </a:r>
            <a:endParaRPr lang="en-US" sz="1200" dirty="0"/>
          </a:p>
        </p:txBody>
      </p:sp>
      <p:sp>
        <p:nvSpPr>
          <p:cNvPr id="17" name="shape-884"/>
          <p:cNvSpPr/>
          <p:nvPr/>
        </p:nvSpPr>
        <p:spPr>
          <a:xfrm>
            <a:off x="2148840" y="4224528"/>
            <a:ext cx="1005840" cy="868680"/>
          </a:xfrm>
          <a:prstGeom prst="roundRect">
            <a:avLst>
              <a:gd name="adj" fmla="val 8421"/>
            </a:avLst>
          </a:prstGeom>
          <a:solidFill>
            <a:srgbClr val="FFFFFF"/>
          </a:solidFill>
          <a:ln w="12700">
            <a:solidFill>
              <a:srgbClr val="E0E0E0"/>
            </a:solidFill>
            <a:prstDash val="solid"/>
          </a:ln>
        </p:spPr>
      </p:sp>
      <p:pic>
        <p:nvPicPr>
          <p:cNvPr id="18" name="icon-885" descr="preencoded.png">    </p:cNvPr>
          <p:cNvPicPr>
            <a:picLocks noChangeAspect="1"/>
          </p:cNvPicPr>
          <p:nvPr/>
        </p:nvPicPr>
        <p:blipFill>
          <a:blip r:embed="rId4"/>
          <a:stretch>
            <a:fillRect/>
          </a:stretch>
        </p:blipFill>
        <p:spPr>
          <a:xfrm>
            <a:off x="2496312" y="4297680"/>
            <a:ext cx="310896" cy="310896"/>
          </a:xfrm>
          <a:prstGeom prst="rect">
            <a:avLst/>
          </a:prstGeom>
        </p:spPr>
      </p:pic>
      <p:sp>
        <p:nvSpPr>
          <p:cNvPr id="19" name="text-886"/>
          <p:cNvSpPr txBox="1"/>
          <p:nvPr/>
        </p:nvSpPr>
        <p:spPr>
          <a:xfrm>
            <a:off x="2148840" y="4626864"/>
            <a:ext cx="1005840" cy="438912"/>
          </a:xfrm>
          <a:prstGeom prst="rect">
            <a:avLst/>
          </a:prstGeom>
          <a:noFill/>
          <a:ln/>
        </p:spPr>
        <p:txBody>
          <a:bodyPr wrap="square" lIns="0" tIns="0" rIns="0" bIns="0" rtlCol="0" anchor="ctr"/>
          <a:lstStyle/>
          <a:p>
            <a:pPr algn="ctr" indent="0" marL="0">
              <a:buNone/>
            </a:pPr>
            <a:r>
              <a:rPr lang="en-US" sz="1200" b="1" dirty="0">
                <a:solidFill>
                  <a:srgbClr val="242424"/>
                </a:solidFill>
                <a:latin typeface="Arial" pitchFamily="34" charset="0"/>
                <a:ea typeface="Arial" pitchFamily="34" charset="-122"/>
                <a:cs typeface="Arial" pitchFamily="34" charset="-120"/>
              </a:rPr>
              <a:t>DE</a:t>
            </a:r>
            <a:endParaRPr lang="en-US" sz="1200" dirty="0"/>
          </a:p>
          <a:p>
            <a:pPr algn="ctr" indent="0" marL="0">
              <a:buNone/>
            </a:pPr>
            <a:r>
              <a:rPr lang="en-US" sz="950" dirty="0">
                <a:solidFill>
                  <a:srgbClr val="767676"/>
                </a:solidFill>
                <a:latin typeface="Arial" pitchFamily="34" charset="0"/>
                <a:ea typeface="Arial" pitchFamily="34" charset="-122"/>
                <a:cs typeface="Arial" pitchFamily="34" charset="-120"/>
              </a:rPr>
              <a:t>1 campaign</a:t>
            </a:r>
            <a:endParaRPr lang="en-US" sz="1200" dirty="0"/>
          </a:p>
        </p:txBody>
      </p:sp>
      <p:sp>
        <p:nvSpPr>
          <p:cNvPr id="20" name="text-887"/>
          <p:cNvSpPr txBox="1"/>
          <p:nvPr/>
        </p:nvSpPr>
        <p:spPr>
          <a:xfrm>
            <a:off x="1005840" y="5193792"/>
            <a:ext cx="2194560" cy="502920"/>
          </a:xfrm>
          <a:prstGeom prst="rect">
            <a:avLst/>
          </a:prstGeom>
          <a:noFill/>
          <a:ln/>
        </p:spPr>
        <p:txBody>
          <a:bodyPr wrap="square" lIns="0" tIns="0" rIns="0" bIns="0" rtlCol="0" anchor="ctr"/>
          <a:lstStyle/>
          <a:p>
            <a:pPr algn="ctr" indent="0" marL="0">
              <a:buNone/>
            </a:pPr>
            <a:r>
              <a:rPr lang="en-US" sz="1000" dirty="0">
                <a:solidFill>
                  <a:srgbClr val="767676"/>
                </a:solidFill>
                <a:latin typeface="Arial" pitchFamily="34" charset="0"/>
                <a:ea typeface="Arial" pitchFamily="34" charset="-122"/>
                <a:cs typeface="Arial" pitchFamily="34" charset="-120"/>
              </a:rPr>
              <a:t>Isolated workspaces · persistent volumes</a:t>
            </a:r>
            <a:endParaRPr lang="en-US" sz="1000" dirty="0"/>
          </a:p>
        </p:txBody>
      </p:sp>
      <p:sp>
        <p:nvSpPr>
          <p:cNvPr id="21" name="shape-888"/>
          <p:cNvSpPr/>
          <p:nvPr/>
        </p:nvSpPr>
        <p:spPr>
          <a:xfrm>
            <a:off x="3794760" y="1645920"/>
            <a:ext cx="3977640" cy="2194560"/>
          </a:xfrm>
          <a:prstGeom prst="roundRect">
            <a:avLst>
              <a:gd name="adj" fmla="val 5833"/>
            </a:avLst>
          </a:prstGeom>
          <a:solidFill>
            <a:srgbClr val="F2F2F2"/>
          </a:solidFill>
          <a:ln w="12700">
            <a:solidFill>
              <a:srgbClr val="F2F2F2"/>
            </a:solidFill>
            <a:prstDash val="solid"/>
          </a:ln>
        </p:spPr>
      </p:sp>
      <p:pic>
        <p:nvPicPr>
          <p:cNvPr id="22" name="icon-889" descr="preencoded.png">    </p:cNvPr>
          <p:cNvPicPr>
            <a:picLocks noChangeAspect="1"/>
          </p:cNvPicPr>
          <p:nvPr/>
        </p:nvPicPr>
        <p:blipFill>
          <a:blip r:embed="rId5"/>
          <a:stretch>
            <a:fillRect/>
          </a:stretch>
        </p:blipFill>
        <p:spPr>
          <a:xfrm>
            <a:off x="3995928" y="1810512"/>
            <a:ext cx="329184" cy="329184"/>
          </a:xfrm>
          <a:prstGeom prst="rect">
            <a:avLst/>
          </a:prstGeom>
        </p:spPr>
      </p:pic>
      <p:sp>
        <p:nvSpPr>
          <p:cNvPr id="23" name="text-890"/>
          <p:cNvSpPr txBox="1"/>
          <p:nvPr/>
        </p:nvSpPr>
        <p:spPr>
          <a:xfrm>
            <a:off x="4416552" y="1792224"/>
            <a:ext cx="3108960" cy="365760"/>
          </a:xfrm>
          <a:prstGeom prst="rect">
            <a:avLst/>
          </a:prstGeom>
          <a:noFill/>
          <a:ln/>
        </p:spPr>
        <p:txBody>
          <a:bodyPr wrap="square" lIns="0" tIns="0" rIns="0" bIns="0" rtlCol="0" anchor="ctr"/>
          <a:lstStyle/>
          <a:p>
            <a:pPr indent="0" marL="0">
              <a:buNone/>
            </a:pPr>
            <a:r>
              <a:rPr lang="en-US" sz="1500" b="1" dirty="0">
                <a:solidFill>
                  <a:srgbClr val="242424"/>
                </a:solidFill>
                <a:latin typeface="Arial" pitchFamily="34" charset="0"/>
                <a:ea typeface="Arial" pitchFamily="34" charset="-122"/>
                <a:cs typeface="Arial" pitchFamily="34" charset="-120"/>
              </a:rPr>
              <a:t>Users, roles &amp; access</a:t>
            </a:r>
            <a:endParaRPr lang="en-US" sz="1500" dirty="0"/>
          </a:p>
        </p:txBody>
      </p:sp>
      <p:sp>
        <p:nvSpPr>
          <p:cNvPr id="24" name="shape-891"/>
          <p:cNvSpPr/>
          <p:nvPr/>
        </p:nvSpPr>
        <p:spPr>
          <a:xfrm>
            <a:off x="4914900" y="2286000"/>
            <a:ext cx="1737360" cy="292608"/>
          </a:xfrm>
          <a:prstGeom prst="roundRect">
            <a:avLst>
              <a:gd name="adj" fmla="val 18750"/>
            </a:avLst>
          </a:prstGeom>
          <a:solidFill>
            <a:srgbClr val="004E8F"/>
          </a:solidFill>
          <a:ln w="12700">
            <a:solidFill>
              <a:srgbClr val="004E8F"/>
            </a:solidFill>
            <a:prstDash val="solid"/>
          </a:ln>
        </p:spPr>
      </p:sp>
      <p:sp>
        <p:nvSpPr>
          <p:cNvPr id="25" name="text-892"/>
          <p:cNvSpPr txBox="1"/>
          <p:nvPr/>
        </p:nvSpPr>
        <p:spPr>
          <a:xfrm>
            <a:off x="4914900" y="2286000"/>
            <a:ext cx="17373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Super Admin · 2</a:t>
            </a:r>
            <a:endParaRPr lang="en-US" sz="1100" dirty="0"/>
          </a:p>
        </p:txBody>
      </p:sp>
      <p:sp>
        <p:nvSpPr>
          <p:cNvPr id="26" name="shape-893"/>
          <p:cNvSpPr/>
          <p:nvPr/>
        </p:nvSpPr>
        <p:spPr>
          <a:xfrm>
            <a:off x="4640580" y="2624328"/>
            <a:ext cx="2286000" cy="292608"/>
          </a:xfrm>
          <a:prstGeom prst="roundRect">
            <a:avLst>
              <a:gd name="adj" fmla="val 18750"/>
            </a:avLst>
          </a:prstGeom>
          <a:solidFill>
            <a:srgbClr val="0068BF"/>
          </a:solidFill>
          <a:ln w="12700">
            <a:solidFill>
              <a:srgbClr val="0068BF"/>
            </a:solidFill>
            <a:prstDash val="solid"/>
          </a:ln>
        </p:spPr>
      </p:sp>
      <p:sp>
        <p:nvSpPr>
          <p:cNvPr id="27" name="text-894"/>
          <p:cNvSpPr txBox="1"/>
          <p:nvPr/>
        </p:nvSpPr>
        <p:spPr>
          <a:xfrm>
            <a:off x="4640580" y="2624328"/>
            <a:ext cx="22860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Admin · 1</a:t>
            </a:r>
            <a:endParaRPr lang="en-US" sz="1100" dirty="0"/>
          </a:p>
        </p:txBody>
      </p:sp>
      <p:sp>
        <p:nvSpPr>
          <p:cNvPr id="28" name="shape-895"/>
          <p:cNvSpPr/>
          <p:nvPr/>
        </p:nvSpPr>
        <p:spPr>
          <a:xfrm>
            <a:off x="4366260" y="2962656"/>
            <a:ext cx="2834640" cy="292608"/>
          </a:xfrm>
          <a:prstGeom prst="roundRect">
            <a:avLst>
              <a:gd name="adj" fmla="val 18750"/>
            </a:avLst>
          </a:prstGeom>
          <a:solidFill>
            <a:srgbClr val="0082F0"/>
          </a:solidFill>
          <a:ln w="12700">
            <a:solidFill>
              <a:srgbClr val="0082F0"/>
            </a:solidFill>
            <a:prstDash val="solid"/>
          </a:ln>
        </p:spPr>
      </p:sp>
      <p:sp>
        <p:nvSpPr>
          <p:cNvPr id="29" name="text-896"/>
          <p:cNvSpPr txBox="1"/>
          <p:nvPr/>
        </p:nvSpPr>
        <p:spPr>
          <a:xfrm>
            <a:off x="4366260" y="2962656"/>
            <a:ext cx="28346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Editor · 12</a:t>
            </a:r>
            <a:endParaRPr lang="en-US" sz="1100" dirty="0"/>
          </a:p>
        </p:txBody>
      </p:sp>
      <p:sp>
        <p:nvSpPr>
          <p:cNvPr id="30" name="shape-897"/>
          <p:cNvSpPr/>
          <p:nvPr/>
        </p:nvSpPr>
        <p:spPr>
          <a:xfrm>
            <a:off x="4091940" y="3300984"/>
            <a:ext cx="3383280" cy="292608"/>
          </a:xfrm>
          <a:prstGeom prst="roundRect">
            <a:avLst>
              <a:gd name="adj" fmla="val 18750"/>
            </a:avLst>
          </a:prstGeom>
          <a:solidFill>
            <a:srgbClr val="4DA8F5"/>
          </a:solidFill>
          <a:ln w="12700">
            <a:solidFill>
              <a:srgbClr val="4DA8F5"/>
            </a:solidFill>
            <a:prstDash val="solid"/>
          </a:ln>
        </p:spPr>
      </p:sp>
      <p:sp>
        <p:nvSpPr>
          <p:cNvPr id="31" name="text-898"/>
          <p:cNvSpPr txBox="1"/>
          <p:nvPr/>
        </p:nvSpPr>
        <p:spPr>
          <a:xfrm>
            <a:off x="4091940" y="3300984"/>
            <a:ext cx="33832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Viewer · 1</a:t>
            </a:r>
            <a:endParaRPr lang="en-US" sz="1100" dirty="0"/>
          </a:p>
        </p:txBody>
      </p:sp>
      <p:sp>
        <p:nvSpPr>
          <p:cNvPr id="32" name="text-899"/>
          <p:cNvSpPr txBox="1"/>
          <p:nvPr/>
        </p:nvSpPr>
        <p:spPr>
          <a:xfrm>
            <a:off x="3995928" y="3639312"/>
            <a:ext cx="3611880" cy="182880"/>
          </a:xfrm>
          <a:prstGeom prst="rect">
            <a:avLst/>
          </a:prstGeom>
          <a:noFill/>
          <a:ln/>
        </p:spPr>
        <p:txBody>
          <a:bodyPr wrap="square" lIns="0" tIns="0" rIns="0" bIns="0" rtlCol="0" anchor="ctr"/>
          <a:lstStyle/>
          <a:p>
            <a:pPr algn="ctr" indent="0" marL="0">
              <a:buNone/>
            </a:pPr>
            <a:r>
              <a:rPr lang="en-US" sz="1000" dirty="0">
                <a:solidFill>
                  <a:srgbClr val="767676"/>
                </a:solidFill>
                <a:latin typeface="Arial" pitchFamily="34" charset="0"/>
                <a:ea typeface="Arial" pitchFamily="34" charset="-122"/>
                <a:cs typeface="Arial" pitchFamily="34" charset="-120"/>
              </a:rPr>
              <a:t>Modules Profiles · Workspace Groups · access requests</a:t>
            </a:r>
            <a:endParaRPr lang="en-US" sz="1000" dirty="0"/>
          </a:p>
        </p:txBody>
      </p:sp>
      <p:sp>
        <p:nvSpPr>
          <p:cNvPr id="33" name="shape-900"/>
          <p:cNvSpPr/>
          <p:nvPr/>
        </p:nvSpPr>
        <p:spPr>
          <a:xfrm>
            <a:off x="3794760" y="3977640"/>
            <a:ext cx="3977640" cy="2194560"/>
          </a:xfrm>
          <a:prstGeom prst="roundRect">
            <a:avLst>
              <a:gd name="adj" fmla="val 5833"/>
            </a:avLst>
          </a:prstGeom>
          <a:solidFill>
            <a:srgbClr val="F2F2F2"/>
          </a:solidFill>
          <a:ln w="12700">
            <a:solidFill>
              <a:srgbClr val="F2F2F2"/>
            </a:solidFill>
            <a:prstDash val="solid"/>
          </a:ln>
        </p:spPr>
      </p:sp>
      <p:pic>
        <p:nvPicPr>
          <p:cNvPr id="34" name="icon-901" descr="preencoded.png">    </p:cNvPr>
          <p:cNvPicPr>
            <a:picLocks noChangeAspect="1"/>
          </p:cNvPicPr>
          <p:nvPr/>
        </p:nvPicPr>
        <p:blipFill>
          <a:blip r:embed="rId6"/>
          <a:stretch>
            <a:fillRect/>
          </a:stretch>
        </p:blipFill>
        <p:spPr>
          <a:xfrm>
            <a:off x="3995928" y="4142232"/>
            <a:ext cx="329184" cy="329184"/>
          </a:xfrm>
          <a:prstGeom prst="rect">
            <a:avLst/>
          </a:prstGeom>
        </p:spPr>
      </p:pic>
      <p:sp>
        <p:nvSpPr>
          <p:cNvPr id="35" name="text-902"/>
          <p:cNvSpPr txBox="1"/>
          <p:nvPr/>
        </p:nvSpPr>
        <p:spPr>
          <a:xfrm>
            <a:off x="4416552" y="4123944"/>
            <a:ext cx="3108960" cy="365760"/>
          </a:xfrm>
          <a:prstGeom prst="rect">
            <a:avLst/>
          </a:prstGeom>
          <a:noFill/>
          <a:ln/>
        </p:spPr>
        <p:txBody>
          <a:bodyPr wrap="square" lIns="0" tIns="0" rIns="0" bIns="0" rtlCol="0" anchor="ctr"/>
          <a:lstStyle/>
          <a:p>
            <a:pPr indent="0" marL="0">
              <a:buNone/>
            </a:pPr>
            <a:r>
              <a:rPr lang="en-US" sz="1500" b="1" dirty="0">
                <a:solidFill>
                  <a:srgbClr val="242424"/>
                </a:solidFill>
                <a:latin typeface="Arial" pitchFamily="34" charset="0"/>
                <a:ea typeface="Arial" pitchFamily="34" charset="-122"/>
                <a:cs typeface="Arial" pitchFamily="34" charset="-120"/>
              </a:rPr>
              <a:t>Configuration at every level</a:t>
            </a:r>
            <a:endParaRPr lang="en-US" sz="1500" dirty="0"/>
          </a:p>
        </p:txBody>
      </p:sp>
      <p:sp>
        <p:nvSpPr>
          <p:cNvPr id="36" name="shape-903"/>
          <p:cNvSpPr/>
          <p:nvPr/>
        </p:nvSpPr>
        <p:spPr>
          <a:xfrm>
            <a:off x="3995928" y="4645152"/>
            <a:ext cx="822960" cy="960120"/>
          </a:xfrm>
          <a:prstGeom prst="roundRect">
            <a:avLst>
              <a:gd name="adj" fmla="val 8889"/>
            </a:avLst>
          </a:prstGeom>
          <a:solidFill>
            <a:srgbClr val="FFFFFF"/>
          </a:solidFill>
          <a:ln w="12700">
            <a:solidFill>
              <a:srgbClr val="E0E0E0"/>
            </a:solidFill>
            <a:prstDash val="solid"/>
          </a:ln>
        </p:spPr>
      </p:sp>
      <p:pic>
        <p:nvPicPr>
          <p:cNvPr id="37" name="icon-904" descr="preencoded.png">    </p:cNvPr>
          <p:cNvPicPr>
            <a:picLocks noChangeAspect="1"/>
          </p:cNvPicPr>
          <p:nvPr/>
        </p:nvPicPr>
        <p:blipFill>
          <a:blip r:embed="rId7"/>
          <a:stretch>
            <a:fillRect/>
          </a:stretch>
        </p:blipFill>
        <p:spPr>
          <a:xfrm>
            <a:off x="4261104" y="4727448"/>
            <a:ext cx="292608" cy="292608"/>
          </a:xfrm>
          <a:prstGeom prst="rect">
            <a:avLst/>
          </a:prstGeom>
        </p:spPr>
      </p:pic>
      <p:sp>
        <p:nvSpPr>
          <p:cNvPr id="38" name="text-905"/>
          <p:cNvSpPr txBox="1"/>
          <p:nvPr/>
        </p:nvSpPr>
        <p:spPr>
          <a:xfrm>
            <a:off x="4023360" y="5047488"/>
            <a:ext cx="768096" cy="502920"/>
          </a:xfrm>
          <a:prstGeom prst="rect">
            <a:avLst/>
          </a:prstGeom>
          <a:noFill/>
          <a:ln/>
        </p:spPr>
        <p:txBody>
          <a:bodyPr wrap="square" lIns="0" tIns="0" rIns="0" bIns="0" rtlCol="0" anchor="ctr"/>
          <a:lstStyle/>
          <a:p>
            <a:pPr algn="ctr" indent="0" marL="0">
              <a:buNone/>
            </a:pPr>
            <a:r>
              <a:rPr lang="en-US" sz="1000" b="1" dirty="0">
                <a:solidFill>
                  <a:srgbClr val="242424"/>
                </a:solidFill>
                <a:latin typeface="Arial" pitchFamily="34" charset="0"/>
                <a:ea typeface="Arial" pitchFamily="34" charset="-122"/>
                <a:cs typeface="Arial" pitchFamily="34" charset="-120"/>
              </a:rPr>
              <a:t>App Config</a:t>
            </a:r>
            <a:endParaRPr lang="en-US" sz="1000" dirty="0"/>
          </a:p>
        </p:txBody>
      </p:sp>
      <p:sp>
        <p:nvSpPr>
          <p:cNvPr id="39" name="shape-906"/>
          <p:cNvSpPr/>
          <p:nvPr/>
        </p:nvSpPr>
        <p:spPr>
          <a:xfrm>
            <a:off x="4910328" y="4645152"/>
            <a:ext cx="822960" cy="960120"/>
          </a:xfrm>
          <a:prstGeom prst="roundRect">
            <a:avLst>
              <a:gd name="adj" fmla="val 8889"/>
            </a:avLst>
          </a:prstGeom>
          <a:solidFill>
            <a:srgbClr val="FFFFFF"/>
          </a:solidFill>
          <a:ln w="12700">
            <a:solidFill>
              <a:srgbClr val="E0E0E0"/>
            </a:solidFill>
            <a:prstDash val="solid"/>
          </a:ln>
        </p:spPr>
      </p:sp>
      <p:pic>
        <p:nvPicPr>
          <p:cNvPr id="40" name="icon-907" descr="preencoded.png">    </p:cNvPr>
          <p:cNvPicPr>
            <a:picLocks noChangeAspect="1"/>
          </p:cNvPicPr>
          <p:nvPr/>
        </p:nvPicPr>
        <p:blipFill>
          <a:blip r:embed="rId8"/>
          <a:stretch>
            <a:fillRect/>
          </a:stretch>
        </p:blipFill>
        <p:spPr>
          <a:xfrm>
            <a:off x="5175504" y="4727448"/>
            <a:ext cx="292608" cy="292608"/>
          </a:xfrm>
          <a:prstGeom prst="rect">
            <a:avLst/>
          </a:prstGeom>
        </p:spPr>
      </p:pic>
      <p:sp>
        <p:nvSpPr>
          <p:cNvPr id="41" name="text-908"/>
          <p:cNvSpPr txBox="1"/>
          <p:nvPr/>
        </p:nvSpPr>
        <p:spPr>
          <a:xfrm>
            <a:off x="4937760" y="5047488"/>
            <a:ext cx="768096" cy="502920"/>
          </a:xfrm>
          <a:prstGeom prst="rect">
            <a:avLst/>
          </a:prstGeom>
          <a:noFill/>
          <a:ln/>
        </p:spPr>
        <p:txBody>
          <a:bodyPr wrap="square" lIns="0" tIns="0" rIns="0" bIns="0" rtlCol="0" anchor="ctr"/>
          <a:lstStyle/>
          <a:p>
            <a:pPr algn="ctr" indent="0" marL="0">
              <a:buNone/>
            </a:pPr>
            <a:r>
              <a:rPr lang="en-US" sz="1000" b="1" dirty="0">
                <a:solidFill>
                  <a:srgbClr val="242424"/>
                </a:solidFill>
                <a:latin typeface="Arial" pitchFamily="34" charset="0"/>
                <a:ea typeface="Arial" pitchFamily="34" charset="-122"/>
                <a:cs typeface="Arial" pitchFamily="34" charset="-120"/>
              </a:rPr>
              <a:t>Workspace Config</a:t>
            </a:r>
            <a:endParaRPr lang="en-US" sz="1000" dirty="0"/>
          </a:p>
        </p:txBody>
      </p:sp>
      <p:sp>
        <p:nvSpPr>
          <p:cNvPr id="42" name="shape-909"/>
          <p:cNvSpPr/>
          <p:nvPr/>
        </p:nvSpPr>
        <p:spPr>
          <a:xfrm>
            <a:off x="5824728" y="4645152"/>
            <a:ext cx="822960" cy="960120"/>
          </a:xfrm>
          <a:prstGeom prst="roundRect">
            <a:avLst>
              <a:gd name="adj" fmla="val 8889"/>
            </a:avLst>
          </a:prstGeom>
          <a:solidFill>
            <a:srgbClr val="FFFFFF"/>
          </a:solidFill>
          <a:ln w="12700">
            <a:solidFill>
              <a:srgbClr val="E0E0E0"/>
            </a:solidFill>
            <a:prstDash val="solid"/>
          </a:ln>
        </p:spPr>
      </p:sp>
      <p:pic>
        <p:nvPicPr>
          <p:cNvPr id="43" name="icon-910" descr="preencoded.png">    </p:cNvPr>
          <p:cNvPicPr>
            <a:picLocks noChangeAspect="1"/>
          </p:cNvPicPr>
          <p:nvPr/>
        </p:nvPicPr>
        <p:blipFill>
          <a:blip r:embed="rId9"/>
          <a:stretch>
            <a:fillRect/>
          </a:stretch>
        </p:blipFill>
        <p:spPr>
          <a:xfrm>
            <a:off x="6089904" y="4727448"/>
            <a:ext cx="292608" cy="292608"/>
          </a:xfrm>
          <a:prstGeom prst="rect">
            <a:avLst/>
          </a:prstGeom>
        </p:spPr>
      </p:pic>
      <p:sp>
        <p:nvSpPr>
          <p:cNvPr id="44" name="text-911"/>
          <p:cNvSpPr txBox="1"/>
          <p:nvPr/>
        </p:nvSpPr>
        <p:spPr>
          <a:xfrm>
            <a:off x="5852160" y="5047488"/>
            <a:ext cx="768096" cy="502920"/>
          </a:xfrm>
          <a:prstGeom prst="rect">
            <a:avLst/>
          </a:prstGeom>
          <a:noFill/>
          <a:ln/>
        </p:spPr>
        <p:txBody>
          <a:bodyPr wrap="square" lIns="0" tIns="0" rIns="0" bIns="0" rtlCol="0" anchor="ctr"/>
          <a:lstStyle/>
          <a:p>
            <a:pPr algn="ctr" indent="0" marL="0">
              <a:buNone/>
            </a:pPr>
            <a:r>
              <a:rPr lang="en-US" sz="1000" b="1" dirty="0">
                <a:solidFill>
                  <a:srgbClr val="242424"/>
                </a:solidFill>
                <a:latin typeface="Arial" pitchFamily="34" charset="0"/>
                <a:ea typeface="Arial" pitchFamily="34" charset="-122"/>
                <a:cs typeface="Arial" pitchFamily="34" charset="-120"/>
              </a:rPr>
              <a:t>Admin</a:t>
            </a:r>
            <a:endParaRPr lang="en-US" sz="1000" dirty="0"/>
          </a:p>
        </p:txBody>
      </p:sp>
      <p:sp>
        <p:nvSpPr>
          <p:cNvPr id="45" name="shape-912"/>
          <p:cNvSpPr/>
          <p:nvPr/>
        </p:nvSpPr>
        <p:spPr>
          <a:xfrm>
            <a:off x="6739128" y="4645152"/>
            <a:ext cx="822960" cy="960120"/>
          </a:xfrm>
          <a:prstGeom prst="roundRect">
            <a:avLst>
              <a:gd name="adj" fmla="val 8889"/>
            </a:avLst>
          </a:prstGeom>
          <a:solidFill>
            <a:srgbClr val="FFFFFF"/>
          </a:solidFill>
          <a:ln w="12700">
            <a:solidFill>
              <a:srgbClr val="E0E0E0"/>
            </a:solidFill>
            <a:prstDash val="solid"/>
          </a:ln>
        </p:spPr>
      </p:sp>
      <p:pic>
        <p:nvPicPr>
          <p:cNvPr id="46" name="icon-913" descr="preencoded.png">    </p:cNvPr>
          <p:cNvPicPr>
            <a:picLocks noChangeAspect="1"/>
          </p:cNvPicPr>
          <p:nvPr/>
        </p:nvPicPr>
        <p:blipFill>
          <a:blip r:embed="rId10"/>
          <a:stretch>
            <a:fillRect/>
          </a:stretch>
        </p:blipFill>
        <p:spPr>
          <a:xfrm>
            <a:off x="7004304" y="4727448"/>
            <a:ext cx="292608" cy="292608"/>
          </a:xfrm>
          <a:prstGeom prst="rect">
            <a:avLst/>
          </a:prstGeom>
        </p:spPr>
      </p:pic>
      <p:sp>
        <p:nvSpPr>
          <p:cNvPr id="47" name="text-914"/>
          <p:cNvSpPr txBox="1"/>
          <p:nvPr/>
        </p:nvSpPr>
        <p:spPr>
          <a:xfrm>
            <a:off x="6766560" y="5047488"/>
            <a:ext cx="768096" cy="502920"/>
          </a:xfrm>
          <a:prstGeom prst="rect">
            <a:avLst/>
          </a:prstGeom>
          <a:noFill/>
          <a:ln/>
        </p:spPr>
        <p:txBody>
          <a:bodyPr wrap="square" lIns="0" tIns="0" rIns="0" bIns="0" rtlCol="0" anchor="ctr"/>
          <a:lstStyle/>
          <a:p>
            <a:pPr algn="ctr" indent="0" marL="0">
              <a:buNone/>
            </a:pPr>
            <a:r>
              <a:rPr lang="en-US" sz="1000" b="1" dirty="0">
                <a:solidFill>
                  <a:srgbClr val="242424"/>
                </a:solidFill>
                <a:latin typeface="Arial" pitchFamily="34" charset="0"/>
                <a:ea typeface="Arial" pitchFamily="34" charset="-122"/>
                <a:cs typeface="Arial" pitchFamily="34" charset="-120"/>
              </a:rPr>
              <a:t>Super Admin</a:t>
            </a:r>
            <a:endParaRPr lang="en-US" sz="1000" dirty="0"/>
          </a:p>
        </p:txBody>
      </p:sp>
      <p:sp>
        <p:nvSpPr>
          <p:cNvPr id="48" name="text-915"/>
          <p:cNvSpPr txBox="1"/>
          <p:nvPr/>
        </p:nvSpPr>
        <p:spPr>
          <a:xfrm>
            <a:off x="3995928" y="5715000"/>
            <a:ext cx="3611880" cy="274320"/>
          </a:xfrm>
          <a:prstGeom prst="rect">
            <a:avLst/>
          </a:prstGeom>
          <a:noFill/>
          <a:ln/>
        </p:spPr>
        <p:txBody>
          <a:bodyPr wrap="square" lIns="0" tIns="0" rIns="0" bIns="0" rtlCol="0" anchor="ctr"/>
          <a:lstStyle/>
          <a:p>
            <a:pPr algn="ctr" indent="0" marL="0">
              <a:buNone/>
            </a:pPr>
            <a:r>
              <a:rPr lang="en-US" sz="1000" dirty="0">
                <a:solidFill>
                  <a:srgbClr val="767676"/>
                </a:solidFill>
                <a:latin typeface="Arial" pitchFamily="34" charset="0"/>
                <a:ea typeface="Arial" pitchFamily="34" charset="-122"/>
                <a:cs typeface="Arial" pitchFamily="34" charset="-120"/>
              </a:rPr>
              <a:t>Email, themes, templates, mappings, methodologies</a:t>
            </a:r>
            <a:endParaRPr lang="en-US" sz="1000" dirty="0"/>
          </a:p>
        </p:txBody>
      </p:sp>
      <p:sp>
        <p:nvSpPr>
          <p:cNvPr id="49" name="shape-916"/>
          <p:cNvSpPr/>
          <p:nvPr/>
        </p:nvSpPr>
        <p:spPr>
          <a:xfrm>
            <a:off x="7955280" y="1645920"/>
            <a:ext cx="3685032" cy="1389888"/>
          </a:xfrm>
          <a:prstGeom prst="roundRect">
            <a:avLst>
              <a:gd name="adj" fmla="val 9211"/>
            </a:avLst>
          </a:prstGeom>
          <a:solidFill>
            <a:srgbClr val="F2F2F2"/>
          </a:solidFill>
          <a:ln w="12700">
            <a:solidFill>
              <a:srgbClr val="F2F2F2"/>
            </a:solidFill>
            <a:prstDash val="solid"/>
          </a:ln>
        </p:spPr>
      </p:sp>
      <p:pic>
        <p:nvPicPr>
          <p:cNvPr id="50" name="icon-917" descr="preencoded.png">    </p:cNvPr>
          <p:cNvPicPr>
            <a:picLocks noChangeAspect="1"/>
          </p:cNvPicPr>
          <p:nvPr/>
        </p:nvPicPr>
        <p:blipFill>
          <a:blip r:embed="rId11"/>
          <a:stretch>
            <a:fillRect/>
          </a:stretch>
        </p:blipFill>
        <p:spPr>
          <a:xfrm>
            <a:off x="8156448" y="1783080"/>
            <a:ext cx="329184" cy="329184"/>
          </a:xfrm>
          <a:prstGeom prst="rect">
            <a:avLst/>
          </a:prstGeom>
        </p:spPr>
      </p:pic>
      <p:sp>
        <p:nvSpPr>
          <p:cNvPr id="51" name="text-918"/>
          <p:cNvSpPr txBox="1"/>
          <p:nvPr/>
        </p:nvSpPr>
        <p:spPr>
          <a:xfrm>
            <a:off x="8577072" y="1764792"/>
            <a:ext cx="2743200" cy="365760"/>
          </a:xfrm>
          <a:prstGeom prst="rect">
            <a:avLst/>
          </a:prstGeom>
          <a:noFill/>
          <a:ln/>
        </p:spPr>
        <p:txBody>
          <a:bodyPr wrap="square" lIns="0" tIns="0" rIns="0" bIns="0" rtlCol="0" anchor="ctr"/>
          <a:lstStyle/>
          <a:p>
            <a:pPr indent="0" marL="0">
              <a:buNone/>
            </a:pPr>
            <a:r>
              <a:rPr lang="en-US" sz="1500" b="1" dirty="0">
                <a:solidFill>
                  <a:srgbClr val="242424"/>
                </a:solidFill>
                <a:latin typeface="Arial" pitchFamily="34" charset="0"/>
                <a:ea typeface="Arial" pitchFamily="34" charset="-122"/>
                <a:cs typeface="Arial" pitchFamily="34" charset="-120"/>
              </a:rPr>
              <a:t>Automated backups</a:t>
            </a:r>
            <a:endParaRPr lang="en-US" sz="1500" dirty="0"/>
          </a:p>
        </p:txBody>
      </p:sp>
      <p:sp>
        <p:nvSpPr>
          <p:cNvPr id="52" name="shape-919"/>
          <p:cNvSpPr/>
          <p:nvPr/>
        </p:nvSpPr>
        <p:spPr>
          <a:xfrm>
            <a:off x="8156448" y="2267712"/>
            <a:ext cx="310896" cy="310896"/>
          </a:xfrm>
          <a:prstGeom prst="roundRect">
            <a:avLst>
              <a:gd name="adj" fmla="val 14706"/>
            </a:avLst>
          </a:prstGeom>
          <a:solidFill>
            <a:srgbClr val="0C9B5B"/>
          </a:solidFill>
          <a:ln w="12700">
            <a:solidFill>
              <a:srgbClr val="0C9B5B"/>
            </a:solidFill>
            <a:prstDash val="solid"/>
          </a:ln>
        </p:spPr>
      </p:sp>
      <p:sp>
        <p:nvSpPr>
          <p:cNvPr id="53" name="text-920"/>
          <p:cNvSpPr txBox="1"/>
          <p:nvPr/>
        </p:nvSpPr>
        <p:spPr>
          <a:xfrm>
            <a:off x="8156448" y="2267712"/>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F</a:t>
            </a:r>
            <a:endParaRPr lang="en-US" sz="1000" dirty="0"/>
          </a:p>
        </p:txBody>
      </p:sp>
      <p:sp>
        <p:nvSpPr>
          <p:cNvPr id="54" name="shape-921"/>
          <p:cNvSpPr/>
          <p:nvPr/>
        </p:nvSpPr>
        <p:spPr>
          <a:xfrm>
            <a:off x="8540496" y="2267712"/>
            <a:ext cx="310896" cy="310896"/>
          </a:xfrm>
          <a:prstGeom prst="roundRect">
            <a:avLst>
              <a:gd name="adj" fmla="val 14706"/>
            </a:avLst>
          </a:prstGeom>
          <a:solidFill>
            <a:srgbClr val="B7EDD6"/>
          </a:solidFill>
          <a:ln w="12700">
            <a:solidFill>
              <a:srgbClr val="B7EDD6"/>
            </a:solidFill>
            <a:prstDash val="solid"/>
          </a:ln>
        </p:spPr>
      </p:sp>
      <p:sp>
        <p:nvSpPr>
          <p:cNvPr id="55" name="text-922"/>
          <p:cNvSpPr txBox="1"/>
          <p:nvPr/>
        </p:nvSpPr>
        <p:spPr>
          <a:xfrm>
            <a:off x="8540496" y="2267712"/>
            <a:ext cx="310896" cy="310896"/>
          </a:xfrm>
          <a:prstGeom prst="rect">
            <a:avLst/>
          </a:prstGeom>
          <a:noFill/>
          <a:ln/>
        </p:spPr>
        <p:txBody>
          <a:bodyPr wrap="square" lIns="0" tIns="0" rIns="0" bIns="0" rtlCol="0" anchor="ctr"/>
          <a:lstStyle/>
          <a:p>
            <a:pPr algn="ctr" indent="0" marL="0">
              <a:buNone/>
            </a:pPr>
            <a:r>
              <a:rPr lang="en-US" sz="1000" b="1" dirty="0">
                <a:solidFill>
                  <a:srgbClr val="0B5E39"/>
                </a:solidFill>
                <a:latin typeface="Arial" pitchFamily="34" charset="0"/>
                <a:ea typeface="Arial" pitchFamily="34" charset="-122"/>
                <a:cs typeface="Arial" pitchFamily="34" charset="-120"/>
              </a:rPr>
              <a:t>L</a:t>
            </a:r>
            <a:endParaRPr lang="en-US" sz="1000" dirty="0"/>
          </a:p>
        </p:txBody>
      </p:sp>
      <p:sp>
        <p:nvSpPr>
          <p:cNvPr id="56" name="shape-923"/>
          <p:cNvSpPr/>
          <p:nvPr/>
        </p:nvSpPr>
        <p:spPr>
          <a:xfrm>
            <a:off x="8924544" y="2267712"/>
            <a:ext cx="310896" cy="310896"/>
          </a:xfrm>
          <a:prstGeom prst="roundRect">
            <a:avLst>
              <a:gd name="adj" fmla="val 14706"/>
            </a:avLst>
          </a:prstGeom>
          <a:solidFill>
            <a:srgbClr val="B7EDD6"/>
          </a:solidFill>
          <a:ln w="12700">
            <a:solidFill>
              <a:srgbClr val="B7EDD6"/>
            </a:solidFill>
            <a:prstDash val="solid"/>
          </a:ln>
        </p:spPr>
      </p:sp>
      <p:sp>
        <p:nvSpPr>
          <p:cNvPr id="57" name="text-924"/>
          <p:cNvSpPr txBox="1"/>
          <p:nvPr/>
        </p:nvSpPr>
        <p:spPr>
          <a:xfrm>
            <a:off x="8924544" y="2267712"/>
            <a:ext cx="310896" cy="310896"/>
          </a:xfrm>
          <a:prstGeom prst="rect">
            <a:avLst/>
          </a:prstGeom>
          <a:noFill/>
          <a:ln/>
        </p:spPr>
        <p:txBody>
          <a:bodyPr wrap="square" lIns="0" tIns="0" rIns="0" bIns="0" rtlCol="0" anchor="ctr"/>
          <a:lstStyle/>
          <a:p>
            <a:pPr algn="ctr" indent="0" marL="0">
              <a:buNone/>
            </a:pPr>
            <a:r>
              <a:rPr lang="en-US" sz="1000" b="1" dirty="0">
                <a:solidFill>
                  <a:srgbClr val="0B5E39"/>
                </a:solidFill>
                <a:latin typeface="Arial" pitchFamily="34" charset="0"/>
                <a:ea typeface="Arial" pitchFamily="34" charset="-122"/>
                <a:cs typeface="Arial" pitchFamily="34" charset="-120"/>
              </a:rPr>
              <a:t>L</a:t>
            </a:r>
            <a:endParaRPr lang="en-US" sz="1000" dirty="0"/>
          </a:p>
        </p:txBody>
      </p:sp>
      <p:sp>
        <p:nvSpPr>
          <p:cNvPr id="58" name="shape-925"/>
          <p:cNvSpPr/>
          <p:nvPr/>
        </p:nvSpPr>
        <p:spPr>
          <a:xfrm>
            <a:off x="9308592" y="2267712"/>
            <a:ext cx="310896" cy="310896"/>
          </a:xfrm>
          <a:prstGeom prst="roundRect">
            <a:avLst>
              <a:gd name="adj" fmla="val 14706"/>
            </a:avLst>
          </a:prstGeom>
          <a:solidFill>
            <a:srgbClr val="B7EDD6"/>
          </a:solidFill>
          <a:ln w="12700">
            <a:solidFill>
              <a:srgbClr val="B7EDD6"/>
            </a:solidFill>
            <a:prstDash val="solid"/>
          </a:ln>
        </p:spPr>
      </p:sp>
      <p:sp>
        <p:nvSpPr>
          <p:cNvPr id="59" name="text-926"/>
          <p:cNvSpPr txBox="1"/>
          <p:nvPr/>
        </p:nvSpPr>
        <p:spPr>
          <a:xfrm>
            <a:off x="9308592" y="2267712"/>
            <a:ext cx="310896" cy="310896"/>
          </a:xfrm>
          <a:prstGeom prst="rect">
            <a:avLst/>
          </a:prstGeom>
          <a:noFill/>
          <a:ln/>
        </p:spPr>
        <p:txBody>
          <a:bodyPr wrap="square" lIns="0" tIns="0" rIns="0" bIns="0" rtlCol="0" anchor="ctr"/>
          <a:lstStyle/>
          <a:p>
            <a:pPr algn="ctr" indent="0" marL="0">
              <a:buNone/>
            </a:pPr>
            <a:r>
              <a:rPr lang="en-US" sz="1000" b="1" dirty="0">
                <a:solidFill>
                  <a:srgbClr val="0B5E39"/>
                </a:solidFill>
                <a:latin typeface="Arial" pitchFamily="34" charset="0"/>
                <a:ea typeface="Arial" pitchFamily="34" charset="-122"/>
                <a:cs typeface="Arial" pitchFamily="34" charset="-120"/>
              </a:rPr>
              <a:t>L</a:t>
            </a:r>
            <a:endParaRPr lang="en-US" sz="1000" dirty="0"/>
          </a:p>
        </p:txBody>
      </p:sp>
      <p:sp>
        <p:nvSpPr>
          <p:cNvPr id="60" name="shape-927"/>
          <p:cNvSpPr/>
          <p:nvPr/>
        </p:nvSpPr>
        <p:spPr>
          <a:xfrm>
            <a:off x="9692640" y="2267712"/>
            <a:ext cx="310896" cy="310896"/>
          </a:xfrm>
          <a:prstGeom prst="roundRect">
            <a:avLst>
              <a:gd name="adj" fmla="val 14706"/>
            </a:avLst>
          </a:prstGeom>
          <a:solidFill>
            <a:srgbClr val="B7EDD6"/>
          </a:solidFill>
          <a:ln w="12700">
            <a:solidFill>
              <a:srgbClr val="B7EDD6"/>
            </a:solidFill>
            <a:prstDash val="solid"/>
          </a:ln>
        </p:spPr>
      </p:sp>
      <p:sp>
        <p:nvSpPr>
          <p:cNvPr id="61" name="text-928"/>
          <p:cNvSpPr txBox="1"/>
          <p:nvPr/>
        </p:nvSpPr>
        <p:spPr>
          <a:xfrm>
            <a:off x="9692640" y="2267712"/>
            <a:ext cx="310896" cy="310896"/>
          </a:xfrm>
          <a:prstGeom prst="rect">
            <a:avLst/>
          </a:prstGeom>
          <a:noFill/>
          <a:ln/>
        </p:spPr>
        <p:txBody>
          <a:bodyPr wrap="square" lIns="0" tIns="0" rIns="0" bIns="0" rtlCol="0" anchor="ctr"/>
          <a:lstStyle/>
          <a:p>
            <a:pPr algn="ctr" indent="0" marL="0">
              <a:buNone/>
            </a:pPr>
            <a:r>
              <a:rPr lang="en-US" sz="1000" b="1" dirty="0">
                <a:solidFill>
                  <a:srgbClr val="0B5E39"/>
                </a:solidFill>
                <a:latin typeface="Arial" pitchFamily="34" charset="0"/>
                <a:ea typeface="Arial" pitchFamily="34" charset="-122"/>
                <a:cs typeface="Arial" pitchFamily="34" charset="-120"/>
              </a:rPr>
              <a:t>L</a:t>
            </a:r>
            <a:endParaRPr lang="en-US" sz="1000" dirty="0"/>
          </a:p>
        </p:txBody>
      </p:sp>
      <p:sp>
        <p:nvSpPr>
          <p:cNvPr id="62" name="shape-929"/>
          <p:cNvSpPr/>
          <p:nvPr/>
        </p:nvSpPr>
        <p:spPr>
          <a:xfrm>
            <a:off x="10076688" y="2267712"/>
            <a:ext cx="310896" cy="310896"/>
          </a:xfrm>
          <a:prstGeom prst="roundRect">
            <a:avLst>
              <a:gd name="adj" fmla="val 14706"/>
            </a:avLst>
          </a:prstGeom>
          <a:solidFill>
            <a:srgbClr val="B7EDD6"/>
          </a:solidFill>
          <a:ln w="12700">
            <a:solidFill>
              <a:srgbClr val="B7EDD6"/>
            </a:solidFill>
            <a:prstDash val="solid"/>
          </a:ln>
        </p:spPr>
      </p:sp>
      <p:sp>
        <p:nvSpPr>
          <p:cNvPr id="63" name="text-930"/>
          <p:cNvSpPr txBox="1"/>
          <p:nvPr/>
        </p:nvSpPr>
        <p:spPr>
          <a:xfrm>
            <a:off x="10076688" y="2267712"/>
            <a:ext cx="310896" cy="310896"/>
          </a:xfrm>
          <a:prstGeom prst="rect">
            <a:avLst/>
          </a:prstGeom>
          <a:noFill/>
          <a:ln/>
        </p:spPr>
        <p:txBody>
          <a:bodyPr wrap="square" lIns="0" tIns="0" rIns="0" bIns="0" rtlCol="0" anchor="ctr"/>
          <a:lstStyle/>
          <a:p>
            <a:pPr algn="ctr" indent="0" marL="0">
              <a:buNone/>
            </a:pPr>
            <a:r>
              <a:rPr lang="en-US" sz="1000" b="1" dirty="0">
                <a:solidFill>
                  <a:srgbClr val="0B5E39"/>
                </a:solidFill>
                <a:latin typeface="Arial" pitchFamily="34" charset="0"/>
                <a:ea typeface="Arial" pitchFamily="34" charset="-122"/>
                <a:cs typeface="Arial" pitchFamily="34" charset="-120"/>
              </a:rPr>
              <a:t>L</a:t>
            </a:r>
            <a:endParaRPr lang="en-US" sz="1000" dirty="0"/>
          </a:p>
        </p:txBody>
      </p:sp>
      <p:sp>
        <p:nvSpPr>
          <p:cNvPr id="64" name="shape-931"/>
          <p:cNvSpPr/>
          <p:nvPr/>
        </p:nvSpPr>
        <p:spPr>
          <a:xfrm>
            <a:off x="10460736" y="2267712"/>
            <a:ext cx="310896" cy="310896"/>
          </a:xfrm>
          <a:prstGeom prst="roundRect">
            <a:avLst>
              <a:gd name="adj" fmla="val 14706"/>
            </a:avLst>
          </a:prstGeom>
          <a:solidFill>
            <a:srgbClr val="B7EDD6"/>
          </a:solidFill>
          <a:ln w="12700">
            <a:solidFill>
              <a:srgbClr val="B7EDD6"/>
            </a:solidFill>
            <a:prstDash val="solid"/>
          </a:ln>
        </p:spPr>
      </p:sp>
      <p:sp>
        <p:nvSpPr>
          <p:cNvPr id="65" name="text-932"/>
          <p:cNvSpPr txBox="1"/>
          <p:nvPr/>
        </p:nvSpPr>
        <p:spPr>
          <a:xfrm>
            <a:off x="10460736" y="2267712"/>
            <a:ext cx="310896" cy="310896"/>
          </a:xfrm>
          <a:prstGeom prst="rect">
            <a:avLst/>
          </a:prstGeom>
          <a:noFill/>
          <a:ln/>
        </p:spPr>
        <p:txBody>
          <a:bodyPr wrap="square" lIns="0" tIns="0" rIns="0" bIns="0" rtlCol="0" anchor="ctr"/>
          <a:lstStyle/>
          <a:p>
            <a:pPr algn="ctr" indent="0" marL="0">
              <a:buNone/>
            </a:pPr>
            <a:r>
              <a:rPr lang="en-US" sz="1000" b="1" dirty="0">
                <a:solidFill>
                  <a:srgbClr val="0B5E39"/>
                </a:solidFill>
                <a:latin typeface="Arial" pitchFamily="34" charset="0"/>
                <a:ea typeface="Arial" pitchFamily="34" charset="-122"/>
                <a:cs typeface="Arial" pitchFamily="34" charset="-120"/>
              </a:rPr>
              <a:t>L</a:t>
            </a:r>
            <a:endParaRPr lang="en-US" sz="1000" dirty="0"/>
          </a:p>
        </p:txBody>
      </p:sp>
      <p:sp>
        <p:nvSpPr>
          <p:cNvPr id="66" name="text-933"/>
          <p:cNvSpPr txBox="1"/>
          <p:nvPr/>
        </p:nvSpPr>
        <p:spPr>
          <a:xfrm>
            <a:off x="8156448" y="2633472"/>
            <a:ext cx="3337560" cy="320040"/>
          </a:xfrm>
          <a:prstGeom prst="rect">
            <a:avLst/>
          </a:prstGeom>
          <a:noFill/>
          <a:ln/>
        </p:spPr>
        <p:txBody>
          <a:bodyPr wrap="square" lIns="0" tIns="0" rIns="0" bIns="0" rtlCol="0" anchor="ctr"/>
          <a:lstStyle/>
          <a:p>
            <a:pPr indent="0" marL="0">
              <a:buNone/>
            </a:pPr>
            <a:r>
              <a:rPr lang="en-US" sz="1000" dirty="0">
                <a:solidFill>
                  <a:srgbClr val="767676"/>
                </a:solidFill>
                <a:latin typeface="Arial" pitchFamily="34" charset="0"/>
                <a:ea typeface="Arial" pitchFamily="34" charset="-122"/>
                <a:cs typeface="Arial" pitchFamily="34" charset="-120"/>
              </a:rPr>
              <a:t>Full + Light, hourly to monthly, smart retention</a:t>
            </a:r>
            <a:endParaRPr lang="en-US" sz="1000" dirty="0"/>
          </a:p>
        </p:txBody>
      </p:sp>
      <p:sp>
        <p:nvSpPr>
          <p:cNvPr id="67" name="shape-934"/>
          <p:cNvSpPr/>
          <p:nvPr/>
        </p:nvSpPr>
        <p:spPr>
          <a:xfrm>
            <a:off x="7955280" y="3214116"/>
            <a:ext cx="3685032" cy="1389888"/>
          </a:xfrm>
          <a:prstGeom prst="roundRect">
            <a:avLst>
              <a:gd name="adj" fmla="val 9211"/>
            </a:avLst>
          </a:prstGeom>
          <a:solidFill>
            <a:srgbClr val="F2F2F2"/>
          </a:solidFill>
          <a:ln w="12700">
            <a:solidFill>
              <a:srgbClr val="F2F2F2"/>
            </a:solidFill>
            <a:prstDash val="solid"/>
          </a:ln>
        </p:spPr>
      </p:sp>
      <p:pic>
        <p:nvPicPr>
          <p:cNvPr id="68" name="icon-935" descr="preencoded.png">    </p:cNvPr>
          <p:cNvPicPr>
            <a:picLocks noChangeAspect="1"/>
          </p:cNvPicPr>
          <p:nvPr/>
        </p:nvPicPr>
        <p:blipFill>
          <a:blip r:embed="rId12"/>
          <a:stretch>
            <a:fillRect/>
          </a:stretch>
        </p:blipFill>
        <p:spPr>
          <a:xfrm>
            <a:off x="8156448" y="3351276"/>
            <a:ext cx="329184" cy="329184"/>
          </a:xfrm>
          <a:prstGeom prst="rect">
            <a:avLst/>
          </a:prstGeom>
        </p:spPr>
      </p:pic>
      <p:sp>
        <p:nvSpPr>
          <p:cNvPr id="69" name="text-936"/>
          <p:cNvSpPr txBox="1"/>
          <p:nvPr/>
        </p:nvSpPr>
        <p:spPr>
          <a:xfrm>
            <a:off x="8577072" y="3332988"/>
            <a:ext cx="2743200" cy="365760"/>
          </a:xfrm>
          <a:prstGeom prst="rect">
            <a:avLst/>
          </a:prstGeom>
          <a:noFill/>
          <a:ln/>
        </p:spPr>
        <p:txBody>
          <a:bodyPr wrap="square" lIns="0" tIns="0" rIns="0" bIns="0" rtlCol="0" anchor="ctr"/>
          <a:lstStyle/>
          <a:p>
            <a:pPr indent="0" marL="0">
              <a:buNone/>
            </a:pPr>
            <a:r>
              <a:rPr lang="en-US" sz="1500" b="1" dirty="0">
                <a:solidFill>
                  <a:srgbClr val="242424"/>
                </a:solidFill>
                <a:latin typeface="Arial" pitchFamily="34" charset="0"/>
                <a:ea typeface="Arial" pitchFamily="34" charset="-122"/>
                <a:cs typeface="Arial" pitchFamily="34" charset="-120"/>
              </a:rPr>
              <a:t>Ticket Center</a:t>
            </a:r>
            <a:endParaRPr lang="en-US" sz="1500" dirty="0"/>
          </a:p>
        </p:txBody>
      </p:sp>
      <p:sp>
        <p:nvSpPr>
          <p:cNvPr id="70" name="shape-937"/>
          <p:cNvSpPr/>
          <p:nvPr/>
        </p:nvSpPr>
        <p:spPr>
          <a:xfrm>
            <a:off x="8156448" y="3840480"/>
            <a:ext cx="507492" cy="292608"/>
          </a:xfrm>
          <a:prstGeom prst="roundRect">
            <a:avLst>
              <a:gd name="adj" fmla="val 50000"/>
            </a:avLst>
          </a:prstGeom>
          <a:solidFill>
            <a:srgbClr val="CC2828"/>
          </a:solidFill>
          <a:ln w="12700">
            <a:solidFill>
              <a:srgbClr val="CC2828"/>
            </a:solidFill>
            <a:prstDash val="solid"/>
          </a:ln>
        </p:spPr>
      </p:sp>
      <p:sp>
        <p:nvSpPr>
          <p:cNvPr id="71" name="text-938"/>
          <p:cNvSpPr txBox="1"/>
          <p:nvPr/>
        </p:nvSpPr>
        <p:spPr>
          <a:xfrm>
            <a:off x="8156448" y="3840480"/>
            <a:ext cx="50749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Bug</a:t>
            </a:r>
            <a:endParaRPr lang="en-US" sz="1000" dirty="0"/>
          </a:p>
        </p:txBody>
      </p:sp>
      <p:sp>
        <p:nvSpPr>
          <p:cNvPr id="72" name="shape-939"/>
          <p:cNvSpPr/>
          <p:nvPr/>
        </p:nvSpPr>
        <p:spPr>
          <a:xfrm>
            <a:off x="8755380" y="3840480"/>
            <a:ext cx="1129284" cy="292608"/>
          </a:xfrm>
          <a:prstGeom prst="roundRect">
            <a:avLst>
              <a:gd name="adj" fmla="val 50000"/>
            </a:avLst>
          </a:prstGeom>
          <a:solidFill>
            <a:srgbClr val="0C9B5B"/>
          </a:solidFill>
          <a:ln w="12700">
            <a:solidFill>
              <a:srgbClr val="0C9B5B"/>
            </a:solidFill>
            <a:prstDash val="solid"/>
          </a:ln>
        </p:spPr>
      </p:sp>
      <p:sp>
        <p:nvSpPr>
          <p:cNvPr id="73" name="text-940"/>
          <p:cNvSpPr txBox="1"/>
          <p:nvPr/>
        </p:nvSpPr>
        <p:spPr>
          <a:xfrm>
            <a:off x="8755380" y="3840480"/>
            <a:ext cx="112928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Improvement</a:t>
            </a:r>
            <a:endParaRPr lang="en-US" sz="1000" dirty="0"/>
          </a:p>
        </p:txBody>
      </p:sp>
      <p:sp>
        <p:nvSpPr>
          <p:cNvPr id="74" name="shape-941"/>
          <p:cNvSpPr/>
          <p:nvPr/>
        </p:nvSpPr>
        <p:spPr>
          <a:xfrm>
            <a:off x="9976104" y="3840480"/>
            <a:ext cx="1129284" cy="292608"/>
          </a:xfrm>
          <a:prstGeom prst="roundRect">
            <a:avLst>
              <a:gd name="adj" fmla="val 50000"/>
            </a:avLst>
          </a:prstGeom>
          <a:solidFill>
            <a:srgbClr val="8C60A8"/>
          </a:solidFill>
          <a:ln w="12700">
            <a:solidFill>
              <a:srgbClr val="8C60A8"/>
            </a:solidFill>
            <a:prstDash val="solid"/>
          </a:ln>
        </p:spPr>
      </p:sp>
      <p:sp>
        <p:nvSpPr>
          <p:cNvPr id="75" name="text-942"/>
          <p:cNvSpPr txBox="1"/>
          <p:nvPr/>
        </p:nvSpPr>
        <p:spPr>
          <a:xfrm>
            <a:off x="9976104" y="3840480"/>
            <a:ext cx="112928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New Feature</a:t>
            </a:r>
            <a:endParaRPr lang="en-US" sz="1000" dirty="0"/>
          </a:p>
        </p:txBody>
      </p:sp>
      <p:sp>
        <p:nvSpPr>
          <p:cNvPr id="76" name="text-943"/>
          <p:cNvSpPr txBox="1"/>
          <p:nvPr/>
        </p:nvSpPr>
        <p:spPr>
          <a:xfrm>
            <a:off x="8156448" y="4206240"/>
            <a:ext cx="3337560" cy="320040"/>
          </a:xfrm>
          <a:prstGeom prst="rect">
            <a:avLst/>
          </a:prstGeom>
          <a:noFill/>
          <a:ln/>
        </p:spPr>
        <p:txBody>
          <a:bodyPr wrap="square" lIns="0" tIns="0" rIns="0" bIns="0" rtlCol="0" anchor="ctr"/>
          <a:lstStyle/>
          <a:p>
            <a:pPr indent="0" marL="0">
              <a:buNone/>
            </a:pPr>
            <a:r>
              <a:rPr lang="en-US" sz="1000" dirty="0">
                <a:solidFill>
                  <a:srgbClr val="767676"/>
                </a:solidFill>
                <a:latin typeface="Arial" pitchFamily="34" charset="0"/>
                <a:ea typeface="Arial" pitchFamily="34" charset="-122"/>
                <a:cs typeface="Arial" pitchFamily="34" charset="-120"/>
              </a:rPr>
              <a:t>P1 to P5, dashboard of open, resolved and ageing tickets</a:t>
            </a:r>
            <a:endParaRPr lang="en-US" sz="1000" dirty="0"/>
          </a:p>
        </p:txBody>
      </p:sp>
      <p:sp>
        <p:nvSpPr>
          <p:cNvPr id="77" name="shape-944"/>
          <p:cNvSpPr/>
          <p:nvPr/>
        </p:nvSpPr>
        <p:spPr>
          <a:xfrm>
            <a:off x="7955280" y="4782312"/>
            <a:ext cx="3685032" cy="1389888"/>
          </a:xfrm>
          <a:prstGeom prst="roundRect">
            <a:avLst>
              <a:gd name="adj" fmla="val 9211"/>
            </a:avLst>
          </a:prstGeom>
          <a:solidFill>
            <a:srgbClr val="F2F2F2"/>
          </a:solidFill>
          <a:ln w="12700">
            <a:solidFill>
              <a:srgbClr val="F2F2F2"/>
            </a:solidFill>
            <a:prstDash val="solid"/>
          </a:ln>
        </p:spPr>
      </p:sp>
      <p:pic>
        <p:nvPicPr>
          <p:cNvPr id="78" name="icon-945" descr="preencoded.png">    </p:cNvPr>
          <p:cNvPicPr>
            <a:picLocks noChangeAspect="1"/>
          </p:cNvPicPr>
          <p:nvPr/>
        </p:nvPicPr>
        <p:blipFill>
          <a:blip r:embed="rId13"/>
          <a:stretch>
            <a:fillRect/>
          </a:stretch>
        </p:blipFill>
        <p:spPr>
          <a:xfrm>
            <a:off x="8156448" y="4919472"/>
            <a:ext cx="329184" cy="329184"/>
          </a:xfrm>
          <a:prstGeom prst="rect">
            <a:avLst/>
          </a:prstGeom>
        </p:spPr>
      </p:pic>
      <p:sp>
        <p:nvSpPr>
          <p:cNvPr id="79" name="text-946"/>
          <p:cNvSpPr txBox="1"/>
          <p:nvPr/>
        </p:nvSpPr>
        <p:spPr>
          <a:xfrm>
            <a:off x="8577072" y="4901184"/>
            <a:ext cx="2743200" cy="365760"/>
          </a:xfrm>
          <a:prstGeom prst="rect">
            <a:avLst/>
          </a:prstGeom>
          <a:noFill/>
          <a:ln/>
        </p:spPr>
        <p:txBody>
          <a:bodyPr wrap="square" lIns="0" tIns="0" rIns="0" bIns="0" rtlCol="0" anchor="ctr"/>
          <a:lstStyle/>
          <a:p>
            <a:pPr indent="0" marL="0">
              <a:buNone/>
            </a:pPr>
            <a:r>
              <a:rPr lang="en-US" sz="1500" b="1" dirty="0">
                <a:solidFill>
                  <a:srgbClr val="242424"/>
                </a:solidFill>
                <a:latin typeface="Arial" pitchFamily="34" charset="0"/>
                <a:ea typeface="Arial" pitchFamily="34" charset="-122"/>
                <a:cs typeface="Arial" pitchFamily="34" charset="-120"/>
              </a:rPr>
              <a:t>Help &amp; quality</a:t>
            </a:r>
            <a:endParaRPr lang="en-US" sz="1500" dirty="0"/>
          </a:p>
        </p:txBody>
      </p:sp>
      <p:sp>
        <p:nvSpPr>
          <p:cNvPr id="80" name="text-947"/>
          <p:cNvSpPr txBox="1"/>
          <p:nvPr/>
        </p:nvSpPr>
        <p:spPr>
          <a:xfrm>
            <a:off x="8156448" y="5349240"/>
            <a:ext cx="1097280" cy="411480"/>
          </a:xfrm>
          <a:prstGeom prst="rect">
            <a:avLst/>
          </a:prstGeom>
          <a:noFill/>
          <a:ln/>
        </p:spPr>
        <p:txBody>
          <a:bodyPr wrap="square" lIns="0" tIns="0" rIns="0" bIns="0" rtlCol="0" anchor="ctr"/>
          <a:lstStyle/>
          <a:p>
            <a:pPr indent="0" marL="0">
              <a:buNone/>
            </a:pPr>
            <a:r>
              <a:rPr lang="en-US" sz="2200" b="1" dirty="0">
                <a:solidFill>
                  <a:srgbClr val="0068BF"/>
                </a:solidFill>
                <a:latin typeface="Arial" pitchFamily="34" charset="0"/>
                <a:ea typeface="Arial" pitchFamily="34" charset="-122"/>
                <a:cs typeface="Arial" pitchFamily="34" charset="-120"/>
              </a:rPr>
              <a:t>25</a:t>
            </a:r>
            <a:endParaRPr lang="en-US" sz="2200" dirty="0"/>
          </a:p>
        </p:txBody>
      </p:sp>
      <p:sp>
        <p:nvSpPr>
          <p:cNvPr id="81" name="text-948"/>
          <p:cNvSpPr txBox="1"/>
          <p:nvPr/>
        </p:nvSpPr>
        <p:spPr>
          <a:xfrm>
            <a:off x="8156448" y="5760720"/>
            <a:ext cx="1097280" cy="274320"/>
          </a:xfrm>
          <a:prstGeom prst="rect">
            <a:avLst/>
          </a:prstGeom>
          <a:noFill/>
          <a:ln/>
        </p:spPr>
        <p:txBody>
          <a:bodyPr wrap="square" lIns="0" tIns="0" rIns="0" bIns="0" rtlCol="0" anchor="ctr"/>
          <a:lstStyle/>
          <a:p>
            <a:pPr indent="0" marL="0">
              <a:buNone/>
            </a:pPr>
            <a:r>
              <a:rPr lang="en-US" sz="1000" dirty="0">
                <a:solidFill>
                  <a:srgbClr val="767676"/>
                </a:solidFill>
                <a:latin typeface="Arial" pitchFamily="34" charset="0"/>
                <a:ea typeface="Arial" pitchFamily="34" charset="-122"/>
                <a:cs typeface="Arial" pitchFamily="34" charset="-120"/>
              </a:rPr>
              <a:t>Help chapters</a:t>
            </a:r>
            <a:endParaRPr lang="en-US" sz="1000" dirty="0"/>
          </a:p>
        </p:txBody>
      </p:sp>
      <p:sp>
        <p:nvSpPr>
          <p:cNvPr id="82" name="text-949"/>
          <p:cNvSpPr txBox="1"/>
          <p:nvPr/>
        </p:nvSpPr>
        <p:spPr>
          <a:xfrm>
            <a:off x="9299448" y="5349240"/>
            <a:ext cx="1097280" cy="411480"/>
          </a:xfrm>
          <a:prstGeom prst="rect">
            <a:avLst/>
          </a:prstGeom>
          <a:noFill/>
          <a:ln/>
        </p:spPr>
        <p:txBody>
          <a:bodyPr wrap="square" lIns="0" tIns="0" rIns="0" bIns="0" rtlCol="0" anchor="ctr"/>
          <a:lstStyle/>
          <a:p>
            <a:pPr indent="0" marL="0">
              <a:buNone/>
            </a:pPr>
            <a:r>
              <a:rPr lang="en-US" sz="2200" b="1" dirty="0">
                <a:solidFill>
                  <a:srgbClr val="0068BF"/>
                </a:solidFill>
                <a:latin typeface="Arial" pitchFamily="34" charset="0"/>
                <a:ea typeface="Arial" pitchFamily="34" charset="-122"/>
                <a:cs typeface="Arial" pitchFamily="34" charset="-120"/>
              </a:rPr>
              <a:t>1,895</a:t>
            </a:r>
            <a:endParaRPr lang="en-US" sz="2200" dirty="0"/>
          </a:p>
        </p:txBody>
      </p:sp>
      <p:sp>
        <p:nvSpPr>
          <p:cNvPr id="83" name="text-950"/>
          <p:cNvSpPr txBox="1"/>
          <p:nvPr/>
        </p:nvSpPr>
        <p:spPr>
          <a:xfrm>
            <a:off x="9299448" y="5760720"/>
            <a:ext cx="1097280" cy="274320"/>
          </a:xfrm>
          <a:prstGeom prst="rect">
            <a:avLst/>
          </a:prstGeom>
          <a:noFill/>
          <a:ln/>
        </p:spPr>
        <p:txBody>
          <a:bodyPr wrap="square" lIns="0" tIns="0" rIns="0" bIns="0" rtlCol="0" anchor="ctr"/>
          <a:lstStyle/>
          <a:p>
            <a:pPr indent="0" marL="0">
              <a:buNone/>
            </a:pPr>
            <a:r>
              <a:rPr lang="en-US" sz="1000" dirty="0">
                <a:solidFill>
                  <a:srgbClr val="767676"/>
                </a:solidFill>
                <a:latin typeface="Arial" pitchFamily="34" charset="0"/>
                <a:ea typeface="Arial" pitchFamily="34" charset="-122"/>
                <a:cs typeface="Arial" pitchFamily="34" charset="-120"/>
              </a:rPr>
              <a:t>automated tests</a:t>
            </a:r>
            <a:endParaRPr lang="en-US" sz="1000" dirty="0"/>
          </a:p>
        </p:txBody>
      </p:sp>
      <p:sp>
        <p:nvSpPr>
          <p:cNvPr id="84" name="text-951"/>
          <p:cNvSpPr txBox="1"/>
          <p:nvPr/>
        </p:nvSpPr>
        <p:spPr>
          <a:xfrm>
            <a:off x="10442448" y="5349240"/>
            <a:ext cx="1097280" cy="411480"/>
          </a:xfrm>
          <a:prstGeom prst="rect">
            <a:avLst/>
          </a:prstGeom>
          <a:noFill/>
          <a:ln/>
        </p:spPr>
        <p:txBody>
          <a:bodyPr wrap="square" lIns="0" tIns="0" rIns="0" bIns="0" rtlCol="0" anchor="ctr"/>
          <a:lstStyle/>
          <a:p>
            <a:pPr indent="0" marL="0">
              <a:buNone/>
            </a:pPr>
            <a:r>
              <a:rPr lang="en-US" sz="2200" b="1" dirty="0">
                <a:solidFill>
                  <a:srgbClr val="0068BF"/>
                </a:solidFill>
                <a:latin typeface="Arial" pitchFamily="34" charset="0"/>
                <a:ea typeface="Arial" pitchFamily="34" charset="-122"/>
                <a:cs typeface="Arial" pitchFamily="34" charset="-120"/>
              </a:rPr>
              <a:t>24</a:t>
            </a:r>
            <a:endParaRPr lang="en-US" sz="2200" dirty="0"/>
          </a:p>
        </p:txBody>
      </p:sp>
      <p:sp>
        <p:nvSpPr>
          <p:cNvPr id="85" name="text-952"/>
          <p:cNvSpPr txBox="1"/>
          <p:nvPr/>
        </p:nvSpPr>
        <p:spPr>
          <a:xfrm>
            <a:off x="10442448" y="5760720"/>
            <a:ext cx="1097280" cy="274320"/>
          </a:xfrm>
          <a:prstGeom prst="rect">
            <a:avLst/>
          </a:prstGeom>
          <a:noFill/>
          <a:ln/>
        </p:spPr>
        <p:txBody>
          <a:bodyPr wrap="square" lIns="0" tIns="0" rIns="0" bIns="0" rtlCol="0" anchor="ctr"/>
          <a:lstStyle/>
          <a:p>
            <a:pPr indent="0" marL="0">
              <a:buNone/>
            </a:pPr>
            <a:r>
              <a:rPr lang="en-US" sz="1000" dirty="0">
                <a:solidFill>
                  <a:srgbClr val="767676"/>
                </a:solidFill>
                <a:latin typeface="Arial" pitchFamily="34" charset="0"/>
                <a:ea typeface="Arial" pitchFamily="34" charset="-122"/>
                <a:cs typeface="Arial" pitchFamily="34" charset="-120"/>
              </a:rPr>
              <a:t>releases</a:t>
            </a:r>
            <a:endParaRPr lang="en-US" sz="1000" dirty="0"/>
          </a:p>
        </p:txBody>
      </p:sp>
      <p:sp>
        <p:nvSpPr>
          <p:cNvPr id="25" name="Slide Number Placeholder 0"/>
          <p:cNvSpPr>
            <a:spLocks noGrp="1"/>
          </p:cNvSpPr>
          <p:nvPr>
            <p:ph type="sldNum" sz="quarter" idx="4294967295"/>
          </p:nvPr>
        </p:nvSpPr>
        <p:spPr>
          <a:xfrm>
            <a:off x="548640" y="640080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67676"/>
                </a:solidFill>
                <a:latin typeface="Arial"/>
                <a:ea typeface="Arial"/>
                <a:cs typeface="Aria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Roadmap road" descr="/var/folders/pl/_b6qn8zs2_lc59t589_46cyc0000gn/T/drivetest-presentations-rNxAPW/roadmap-road.png">    </p:cNvPr>
          <p:cNvPicPr>
            <a:picLocks noChangeAspect="1"/>
          </p:cNvPicPr>
          <p:nvPr/>
        </p:nvPicPr>
        <p:blipFill>
          <a:blip r:embed="rId1"/>
          <a:stretch>
            <a:fillRect/>
          </a:stretch>
        </p:blipFill>
        <p:spPr>
          <a:xfrm>
            <a:off x="0" y="0"/>
            <a:ext cx="12191695" cy="6858000"/>
          </a:xfrm>
          <a:prstGeom prst="rect">
            <a:avLst/>
          </a:prstGeom>
        </p:spPr>
      </p:pic>
      <p:sp>
        <p:nvSpPr>
          <p:cNvPr id="3" name="Text 1"/>
          <p:cNvSpPr/>
          <p:nvPr>
            <p:ph idx="102" type="title" hasCustomPrompt="1"/>
          </p:nvPr>
        </p:nvSpPr>
        <p:spPr>
          <a:xfrm>
            <a:off x="548640" y="384048"/>
            <a:ext cx="10424160" cy="658368"/>
          </a:xfrm>
          <a:prstGeom prst="rect">
            <a:avLst/>
          </a:prstGeom>
          <a:noFill/>
          <a:ln/>
        </p:spPr>
        <p:txBody>
          <a:bodyPr wrap="square" lIns="0" tIns="0" rIns="0" bIns="0" rtlCol="0" anchor="ctr"/>
          <a:lstStyle/>
          <a:p>
            <a:pPr algn="l" indent="0" marL="0">
              <a:buNone/>
            </a:pPr>
            <a:r>
              <a:rPr lang="en-US" sz="3000" dirty="0">
                <a:solidFill>
                  <a:srgbClr val="000000"/>
                </a:solidFill>
                <a:latin typeface="Arial" pitchFamily="34" charset="0"/>
                <a:ea typeface="Arial" pitchFamily="34" charset="-122"/>
                <a:cs typeface="Arial" pitchFamily="34" charset="-120"/>
              </a:rPr>
              <a:t>Roadmap — </a:t>
            </a:r>
            <a:pPr algn="l" indent="0" marL="0">
              <a:buNone/>
            </a:pPr>
            <a:r>
              <a:rPr lang="en-US" sz="3000" b="1" dirty="0">
                <a:solidFill>
                  <a:srgbClr val="0068BF"/>
                </a:solidFill>
                <a:latin typeface="Arial" pitchFamily="34" charset="0"/>
                <a:ea typeface="Arial" pitchFamily="34" charset="-122"/>
                <a:cs typeface="Arial" pitchFamily="34" charset="-120"/>
              </a:rPr>
              <a:t>what comes next</a:t>
            </a:r>
            <a:endParaRPr lang="en-US" sz="3000" dirty="0"/>
          </a:p>
        </p:txBody>
      </p:sp>
      <p:sp>
        <p:nvSpPr>
          <p:cNvPr id="4" name="text-953"/>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dirty="0">
                <a:solidFill>
                  <a:srgbClr val="767676"/>
                </a:solidFill>
                <a:latin typeface="Arial" pitchFamily="34" charset="0"/>
                <a:ea typeface="Arial" pitchFamily="34" charset="-122"/>
                <a:cs typeface="Arial" pitchFamily="34" charset="-120"/>
              </a:rPr>
              <a:t>Intentions, not commitments, shaped by the teams that use the tool</a:t>
            </a:r>
            <a:endParaRPr lang="en-US" sz="1500" dirty="0"/>
          </a:p>
        </p:txBody>
      </p:sp>
      <p:sp>
        <p:nvSpPr>
          <p:cNvPr id="5" name="shape-954"/>
          <p:cNvSpPr/>
          <p:nvPr/>
        </p:nvSpPr>
        <p:spPr>
          <a:xfrm>
            <a:off x="1783080" y="3291840"/>
            <a:ext cx="914" cy="265176"/>
          </a:xfrm>
          <a:prstGeom prst="line">
            <a:avLst/>
          </a:prstGeom>
          <a:noFill/>
          <a:ln w="25400">
            <a:solidFill>
              <a:srgbClr val="0C9B5B"/>
            </a:solidFill>
            <a:prstDash val="dash"/>
          </a:ln>
        </p:spPr>
      </p:sp>
      <p:sp>
        <p:nvSpPr>
          <p:cNvPr id="6" name="shape-955"/>
          <p:cNvSpPr/>
          <p:nvPr/>
        </p:nvSpPr>
        <p:spPr>
          <a:xfrm>
            <a:off x="548640" y="1600200"/>
            <a:ext cx="2514600" cy="1691640"/>
          </a:xfrm>
          <a:prstGeom prst="roundRect">
            <a:avLst>
              <a:gd name="adj" fmla="val 7568"/>
            </a:avLst>
          </a:prstGeom>
          <a:solidFill>
            <a:srgbClr val="FFFFFF"/>
          </a:solidFill>
          <a:ln w="12700">
            <a:solidFill>
              <a:srgbClr val="E0E0E0"/>
            </a:solidFill>
            <a:prstDash val="solid"/>
          </a:ln>
          <a:effectLst>
            <a:outerShdw sx="100000" sy="100000" kx="0" ky="0" algn="bl" rotWithShape="0" blurRad="101600" dist="25400" dir="5400000">
              <a:srgbClr val="000000">
                <a:alpha val="12000"/>
              </a:srgbClr>
            </a:outerShdw>
          </a:effectLst>
        </p:spPr>
      </p:sp>
      <p:sp>
        <p:nvSpPr>
          <p:cNvPr id="7" name="shape-956"/>
          <p:cNvSpPr/>
          <p:nvPr/>
        </p:nvSpPr>
        <p:spPr>
          <a:xfrm>
            <a:off x="731520" y="1764792"/>
            <a:ext cx="822960" cy="274320"/>
          </a:xfrm>
          <a:prstGeom prst="roundRect">
            <a:avLst>
              <a:gd name="adj" fmla="val 50000"/>
            </a:avLst>
          </a:prstGeom>
          <a:solidFill>
            <a:srgbClr val="0C9B5B"/>
          </a:solidFill>
          <a:ln w="12700">
            <a:solidFill>
              <a:srgbClr val="0C9B5B"/>
            </a:solidFill>
            <a:prstDash val="solid"/>
          </a:ln>
        </p:spPr>
      </p:sp>
      <p:sp>
        <p:nvSpPr>
          <p:cNvPr id="8" name="text-957"/>
          <p:cNvSpPr txBox="1"/>
          <p:nvPr/>
        </p:nvSpPr>
        <p:spPr>
          <a:xfrm>
            <a:off x="731520" y="1764792"/>
            <a:ext cx="822960" cy="274320"/>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Arial" pitchFamily="34" charset="0"/>
                <a:ea typeface="Arial" pitchFamily="34" charset="-122"/>
                <a:cs typeface="Arial" pitchFamily="34" charset="-120"/>
              </a:rPr>
              <a:t>TODAY</a:t>
            </a:r>
            <a:endParaRPr lang="en-US" sz="1050" dirty="0"/>
          </a:p>
        </p:txBody>
      </p:sp>
      <p:sp>
        <p:nvSpPr>
          <p:cNvPr id="9" name="shape-958"/>
          <p:cNvSpPr/>
          <p:nvPr/>
        </p:nvSpPr>
        <p:spPr>
          <a:xfrm>
            <a:off x="731520" y="2203704"/>
            <a:ext cx="384048" cy="384048"/>
          </a:xfrm>
          <a:prstGeom prst="ellipse">
            <a:avLst/>
          </a:prstGeom>
          <a:solidFill>
            <a:srgbClr val="0C9B5B"/>
          </a:solidFill>
          <a:ln w="12700">
            <a:solidFill>
              <a:srgbClr val="0C9B5B"/>
            </a:solidFill>
            <a:prstDash val="solid"/>
          </a:ln>
        </p:spPr>
      </p:sp>
      <p:pic>
        <p:nvPicPr>
          <p:cNvPr id="10" name="icon-959" descr="preencoded.png">    </p:cNvPr>
          <p:cNvPicPr>
            <a:picLocks noChangeAspect="1"/>
          </p:cNvPicPr>
          <p:nvPr/>
        </p:nvPicPr>
        <p:blipFill>
          <a:blip r:embed="rId2"/>
          <a:stretch>
            <a:fillRect/>
          </a:stretch>
        </p:blipFill>
        <p:spPr>
          <a:xfrm>
            <a:off x="816011" y="2288195"/>
            <a:ext cx="215067" cy="215067"/>
          </a:xfrm>
          <a:prstGeom prst="rect">
            <a:avLst/>
          </a:prstGeom>
        </p:spPr>
      </p:pic>
      <p:sp>
        <p:nvSpPr>
          <p:cNvPr id="11" name="text-960"/>
          <p:cNvSpPr txBox="1"/>
          <p:nvPr/>
        </p:nvSpPr>
        <p:spPr>
          <a:xfrm>
            <a:off x="1225296" y="2167128"/>
            <a:ext cx="1691640" cy="246888"/>
          </a:xfrm>
          <a:prstGeom prst="rect">
            <a:avLst/>
          </a:prstGeom>
          <a:noFill/>
          <a:ln/>
        </p:spPr>
        <p:txBody>
          <a:bodyPr wrap="square" lIns="0" tIns="0" rIns="0" bIns="0" rtlCol="0" anchor="ctr"/>
          <a:lstStyle/>
          <a:p>
            <a:pPr indent="0" marL="0">
              <a:buNone/>
            </a:pPr>
            <a:r>
              <a:rPr lang="en-US" sz="1350" b="1" dirty="0">
                <a:solidFill>
                  <a:srgbClr val="242424"/>
                </a:solidFill>
                <a:latin typeface="Arial" pitchFamily="34" charset="0"/>
                <a:ea typeface="Arial" pitchFamily="34" charset="-122"/>
                <a:cs typeface="Arial" pitchFamily="34" charset="-120"/>
              </a:rPr>
              <a:t>8 modules live</a:t>
            </a:r>
            <a:endParaRPr lang="en-US" sz="1350" dirty="0"/>
          </a:p>
        </p:txBody>
      </p:sp>
      <p:sp>
        <p:nvSpPr>
          <p:cNvPr id="12" name="text-961"/>
          <p:cNvSpPr txBox="1"/>
          <p:nvPr/>
        </p:nvSpPr>
        <p:spPr>
          <a:xfrm>
            <a:off x="1225296" y="2414016"/>
            <a:ext cx="1691640" cy="219456"/>
          </a:xfrm>
          <a:prstGeom prst="rect">
            <a:avLst/>
          </a:prstGeom>
          <a:noFill/>
          <a:ln/>
        </p:spPr>
        <p:txBody>
          <a:bodyPr wrap="square" lIns="0" tIns="0" rIns="0" bIns="0" rtlCol="0" anchor="ctr"/>
          <a:lstStyle/>
          <a:p>
            <a:pPr indent="0" marL="0">
              <a:buNone/>
            </a:pPr>
            <a:r>
              <a:rPr lang="en-US" sz="1050" dirty="0">
                <a:solidFill>
                  <a:srgbClr val="767676"/>
                </a:solidFill>
                <a:latin typeface="Arial" pitchFamily="34" charset="0"/>
                <a:ea typeface="Arial" pitchFamily="34" charset="-122"/>
                <a:cs typeface="Arial" pitchFamily="34" charset="-120"/>
              </a:rPr>
              <a:t>UK, 9 campaigns</a:t>
            </a:r>
            <a:endParaRPr lang="en-US" sz="1050" dirty="0"/>
          </a:p>
        </p:txBody>
      </p:sp>
      <p:sp>
        <p:nvSpPr>
          <p:cNvPr id="13" name="shape-962"/>
          <p:cNvSpPr/>
          <p:nvPr/>
        </p:nvSpPr>
        <p:spPr>
          <a:xfrm>
            <a:off x="731520" y="2715768"/>
            <a:ext cx="384048" cy="384048"/>
          </a:xfrm>
          <a:prstGeom prst="ellipse">
            <a:avLst/>
          </a:prstGeom>
          <a:solidFill>
            <a:srgbClr val="0C9B5B"/>
          </a:solidFill>
          <a:ln w="12700">
            <a:solidFill>
              <a:srgbClr val="0C9B5B"/>
            </a:solidFill>
            <a:prstDash val="solid"/>
          </a:ln>
        </p:spPr>
      </p:sp>
      <p:pic>
        <p:nvPicPr>
          <p:cNvPr id="14" name="icon-963" descr="preencoded.png">    </p:cNvPr>
          <p:cNvPicPr>
            <a:picLocks noChangeAspect="1"/>
          </p:cNvPicPr>
          <p:nvPr/>
        </p:nvPicPr>
        <p:blipFill>
          <a:blip r:embed="rId3"/>
          <a:stretch>
            <a:fillRect/>
          </a:stretch>
        </p:blipFill>
        <p:spPr>
          <a:xfrm>
            <a:off x="816011" y="2800259"/>
            <a:ext cx="215067" cy="215067"/>
          </a:xfrm>
          <a:prstGeom prst="rect">
            <a:avLst/>
          </a:prstGeom>
        </p:spPr>
      </p:pic>
      <p:sp>
        <p:nvSpPr>
          <p:cNvPr id="15" name="text-964"/>
          <p:cNvSpPr txBox="1"/>
          <p:nvPr/>
        </p:nvSpPr>
        <p:spPr>
          <a:xfrm>
            <a:off x="1225296" y="2679192"/>
            <a:ext cx="1691640" cy="246888"/>
          </a:xfrm>
          <a:prstGeom prst="rect">
            <a:avLst/>
          </a:prstGeom>
          <a:noFill/>
          <a:ln/>
        </p:spPr>
        <p:txBody>
          <a:bodyPr wrap="square" lIns="0" tIns="0" rIns="0" bIns="0" rtlCol="0" anchor="ctr"/>
          <a:lstStyle/>
          <a:p>
            <a:pPr indent="0" marL="0">
              <a:buNone/>
            </a:pPr>
            <a:r>
              <a:rPr lang="en-US" sz="1350" b="1" dirty="0">
                <a:solidFill>
                  <a:srgbClr val="242424"/>
                </a:solidFill>
                <a:latin typeface="Arial" pitchFamily="34" charset="0"/>
                <a:ea typeface="Arial" pitchFamily="34" charset="-122"/>
                <a:cs typeface="Arial" pitchFamily="34" charset="-120"/>
              </a:rPr>
              <a:t>Germany pilot</a:t>
            </a:r>
            <a:endParaRPr lang="en-US" sz="1350" dirty="0"/>
          </a:p>
        </p:txBody>
      </p:sp>
      <p:sp>
        <p:nvSpPr>
          <p:cNvPr id="16" name="text-965"/>
          <p:cNvSpPr txBox="1"/>
          <p:nvPr/>
        </p:nvSpPr>
        <p:spPr>
          <a:xfrm>
            <a:off x="1225296" y="2926080"/>
            <a:ext cx="1691640" cy="219456"/>
          </a:xfrm>
          <a:prstGeom prst="rect">
            <a:avLst/>
          </a:prstGeom>
          <a:noFill/>
          <a:ln/>
        </p:spPr>
        <p:txBody>
          <a:bodyPr wrap="square" lIns="0" tIns="0" rIns="0" bIns="0" rtlCol="0" anchor="ctr"/>
          <a:lstStyle/>
          <a:p>
            <a:pPr indent="0" marL="0">
              <a:buNone/>
            </a:pPr>
            <a:r>
              <a:rPr lang="en-US" sz="1050" dirty="0">
                <a:solidFill>
                  <a:srgbClr val="767676"/>
                </a:solidFill>
                <a:latin typeface="Arial" pitchFamily="34" charset="0"/>
                <a:ea typeface="Arial" pitchFamily="34" charset="-122"/>
                <a:cs typeface="Arial" pitchFamily="34" charset="-120"/>
              </a:rPr>
              <a:t>First DE test campaign</a:t>
            </a:r>
            <a:endParaRPr lang="en-US" sz="1050" dirty="0"/>
          </a:p>
        </p:txBody>
      </p:sp>
      <p:sp>
        <p:nvSpPr>
          <p:cNvPr id="17" name="shape-966"/>
          <p:cNvSpPr/>
          <p:nvPr/>
        </p:nvSpPr>
        <p:spPr>
          <a:xfrm>
            <a:off x="1472184" y="3529584"/>
            <a:ext cx="621792" cy="621792"/>
          </a:xfrm>
          <a:prstGeom prst="ellipse">
            <a:avLst/>
          </a:prstGeom>
          <a:solidFill>
            <a:srgbClr val="FFFFFF"/>
          </a:solidFill>
          <a:ln w="12700">
            <a:solidFill>
              <a:srgbClr val="FFFFFF"/>
            </a:solidFill>
            <a:prstDash val="solid"/>
          </a:ln>
          <a:effectLst>
            <a:outerShdw sx="100000" sy="100000" kx="0" ky="0" algn="bl" rotWithShape="0" blurRad="76200" dist="19050" dir="5400000">
              <a:srgbClr val="000000">
                <a:alpha val="25000"/>
              </a:srgbClr>
            </a:outerShdw>
          </a:effectLst>
        </p:spPr>
      </p:sp>
      <p:sp>
        <p:nvSpPr>
          <p:cNvPr id="18" name="shape-967"/>
          <p:cNvSpPr/>
          <p:nvPr/>
        </p:nvSpPr>
        <p:spPr>
          <a:xfrm>
            <a:off x="1527048" y="3584448"/>
            <a:ext cx="512064" cy="512064"/>
          </a:xfrm>
          <a:prstGeom prst="ellipse">
            <a:avLst/>
          </a:prstGeom>
          <a:solidFill>
            <a:srgbClr val="0C9B5B"/>
          </a:solidFill>
          <a:ln w="12700">
            <a:solidFill>
              <a:srgbClr val="0C9B5B"/>
            </a:solidFill>
            <a:prstDash val="solid"/>
          </a:ln>
        </p:spPr>
      </p:sp>
      <p:pic>
        <p:nvPicPr>
          <p:cNvPr id="19" name="icon-968" descr="preencoded.png">    </p:cNvPr>
          <p:cNvPicPr>
            <a:picLocks noChangeAspect="1"/>
          </p:cNvPicPr>
          <p:nvPr/>
        </p:nvPicPr>
        <p:blipFill>
          <a:blip r:embed="rId4"/>
          <a:stretch>
            <a:fillRect/>
          </a:stretch>
        </p:blipFill>
        <p:spPr>
          <a:xfrm>
            <a:off x="1639702" y="3697102"/>
            <a:ext cx="286756" cy="286756"/>
          </a:xfrm>
          <a:prstGeom prst="rect">
            <a:avLst/>
          </a:prstGeom>
        </p:spPr>
      </p:pic>
      <p:sp>
        <p:nvSpPr>
          <p:cNvPr id="20" name="shape-969"/>
          <p:cNvSpPr/>
          <p:nvPr/>
        </p:nvSpPr>
        <p:spPr>
          <a:xfrm>
            <a:off x="4160520" y="4123944"/>
            <a:ext cx="914" cy="246888"/>
          </a:xfrm>
          <a:prstGeom prst="line">
            <a:avLst/>
          </a:prstGeom>
          <a:noFill/>
          <a:ln w="25400">
            <a:solidFill>
              <a:srgbClr val="0082F0"/>
            </a:solidFill>
            <a:prstDash val="dash"/>
          </a:ln>
        </p:spPr>
      </p:sp>
      <p:sp>
        <p:nvSpPr>
          <p:cNvPr id="21" name="shape-970"/>
          <p:cNvSpPr/>
          <p:nvPr/>
        </p:nvSpPr>
        <p:spPr>
          <a:xfrm>
            <a:off x="2606040" y="4370832"/>
            <a:ext cx="3108960" cy="2103120"/>
          </a:xfrm>
          <a:prstGeom prst="roundRect">
            <a:avLst>
              <a:gd name="adj" fmla="val 6087"/>
            </a:avLst>
          </a:prstGeom>
          <a:solidFill>
            <a:srgbClr val="FFFFFF"/>
          </a:solidFill>
          <a:ln w="12700">
            <a:solidFill>
              <a:srgbClr val="E0E0E0"/>
            </a:solidFill>
            <a:prstDash val="solid"/>
          </a:ln>
          <a:effectLst>
            <a:outerShdw sx="100000" sy="100000" kx="0" ky="0" algn="bl" rotWithShape="0" blurRad="101600" dist="25400" dir="5400000">
              <a:srgbClr val="000000">
                <a:alpha val="12000"/>
              </a:srgbClr>
            </a:outerShdw>
          </a:effectLst>
        </p:spPr>
      </p:sp>
      <p:sp>
        <p:nvSpPr>
          <p:cNvPr id="22" name="shape-971"/>
          <p:cNvSpPr/>
          <p:nvPr/>
        </p:nvSpPr>
        <p:spPr>
          <a:xfrm>
            <a:off x="2788920" y="4535424"/>
            <a:ext cx="713232" cy="274320"/>
          </a:xfrm>
          <a:prstGeom prst="roundRect">
            <a:avLst>
              <a:gd name="adj" fmla="val 50000"/>
            </a:avLst>
          </a:prstGeom>
          <a:solidFill>
            <a:srgbClr val="0082F0"/>
          </a:solidFill>
          <a:ln w="12700">
            <a:solidFill>
              <a:srgbClr val="0082F0"/>
            </a:solidFill>
            <a:prstDash val="solid"/>
          </a:ln>
        </p:spPr>
      </p:sp>
      <p:sp>
        <p:nvSpPr>
          <p:cNvPr id="23" name="text-972"/>
          <p:cNvSpPr txBox="1"/>
          <p:nvPr/>
        </p:nvSpPr>
        <p:spPr>
          <a:xfrm>
            <a:off x="2788920" y="4535424"/>
            <a:ext cx="713232" cy="274320"/>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Arial" pitchFamily="34" charset="0"/>
                <a:ea typeface="Arial" pitchFamily="34" charset="-122"/>
                <a:cs typeface="Arial" pitchFamily="34" charset="-120"/>
              </a:rPr>
              <a:t>NEXT</a:t>
            </a:r>
            <a:endParaRPr lang="en-US" sz="1050" dirty="0"/>
          </a:p>
        </p:txBody>
      </p:sp>
      <p:sp>
        <p:nvSpPr>
          <p:cNvPr id="24" name="shape-973"/>
          <p:cNvSpPr/>
          <p:nvPr/>
        </p:nvSpPr>
        <p:spPr>
          <a:xfrm>
            <a:off x="2788920" y="4974336"/>
            <a:ext cx="384048" cy="384048"/>
          </a:xfrm>
          <a:prstGeom prst="ellipse">
            <a:avLst/>
          </a:prstGeom>
          <a:solidFill>
            <a:srgbClr val="0082F0"/>
          </a:solidFill>
          <a:ln w="12700">
            <a:solidFill>
              <a:srgbClr val="0082F0"/>
            </a:solidFill>
            <a:prstDash val="solid"/>
          </a:ln>
        </p:spPr>
      </p:sp>
      <p:pic>
        <p:nvPicPr>
          <p:cNvPr id="25" name="icon-974" descr="preencoded.png">    </p:cNvPr>
          <p:cNvPicPr>
            <a:picLocks noChangeAspect="1"/>
          </p:cNvPicPr>
          <p:nvPr/>
        </p:nvPicPr>
        <p:blipFill>
          <a:blip r:embed="rId5"/>
          <a:stretch>
            <a:fillRect/>
          </a:stretch>
        </p:blipFill>
        <p:spPr>
          <a:xfrm>
            <a:off x="2873411" y="5058827"/>
            <a:ext cx="215067" cy="215067"/>
          </a:xfrm>
          <a:prstGeom prst="rect">
            <a:avLst/>
          </a:prstGeom>
        </p:spPr>
      </p:pic>
      <p:sp>
        <p:nvSpPr>
          <p:cNvPr id="26" name="text-975"/>
          <p:cNvSpPr txBox="1"/>
          <p:nvPr/>
        </p:nvSpPr>
        <p:spPr>
          <a:xfrm>
            <a:off x="3282696" y="4937760"/>
            <a:ext cx="2286000" cy="246888"/>
          </a:xfrm>
          <a:prstGeom prst="rect">
            <a:avLst/>
          </a:prstGeom>
          <a:noFill/>
          <a:ln/>
        </p:spPr>
        <p:txBody>
          <a:bodyPr wrap="square" lIns="0" tIns="0" rIns="0" bIns="0" rtlCol="0" anchor="ctr"/>
          <a:lstStyle/>
          <a:p>
            <a:pPr indent="0" marL="0">
              <a:buNone/>
            </a:pPr>
            <a:r>
              <a:rPr lang="en-US" sz="1350" b="1" dirty="0">
                <a:solidFill>
                  <a:srgbClr val="242424"/>
                </a:solidFill>
                <a:latin typeface="Arial" pitchFamily="34" charset="0"/>
                <a:ea typeface="Arial" pitchFamily="34" charset="-122"/>
                <a:cs typeface="Arial" pitchFamily="34" charset="-120"/>
              </a:rPr>
              <a:t>Umlaut CDR adaptation</a:t>
            </a:r>
            <a:endParaRPr lang="en-US" sz="1350" dirty="0"/>
          </a:p>
        </p:txBody>
      </p:sp>
      <p:sp>
        <p:nvSpPr>
          <p:cNvPr id="27" name="text-976"/>
          <p:cNvSpPr txBox="1"/>
          <p:nvPr/>
        </p:nvSpPr>
        <p:spPr>
          <a:xfrm>
            <a:off x="3282696" y="5184648"/>
            <a:ext cx="2286000" cy="219456"/>
          </a:xfrm>
          <a:prstGeom prst="rect">
            <a:avLst/>
          </a:prstGeom>
          <a:noFill/>
          <a:ln/>
        </p:spPr>
        <p:txBody>
          <a:bodyPr wrap="square" lIns="0" tIns="0" rIns="0" bIns="0" rtlCol="0" anchor="ctr"/>
          <a:lstStyle/>
          <a:p>
            <a:pPr indent="0" marL="0">
              <a:buNone/>
            </a:pPr>
            <a:r>
              <a:rPr lang="en-US" sz="1050" dirty="0">
                <a:solidFill>
                  <a:srgbClr val="767676"/>
                </a:solidFill>
                <a:latin typeface="Arial" pitchFamily="34" charset="0"/>
                <a:ea typeface="Arial" pitchFamily="34" charset="-122"/>
                <a:cs typeface="Arial" pitchFamily="34" charset="-120"/>
              </a:rPr>
              <a:t>Ingest &amp; score Umlaut CDRs</a:t>
            </a:r>
            <a:endParaRPr lang="en-US" sz="1050" dirty="0"/>
          </a:p>
        </p:txBody>
      </p:sp>
      <p:sp>
        <p:nvSpPr>
          <p:cNvPr id="28" name="shape-977"/>
          <p:cNvSpPr/>
          <p:nvPr/>
        </p:nvSpPr>
        <p:spPr>
          <a:xfrm>
            <a:off x="2788920" y="5486400"/>
            <a:ext cx="384048" cy="384048"/>
          </a:xfrm>
          <a:prstGeom prst="ellipse">
            <a:avLst/>
          </a:prstGeom>
          <a:solidFill>
            <a:srgbClr val="0082F0"/>
          </a:solidFill>
          <a:ln w="12700">
            <a:solidFill>
              <a:srgbClr val="0082F0"/>
            </a:solidFill>
            <a:prstDash val="solid"/>
          </a:ln>
        </p:spPr>
      </p:sp>
      <p:pic>
        <p:nvPicPr>
          <p:cNvPr id="29" name="icon-978" descr="preencoded.png">    </p:cNvPr>
          <p:cNvPicPr>
            <a:picLocks noChangeAspect="1"/>
          </p:cNvPicPr>
          <p:nvPr/>
        </p:nvPicPr>
        <p:blipFill>
          <a:blip r:embed="rId6"/>
          <a:stretch>
            <a:fillRect/>
          </a:stretch>
        </p:blipFill>
        <p:spPr>
          <a:xfrm>
            <a:off x="2873411" y="5570891"/>
            <a:ext cx="215067" cy="215067"/>
          </a:xfrm>
          <a:prstGeom prst="rect">
            <a:avLst/>
          </a:prstGeom>
        </p:spPr>
      </p:pic>
      <p:sp>
        <p:nvSpPr>
          <p:cNvPr id="30" name="text-979"/>
          <p:cNvSpPr txBox="1"/>
          <p:nvPr/>
        </p:nvSpPr>
        <p:spPr>
          <a:xfrm>
            <a:off x="3282696" y="5449824"/>
            <a:ext cx="2286000" cy="246888"/>
          </a:xfrm>
          <a:prstGeom prst="rect">
            <a:avLst/>
          </a:prstGeom>
          <a:noFill/>
          <a:ln/>
        </p:spPr>
        <p:txBody>
          <a:bodyPr wrap="square" lIns="0" tIns="0" rIns="0" bIns="0" rtlCol="0" anchor="ctr"/>
          <a:lstStyle/>
          <a:p>
            <a:pPr indent="0" marL="0">
              <a:buNone/>
            </a:pPr>
            <a:r>
              <a:rPr lang="en-US" sz="1350" b="1" dirty="0">
                <a:solidFill>
                  <a:srgbClr val="242424"/>
                </a:solidFill>
                <a:latin typeface="Arial" pitchFamily="34" charset="0"/>
                <a:ea typeface="Arial" pitchFamily="34" charset="-122"/>
                <a:cs typeface="Arial" pitchFamily="34" charset="-120"/>
              </a:rPr>
              <a:t>Active Tests community</a:t>
            </a:r>
            <a:endParaRPr lang="en-US" sz="1350" dirty="0"/>
          </a:p>
        </p:txBody>
      </p:sp>
      <p:sp>
        <p:nvSpPr>
          <p:cNvPr id="31" name="text-980"/>
          <p:cNvSpPr txBox="1"/>
          <p:nvPr/>
        </p:nvSpPr>
        <p:spPr>
          <a:xfrm>
            <a:off x="3282696" y="5696712"/>
            <a:ext cx="2286000" cy="219456"/>
          </a:xfrm>
          <a:prstGeom prst="rect">
            <a:avLst/>
          </a:prstGeom>
          <a:noFill/>
          <a:ln/>
        </p:spPr>
        <p:txBody>
          <a:bodyPr wrap="square" lIns="0" tIns="0" rIns="0" bIns="0" rtlCol="0" anchor="ctr"/>
          <a:lstStyle/>
          <a:p>
            <a:pPr indent="0" marL="0">
              <a:buNone/>
            </a:pPr>
            <a:r>
              <a:rPr lang="en-US" sz="1050" dirty="0">
                <a:solidFill>
                  <a:srgbClr val="767676"/>
                </a:solidFill>
                <a:latin typeface="Arial" pitchFamily="34" charset="0"/>
                <a:ea typeface="Arial" pitchFamily="34" charset="-122"/>
                <a:cs typeface="Arial" pitchFamily="34" charset="-120"/>
              </a:rPr>
              <a:t>Builds their KPI &amp; Scoring reports</a:t>
            </a:r>
            <a:endParaRPr lang="en-US" sz="1050" dirty="0"/>
          </a:p>
        </p:txBody>
      </p:sp>
      <p:sp>
        <p:nvSpPr>
          <p:cNvPr id="32" name="shape-981"/>
          <p:cNvSpPr/>
          <p:nvPr/>
        </p:nvSpPr>
        <p:spPr>
          <a:xfrm>
            <a:off x="2788920" y="5998464"/>
            <a:ext cx="384048" cy="384048"/>
          </a:xfrm>
          <a:prstGeom prst="ellipse">
            <a:avLst/>
          </a:prstGeom>
          <a:solidFill>
            <a:srgbClr val="0082F0"/>
          </a:solidFill>
          <a:ln w="12700">
            <a:solidFill>
              <a:srgbClr val="0082F0"/>
            </a:solidFill>
            <a:prstDash val="solid"/>
          </a:ln>
        </p:spPr>
      </p:sp>
      <p:pic>
        <p:nvPicPr>
          <p:cNvPr id="33" name="icon-982" descr="preencoded.png">    </p:cNvPr>
          <p:cNvPicPr>
            <a:picLocks noChangeAspect="1"/>
          </p:cNvPicPr>
          <p:nvPr/>
        </p:nvPicPr>
        <p:blipFill>
          <a:blip r:embed="rId7"/>
          <a:stretch>
            <a:fillRect/>
          </a:stretch>
        </p:blipFill>
        <p:spPr>
          <a:xfrm>
            <a:off x="2873411" y="6082955"/>
            <a:ext cx="215067" cy="215067"/>
          </a:xfrm>
          <a:prstGeom prst="rect">
            <a:avLst/>
          </a:prstGeom>
        </p:spPr>
      </p:pic>
      <p:sp>
        <p:nvSpPr>
          <p:cNvPr id="34" name="text-983"/>
          <p:cNvSpPr txBox="1"/>
          <p:nvPr/>
        </p:nvSpPr>
        <p:spPr>
          <a:xfrm>
            <a:off x="3282696" y="5961888"/>
            <a:ext cx="2286000" cy="246888"/>
          </a:xfrm>
          <a:prstGeom prst="rect">
            <a:avLst/>
          </a:prstGeom>
          <a:noFill/>
          <a:ln/>
        </p:spPr>
        <p:txBody>
          <a:bodyPr wrap="square" lIns="0" tIns="0" rIns="0" bIns="0" rtlCol="0" anchor="ctr"/>
          <a:lstStyle/>
          <a:p>
            <a:pPr indent="0" marL="0">
              <a:buNone/>
            </a:pPr>
            <a:r>
              <a:rPr lang="en-US" sz="1350" b="1" dirty="0">
                <a:solidFill>
                  <a:srgbClr val="242424"/>
                </a:solidFill>
                <a:latin typeface="Arial" pitchFamily="34" charset="0"/>
                <a:ea typeface="Arial" pitchFamily="34" charset="-122"/>
                <a:cs typeface="Arial" pitchFamily="34" charset="-120"/>
              </a:rPr>
              <a:t>NQ Calls out of Alpha</a:t>
            </a:r>
            <a:endParaRPr lang="en-US" sz="1350" dirty="0"/>
          </a:p>
        </p:txBody>
      </p:sp>
      <p:sp>
        <p:nvSpPr>
          <p:cNvPr id="35" name="text-984"/>
          <p:cNvSpPr txBox="1"/>
          <p:nvPr/>
        </p:nvSpPr>
        <p:spPr>
          <a:xfrm>
            <a:off x="3282696" y="6208776"/>
            <a:ext cx="2286000" cy="219456"/>
          </a:xfrm>
          <a:prstGeom prst="rect">
            <a:avLst/>
          </a:prstGeom>
          <a:noFill/>
          <a:ln/>
        </p:spPr>
        <p:txBody>
          <a:bodyPr wrap="square" lIns="0" tIns="0" rIns="0" bIns="0" rtlCol="0" anchor="ctr"/>
          <a:lstStyle/>
          <a:p>
            <a:pPr indent="0" marL="0">
              <a:buNone/>
            </a:pPr>
            <a:r>
              <a:rPr lang="en-US" sz="1050" dirty="0">
                <a:solidFill>
                  <a:srgbClr val="767676"/>
                </a:solidFill>
                <a:latin typeface="Arial" pitchFamily="34" charset="0"/>
                <a:ea typeface="Arial" pitchFamily="34" charset="-122"/>
                <a:cs typeface="Arial" pitchFamily="34" charset="-120"/>
              </a:rPr>
              <a:t>From Alpha to every team</a:t>
            </a:r>
            <a:endParaRPr lang="en-US" sz="1050" dirty="0"/>
          </a:p>
        </p:txBody>
      </p:sp>
      <p:sp>
        <p:nvSpPr>
          <p:cNvPr id="36" name="shape-985"/>
          <p:cNvSpPr/>
          <p:nvPr/>
        </p:nvSpPr>
        <p:spPr>
          <a:xfrm>
            <a:off x="3849624" y="3529584"/>
            <a:ext cx="621792" cy="621792"/>
          </a:xfrm>
          <a:prstGeom prst="ellipse">
            <a:avLst/>
          </a:prstGeom>
          <a:solidFill>
            <a:srgbClr val="FFFFFF"/>
          </a:solidFill>
          <a:ln w="12700">
            <a:solidFill>
              <a:srgbClr val="FFFFFF"/>
            </a:solidFill>
            <a:prstDash val="solid"/>
          </a:ln>
          <a:effectLst>
            <a:outerShdw sx="100000" sy="100000" kx="0" ky="0" algn="bl" rotWithShape="0" blurRad="76200" dist="19050" dir="5400000">
              <a:srgbClr val="000000">
                <a:alpha val="25000"/>
              </a:srgbClr>
            </a:outerShdw>
          </a:effectLst>
        </p:spPr>
      </p:sp>
      <p:sp>
        <p:nvSpPr>
          <p:cNvPr id="37" name="shape-986"/>
          <p:cNvSpPr/>
          <p:nvPr/>
        </p:nvSpPr>
        <p:spPr>
          <a:xfrm>
            <a:off x="3904488" y="3584448"/>
            <a:ext cx="512064" cy="512064"/>
          </a:xfrm>
          <a:prstGeom prst="ellipse">
            <a:avLst/>
          </a:prstGeom>
          <a:solidFill>
            <a:srgbClr val="0082F0"/>
          </a:solidFill>
          <a:ln w="12700">
            <a:solidFill>
              <a:srgbClr val="0082F0"/>
            </a:solidFill>
            <a:prstDash val="solid"/>
          </a:ln>
        </p:spPr>
      </p:sp>
      <p:pic>
        <p:nvPicPr>
          <p:cNvPr id="38" name="icon-987" descr="preencoded.png">    </p:cNvPr>
          <p:cNvPicPr>
            <a:picLocks noChangeAspect="1"/>
          </p:cNvPicPr>
          <p:nvPr/>
        </p:nvPicPr>
        <p:blipFill>
          <a:blip r:embed="rId8"/>
          <a:stretch>
            <a:fillRect/>
          </a:stretch>
        </p:blipFill>
        <p:spPr>
          <a:xfrm>
            <a:off x="4017142" y="3697102"/>
            <a:ext cx="286756" cy="286756"/>
          </a:xfrm>
          <a:prstGeom prst="rect">
            <a:avLst/>
          </a:prstGeom>
        </p:spPr>
      </p:pic>
      <p:sp>
        <p:nvSpPr>
          <p:cNvPr id="39" name="shape-988"/>
          <p:cNvSpPr/>
          <p:nvPr/>
        </p:nvSpPr>
        <p:spPr>
          <a:xfrm>
            <a:off x="6858000" y="3291840"/>
            <a:ext cx="914" cy="219456"/>
          </a:xfrm>
          <a:prstGeom prst="line">
            <a:avLst/>
          </a:prstGeom>
          <a:noFill/>
          <a:ln w="25400">
            <a:solidFill>
              <a:srgbClr val="8C60A8"/>
            </a:solidFill>
            <a:prstDash val="dash"/>
          </a:ln>
        </p:spPr>
      </p:sp>
      <p:sp>
        <p:nvSpPr>
          <p:cNvPr id="40" name="shape-989"/>
          <p:cNvSpPr/>
          <p:nvPr/>
        </p:nvSpPr>
        <p:spPr>
          <a:xfrm>
            <a:off x="5257800" y="1600200"/>
            <a:ext cx="3200400" cy="1691640"/>
          </a:xfrm>
          <a:prstGeom prst="roundRect">
            <a:avLst>
              <a:gd name="adj" fmla="val 7568"/>
            </a:avLst>
          </a:prstGeom>
          <a:solidFill>
            <a:srgbClr val="FFFFFF"/>
          </a:solidFill>
          <a:ln w="12700">
            <a:solidFill>
              <a:srgbClr val="E0E0E0"/>
            </a:solidFill>
            <a:prstDash val="solid"/>
          </a:ln>
          <a:effectLst>
            <a:outerShdw sx="100000" sy="100000" kx="0" ky="0" algn="bl" rotWithShape="0" blurRad="101600" dist="25400" dir="5400000">
              <a:srgbClr val="000000">
                <a:alpha val="12000"/>
              </a:srgbClr>
            </a:outerShdw>
          </a:effectLst>
        </p:spPr>
      </p:sp>
      <p:sp>
        <p:nvSpPr>
          <p:cNvPr id="41" name="shape-990"/>
          <p:cNvSpPr/>
          <p:nvPr/>
        </p:nvSpPr>
        <p:spPr>
          <a:xfrm>
            <a:off x="5440680" y="1764792"/>
            <a:ext cx="713232" cy="274320"/>
          </a:xfrm>
          <a:prstGeom prst="roundRect">
            <a:avLst>
              <a:gd name="adj" fmla="val 50000"/>
            </a:avLst>
          </a:prstGeom>
          <a:solidFill>
            <a:srgbClr val="8C60A8"/>
          </a:solidFill>
          <a:ln w="12700">
            <a:solidFill>
              <a:srgbClr val="8C60A8"/>
            </a:solidFill>
            <a:prstDash val="solid"/>
          </a:ln>
        </p:spPr>
      </p:sp>
      <p:sp>
        <p:nvSpPr>
          <p:cNvPr id="42" name="text-991"/>
          <p:cNvSpPr txBox="1"/>
          <p:nvPr/>
        </p:nvSpPr>
        <p:spPr>
          <a:xfrm>
            <a:off x="5440680" y="1764792"/>
            <a:ext cx="713232" cy="274320"/>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Arial" pitchFamily="34" charset="0"/>
                <a:ea typeface="Arial" pitchFamily="34" charset="-122"/>
                <a:cs typeface="Arial" pitchFamily="34" charset="-120"/>
              </a:rPr>
              <a:t>SOON</a:t>
            </a:r>
            <a:endParaRPr lang="en-US" sz="1050" dirty="0"/>
          </a:p>
        </p:txBody>
      </p:sp>
      <p:sp>
        <p:nvSpPr>
          <p:cNvPr id="43" name="shape-992"/>
          <p:cNvSpPr/>
          <p:nvPr/>
        </p:nvSpPr>
        <p:spPr>
          <a:xfrm>
            <a:off x="5440680" y="2203704"/>
            <a:ext cx="384048" cy="384048"/>
          </a:xfrm>
          <a:prstGeom prst="ellipse">
            <a:avLst/>
          </a:prstGeom>
          <a:solidFill>
            <a:srgbClr val="8C60A8"/>
          </a:solidFill>
          <a:ln w="12700">
            <a:solidFill>
              <a:srgbClr val="8C60A8"/>
            </a:solidFill>
            <a:prstDash val="solid"/>
          </a:ln>
        </p:spPr>
      </p:sp>
      <p:pic>
        <p:nvPicPr>
          <p:cNvPr id="44" name="icon-993" descr="preencoded.png">    </p:cNvPr>
          <p:cNvPicPr>
            <a:picLocks noChangeAspect="1"/>
          </p:cNvPicPr>
          <p:nvPr/>
        </p:nvPicPr>
        <p:blipFill>
          <a:blip r:embed="rId9"/>
          <a:stretch>
            <a:fillRect/>
          </a:stretch>
        </p:blipFill>
        <p:spPr>
          <a:xfrm>
            <a:off x="5525171" y="2288195"/>
            <a:ext cx="215067" cy="215067"/>
          </a:xfrm>
          <a:prstGeom prst="rect">
            <a:avLst/>
          </a:prstGeom>
        </p:spPr>
      </p:pic>
      <p:sp>
        <p:nvSpPr>
          <p:cNvPr id="45" name="text-994"/>
          <p:cNvSpPr txBox="1"/>
          <p:nvPr/>
        </p:nvSpPr>
        <p:spPr>
          <a:xfrm>
            <a:off x="5934456" y="2167128"/>
            <a:ext cx="2377440" cy="246888"/>
          </a:xfrm>
          <a:prstGeom prst="rect">
            <a:avLst/>
          </a:prstGeom>
          <a:noFill/>
          <a:ln/>
        </p:spPr>
        <p:txBody>
          <a:bodyPr wrap="square" lIns="0" tIns="0" rIns="0" bIns="0" rtlCol="0" anchor="ctr"/>
          <a:lstStyle/>
          <a:p>
            <a:pPr indent="0" marL="0">
              <a:buNone/>
            </a:pPr>
            <a:r>
              <a:rPr lang="en-US" sz="1350" b="1" dirty="0">
                <a:solidFill>
                  <a:srgbClr val="242424"/>
                </a:solidFill>
                <a:latin typeface="Arial" pitchFamily="34" charset="0"/>
                <a:ea typeface="Arial" pitchFamily="34" charset="-122"/>
                <a:cs typeface="Arial" pitchFamily="34" charset="-120"/>
              </a:rPr>
              <a:t>Scalability on AWS</a:t>
            </a:r>
            <a:endParaRPr lang="en-US" sz="1350" dirty="0"/>
          </a:p>
        </p:txBody>
      </p:sp>
      <p:sp>
        <p:nvSpPr>
          <p:cNvPr id="46" name="text-995"/>
          <p:cNvSpPr txBox="1"/>
          <p:nvPr/>
        </p:nvSpPr>
        <p:spPr>
          <a:xfrm>
            <a:off x="5934456" y="2414016"/>
            <a:ext cx="2377440" cy="219456"/>
          </a:xfrm>
          <a:prstGeom prst="rect">
            <a:avLst/>
          </a:prstGeom>
          <a:noFill/>
          <a:ln/>
        </p:spPr>
        <p:txBody>
          <a:bodyPr wrap="square" lIns="0" tIns="0" rIns="0" bIns="0" rtlCol="0" anchor="ctr"/>
          <a:lstStyle/>
          <a:p>
            <a:pPr indent="0" marL="0">
              <a:buNone/>
            </a:pPr>
            <a:r>
              <a:rPr lang="en-US" sz="1050" dirty="0">
                <a:solidFill>
                  <a:srgbClr val="767676"/>
                </a:solidFill>
                <a:latin typeface="Arial" pitchFamily="34" charset="0"/>
                <a:ea typeface="Arial" pitchFamily="34" charset="-122"/>
                <a:cs typeface="Arial" pitchFamily="34" charset="-120"/>
              </a:rPr>
              <a:t>Worker queue, scale-out processing</a:t>
            </a:r>
            <a:endParaRPr lang="en-US" sz="1050" dirty="0"/>
          </a:p>
        </p:txBody>
      </p:sp>
      <p:sp>
        <p:nvSpPr>
          <p:cNvPr id="47" name="shape-996"/>
          <p:cNvSpPr/>
          <p:nvPr/>
        </p:nvSpPr>
        <p:spPr>
          <a:xfrm>
            <a:off x="5440680" y="2715768"/>
            <a:ext cx="384048" cy="384048"/>
          </a:xfrm>
          <a:prstGeom prst="ellipse">
            <a:avLst/>
          </a:prstGeom>
          <a:solidFill>
            <a:srgbClr val="8C60A8"/>
          </a:solidFill>
          <a:ln w="12700">
            <a:solidFill>
              <a:srgbClr val="8C60A8"/>
            </a:solidFill>
            <a:prstDash val="solid"/>
          </a:ln>
        </p:spPr>
      </p:sp>
      <p:pic>
        <p:nvPicPr>
          <p:cNvPr id="48" name="icon-997" descr="preencoded.png">    </p:cNvPr>
          <p:cNvPicPr>
            <a:picLocks noChangeAspect="1"/>
          </p:cNvPicPr>
          <p:nvPr/>
        </p:nvPicPr>
        <p:blipFill>
          <a:blip r:embed="rId10"/>
          <a:stretch>
            <a:fillRect/>
          </a:stretch>
        </p:blipFill>
        <p:spPr>
          <a:xfrm>
            <a:off x="5525171" y="2800259"/>
            <a:ext cx="215067" cy="215067"/>
          </a:xfrm>
          <a:prstGeom prst="rect">
            <a:avLst/>
          </a:prstGeom>
        </p:spPr>
      </p:pic>
      <p:sp>
        <p:nvSpPr>
          <p:cNvPr id="49" name="text-998"/>
          <p:cNvSpPr txBox="1"/>
          <p:nvPr/>
        </p:nvSpPr>
        <p:spPr>
          <a:xfrm>
            <a:off x="5934456" y="2679192"/>
            <a:ext cx="2377440" cy="246888"/>
          </a:xfrm>
          <a:prstGeom prst="rect">
            <a:avLst/>
          </a:prstGeom>
          <a:noFill/>
          <a:ln/>
        </p:spPr>
        <p:txBody>
          <a:bodyPr wrap="square" lIns="0" tIns="0" rIns="0" bIns="0" rtlCol="0" anchor="ctr"/>
          <a:lstStyle/>
          <a:p>
            <a:pPr indent="0" marL="0">
              <a:buNone/>
            </a:pPr>
            <a:r>
              <a:rPr lang="en-US" sz="1350" b="1" dirty="0">
                <a:solidFill>
                  <a:srgbClr val="242424"/>
                </a:solidFill>
                <a:latin typeface="Arial" pitchFamily="34" charset="0"/>
                <a:ea typeface="Arial" pitchFamily="34" charset="-122"/>
                <a:cs typeface="Arial" pitchFamily="34" charset="-120"/>
              </a:rPr>
              <a:t>Fast at any size</a:t>
            </a:r>
            <a:endParaRPr lang="en-US" sz="1350" dirty="0"/>
          </a:p>
        </p:txBody>
      </p:sp>
      <p:sp>
        <p:nvSpPr>
          <p:cNvPr id="50" name="text-999"/>
          <p:cNvSpPr txBox="1"/>
          <p:nvPr/>
        </p:nvSpPr>
        <p:spPr>
          <a:xfrm>
            <a:off x="5934456" y="2926080"/>
            <a:ext cx="2377440" cy="219456"/>
          </a:xfrm>
          <a:prstGeom prst="rect">
            <a:avLst/>
          </a:prstGeom>
          <a:noFill/>
          <a:ln/>
        </p:spPr>
        <p:txBody>
          <a:bodyPr wrap="square" lIns="0" tIns="0" rIns="0" bIns="0" rtlCol="0" anchor="ctr"/>
          <a:lstStyle/>
          <a:p>
            <a:pPr indent="0" marL="0">
              <a:buNone/>
            </a:pPr>
            <a:r>
              <a:rPr lang="en-US" sz="1050" dirty="0">
                <a:solidFill>
                  <a:srgbClr val="767676"/>
                </a:solidFill>
                <a:latin typeface="Arial" pitchFamily="34" charset="0"/>
                <a:ea typeface="Arial" pitchFamily="34" charset="-122"/>
                <a:cs typeface="Arial" pitchFamily="34" charset="-120"/>
              </a:rPr>
              <a:t>Durable analytical caches</a:t>
            </a:r>
            <a:endParaRPr lang="en-US" sz="1050" dirty="0"/>
          </a:p>
        </p:txBody>
      </p:sp>
      <p:sp>
        <p:nvSpPr>
          <p:cNvPr id="51" name="shape-1000"/>
          <p:cNvSpPr/>
          <p:nvPr/>
        </p:nvSpPr>
        <p:spPr>
          <a:xfrm>
            <a:off x="6547104" y="3483864"/>
            <a:ext cx="621792" cy="621792"/>
          </a:xfrm>
          <a:prstGeom prst="ellipse">
            <a:avLst/>
          </a:prstGeom>
          <a:solidFill>
            <a:srgbClr val="FFFFFF"/>
          </a:solidFill>
          <a:ln w="12700">
            <a:solidFill>
              <a:srgbClr val="FFFFFF"/>
            </a:solidFill>
            <a:prstDash val="solid"/>
          </a:ln>
          <a:effectLst>
            <a:outerShdw sx="100000" sy="100000" kx="0" ky="0" algn="bl" rotWithShape="0" blurRad="76200" dist="19050" dir="5400000">
              <a:srgbClr val="000000">
                <a:alpha val="25000"/>
              </a:srgbClr>
            </a:outerShdw>
          </a:effectLst>
        </p:spPr>
      </p:sp>
      <p:sp>
        <p:nvSpPr>
          <p:cNvPr id="52" name="shape-1001"/>
          <p:cNvSpPr/>
          <p:nvPr/>
        </p:nvSpPr>
        <p:spPr>
          <a:xfrm>
            <a:off x="6601968" y="3538728"/>
            <a:ext cx="512064" cy="512064"/>
          </a:xfrm>
          <a:prstGeom prst="ellipse">
            <a:avLst/>
          </a:prstGeom>
          <a:solidFill>
            <a:srgbClr val="8C60A8"/>
          </a:solidFill>
          <a:ln w="12700">
            <a:solidFill>
              <a:srgbClr val="8C60A8"/>
            </a:solidFill>
            <a:prstDash val="solid"/>
          </a:ln>
        </p:spPr>
      </p:sp>
      <p:pic>
        <p:nvPicPr>
          <p:cNvPr id="53" name="icon-1002" descr="preencoded.png">    </p:cNvPr>
          <p:cNvPicPr>
            <a:picLocks noChangeAspect="1"/>
          </p:cNvPicPr>
          <p:nvPr/>
        </p:nvPicPr>
        <p:blipFill>
          <a:blip r:embed="rId11"/>
          <a:stretch>
            <a:fillRect/>
          </a:stretch>
        </p:blipFill>
        <p:spPr>
          <a:xfrm>
            <a:off x="6714622" y="3651382"/>
            <a:ext cx="286756" cy="286756"/>
          </a:xfrm>
          <a:prstGeom prst="rect">
            <a:avLst/>
          </a:prstGeom>
        </p:spPr>
      </p:pic>
      <p:sp>
        <p:nvSpPr>
          <p:cNvPr id="54" name="shape-1003"/>
          <p:cNvSpPr/>
          <p:nvPr/>
        </p:nvSpPr>
        <p:spPr>
          <a:xfrm>
            <a:off x="9738360" y="3941064"/>
            <a:ext cx="914" cy="219456"/>
          </a:xfrm>
          <a:prstGeom prst="line">
            <a:avLst/>
          </a:prstGeom>
          <a:noFill/>
          <a:ln w="25400">
            <a:solidFill>
              <a:srgbClr val="E07800"/>
            </a:solidFill>
            <a:prstDash val="dash"/>
          </a:ln>
        </p:spPr>
      </p:sp>
      <p:sp>
        <p:nvSpPr>
          <p:cNvPr id="55" name="shape-1004"/>
          <p:cNvSpPr/>
          <p:nvPr/>
        </p:nvSpPr>
        <p:spPr>
          <a:xfrm>
            <a:off x="8138160" y="4160520"/>
            <a:ext cx="3200400" cy="2103120"/>
          </a:xfrm>
          <a:prstGeom prst="roundRect">
            <a:avLst>
              <a:gd name="adj" fmla="val 6087"/>
            </a:avLst>
          </a:prstGeom>
          <a:solidFill>
            <a:srgbClr val="FFFFFF"/>
          </a:solidFill>
          <a:ln w="12700">
            <a:solidFill>
              <a:srgbClr val="E0E0E0"/>
            </a:solidFill>
            <a:prstDash val="solid"/>
          </a:ln>
          <a:effectLst>
            <a:outerShdw sx="100000" sy="100000" kx="0" ky="0" algn="bl" rotWithShape="0" blurRad="101600" dist="25400" dir="5400000">
              <a:srgbClr val="000000">
                <a:alpha val="12000"/>
              </a:srgbClr>
            </a:outerShdw>
          </a:effectLst>
        </p:spPr>
      </p:sp>
      <p:sp>
        <p:nvSpPr>
          <p:cNvPr id="56" name="shape-1005"/>
          <p:cNvSpPr/>
          <p:nvPr/>
        </p:nvSpPr>
        <p:spPr>
          <a:xfrm>
            <a:off x="8321040" y="4325112"/>
            <a:ext cx="822960" cy="274320"/>
          </a:xfrm>
          <a:prstGeom prst="roundRect">
            <a:avLst>
              <a:gd name="adj" fmla="val 50000"/>
            </a:avLst>
          </a:prstGeom>
          <a:solidFill>
            <a:srgbClr val="E07800"/>
          </a:solidFill>
          <a:ln w="12700">
            <a:solidFill>
              <a:srgbClr val="E07800"/>
            </a:solidFill>
            <a:prstDash val="solid"/>
          </a:ln>
        </p:spPr>
      </p:sp>
      <p:sp>
        <p:nvSpPr>
          <p:cNvPr id="57" name="text-1006"/>
          <p:cNvSpPr txBox="1"/>
          <p:nvPr/>
        </p:nvSpPr>
        <p:spPr>
          <a:xfrm>
            <a:off x="8321040" y="4325112"/>
            <a:ext cx="822960" cy="274320"/>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Arial" pitchFamily="34" charset="0"/>
                <a:ea typeface="Arial" pitchFamily="34" charset="-122"/>
                <a:cs typeface="Arial" pitchFamily="34" charset="-120"/>
              </a:rPr>
              <a:t>LATER</a:t>
            </a:r>
            <a:endParaRPr lang="en-US" sz="1050" dirty="0"/>
          </a:p>
        </p:txBody>
      </p:sp>
      <p:sp>
        <p:nvSpPr>
          <p:cNvPr id="58" name="shape-1007"/>
          <p:cNvSpPr/>
          <p:nvPr/>
        </p:nvSpPr>
        <p:spPr>
          <a:xfrm>
            <a:off x="8321040" y="4764024"/>
            <a:ext cx="384048" cy="384048"/>
          </a:xfrm>
          <a:prstGeom prst="ellipse">
            <a:avLst/>
          </a:prstGeom>
          <a:solidFill>
            <a:srgbClr val="E07800"/>
          </a:solidFill>
          <a:ln w="12700">
            <a:solidFill>
              <a:srgbClr val="E07800"/>
            </a:solidFill>
            <a:prstDash val="solid"/>
          </a:ln>
        </p:spPr>
      </p:sp>
      <p:pic>
        <p:nvPicPr>
          <p:cNvPr id="59" name="icon-1008" descr="preencoded.png">    </p:cNvPr>
          <p:cNvPicPr>
            <a:picLocks noChangeAspect="1"/>
          </p:cNvPicPr>
          <p:nvPr/>
        </p:nvPicPr>
        <p:blipFill>
          <a:blip r:embed="rId12"/>
          <a:stretch>
            <a:fillRect/>
          </a:stretch>
        </p:blipFill>
        <p:spPr>
          <a:xfrm>
            <a:off x="8405531" y="4848515"/>
            <a:ext cx="215067" cy="215067"/>
          </a:xfrm>
          <a:prstGeom prst="rect">
            <a:avLst/>
          </a:prstGeom>
        </p:spPr>
      </p:pic>
      <p:sp>
        <p:nvSpPr>
          <p:cNvPr id="60" name="text-1009"/>
          <p:cNvSpPr txBox="1"/>
          <p:nvPr/>
        </p:nvSpPr>
        <p:spPr>
          <a:xfrm>
            <a:off x="8814816" y="4727448"/>
            <a:ext cx="2377440" cy="246888"/>
          </a:xfrm>
          <a:prstGeom prst="rect">
            <a:avLst/>
          </a:prstGeom>
          <a:noFill/>
          <a:ln/>
        </p:spPr>
        <p:txBody>
          <a:bodyPr wrap="square" lIns="0" tIns="0" rIns="0" bIns="0" rtlCol="0" anchor="ctr"/>
          <a:lstStyle/>
          <a:p>
            <a:pPr indent="0" marL="0">
              <a:buNone/>
            </a:pPr>
            <a:r>
              <a:rPr lang="en-US" sz="1350" b="1" dirty="0">
                <a:solidFill>
                  <a:srgbClr val="242424"/>
                </a:solidFill>
                <a:latin typeface="Arial" pitchFamily="34" charset="0"/>
                <a:ea typeface="Arial" pitchFamily="34" charset="-122"/>
                <a:cs typeface="Arial" pitchFamily="34" charset="-120"/>
              </a:rPr>
              <a:t>PostgreSQL database</a:t>
            </a:r>
            <a:endParaRPr lang="en-US" sz="1350" dirty="0"/>
          </a:p>
        </p:txBody>
      </p:sp>
      <p:sp>
        <p:nvSpPr>
          <p:cNvPr id="61" name="text-1010"/>
          <p:cNvSpPr txBox="1"/>
          <p:nvPr/>
        </p:nvSpPr>
        <p:spPr>
          <a:xfrm>
            <a:off x="8814816" y="4974336"/>
            <a:ext cx="2377440" cy="219456"/>
          </a:xfrm>
          <a:prstGeom prst="rect">
            <a:avLst/>
          </a:prstGeom>
          <a:noFill/>
          <a:ln/>
        </p:spPr>
        <p:txBody>
          <a:bodyPr wrap="square" lIns="0" tIns="0" rIns="0" bIns="0" rtlCol="0" anchor="ctr"/>
          <a:lstStyle/>
          <a:p>
            <a:pPr indent="0" marL="0">
              <a:buNone/>
            </a:pPr>
            <a:r>
              <a:rPr lang="en-US" sz="1050" dirty="0">
                <a:solidFill>
                  <a:srgbClr val="767676"/>
                </a:solidFill>
                <a:latin typeface="Arial" pitchFamily="34" charset="0"/>
                <a:ea typeface="Arial" pitchFamily="34" charset="-122"/>
                <a:cs typeface="Arial" pitchFamily="34" charset="-120"/>
              </a:rPr>
              <a:t>Hundreds of concurrent users</a:t>
            </a:r>
            <a:endParaRPr lang="en-US" sz="1050" dirty="0"/>
          </a:p>
        </p:txBody>
      </p:sp>
      <p:sp>
        <p:nvSpPr>
          <p:cNvPr id="62" name="shape-1011"/>
          <p:cNvSpPr/>
          <p:nvPr/>
        </p:nvSpPr>
        <p:spPr>
          <a:xfrm>
            <a:off x="8321040" y="5276088"/>
            <a:ext cx="384048" cy="384048"/>
          </a:xfrm>
          <a:prstGeom prst="ellipse">
            <a:avLst/>
          </a:prstGeom>
          <a:solidFill>
            <a:srgbClr val="E07800"/>
          </a:solidFill>
          <a:ln w="12700">
            <a:solidFill>
              <a:srgbClr val="E07800"/>
            </a:solidFill>
            <a:prstDash val="solid"/>
          </a:ln>
        </p:spPr>
      </p:sp>
      <p:pic>
        <p:nvPicPr>
          <p:cNvPr id="63" name="icon-1012" descr="preencoded.png">    </p:cNvPr>
          <p:cNvPicPr>
            <a:picLocks noChangeAspect="1"/>
          </p:cNvPicPr>
          <p:nvPr/>
        </p:nvPicPr>
        <p:blipFill>
          <a:blip r:embed="rId13"/>
          <a:stretch>
            <a:fillRect/>
          </a:stretch>
        </p:blipFill>
        <p:spPr>
          <a:xfrm>
            <a:off x="8405531" y="5360579"/>
            <a:ext cx="215067" cy="215067"/>
          </a:xfrm>
          <a:prstGeom prst="rect">
            <a:avLst/>
          </a:prstGeom>
        </p:spPr>
      </p:pic>
      <p:sp>
        <p:nvSpPr>
          <p:cNvPr id="64" name="text-1013"/>
          <p:cNvSpPr txBox="1"/>
          <p:nvPr/>
        </p:nvSpPr>
        <p:spPr>
          <a:xfrm>
            <a:off x="8814816" y="5239512"/>
            <a:ext cx="2377440" cy="246888"/>
          </a:xfrm>
          <a:prstGeom prst="rect">
            <a:avLst/>
          </a:prstGeom>
          <a:noFill/>
          <a:ln/>
        </p:spPr>
        <p:txBody>
          <a:bodyPr wrap="square" lIns="0" tIns="0" rIns="0" bIns="0" rtlCol="0" anchor="ctr"/>
          <a:lstStyle/>
          <a:p>
            <a:pPr indent="0" marL="0">
              <a:buNone/>
            </a:pPr>
            <a:r>
              <a:rPr lang="en-US" sz="1350" b="1" dirty="0">
                <a:solidFill>
                  <a:srgbClr val="242424"/>
                </a:solidFill>
                <a:latin typeface="Arial" pitchFamily="34" charset="0"/>
                <a:ea typeface="Arial" pitchFamily="34" charset="-122"/>
                <a:cs typeface="Arial" pitchFamily="34" charset="-120"/>
              </a:rPr>
              <a:t>Smart Orchestrator Logs</a:t>
            </a:r>
            <a:endParaRPr lang="en-US" sz="1350" dirty="0"/>
          </a:p>
        </p:txBody>
      </p:sp>
      <p:sp>
        <p:nvSpPr>
          <p:cNvPr id="65" name="text-1014"/>
          <p:cNvSpPr txBox="1"/>
          <p:nvPr/>
        </p:nvSpPr>
        <p:spPr>
          <a:xfrm>
            <a:off x="8814816" y="5486400"/>
            <a:ext cx="2377440" cy="219456"/>
          </a:xfrm>
          <a:prstGeom prst="rect">
            <a:avLst/>
          </a:prstGeom>
          <a:noFill/>
          <a:ln/>
        </p:spPr>
        <p:txBody>
          <a:bodyPr wrap="square" lIns="0" tIns="0" rIns="0" bIns="0" rtlCol="0" anchor="ctr"/>
          <a:lstStyle/>
          <a:p>
            <a:pPr indent="0" marL="0">
              <a:buNone/>
            </a:pPr>
            <a:r>
              <a:rPr lang="en-US" sz="1050" dirty="0">
                <a:solidFill>
                  <a:srgbClr val="767676"/>
                </a:solidFill>
                <a:latin typeface="Arial" pitchFamily="34" charset="0"/>
                <a:ea typeface="Arial" pitchFamily="34" charset="-122"/>
                <a:cs typeface="Arial" pitchFamily="34" charset="-120"/>
              </a:rPr>
              <a:t>A new source and its reports</a:t>
            </a:r>
            <a:endParaRPr lang="en-US" sz="1050" dirty="0"/>
          </a:p>
        </p:txBody>
      </p:sp>
      <p:sp>
        <p:nvSpPr>
          <p:cNvPr id="66" name="shape-1015"/>
          <p:cNvSpPr/>
          <p:nvPr/>
        </p:nvSpPr>
        <p:spPr>
          <a:xfrm>
            <a:off x="8321040" y="5788152"/>
            <a:ext cx="384048" cy="384048"/>
          </a:xfrm>
          <a:prstGeom prst="ellipse">
            <a:avLst/>
          </a:prstGeom>
          <a:solidFill>
            <a:srgbClr val="E07800"/>
          </a:solidFill>
          <a:ln w="12700">
            <a:solidFill>
              <a:srgbClr val="E07800"/>
            </a:solidFill>
            <a:prstDash val="solid"/>
          </a:ln>
        </p:spPr>
      </p:sp>
      <p:pic>
        <p:nvPicPr>
          <p:cNvPr id="67" name="icon-1016" descr="preencoded.png">    </p:cNvPr>
          <p:cNvPicPr>
            <a:picLocks noChangeAspect="1"/>
          </p:cNvPicPr>
          <p:nvPr/>
        </p:nvPicPr>
        <p:blipFill>
          <a:blip r:embed="rId14"/>
          <a:stretch>
            <a:fillRect/>
          </a:stretch>
        </p:blipFill>
        <p:spPr>
          <a:xfrm>
            <a:off x="8405531" y="5872643"/>
            <a:ext cx="215067" cy="215067"/>
          </a:xfrm>
          <a:prstGeom prst="rect">
            <a:avLst/>
          </a:prstGeom>
        </p:spPr>
      </p:pic>
      <p:sp>
        <p:nvSpPr>
          <p:cNvPr id="68" name="text-1017"/>
          <p:cNvSpPr txBox="1"/>
          <p:nvPr/>
        </p:nvSpPr>
        <p:spPr>
          <a:xfrm>
            <a:off x="8814816" y="5751576"/>
            <a:ext cx="2377440" cy="246888"/>
          </a:xfrm>
          <a:prstGeom prst="rect">
            <a:avLst/>
          </a:prstGeom>
          <a:noFill/>
          <a:ln/>
        </p:spPr>
        <p:txBody>
          <a:bodyPr wrap="square" lIns="0" tIns="0" rIns="0" bIns="0" rtlCol="0" anchor="ctr"/>
          <a:lstStyle/>
          <a:p>
            <a:pPr indent="0" marL="0">
              <a:buNone/>
            </a:pPr>
            <a:r>
              <a:rPr lang="en-US" sz="1350" b="1" dirty="0">
                <a:solidFill>
                  <a:srgbClr val="242424"/>
                </a:solidFill>
                <a:latin typeface="Arial" pitchFamily="34" charset="0"/>
                <a:ea typeface="Arial" pitchFamily="34" charset="-122"/>
                <a:cs typeface="Arial" pitchFamily="34" charset="-120"/>
              </a:rPr>
              <a:t>Health monitoring</a:t>
            </a:r>
            <a:endParaRPr lang="en-US" sz="1350" dirty="0"/>
          </a:p>
        </p:txBody>
      </p:sp>
      <p:sp>
        <p:nvSpPr>
          <p:cNvPr id="69" name="text-1018"/>
          <p:cNvSpPr txBox="1"/>
          <p:nvPr/>
        </p:nvSpPr>
        <p:spPr>
          <a:xfrm>
            <a:off x="8814816" y="5998464"/>
            <a:ext cx="2377440" cy="219456"/>
          </a:xfrm>
          <a:prstGeom prst="rect">
            <a:avLst/>
          </a:prstGeom>
          <a:noFill/>
          <a:ln/>
        </p:spPr>
        <p:txBody>
          <a:bodyPr wrap="square" lIns="0" tIns="0" rIns="0" bIns="0" rtlCol="0" anchor="ctr"/>
          <a:lstStyle/>
          <a:p>
            <a:pPr indent="0" marL="0">
              <a:buNone/>
            </a:pPr>
            <a:r>
              <a:rPr lang="en-US" sz="1050" dirty="0">
                <a:solidFill>
                  <a:srgbClr val="767676"/>
                </a:solidFill>
                <a:latin typeface="Arial" pitchFamily="34" charset="0"/>
                <a:ea typeface="Arial" pitchFamily="34" charset="-122"/>
                <a:cs typeface="Arial" pitchFamily="34" charset="-120"/>
              </a:rPr>
              <a:t>Alerts &amp; checks after each deploy</a:t>
            </a:r>
            <a:endParaRPr lang="en-US" sz="1050" dirty="0"/>
          </a:p>
        </p:txBody>
      </p:sp>
      <p:sp>
        <p:nvSpPr>
          <p:cNvPr id="70" name="shape-1019"/>
          <p:cNvSpPr/>
          <p:nvPr/>
        </p:nvSpPr>
        <p:spPr>
          <a:xfrm>
            <a:off x="9427464" y="3346704"/>
            <a:ext cx="621792" cy="621792"/>
          </a:xfrm>
          <a:prstGeom prst="ellipse">
            <a:avLst/>
          </a:prstGeom>
          <a:solidFill>
            <a:srgbClr val="FFFFFF"/>
          </a:solidFill>
          <a:ln w="12700">
            <a:solidFill>
              <a:srgbClr val="FFFFFF"/>
            </a:solidFill>
            <a:prstDash val="solid"/>
          </a:ln>
          <a:effectLst>
            <a:outerShdw sx="100000" sy="100000" kx="0" ky="0" algn="bl" rotWithShape="0" blurRad="76200" dist="19050" dir="5400000">
              <a:srgbClr val="000000">
                <a:alpha val="25000"/>
              </a:srgbClr>
            </a:outerShdw>
          </a:effectLst>
        </p:spPr>
      </p:sp>
      <p:sp>
        <p:nvSpPr>
          <p:cNvPr id="71" name="shape-1020"/>
          <p:cNvSpPr/>
          <p:nvPr/>
        </p:nvSpPr>
        <p:spPr>
          <a:xfrm>
            <a:off x="9482328" y="3401568"/>
            <a:ext cx="512064" cy="512064"/>
          </a:xfrm>
          <a:prstGeom prst="ellipse">
            <a:avLst/>
          </a:prstGeom>
          <a:solidFill>
            <a:srgbClr val="E07800"/>
          </a:solidFill>
          <a:ln w="12700">
            <a:solidFill>
              <a:srgbClr val="E07800"/>
            </a:solidFill>
            <a:prstDash val="solid"/>
          </a:ln>
        </p:spPr>
      </p:sp>
      <p:pic>
        <p:nvPicPr>
          <p:cNvPr id="72" name="icon-1021" descr="preencoded.png">    </p:cNvPr>
          <p:cNvPicPr>
            <a:picLocks noChangeAspect="1"/>
          </p:cNvPicPr>
          <p:nvPr/>
        </p:nvPicPr>
        <p:blipFill>
          <a:blip r:embed="rId15"/>
          <a:stretch>
            <a:fillRect/>
          </a:stretch>
        </p:blipFill>
        <p:spPr>
          <a:xfrm>
            <a:off x="9594982" y="3514222"/>
            <a:ext cx="286756" cy="286756"/>
          </a:xfrm>
          <a:prstGeom prst="rect">
            <a:avLst/>
          </a:prstGeom>
        </p:spPr>
      </p:pic>
      <p:sp>
        <p:nvSpPr>
          <p:cNvPr id="25" name="Slide Number Placeholder 0"/>
          <p:cNvSpPr>
            <a:spLocks noGrp="1"/>
          </p:cNvSpPr>
          <p:nvPr>
            <p:ph type="sldNum" sz="quarter" idx="4294967295"/>
          </p:nvPr>
        </p:nvSpPr>
        <p:spPr>
          <a:xfrm>
            <a:off x="548640" y="640080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67676"/>
                </a:solidFill>
                <a:latin typeface="Arial"/>
                <a:ea typeface="Arial"/>
                <a:cs typeface="Aria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Small roadmap road" descr="/var/folders/pl/_b6qn8zs2_lc59t589_46cyc0000gn/T/drivetest-presentations-rNxAPW/mini-road.png">    </p:cNvPr>
          <p:cNvPicPr>
            <a:picLocks noChangeAspect="1"/>
          </p:cNvPicPr>
          <p:nvPr/>
        </p:nvPicPr>
        <p:blipFill>
          <a:blip r:embed="rId1"/>
          <a:stretch>
            <a:fillRect/>
          </a:stretch>
        </p:blipFill>
        <p:spPr>
          <a:xfrm>
            <a:off x="0" y="0"/>
            <a:ext cx="12191695" cy="6858000"/>
          </a:xfrm>
          <a:prstGeom prst="rect">
            <a:avLst/>
          </a:prstGeom>
        </p:spPr>
      </p:pic>
      <p:sp>
        <p:nvSpPr>
          <p:cNvPr id="3" name="Text 1"/>
          <p:cNvSpPr/>
          <p:nvPr>
            <p:ph idx="102" type="title" hasCustomPrompt="1"/>
          </p:nvPr>
        </p:nvSpPr>
        <p:spPr>
          <a:xfrm>
            <a:off x="548640" y="384048"/>
            <a:ext cx="10424160" cy="658368"/>
          </a:xfrm>
          <a:prstGeom prst="rect">
            <a:avLst/>
          </a:prstGeom>
          <a:noFill/>
          <a:ln/>
        </p:spPr>
        <p:txBody>
          <a:bodyPr wrap="square" lIns="0" tIns="0" rIns="0" bIns="0" rtlCol="0" anchor="ctr"/>
          <a:lstStyle/>
          <a:p>
            <a:pPr algn="l" indent="0" marL="0">
              <a:buNone/>
            </a:pPr>
            <a:r>
              <a:rPr lang="en-US" sz="3000" dirty="0">
                <a:solidFill>
                  <a:srgbClr val="000000"/>
                </a:solidFill>
                <a:latin typeface="Arial" pitchFamily="34" charset="0"/>
                <a:ea typeface="Arial" pitchFamily="34" charset="-122"/>
                <a:cs typeface="Arial" pitchFamily="34" charset="-120"/>
              </a:rPr>
              <a:t>DriveTest Analyzer — </a:t>
            </a:r>
            <a:pPr algn="l" indent="0" marL="0">
              <a:buNone/>
            </a:pPr>
            <a:r>
              <a:rPr lang="en-US" sz="3000" b="1" dirty="0">
                <a:solidFill>
                  <a:srgbClr val="0068BF"/>
                </a:solidFill>
                <a:latin typeface="Arial" pitchFamily="34" charset="0"/>
                <a:ea typeface="Arial" pitchFamily="34" charset="-122"/>
                <a:cs typeface="Arial" pitchFamily="34" charset="-120"/>
              </a:rPr>
              <a:t>CDRs to decisions, in one platform</a:t>
            </a:r>
            <a:endParaRPr lang="en-US" sz="3000" dirty="0"/>
          </a:p>
        </p:txBody>
      </p:sp>
      <p:sp>
        <p:nvSpPr>
          <p:cNvPr id="4" name="text-1022"/>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500" dirty="0">
                <a:solidFill>
                  <a:srgbClr val="767676"/>
                </a:solidFill>
                <a:latin typeface="Arial" pitchFamily="34" charset="0"/>
                <a:ea typeface="Arial" pitchFamily="34" charset="-122"/>
                <a:cs typeface="Arial" pitchFamily="34" charset="-120"/>
              </a:rPr>
              <a:t>Benchmarking, NQ Calls, troubleshooting and reporting for every team, on the same data</a:t>
            </a:r>
            <a:endParaRPr lang="en-US" sz="1500" dirty="0"/>
          </a:p>
        </p:txBody>
      </p:sp>
      <p:sp>
        <p:nvSpPr>
          <p:cNvPr id="5" name="text-1023"/>
          <p:cNvSpPr txBox="1"/>
          <p:nvPr/>
        </p:nvSpPr>
        <p:spPr>
          <a:xfrm>
            <a:off x="548640" y="1481328"/>
            <a:ext cx="2743200" cy="237744"/>
          </a:xfrm>
          <a:prstGeom prst="rect">
            <a:avLst/>
          </a:prstGeom>
          <a:noFill/>
          <a:ln/>
        </p:spPr>
        <p:txBody>
          <a:bodyPr wrap="square" lIns="0" tIns="0" rIns="0" bIns="0" rtlCol="0" anchor="ctr"/>
          <a:lstStyle/>
          <a:p>
            <a:pPr indent="0" marL="0">
              <a:buNone/>
            </a:pPr>
            <a:r>
              <a:rPr lang="en-US" sz="1050" b="1" spc="100" kern="0" dirty="0">
                <a:solidFill>
                  <a:srgbClr val="767676"/>
                </a:solidFill>
                <a:latin typeface="Arial" pitchFamily="34" charset="0"/>
                <a:ea typeface="Arial" pitchFamily="34" charset="-122"/>
                <a:cs typeface="Arial" pitchFamily="34" charset="-120"/>
              </a:rPr>
              <a:t>DATA IN</a:t>
            </a:r>
            <a:endParaRPr lang="en-US" sz="1050" dirty="0"/>
          </a:p>
        </p:txBody>
      </p:sp>
      <p:sp>
        <p:nvSpPr>
          <p:cNvPr id="6" name="text-1024"/>
          <p:cNvSpPr txBox="1"/>
          <p:nvPr/>
        </p:nvSpPr>
        <p:spPr>
          <a:xfrm>
            <a:off x="8915400" y="1481328"/>
            <a:ext cx="2743200" cy="237744"/>
          </a:xfrm>
          <a:prstGeom prst="rect">
            <a:avLst/>
          </a:prstGeom>
          <a:noFill/>
          <a:ln/>
        </p:spPr>
        <p:txBody>
          <a:bodyPr wrap="square" lIns="0" tIns="0" rIns="0" bIns="0" rtlCol="0" anchor="ctr"/>
          <a:lstStyle/>
          <a:p>
            <a:pPr indent="0" marL="0">
              <a:buNone/>
            </a:pPr>
            <a:r>
              <a:rPr lang="en-US" sz="1050" b="1" spc="100" kern="0" dirty="0">
                <a:solidFill>
                  <a:srgbClr val="767676"/>
                </a:solidFill>
                <a:latin typeface="Arial" pitchFamily="34" charset="0"/>
                <a:ea typeface="Arial" pitchFamily="34" charset="-122"/>
                <a:cs typeface="Arial" pitchFamily="34" charset="-120"/>
              </a:rPr>
              <a:t>BUILT FOR EVERY TEAM</a:t>
            </a:r>
            <a:endParaRPr lang="en-US" sz="1050" dirty="0"/>
          </a:p>
        </p:txBody>
      </p:sp>
      <p:sp>
        <p:nvSpPr>
          <p:cNvPr id="7" name="shape-1025"/>
          <p:cNvSpPr/>
          <p:nvPr/>
        </p:nvSpPr>
        <p:spPr>
          <a:xfrm>
            <a:off x="3154680" y="2148840"/>
            <a:ext cx="731520" cy="1252728"/>
          </a:xfrm>
          <a:prstGeom prst="line">
            <a:avLst/>
          </a:prstGeom>
          <a:noFill/>
          <a:ln w="15875">
            <a:solidFill>
              <a:srgbClr val="A0A0A0"/>
            </a:solidFill>
            <a:prstDash val="solid"/>
            <a:tailEnd type="triangle"/>
          </a:ln>
        </p:spPr>
      </p:sp>
      <p:sp>
        <p:nvSpPr>
          <p:cNvPr id="8" name="shape-1026"/>
          <p:cNvSpPr/>
          <p:nvPr/>
        </p:nvSpPr>
        <p:spPr>
          <a:xfrm>
            <a:off x="548640" y="1783080"/>
            <a:ext cx="2606040" cy="731520"/>
          </a:xfrm>
          <a:prstGeom prst="roundRect">
            <a:avLst>
              <a:gd name="adj" fmla="val 12500"/>
            </a:avLst>
          </a:prstGeom>
          <a:solidFill>
            <a:srgbClr val="F2F2F2"/>
          </a:solidFill>
          <a:ln w="12700">
            <a:solidFill>
              <a:srgbClr val="F2F2F2"/>
            </a:solidFill>
            <a:prstDash val="solid"/>
          </a:ln>
        </p:spPr>
      </p:sp>
      <p:sp>
        <p:nvSpPr>
          <p:cNvPr id="9" name="shape-1027"/>
          <p:cNvSpPr/>
          <p:nvPr/>
        </p:nvSpPr>
        <p:spPr>
          <a:xfrm>
            <a:off x="685800" y="1938528"/>
            <a:ext cx="420624" cy="420624"/>
          </a:xfrm>
          <a:prstGeom prst="ellipse">
            <a:avLst/>
          </a:prstGeom>
          <a:solidFill>
            <a:srgbClr val="0068BF"/>
          </a:solidFill>
          <a:ln w="12700">
            <a:solidFill>
              <a:srgbClr val="0068BF"/>
            </a:solidFill>
            <a:prstDash val="solid"/>
          </a:ln>
        </p:spPr>
      </p:sp>
      <p:pic>
        <p:nvPicPr>
          <p:cNvPr id="10" name="icon-1028" descr="preencoded.png">    </p:cNvPr>
          <p:cNvPicPr>
            <a:picLocks noChangeAspect="1"/>
          </p:cNvPicPr>
          <p:nvPr/>
        </p:nvPicPr>
        <p:blipFill>
          <a:blip r:embed="rId2"/>
          <a:stretch>
            <a:fillRect/>
          </a:stretch>
        </p:blipFill>
        <p:spPr>
          <a:xfrm>
            <a:off x="778337" y="2031065"/>
            <a:ext cx="235549" cy="235549"/>
          </a:xfrm>
          <a:prstGeom prst="rect">
            <a:avLst/>
          </a:prstGeom>
        </p:spPr>
      </p:pic>
      <p:sp>
        <p:nvSpPr>
          <p:cNvPr id="11" name="text-1029"/>
          <p:cNvSpPr txBox="1"/>
          <p:nvPr/>
        </p:nvSpPr>
        <p:spPr>
          <a:xfrm>
            <a:off x="1207008" y="1856232"/>
            <a:ext cx="1874520" cy="274320"/>
          </a:xfrm>
          <a:prstGeom prst="rect">
            <a:avLst/>
          </a:prstGeom>
          <a:noFill/>
          <a:ln/>
        </p:spPr>
        <p:txBody>
          <a:bodyPr wrap="square" lIns="0" tIns="0" rIns="0" bIns="0" rtlCol="0" anchor="ctr"/>
          <a:lstStyle/>
          <a:p>
            <a:pPr indent="0" marL="0">
              <a:buNone/>
            </a:pPr>
            <a:r>
              <a:rPr lang="en-US" sz="1250" b="1" dirty="0">
                <a:solidFill>
                  <a:srgbClr val="242424"/>
                </a:solidFill>
                <a:latin typeface="Arial" pitchFamily="34" charset="0"/>
                <a:ea typeface="Arial" pitchFamily="34" charset="-122"/>
                <a:cs typeface="Arial" pitchFamily="34" charset="-120"/>
              </a:rPr>
              <a:t>CDRs</a:t>
            </a:r>
            <a:endParaRPr lang="en-US" sz="1250" dirty="0"/>
          </a:p>
        </p:txBody>
      </p:sp>
      <p:sp>
        <p:nvSpPr>
          <p:cNvPr id="12" name="text-1030"/>
          <p:cNvSpPr txBox="1"/>
          <p:nvPr/>
        </p:nvSpPr>
        <p:spPr>
          <a:xfrm>
            <a:off x="1207008" y="2148840"/>
            <a:ext cx="1874520" cy="274320"/>
          </a:xfrm>
          <a:prstGeom prst="rect">
            <a:avLst/>
          </a:prstGeom>
          <a:noFill/>
          <a:ln/>
        </p:spPr>
        <p:txBody>
          <a:bodyPr wrap="square" lIns="0" tIns="0" rIns="0" bIns="0" rtlCol="0" anchor="ctr"/>
          <a:lstStyle/>
          <a:p>
            <a:pPr indent="0" marL="0">
              <a:buNone/>
            </a:pPr>
            <a:r>
              <a:rPr lang="en-US" sz="1400" b="1" dirty="0">
                <a:solidFill>
                  <a:srgbClr val="0068BF"/>
                </a:solidFill>
                <a:latin typeface="Arial" pitchFamily="34" charset="0"/>
                <a:ea typeface="Arial" pitchFamily="34" charset="-122"/>
                <a:cs typeface="Arial" pitchFamily="34" charset="-120"/>
              </a:rPr>
              <a:t>7.5 M </a:t>
            </a:r>
            <a:pPr indent="0" marL="0">
              <a:buNone/>
            </a:pPr>
            <a:r>
              <a:rPr lang="en-US" sz="1000" dirty="0">
                <a:solidFill>
                  <a:srgbClr val="767676"/>
                </a:solidFill>
                <a:latin typeface="Arial" pitchFamily="34" charset="0"/>
                <a:ea typeface="Arial" pitchFamily="34" charset="-122"/>
                <a:cs typeface="Arial" pitchFamily="34" charset="-120"/>
              </a:rPr>
              <a:t>rows · 27 CDRs</a:t>
            </a:r>
            <a:endParaRPr lang="en-US" sz="1400" dirty="0"/>
          </a:p>
        </p:txBody>
      </p:sp>
      <p:sp>
        <p:nvSpPr>
          <p:cNvPr id="13" name="shape-1031"/>
          <p:cNvSpPr/>
          <p:nvPr/>
        </p:nvSpPr>
        <p:spPr>
          <a:xfrm>
            <a:off x="3154680" y="2990088"/>
            <a:ext cx="731520" cy="411480"/>
          </a:xfrm>
          <a:prstGeom prst="line">
            <a:avLst/>
          </a:prstGeom>
          <a:noFill/>
          <a:ln w="15875">
            <a:solidFill>
              <a:srgbClr val="A0A0A0"/>
            </a:solidFill>
            <a:prstDash val="solid"/>
            <a:tailEnd type="triangle"/>
          </a:ln>
        </p:spPr>
      </p:sp>
      <p:sp>
        <p:nvSpPr>
          <p:cNvPr id="14" name="shape-1032"/>
          <p:cNvSpPr/>
          <p:nvPr/>
        </p:nvSpPr>
        <p:spPr>
          <a:xfrm>
            <a:off x="548640" y="2624328"/>
            <a:ext cx="2606040" cy="731520"/>
          </a:xfrm>
          <a:prstGeom prst="roundRect">
            <a:avLst>
              <a:gd name="adj" fmla="val 12500"/>
            </a:avLst>
          </a:prstGeom>
          <a:solidFill>
            <a:srgbClr val="F2F2F2"/>
          </a:solidFill>
          <a:ln w="12700">
            <a:solidFill>
              <a:srgbClr val="F2F2F2"/>
            </a:solidFill>
            <a:prstDash val="solid"/>
          </a:ln>
        </p:spPr>
      </p:sp>
      <p:sp>
        <p:nvSpPr>
          <p:cNvPr id="15" name="shape-1033"/>
          <p:cNvSpPr/>
          <p:nvPr/>
        </p:nvSpPr>
        <p:spPr>
          <a:xfrm>
            <a:off x="685800" y="2779776"/>
            <a:ext cx="420624" cy="420624"/>
          </a:xfrm>
          <a:prstGeom prst="ellipse">
            <a:avLst/>
          </a:prstGeom>
          <a:solidFill>
            <a:srgbClr val="0C9B5B"/>
          </a:solidFill>
          <a:ln w="12700">
            <a:solidFill>
              <a:srgbClr val="0C9B5B"/>
            </a:solidFill>
            <a:prstDash val="solid"/>
          </a:ln>
        </p:spPr>
      </p:sp>
      <p:pic>
        <p:nvPicPr>
          <p:cNvPr id="16" name="icon-1034" descr="preencoded.png">    </p:cNvPr>
          <p:cNvPicPr>
            <a:picLocks noChangeAspect="1"/>
          </p:cNvPicPr>
          <p:nvPr/>
        </p:nvPicPr>
        <p:blipFill>
          <a:blip r:embed="rId3"/>
          <a:stretch>
            <a:fillRect/>
          </a:stretch>
        </p:blipFill>
        <p:spPr>
          <a:xfrm>
            <a:off x="778337" y="2872313"/>
            <a:ext cx="235549" cy="235549"/>
          </a:xfrm>
          <a:prstGeom prst="rect">
            <a:avLst/>
          </a:prstGeom>
        </p:spPr>
      </p:pic>
      <p:sp>
        <p:nvSpPr>
          <p:cNvPr id="17" name="text-1035"/>
          <p:cNvSpPr txBox="1"/>
          <p:nvPr/>
        </p:nvSpPr>
        <p:spPr>
          <a:xfrm>
            <a:off x="1207008" y="2697480"/>
            <a:ext cx="1874520" cy="274320"/>
          </a:xfrm>
          <a:prstGeom prst="rect">
            <a:avLst/>
          </a:prstGeom>
          <a:noFill/>
          <a:ln/>
        </p:spPr>
        <p:txBody>
          <a:bodyPr wrap="square" lIns="0" tIns="0" rIns="0" bIns="0" rtlCol="0" anchor="ctr"/>
          <a:lstStyle/>
          <a:p>
            <a:pPr indent="0" marL="0">
              <a:buNone/>
            </a:pPr>
            <a:r>
              <a:rPr lang="en-US" sz="1250" b="1" dirty="0">
                <a:solidFill>
                  <a:srgbClr val="242424"/>
                </a:solidFill>
                <a:latin typeface="Arial" pitchFamily="34" charset="0"/>
                <a:ea typeface="Arial" pitchFamily="34" charset="-122"/>
                <a:cs typeface="Arial" pitchFamily="34" charset="-120"/>
              </a:rPr>
              <a:t>Network Inventories</a:t>
            </a:r>
            <a:endParaRPr lang="en-US" sz="1250" dirty="0"/>
          </a:p>
        </p:txBody>
      </p:sp>
      <p:sp>
        <p:nvSpPr>
          <p:cNvPr id="18" name="text-1036"/>
          <p:cNvSpPr txBox="1"/>
          <p:nvPr/>
        </p:nvSpPr>
        <p:spPr>
          <a:xfrm>
            <a:off x="1207008" y="2990088"/>
            <a:ext cx="1874520" cy="274320"/>
          </a:xfrm>
          <a:prstGeom prst="rect">
            <a:avLst/>
          </a:prstGeom>
          <a:noFill/>
          <a:ln/>
        </p:spPr>
        <p:txBody>
          <a:bodyPr wrap="square" lIns="0" tIns="0" rIns="0" bIns="0" rtlCol="0" anchor="ctr"/>
          <a:lstStyle/>
          <a:p>
            <a:pPr indent="0" marL="0">
              <a:buNone/>
            </a:pPr>
            <a:r>
              <a:rPr lang="en-US" sz="1400" b="1" dirty="0">
                <a:solidFill>
                  <a:srgbClr val="0068BF"/>
                </a:solidFill>
                <a:latin typeface="Arial" pitchFamily="34" charset="0"/>
                <a:ea typeface="Arial" pitchFamily="34" charset="-122"/>
                <a:cs typeface="Arial" pitchFamily="34" charset="-120"/>
              </a:rPr>
              <a:t>519 k </a:t>
            </a:r>
            <a:pPr indent="0" marL="0">
              <a:buNone/>
            </a:pPr>
            <a:r>
              <a:rPr lang="en-US" sz="1000" dirty="0">
                <a:solidFill>
                  <a:srgbClr val="767676"/>
                </a:solidFill>
                <a:latin typeface="Arial" pitchFamily="34" charset="0"/>
                <a:ea typeface="Arial" pitchFamily="34" charset="-122"/>
                <a:cs typeface="Arial" pitchFamily="34" charset="-120"/>
              </a:rPr>
              <a:t>cell rows</a:t>
            </a:r>
            <a:endParaRPr lang="en-US" sz="1400" dirty="0"/>
          </a:p>
        </p:txBody>
      </p:sp>
      <p:sp>
        <p:nvSpPr>
          <p:cNvPr id="19" name="shape-1037"/>
          <p:cNvSpPr/>
          <p:nvPr/>
        </p:nvSpPr>
        <p:spPr>
          <a:xfrm flipV="1">
            <a:off x="3154680" y="3401568"/>
            <a:ext cx="731520" cy="429768"/>
          </a:xfrm>
          <a:prstGeom prst="line">
            <a:avLst/>
          </a:prstGeom>
          <a:noFill/>
          <a:ln w="15875">
            <a:solidFill>
              <a:srgbClr val="A0A0A0"/>
            </a:solidFill>
            <a:prstDash val="solid"/>
            <a:tailEnd type="triangle"/>
          </a:ln>
        </p:spPr>
      </p:sp>
      <p:sp>
        <p:nvSpPr>
          <p:cNvPr id="20" name="shape-1038"/>
          <p:cNvSpPr/>
          <p:nvPr/>
        </p:nvSpPr>
        <p:spPr>
          <a:xfrm>
            <a:off x="548640" y="3465576"/>
            <a:ext cx="2606040" cy="731520"/>
          </a:xfrm>
          <a:prstGeom prst="roundRect">
            <a:avLst>
              <a:gd name="adj" fmla="val 12500"/>
            </a:avLst>
          </a:prstGeom>
          <a:solidFill>
            <a:srgbClr val="F2F2F2"/>
          </a:solidFill>
          <a:ln w="12700">
            <a:solidFill>
              <a:srgbClr val="F2F2F2"/>
            </a:solidFill>
            <a:prstDash val="solid"/>
          </a:ln>
        </p:spPr>
      </p:sp>
      <p:sp>
        <p:nvSpPr>
          <p:cNvPr id="21" name="shape-1039"/>
          <p:cNvSpPr/>
          <p:nvPr/>
        </p:nvSpPr>
        <p:spPr>
          <a:xfrm>
            <a:off x="685800" y="3621024"/>
            <a:ext cx="420624" cy="420624"/>
          </a:xfrm>
          <a:prstGeom prst="ellipse">
            <a:avLst/>
          </a:prstGeom>
          <a:solidFill>
            <a:srgbClr val="E07800"/>
          </a:solidFill>
          <a:ln w="12700">
            <a:solidFill>
              <a:srgbClr val="E07800"/>
            </a:solidFill>
            <a:prstDash val="solid"/>
          </a:ln>
        </p:spPr>
      </p:sp>
      <p:pic>
        <p:nvPicPr>
          <p:cNvPr id="22" name="icon-1040" descr="preencoded.png">    </p:cNvPr>
          <p:cNvPicPr>
            <a:picLocks noChangeAspect="1"/>
          </p:cNvPicPr>
          <p:nvPr/>
        </p:nvPicPr>
        <p:blipFill>
          <a:blip r:embed="rId4"/>
          <a:stretch>
            <a:fillRect/>
          </a:stretch>
        </p:blipFill>
        <p:spPr>
          <a:xfrm>
            <a:off x="778337" y="3713561"/>
            <a:ext cx="235549" cy="235549"/>
          </a:xfrm>
          <a:prstGeom prst="rect">
            <a:avLst/>
          </a:prstGeom>
        </p:spPr>
      </p:pic>
      <p:sp>
        <p:nvSpPr>
          <p:cNvPr id="23" name="text-1041"/>
          <p:cNvSpPr txBox="1"/>
          <p:nvPr/>
        </p:nvSpPr>
        <p:spPr>
          <a:xfrm>
            <a:off x="1207008" y="3538728"/>
            <a:ext cx="1874520" cy="274320"/>
          </a:xfrm>
          <a:prstGeom prst="rect">
            <a:avLst/>
          </a:prstGeom>
          <a:noFill/>
          <a:ln/>
        </p:spPr>
        <p:txBody>
          <a:bodyPr wrap="square" lIns="0" tIns="0" rIns="0" bIns="0" rtlCol="0" anchor="ctr"/>
          <a:lstStyle/>
          <a:p>
            <a:pPr indent="0" marL="0">
              <a:buNone/>
            </a:pPr>
            <a:r>
              <a:rPr lang="en-US" sz="1250" b="1" dirty="0">
                <a:solidFill>
                  <a:srgbClr val="242424"/>
                </a:solidFill>
                <a:latin typeface="Arial" pitchFamily="34" charset="0"/>
                <a:ea typeface="Arial" pitchFamily="34" charset="-122"/>
                <a:cs typeface="Arial" pitchFamily="34" charset="-120"/>
              </a:rPr>
              <a:t>Vendor Mappings</a:t>
            </a:r>
            <a:endParaRPr lang="en-US" sz="1250" dirty="0"/>
          </a:p>
        </p:txBody>
      </p:sp>
      <p:sp>
        <p:nvSpPr>
          <p:cNvPr id="24" name="text-1042"/>
          <p:cNvSpPr txBox="1"/>
          <p:nvPr/>
        </p:nvSpPr>
        <p:spPr>
          <a:xfrm>
            <a:off x="1207008" y="3831336"/>
            <a:ext cx="1874520" cy="274320"/>
          </a:xfrm>
          <a:prstGeom prst="rect">
            <a:avLst/>
          </a:prstGeom>
          <a:noFill/>
          <a:ln/>
        </p:spPr>
        <p:txBody>
          <a:bodyPr wrap="square" lIns="0" tIns="0" rIns="0" bIns="0" rtlCol="0" anchor="ctr"/>
          <a:lstStyle/>
          <a:p>
            <a:pPr indent="0" marL="0">
              <a:buNone/>
            </a:pPr>
            <a:r>
              <a:rPr lang="en-US" sz="1400" b="1" dirty="0">
                <a:solidFill>
                  <a:srgbClr val="0068BF"/>
                </a:solidFill>
                <a:latin typeface="Arial" pitchFamily="34" charset="0"/>
                <a:ea typeface="Arial" pitchFamily="34" charset="-122"/>
                <a:cs typeface="Arial" pitchFamily="34" charset="-120"/>
              </a:rPr>
              <a:t>1.1 M </a:t>
            </a:r>
            <a:pPr indent="0" marL="0">
              <a:buNone/>
            </a:pPr>
            <a:r>
              <a:rPr lang="en-US" sz="1000" dirty="0">
                <a:solidFill>
                  <a:srgbClr val="767676"/>
                </a:solidFill>
                <a:latin typeface="Arial" pitchFamily="34" charset="0"/>
                <a:ea typeface="Arial" pitchFamily="34" charset="-122"/>
                <a:cs typeface="Arial" pitchFamily="34" charset="-120"/>
              </a:rPr>
              <a:t>mapping rows</a:t>
            </a:r>
            <a:endParaRPr lang="en-US" sz="1400" dirty="0"/>
          </a:p>
        </p:txBody>
      </p:sp>
      <p:sp>
        <p:nvSpPr>
          <p:cNvPr id="25" name="shape-1043"/>
          <p:cNvSpPr/>
          <p:nvPr/>
        </p:nvSpPr>
        <p:spPr>
          <a:xfrm flipV="1">
            <a:off x="3154680" y="3401568"/>
            <a:ext cx="731520" cy="1271016"/>
          </a:xfrm>
          <a:prstGeom prst="line">
            <a:avLst/>
          </a:prstGeom>
          <a:noFill/>
          <a:ln w="15875">
            <a:solidFill>
              <a:srgbClr val="A0A0A0"/>
            </a:solidFill>
            <a:prstDash val="solid"/>
            <a:tailEnd type="triangle"/>
          </a:ln>
        </p:spPr>
      </p:sp>
      <p:sp>
        <p:nvSpPr>
          <p:cNvPr id="26" name="shape-1044"/>
          <p:cNvSpPr/>
          <p:nvPr/>
        </p:nvSpPr>
        <p:spPr>
          <a:xfrm>
            <a:off x="548640" y="4306824"/>
            <a:ext cx="2606040" cy="731520"/>
          </a:xfrm>
          <a:prstGeom prst="roundRect">
            <a:avLst>
              <a:gd name="adj" fmla="val 12500"/>
            </a:avLst>
          </a:prstGeom>
          <a:solidFill>
            <a:srgbClr val="F2F2F2"/>
          </a:solidFill>
          <a:ln w="12700">
            <a:solidFill>
              <a:srgbClr val="F2F2F2"/>
            </a:solidFill>
            <a:prstDash val="solid"/>
          </a:ln>
        </p:spPr>
      </p:sp>
      <p:sp>
        <p:nvSpPr>
          <p:cNvPr id="27" name="shape-1045"/>
          <p:cNvSpPr/>
          <p:nvPr/>
        </p:nvSpPr>
        <p:spPr>
          <a:xfrm>
            <a:off x="685800" y="4462272"/>
            <a:ext cx="420624" cy="420624"/>
          </a:xfrm>
          <a:prstGeom prst="ellipse">
            <a:avLst/>
          </a:prstGeom>
          <a:solidFill>
            <a:srgbClr val="8C60A8"/>
          </a:solidFill>
          <a:ln w="12700">
            <a:solidFill>
              <a:srgbClr val="8C60A8"/>
            </a:solidFill>
            <a:prstDash val="solid"/>
          </a:ln>
        </p:spPr>
      </p:sp>
      <p:pic>
        <p:nvPicPr>
          <p:cNvPr id="28" name="icon-1046" descr="preencoded.png">    </p:cNvPr>
          <p:cNvPicPr>
            <a:picLocks noChangeAspect="1"/>
          </p:cNvPicPr>
          <p:nvPr/>
        </p:nvPicPr>
        <p:blipFill>
          <a:blip r:embed="rId5"/>
          <a:stretch>
            <a:fillRect/>
          </a:stretch>
        </p:blipFill>
        <p:spPr>
          <a:xfrm>
            <a:off x="778337" y="4554809"/>
            <a:ext cx="235549" cy="235549"/>
          </a:xfrm>
          <a:prstGeom prst="rect">
            <a:avLst/>
          </a:prstGeom>
        </p:spPr>
      </p:pic>
      <p:sp>
        <p:nvSpPr>
          <p:cNvPr id="29" name="text-1047"/>
          <p:cNvSpPr txBox="1"/>
          <p:nvPr/>
        </p:nvSpPr>
        <p:spPr>
          <a:xfrm>
            <a:off x="1207008" y="4379976"/>
            <a:ext cx="1874520" cy="274320"/>
          </a:xfrm>
          <a:prstGeom prst="rect">
            <a:avLst/>
          </a:prstGeom>
          <a:noFill/>
          <a:ln/>
        </p:spPr>
        <p:txBody>
          <a:bodyPr wrap="square" lIns="0" tIns="0" rIns="0" bIns="0" rtlCol="0" anchor="ctr"/>
          <a:lstStyle/>
          <a:p>
            <a:pPr indent="0" marL="0">
              <a:buNone/>
            </a:pPr>
            <a:r>
              <a:rPr lang="en-US" sz="1250" b="1" dirty="0">
                <a:solidFill>
                  <a:srgbClr val="242424"/>
                </a:solidFill>
                <a:latin typeface="Arial" pitchFamily="34" charset="0"/>
                <a:ea typeface="Arial" pitchFamily="34" charset="-122"/>
                <a:cs typeface="Arial" pitchFamily="34" charset="-120"/>
              </a:rPr>
              <a:t>Geographical</a:t>
            </a:r>
            <a:endParaRPr lang="en-US" sz="1250" dirty="0"/>
          </a:p>
        </p:txBody>
      </p:sp>
      <p:sp>
        <p:nvSpPr>
          <p:cNvPr id="30" name="text-1048"/>
          <p:cNvSpPr txBox="1"/>
          <p:nvPr/>
        </p:nvSpPr>
        <p:spPr>
          <a:xfrm>
            <a:off x="1207008" y="4672584"/>
            <a:ext cx="1874520" cy="274320"/>
          </a:xfrm>
          <a:prstGeom prst="rect">
            <a:avLst/>
          </a:prstGeom>
          <a:noFill/>
          <a:ln/>
        </p:spPr>
        <p:txBody>
          <a:bodyPr wrap="square" lIns="0" tIns="0" rIns="0" bIns="0" rtlCol="0" anchor="ctr"/>
          <a:lstStyle/>
          <a:p>
            <a:pPr indent="0" marL="0">
              <a:buNone/>
            </a:pPr>
            <a:r>
              <a:rPr lang="en-US" sz="1400" b="1" dirty="0">
                <a:solidFill>
                  <a:srgbClr val="0068BF"/>
                </a:solidFill>
                <a:latin typeface="Arial" pitchFamily="34" charset="0"/>
                <a:ea typeface="Arial" pitchFamily="34" charset="-122"/>
                <a:cs typeface="Arial" pitchFamily="34" charset="-120"/>
              </a:rPr>
              <a:t>2 levels </a:t>
            </a:r>
            <a:pPr indent="0" marL="0">
              <a:buNone/>
            </a:pPr>
            <a:r>
              <a:rPr lang="en-US" sz="1000" dirty="0">
                <a:solidFill>
                  <a:srgbClr val="767676"/>
                </a:solidFill>
                <a:latin typeface="Arial" pitchFamily="34" charset="0"/>
                <a:ea typeface="Arial" pitchFamily="34" charset="-122"/>
                <a:cs typeface="Arial" pitchFamily="34" charset="-120"/>
              </a:rPr>
              <a:t>Region &amp; Cluster</a:t>
            </a:r>
            <a:endParaRPr lang="en-US" sz="1400" dirty="0"/>
          </a:p>
        </p:txBody>
      </p:sp>
      <p:sp>
        <p:nvSpPr>
          <p:cNvPr id="31" name="shape-1049"/>
          <p:cNvSpPr/>
          <p:nvPr/>
        </p:nvSpPr>
        <p:spPr>
          <a:xfrm>
            <a:off x="3904488" y="2121408"/>
            <a:ext cx="4297680" cy="2560320"/>
          </a:xfrm>
          <a:prstGeom prst="ellipse">
            <a:avLst/>
          </a:prstGeom>
          <a:solidFill>
            <a:srgbClr val="F7FAFD"/>
          </a:solidFill>
          <a:ln w="12700">
            <a:solidFill>
              <a:srgbClr val="E0E0E0"/>
            </a:solidFill>
            <a:prstDash val="dash"/>
          </a:ln>
        </p:spPr>
      </p:sp>
      <p:sp>
        <p:nvSpPr>
          <p:cNvPr id="32" name="shape-1050"/>
          <p:cNvSpPr/>
          <p:nvPr/>
        </p:nvSpPr>
        <p:spPr>
          <a:xfrm>
            <a:off x="5231003" y="2218854"/>
            <a:ext cx="822325" cy="1182714"/>
          </a:xfrm>
          <a:prstGeom prst="line">
            <a:avLst/>
          </a:prstGeom>
          <a:noFill/>
          <a:ln w="15875">
            <a:solidFill>
              <a:srgbClr val="E0E0E0"/>
            </a:solidFill>
            <a:prstDash val="solid"/>
          </a:ln>
        </p:spPr>
      </p:sp>
      <p:sp>
        <p:nvSpPr>
          <p:cNvPr id="33" name="shape-1051"/>
          <p:cNvSpPr/>
          <p:nvPr/>
        </p:nvSpPr>
        <p:spPr>
          <a:xfrm flipV="1">
            <a:off x="6053328" y="2218854"/>
            <a:ext cx="822325" cy="1182714"/>
          </a:xfrm>
          <a:prstGeom prst="line">
            <a:avLst/>
          </a:prstGeom>
          <a:noFill/>
          <a:ln w="15875">
            <a:solidFill>
              <a:srgbClr val="E0E0E0"/>
            </a:solidFill>
            <a:prstDash val="solid"/>
          </a:ln>
        </p:spPr>
      </p:sp>
      <p:sp>
        <p:nvSpPr>
          <p:cNvPr id="34" name="shape-1052"/>
          <p:cNvSpPr/>
          <p:nvPr/>
        </p:nvSpPr>
        <p:spPr>
          <a:xfrm flipV="1">
            <a:off x="6053328" y="2911672"/>
            <a:ext cx="1985269" cy="489896"/>
          </a:xfrm>
          <a:prstGeom prst="line">
            <a:avLst/>
          </a:prstGeom>
          <a:noFill/>
          <a:ln w="15875">
            <a:solidFill>
              <a:srgbClr val="E0E0E0"/>
            </a:solidFill>
            <a:prstDash val="solid"/>
          </a:ln>
        </p:spPr>
      </p:sp>
      <p:sp>
        <p:nvSpPr>
          <p:cNvPr id="35" name="shape-1053"/>
          <p:cNvSpPr/>
          <p:nvPr/>
        </p:nvSpPr>
        <p:spPr>
          <a:xfrm>
            <a:off x="6053328" y="3401568"/>
            <a:ext cx="1985269" cy="489896"/>
          </a:xfrm>
          <a:prstGeom prst="line">
            <a:avLst/>
          </a:prstGeom>
          <a:noFill/>
          <a:ln w="15875">
            <a:solidFill>
              <a:srgbClr val="E0E0E0"/>
            </a:solidFill>
            <a:prstDash val="solid"/>
          </a:ln>
        </p:spPr>
      </p:sp>
      <p:sp>
        <p:nvSpPr>
          <p:cNvPr id="36" name="shape-1054"/>
          <p:cNvSpPr/>
          <p:nvPr/>
        </p:nvSpPr>
        <p:spPr>
          <a:xfrm>
            <a:off x="6053328" y="3401568"/>
            <a:ext cx="822325" cy="1182714"/>
          </a:xfrm>
          <a:prstGeom prst="line">
            <a:avLst/>
          </a:prstGeom>
          <a:noFill/>
          <a:ln w="15875">
            <a:solidFill>
              <a:srgbClr val="E0E0E0"/>
            </a:solidFill>
            <a:prstDash val="solid"/>
          </a:ln>
        </p:spPr>
      </p:sp>
      <p:sp>
        <p:nvSpPr>
          <p:cNvPr id="37" name="shape-1055"/>
          <p:cNvSpPr/>
          <p:nvPr/>
        </p:nvSpPr>
        <p:spPr>
          <a:xfrm flipV="1">
            <a:off x="5231003" y="3401568"/>
            <a:ext cx="822325" cy="1182714"/>
          </a:xfrm>
          <a:prstGeom prst="line">
            <a:avLst/>
          </a:prstGeom>
          <a:noFill/>
          <a:ln w="15875">
            <a:solidFill>
              <a:srgbClr val="E0E0E0"/>
            </a:solidFill>
            <a:prstDash val="solid"/>
          </a:ln>
        </p:spPr>
      </p:sp>
      <p:sp>
        <p:nvSpPr>
          <p:cNvPr id="38" name="shape-1056"/>
          <p:cNvSpPr/>
          <p:nvPr/>
        </p:nvSpPr>
        <p:spPr>
          <a:xfrm flipV="1">
            <a:off x="4068059" y="3401568"/>
            <a:ext cx="1985269" cy="489896"/>
          </a:xfrm>
          <a:prstGeom prst="line">
            <a:avLst/>
          </a:prstGeom>
          <a:noFill/>
          <a:ln w="15875">
            <a:solidFill>
              <a:srgbClr val="E0E0E0"/>
            </a:solidFill>
            <a:prstDash val="solid"/>
          </a:ln>
        </p:spPr>
      </p:sp>
      <p:sp>
        <p:nvSpPr>
          <p:cNvPr id="39" name="shape-1057"/>
          <p:cNvSpPr/>
          <p:nvPr/>
        </p:nvSpPr>
        <p:spPr>
          <a:xfrm>
            <a:off x="4068059" y="2911672"/>
            <a:ext cx="1985269" cy="489896"/>
          </a:xfrm>
          <a:prstGeom prst="line">
            <a:avLst/>
          </a:prstGeom>
          <a:noFill/>
          <a:ln w="15875">
            <a:solidFill>
              <a:srgbClr val="E0E0E0"/>
            </a:solidFill>
            <a:prstDash val="solid"/>
          </a:ln>
        </p:spPr>
      </p:sp>
      <p:sp>
        <p:nvSpPr>
          <p:cNvPr id="40" name="shape-1058"/>
          <p:cNvSpPr/>
          <p:nvPr/>
        </p:nvSpPr>
        <p:spPr>
          <a:xfrm>
            <a:off x="5477256" y="2825496"/>
            <a:ext cx="1152144" cy="1152144"/>
          </a:xfrm>
          <a:prstGeom prst="ellipse">
            <a:avLst/>
          </a:prstGeom>
          <a:solidFill>
            <a:srgbClr val="000000"/>
          </a:solidFill>
          <a:ln w="12700">
            <a:solidFill>
              <a:srgbClr val="000000"/>
            </a:solidFill>
            <a:prstDash val="solid"/>
          </a:ln>
        </p:spPr>
      </p:sp>
      <p:sp>
        <p:nvSpPr>
          <p:cNvPr id="41" name="text-1059"/>
          <p:cNvSpPr txBox="1"/>
          <p:nvPr/>
        </p:nvSpPr>
        <p:spPr>
          <a:xfrm>
            <a:off x="5504688" y="2990088"/>
            <a:ext cx="1097280" cy="82296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Workspace</a:t>
            </a:r>
            <a:endParaRPr lang="en-US" sz="1250" dirty="0"/>
          </a:p>
          <a:p>
            <a:pPr algn="ctr" indent="0" marL="0">
              <a:buNone/>
            </a:pPr>
            <a:r>
              <a:rPr lang="en-US" sz="1000" dirty="0">
                <a:solidFill>
                  <a:srgbClr val="A0A0A0"/>
                </a:solidFill>
                <a:latin typeface="Arial" pitchFamily="34" charset="0"/>
                <a:ea typeface="Arial" pitchFamily="34" charset="-122"/>
                <a:cs typeface="Arial" pitchFamily="34" charset="-120"/>
              </a:rPr>
              <a:t>8 modules</a:t>
            </a:r>
            <a:endParaRPr lang="en-US" sz="1250" dirty="0"/>
          </a:p>
          <a:p>
            <a:pPr algn="ctr" indent="0" marL="0">
              <a:buNone/>
            </a:pPr>
            <a:r>
              <a:rPr lang="en-US" sz="1000" dirty="0">
                <a:solidFill>
                  <a:srgbClr val="A0A0A0"/>
                </a:solidFill>
                <a:latin typeface="Arial" pitchFamily="34" charset="0"/>
                <a:ea typeface="Arial" pitchFamily="34" charset="-122"/>
                <a:cs typeface="Arial" pitchFamily="34" charset="-120"/>
              </a:rPr>
              <a:t>9 campaigns</a:t>
            </a:r>
            <a:endParaRPr lang="en-US" sz="1250" dirty="0"/>
          </a:p>
        </p:txBody>
      </p:sp>
      <p:sp>
        <p:nvSpPr>
          <p:cNvPr id="42" name="shape-1060"/>
          <p:cNvSpPr/>
          <p:nvPr/>
        </p:nvSpPr>
        <p:spPr>
          <a:xfrm>
            <a:off x="4956683" y="1944534"/>
            <a:ext cx="548640" cy="548640"/>
          </a:xfrm>
          <a:prstGeom prst="ellipse">
            <a:avLst/>
          </a:prstGeom>
          <a:solidFill>
            <a:srgbClr val="4D4D4D"/>
          </a:solidFill>
          <a:ln w="12700">
            <a:solidFill>
              <a:srgbClr val="4D4D4D"/>
            </a:solidFill>
            <a:prstDash val="solid"/>
          </a:ln>
        </p:spPr>
      </p:sp>
      <p:pic>
        <p:nvPicPr>
          <p:cNvPr id="43" name="icon-1061" descr="preencoded.png">    </p:cNvPr>
          <p:cNvPicPr>
            <a:picLocks noChangeAspect="1"/>
          </p:cNvPicPr>
          <p:nvPr/>
        </p:nvPicPr>
        <p:blipFill>
          <a:blip r:embed="rId6"/>
          <a:stretch>
            <a:fillRect/>
          </a:stretch>
        </p:blipFill>
        <p:spPr>
          <a:xfrm>
            <a:off x="5077383" y="2065235"/>
            <a:ext cx="307238" cy="307238"/>
          </a:xfrm>
          <a:prstGeom prst="rect">
            <a:avLst/>
          </a:prstGeom>
        </p:spPr>
      </p:pic>
      <p:sp>
        <p:nvSpPr>
          <p:cNvPr id="44" name="text-1062"/>
          <p:cNvSpPr txBox="1"/>
          <p:nvPr/>
        </p:nvSpPr>
        <p:spPr>
          <a:xfrm>
            <a:off x="4499483" y="1523910"/>
            <a:ext cx="1463040" cy="402336"/>
          </a:xfrm>
          <a:prstGeom prst="rect">
            <a:avLst/>
          </a:prstGeom>
          <a:noFill/>
          <a:ln/>
        </p:spPr>
        <p:txBody>
          <a:bodyPr wrap="square" lIns="0" tIns="0" rIns="0" bIns="0" rtlCol="0" anchor="b"/>
          <a:lstStyle/>
          <a:p>
            <a:pPr algn="ctr" indent="0" marL="0">
              <a:buNone/>
            </a:pPr>
            <a:r>
              <a:rPr lang="en-US" sz="1050" b="1" dirty="0">
                <a:solidFill>
                  <a:srgbClr val="242424"/>
                </a:solidFill>
                <a:latin typeface="Arial" pitchFamily="34" charset="0"/>
                <a:ea typeface="Arial" pitchFamily="34" charset="-122"/>
                <a:cs typeface="Arial" pitchFamily="34" charset="-120"/>
              </a:rPr>
              <a:t>CDR Analysis</a:t>
            </a:r>
            <a:endParaRPr lang="en-US" sz="1050" dirty="0"/>
          </a:p>
          <a:p>
            <a:pPr algn="ctr" indent="0" marL="0">
              <a:buNone/>
            </a:pPr>
            <a:r>
              <a:rPr lang="en-US" sz="1000" dirty="0">
                <a:solidFill>
                  <a:srgbClr val="767676"/>
                </a:solidFill>
                <a:latin typeface="Arial" pitchFamily="34" charset="0"/>
                <a:ea typeface="Arial" pitchFamily="34" charset="-122"/>
                <a:cs typeface="Arial" pitchFamily="34" charset="-120"/>
              </a:rPr>
              <a:t>KPIs per CDR</a:t>
            </a:r>
            <a:endParaRPr lang="en-US" sz="1050" dirty="0"/>
          </a:p>
        </p:txBody>
      </p:sp>
      <p:sp>
        <p:nvSpPr>
          <p:cNvPr id="45" name="shape-1063"/>
          <p:cNvSpPr/>
          <p:nvPr/>
        </p:nvSpPr>
        <p:spPr>
          <a:xfrm>
            <a:off x="6601333" y="1944534"/>
            <a:ext cx="548640" cy="548640"/>
          </a:xfrm>
          <a:prstGeom prst="ellipse">
            <a:avLst/>
          </a:prstGeom>
          <a:solidFill>
            <a:srgbClr val="E07800"/>
          </a:solidFill>
          <a:ln w="12700">
            <a:solidFill>
              <a:srgbClr val="E07800"/>
            </a:solidFill>
            <a:prstDash val="solid"/>
          </a:ln>
        </p:spPr>
      </p:sp>
      <p:pic>
        <p:nvPicPr>
          <p:cNvPr id="46" name="icon-1064" descr="preencoded.png">    </p:cNvPr>
          <p:cNvPicPr>
            <a:picLocks noChangeAspect="1"/>
          </p:cNvPicPr>
          <p:nvPr/>
        </p:nvPicPr>
        <p:blipFill>
          <a:blip r:embed="rId7"/>
          <a:stretch>
            <a:fillRect/>
          </a:stretch>
        </p:blipFill>
        <p:spPr>
          <a:xfrm>
            <a:off x="6722034" y="2065235"/>
            <a:ext cx="307238" cy="307238"/>
          </a:xfrm>
          <a:prstGeom prst="rect">
            <a:avLst/>
          </a:prstGeom>
        </p:spPr>
      </p:pic>
      <p:sp>
        <p:nvSpPr>
          <p:cNvPr id="47" name="text-1065"/>
          <p:cNvSpPr txBox="1"/>
          <p:nvPr/>
        </p:nvSpPr>
        <p:spPr>
          <a:xfrm>
            <a:off x="6144133" y="1523910"/>
            <a:ext cx="1463040" cy="402336"/>
          </a:xfrm>
          <a:prstGeom prst="rect">
            <a:avLst/>
          </a:prstGeom>
          <a:noFill/>
          <a:ln/>
        </p:spPr>
        <p:txBody>
          <a:bodyPr wrap="square" lIns="0" tIns="0" rIns="0" bIns="0" rtlCol="0" anchor="b"/>
          <a:lstStyle/>
          <a:p>
            <a:pPr algn="ctr" indent="0" marL="0">
              <a:buNone/>
            </a:pPr>
            <a:r>
              <a:rPr lang="en-US" sz="1050" b="1" dirty="0">
                <a:solidFill>
                  <a:srgbClr val="242424"/>
                </a:solidFill>
                <a:latin typeface="Arial" pitchFamily="34" charset="0"/>
                <a:ea typeface="Arial" pitchFamily="34" charset="-122"/>
                <a:cs typeface="Arial" pitchFamily="34" charset="-120"/>
              </a:rPr>
              <a:t>PPT Dashboards</a:t>
            </a:r>
            <a:endParaRPr lang="en-US" sz="1050" dirty="0"/>
          </a:p>
          <a:p>
            <a:pPr algn="ctr" indent="0" marL="0">
              <a:buNone/>
            </a:pPr>
            <a:r>
              <a:rPr lang="en-US" sz="1000" dirty="0">
                <a:solidFill>
                  <a:srgbClr val="767676"/>
                </a:solidFill>
                <a:latin typeface="Arial" pitchFamily="34" charset="0"/>
                <a:ea typeface="Arial" pitchFamily="34" charset="-122"/>
                <a:cs typeface="Arial" pitchFamily="34" charset="-120"/>
              </a:rPr>
              <a:t>Template KPI decks</a:t>
            </a:r>
            <a:endParaRPr lang="en-US" sz="1050" dirty="0"/>
          </a:p>
        </p:txBody>
      </p:sp>
      <p:sp>
        <p:nvSpPr>
          <p:cNvPr id="48" name="shape-1066"/>
          <p:cNvSpPr/>
          <p:nvPr/>
        </p:nvSpPr>
        <p:spPr>
          <a:xfrm>
            <a:off x="7764277" y="2637352"/>
            <a:ext cx="548640" cy="548640"/>
          </a:xfrm>
          <a:prstGeom prst="ellipse">
            <a:avLst/>
          </a:prstGeom>
          <a:solidFill>
            <a:srgbClr val="0068BF"/>
          </a:solidFill>
          <a:ln w="12700">
            <a:solidFill>
              <a:srgbClr val="0068BF"/>
            </a:solidFill>
            <a:prstDash val="solid"/>
          </a:ln>
        </p:spPr>
      </p:sp>
      <p:pic>
        <p:nvPicPr>
          <p:cNvPr id="49" name="icon-1067" descr="preencoded.png">    </p:cNvPr>
          <p:cNvPicPr>
            <a:picLocks noChangeAspect="1"/>
          </p:cNvPicPr>
          <p:nvPr/>
        </p:nvPicPr>
        <p:blipFill>
          <a:blip r:embed="rId8"/>
          <a:stretch>
            <a:fillRect/>
          </a:stretch>
        </p:blipFill>
        <p:spPr>
          <a:xfrm>
            <a:off x="7884978" y="2758053"/>
            <a:ext cx="307238" cy="307238"/>
          </a:xfrm>
          <a:prstGeom prst="rect">
            <a:avLst/>
          </a:prstGeom>
        </p:spPr>
      </p:pic>
      <p:sp>
        <p:nvSpPr>
          <p:cNvPr id="50" name="text-1068"/>
          <p:cNvSpPr txBox="1"/>
          <p:nvPr/>
        </p:nvSpPr>
        <p:spPr>
          <a:xfrm>
            <a:off x="7307077" y="2216728"/>
            <a:ext cx="1463040" cy="402336"/>
          </a:xfrm>
          <a:prstGeom prst="rect">
            <a:avLst/>
          </a:prstGeom>
          <a:noFill/>
          <a:ln/>
        </p:spPr>
        <p:txBody>
          <a:bodyPr wrap="square" lIns="0" tIns="0" rIns="0" bIns="0" rtlCol="0" anchor="b"/>
          <a:lstStyle/>
          <a:p>
            <a:pPr algn="ctr" indent="0" marL="0">
              <a:buNone/>
            </a:pPr>
            <a:r>
              <a:rPr lang="en-US" sz="1050" b="1" dirty="0">
                <a:solidFill>
                  <a:srgbClr val="242424"/>
                </a:solidFill>
                <a:latin typeface="Arial" pitchFamily="34" charset="0"/>
                <a:ea typeface="Arial" pitchFamily="34" charset="-122"/>
                <a:cs typeface="Arial" pitchFamily="34" charset="-120"/>
              </a:rPr>
              <a:t>Scoring &amp; GAP</a:t>
            </a:r>
            <a:endParaRPr lang="en-US" sz="1050" dirty="0"/>
          </a:p>
          <a:p>
            <a:pPr algn="ctr" indent="0" marL="0">
              <a:buNone/>
            </a:pPr>
            <a:r>
              <a:rPr lang="en-US" sz="1000" dirty="0">
                <a:solidFill>
                  <a:srgbClr val="767676"/>
                </a:solidFill>
                <a:latin typeface="Arial" pitchFamily="34" charset="0"/>
                <a:ea typeface="Arial" pitchFamily="34" charset="-122"/>
                <a:cs typeface="Arial" pitchFamily="34" charset="-120"/>
              </a:rPr>
              <a:t>Best Network · GAP</a:t>
            </a:r>
            <a:endParaRPr lang="en-US" sz="1050" dirty="0"/>
          </a:p>
        </p:txBody>
      </p:sp>
      <p:sp>
        <p:nvSpPr>
          <p:cNvPr id="51" name="shape-1069"/>
          <p:cNvSpPr/>
          <p:nvPr/>
        </p:nvSpPr>
        <p:spPr>
          <a:xfrm>
            <a:off x="7764277" y="3617144"/>
            <a:ext cx="548640" cy="548640"/>
          </a:xfrm>
          <a:prstGeom prst="ellipse">
            <a:avLst/>
          </a:prstGeom>
          <a:solidFill>
            <a:srgbClr val="0C9B5B"/>
          </a:solidFill>
          <a:ln w="12700">
            <a:solidFill>
              <a:srgbClr val="0C9B5B"/>
            </a:solidFill>
            <a:prstDash val="solid"/>
          </a:ln>
        </p:spPr>
      </p:sp>
      <p:pic>
        <p:nvPicPr>
          <p:cNvPr id="52" name="icon-1070" descr="preencoded.png">    </p:cNvPr>
          <p:cNvPicPr>
            <a:picLocks noChangeAspect="1"/>
          </p:cNvPicPr>
          <p:nvPr/>
        </p:nvPicPr>
        <p:blipFill>
          <a:blip r:embed="rId9"/>
          <a:stretch>
            <a:fillRect/>
          </a:stretch>
        </p:blipFill>
        <p:spPr>
          <a:xfrm>
            <a:off x="7884978" y="3737845"/>
            <a:ext cx="307238" cy="307238"/>
          </a:xfrm>
          <a:prstGeom prst="rect">
            <a:avLst/>
          </a:prstGeom>
        </p:spPr>
      </p:pic>
      <p:sp>
        <p:nvSpPr>
          <p:cNvPr id="53" name="text-1071"/>
          <p:cNvSpPr txBox="1"/>
          <p:nvPr/>
        </p:nvSpPr>
        <p:spPr>
          <a:xfrm>
            <a:off x="7307077" y="4184072"/>
            <a:ext cx="1463040" cy="402336"/>
          </a:xfrm>
          <a:prstGeom prst="rect">
            <a:avLst/>
          </a:prstGeom>
          <a:noFill/>
          <a:ln/>
        </p:spPr>
        <p:txBody>
          <a:bodyPr wrap="square" lIns="0" tIns="0" rIns="0" bIns="0" rtlCol="0" anchor="t"/>
          <a:lstStyle/>
          <a:p>
            <a:pPr algn="ctr" indent="0" marL="0">
              <a:buNone/>
            </a:pPr>
            <a:r>
              <a:rPr lang="en-US" sz="1050" b="1" dirty="0">
                <a:solidFill>
                  <a:srgbClr val="242424"/>
                </a:solidFill>
                <a:latin typeface="Arial" pitchFamily="34" charset="0"/>
                <a:ea typeface="Arial" pitchFamily="34" charset="-122"/>
                <a:cs typeface="Arial" pitchFamily="34" charset="-120"/>
              </a:rPr>
              <a:t>Network Insights</a:t>
            </a:r>
            <a:endParaRPr lang="en-US" sz="1050" dirty="0"/>
          </a:p>
          <a:p>
            <a:pPr algn="ctr" indent="0" marL="0">
              <a:buNone/>
            </a:pPr>
            <a:r>
              <a:rPr lang="en-US" sz="1000" dirty="0">
                <a:solidFill>
                  <a:srgbClr val="767676"/>
                </a:solidFill>
                <a:latin typeface="Arial" pitchFamily="34" charset="0"/>
                <a:ea typeface="Arial" pitchFamily="34" charset="-122"/>
                <a:cs typeface="Arial" pitchFamily="34" charset="-120"/>
              </a:rPr>
              <a:t>RSRP · SINR · 5G</a:t>
            </a:r>
            <a:endParaRPr lang="en-US" sz="1050" dirty="0"/>
          </a:p>
        </p:txBody>
      </p:sp>
      <p:sp>
        <p:nvSpPr>
          <p:cNvPr id="54" name="shape-1072"/>
          <p:cNvSpPr/>
          <p:nvPr/>
        </p:nvSpPr>
        <p:spPr>
          <a:xfrm>
            <a:off x="6601333" y="4309962"/>
            <a:ext cx="548640" cy="548640"/>
          </a:xfrm>
          <a:prstGeom prst="ellipse">
            <a:avLst/>
          </a:prstGeom>
          <a:solidFill>
            <a:srgbClr val="D92B2B"/>
          </a:solidFill>
          <a:ln w="12700">
            <a:solidFill>
              <a:srgbClr val="D92B2B"/>
            </a:solidFill>
            <a:prstDash val="solid"/>
          </a:ln>
        </p:spPr>
      </p:sp>
      <p:pic>
        <p:nvPicPr>
          <p:cNvPr id="55" name="icon-1073" descr="preencoded.png">    </p:cNvPr>
          <p:cNvPicPr>
            <a:picLocks noChangeAspect="1"/>
          </p:cNvPicPr>
          <p:nvPr/>
        </p:nvPicPr>
        <p:blipFill>
          <a:blip r:embed="rId10"/>
          <a:stretch>
            <a:fillRect/>
          </a:stretch>
        </p:blipFill>
        <p:spPr>
          <a:xfrm>
            <a:off x="6722034" y="4430662"/>
            <a:ext cx="307238" cy="307238"/>
          </a:xfrm>
          <a:prstGeom prst="rect">
            <a:avLst/>
          </a:prstGeom>
        </p:spPr>
      </p:pic>
      <p:sp>
        <p:nvSpPr>
          <p:cNvPr id="56" name="text-1074"/>
          <p:cNvSpPr txBox="1"/>
          <p:nvPr/>
        </p:nvSpPr>
        <p:spPr>
          <a:xfrm>
            <a:off x="6144133" y="4876890"/>
            <a:ext cx="1463040" cy="402336"/>
          </a:xfrm>
          <a:prstGeom prst="rect">
            <a:avLst/>
          </a:prstGeom>
          <a:noFill/>
          <a:ln/>
        </p:spPr>
        <p:txBody>
          <a:bodyPr wrap="square" lIns="0" tIns="0" rIns="0" bIns="0" rtlCol="0" anchor="t"/>
          <a:lstStyle/>
          <a:p>
            <a:pPr algn="ctr" indent="0" marL="0">
              <a:buNone/>
            </a:pPr>
            <a:r>
              <a:rPr lang="en-US" sz="1050" b="1" dirty="0">
                <a:solidFill>
                  <a:srgbClr val="242424"/>
                </a:solidFill>
                <a:latin typeface="Arial" pitchFamily="34" charset="0"/>
                <a:ea typeface="Arial" pitchFamily="34" charset="-122"/>
                <a:cs typeface="Arial" pitchFamily="34" charset="-120"/>
              </a:rPr>
              <a:t>NQ Calls</a:t>
            </a:r>
            <a:endParaRPr lang="en-US" sz="1050" dirty="0"/>
          </a:p>
          <a:p>
            <a:pPr algn="ctr" indent="0" marL="0">
              <a:buNone/>
            </a:pPr>
            <a:r>
              <a:rPr lang="en-US" sz="1000" dirty="0">
                <a:solidFill>
                  <a:srgbClr val="767676"/>
                </a:solidFill>
                <a:latin typeface="Arial" pitchFamily="34" charset="0"/>
                <a:ea typeface="Arial" pitchFamily="34" charset="-122"/>
                <a:cs typeface="Arial" pitchFamily="34" charset="-120"/>
              </a:rPr>
              <a:t>48 k NQ calls</a:t>
            </a:r>
            <a:endParaRPr lang="en-US" sz="1050" dirty="0"/>
          </a:p>
        </p:txBody>
      </p:sp>
      <p:sp>
        <p:nvSpPr>
          <p:cNvPr id="57" name="shape-1075"/>
          <p:cNvSpPr/>
          <p:nvPr/>
        </p:nvSpPr>
        <p:spPr>
          <a:xfrm>
            <a:off x="4956683" y="4309962"/>
            <a:ext cx="548640" cy="548640"/>
          </a:xfrm>
          <a:prstGeom prst="ellipse">
            <a:avLst/>
          </a:prstGeom>
          <a:solidFill>
            <a:srgbClr val="8C60A8"/>
          </a:solidFill>
          <a:ln w="12700">
            <a:solidFill>
              <a:srgbClr val="8C60A8"/>
            </a:solidFill>
            <a:prstDash val="solid"/>
          </a:ln>
        </p:spPr>
      </p:sp>
      <p:pic>
        <p:nvPicPr>
          <p:cNvPr id="58" name="icon-1076" descr="preencoded.png">    </p:cNvPr>
          <p:cNvPicPr>
            <a:picLocks noChangeAspect="1"/>
          </p:cNvPicPr>
          <p:nvPr/>
        </p:nvPicPr>
        <p:blipFill>
          <a:blip r:embed="rId11"/>
          <a:stretch>
            <a:fillRect/>
          </a:stretch>
        </p:blipFill>
        <p:spPr>
          <a:xfrm>
            <a:off x="5077383" y="4430662"/>
            <a:ext cx="307238" cy="307238"/>
          </a:xfrm>
          <a:prstGeom prst="rect">
            <a:avLst/>
          </a:prstGeom>
        </p:spPr>
      </p:pic>
      <p:sp>
        <p:nvSpPr>
          <p:cNvPr id="59" name="text-1077"/>
          <p:cNvSpPr txBox="1"/>
          <p:nvPr/>
        </p:nvSpPr>
        <p:spPr>
          <a:xfrm>
            <a:off x="4499483" y="4876890"/>
            <a:ext cx="1463040" cy="402336"/>
          </a:xfrm>
          <a:prstGeom prst="rect">
            <a:avLst/>
          </a:prstGeom>
          <a:noFill/>
          <a:ln/>
        </p:spPr>
        <p:txBody>
          <a:bodyPr wrap="square" lIns="0" tIns="0" rIns="0" bIns="0" rtlCol="0" anchor="t"/>
          <a:lstStyle/>
          <a:p>
            <a:pPr algn="ctr" indent="0" marL="0">
              <a:buNone/>
            </a:pPr>
            <a:r>
              <a:rPr lang="en-US" sz="1050" b="1" dirty="0">
                <a:solidFill>
                  <a:srgbClr val="242424"/>
                </a:solidFill>
                <a:latin typeface="Arial" pitchFamily="34" charset="0"/>
                <a:ea typeface="Arial" pitchFamily="34" charset="-122"/>
                <a:cs typeface="Arial" pitchFamily="34" charset="-120"/>
              </a:rPr>
              <a:t>Reporting</a:t>
            </a:r>
            <a:endParaRPr lang="en-US" sz="1050" dirty="0"/>
          </a:p>
          <a:p>
            <a:pPr algn="ctr" indent="0" marL="0">
              <a:buNone/>
            </a:pPr>
            <a:r>
              <a:rPr lang="en-US" sz="1000" dirty="0">
                <a:solidFill>
                  <a:srgbClr val="767676"/>
                </a:solidFill>
                <a:latin typeface="Arial" pitchFamily="34" charset="0"/>
                <a:ea typeface="Arial" pitchFamily="34" charset="-122"/>
                <a:cs typeface="Arial" pitchFamily="34" charset="-120"/>
              </a:rPr>
              <a:t>PPT · Word · email</a:t>
            </a:r>
            <a:endParaRPr lang="en-US" sz="1050" dirty="0"/>
          </a:p>
        </p:txBody>
      </p:sp>
      <p:sp>
        <p:nvSpPr>
          <p:cNvPr id="60" name="shape-1078"/>
          <p:cNvSpPr/>
          <p:nvPr/>
        </p:nvSpPr>
        <p:spPr>
          <a:xfrm>
            <a:off x="3793739" y="3617144"/>
            <a:ext cx="548640" cy="548640"/>
          </a:xfrm>
          <a:prstGeom prst="ellipse">
            <a:avLst/>
          </a:prstGeom>
          <a:solidFill>
            <a:srgbClr val="0082F0"/>
          </a:solidFill>
          <a:ln w="12700">
            <a:solidFill>
              <a:srgbClr val="0082F0"/>
            </a:solidFill>
            <a:prstDash val="solid"/>
          </a:ln>
        </p:spPr>
      </p:sp>
      <p:pic>
        <p:nvPicPr>
          <p:cNvPr id="61" name="icon-1079" descr="preencoded.png">    </p:cNvPr>
          <p:cNvPicPr>
            <a:picLocks noChangeAspect="1"/>
          </p:cNvPicPr>
          <p:nvPr/>
        </p:nvPicPr>
        <p:blipFill>
          <a:blip r:embed="rId12"/>
          <a:stretch>
            <a:fillRect/>
          </a:stretch>
        </p:blipFill>
        <p:spPr>
          <a:xfrm>
            <a:off x="3914440" y="3737845"/>
            <a:ext cx="307238" cy="307238"/>
          </a:xfrm>
          <a:prstGeom prst="rect">
            <a:avLst/>
          </a:prstGeom>
        </p:spPr>
      </p:pic>
      <p:sp>
        <p:nvSpPr>
          <p:cNvPr id="62" name="text-1080"/>
          <p:cNvSpPr txBox="1"/>
          <p:nvPr/>
        </p:nvSpPr>
        <p:spPr>
          <a:xfrm>
            <a:off x="3336539" y="4184072"/>
            <a:ext cx="1463040" cy="402336"/>
          </a:xfrm>
          <a:prstGeom prst="rect">
            <a:avLst/>
          </a:prstGeom>
          <a:noFill/>
          <a:ln/>
        </p:spPr>
        <p:txBody>
          <a:bodyPr wrap="square" lIns="0" tIns="0" rIns="0" bIns="0" rtlCol="0" anchor="t"/>
          <a:lstStyle/>
          <a:p>
            <a:pPr algn="ctr" indent="0" marL="0">
              <a:buNone/>
            </a:pPr>
            <a:r>
              <a:rPr lang="en-US" sz="1050" b="1" dirty="0">
                <a:solidFill>
                  <a:srgbClr val="242424"/>
                </a:solidFill>
                <a:latin typeface="Arial" pitchFamily="34" charset="0"/>
                <a:ea typeface="Arial" pitchFamily="34" charset="-122"/>
                <a:cs typeface="Arial" pitchFamily="34" charset="-120"/>
              </a:rPr>
              <a:t>Builders</a:t>
            </a:r>
            <a:endParaRPr lang="en-US" sz="1050" dirty="0"/>
          </a:p>
          <a:p>
            <a:pPr algn="ctr" indent="0" marL="0">
              <a:buNone/>
            </a:pPr>
            <a:r>
              <a:rPr lang="en-US" sz="1000" dirty="0">
                <a:solidFill>
                  <a:srgbClr val="767676"/>
                </a:solidFill>
                <a:latin typeface="Arial" pitchFamily="34" charset="0"/>
                <a:ea typeface="Arial" pitchFamily="34" charset="-122"/>
                <a:cs typeface="Arial" pitchFamily="34" charset="-120"/>
              </a:rPr>
              <a:t>Charts · SQL</a:t>
            </a:r>
            <a:endParaRPr lang="en-US" sz="1050" dirty="0"/>
          </a:p>
        </p:txBody>
      </p:sp>
      <p:sp>
        <p:nvSpPr>
          <p:cNvPr id="63" name="shape-1081"/>
          <p:cNvSpPr/>
          <p:nvPr/>
        </p:nvSpPr>
        <p:spPr>
          <a:xfrm>
            <a:off x="3793739" y="2637352"/>
            <a:ext cx="548640" cy="548640"/>
          </a:xfrm>
          <a:prstGeom prst="ellipse">
            <a:avLst/>
          </a:prstGeom>
          <a:solidFill>
            <a:srgbClr val="FAD22D"/>
          </a:solidFill>
          <a:ln w="12700">
            <a:solidFill>
              <a:srgbClr val="FAD22D"/>
            </a:solidFill>
            <a:prstDash val="solid"/>
          </a:ln>
        </p:spPr>
      </p:sp>
      <p:pic>
        <p:nvPicPr>
          <p:cNvPr id="64" name="icon-1082" descr="preencoded.png">    </p:cNvPr>
          <p:cNvPicPr>
            <a:picLocks noChangeAspect="1"/>
          </p:cNvPicPr>
          <p:nvPr/>
        </p:nvPicPr>
        <p:blipFill>
          <a:blip r:embed="rId13"/>
          <a:stretch>
            <a:fillRect/>
          </a:stretch>
        </p:blipFill>
        <p:spPr>
          <a:xfrm>
            <a:off x="3914440" y="2758053"/>
            <a:ext cx="307238" cy="307238"/>
          </a:xfrm>
          <a:prstGeom prst="rect">
            <a:avLst/>
          </a:prstGeom>
        </p:spPr>
      </p:pic>
      <p:sp>
        <p:nvSpPr>
          <p:cNvPr id="65" name="text-1083"/>
          <p:cNvSpPr txBox="1"/>
          <p:nvPr/>
        </p:nvSpPr>
        <p:spPr>
          <a:xfrm>
            <a:off x="3336539" y="2216728"/>
            <a:ext cx="1463040" cy="402336"/>
          </a:xfrm>
          <a:prstGeom prst="rect">
            <a:avLst/>
          </a:prstGeom>
          <a:noFill/>
          <a:ln/>
        </p:spPr>
        <p:txBody>
          <a:bodyPr wrap="square" lIns="0" tIns="0" rIns="0" bIns="0" rtlCol="0" anchor="b"/>
          <a:lstStyle/>
          <a:p>
            <a:pPr algn="ctr" indent="0" marL="0">
              <a:buNone/>
            </a:pPr>
            <a:r>
              <a:rPr lang="en-US" sz="1050" b="1" dirty="0">
                <a:solidFill>
                  <a:srgbClr val="242424"/>
                </a:solidFill>
                <a:latin typeface="Arial" pitchFamily="34" charset="0"/>
                <a:ea typeface="Arial" pitchFamily="34" charset="-122"/>
                <a:cs typeface="Arial" pitchFamily="34" charset="-120"/>
              </a:rPr>
              <a:t>Ticket Center</a:t>
            </a:r>
            <a:endParaRPr lang="en-US" sz="1050" dirty="0"/>
          </a:p>
          <a:p>
            <a:pPr algn="ctr" indent="0" marL="0">
              <a:buNone/>
            </a:pPr>
            <a:r>
              <a:rPr lang="en-US" sz="1000" dirty="0">
                <a:solidFill>
                  <a:srgbClr val="767676"/>
                </a:solidFill>
                <a:latin typeface="Arial" pitchFamily="34" charset="0"/>
                <a:ea typeface="Arial" pitchFamily="34" charset="-122"/>
                <a:cs typeface="Arial" pitchFamily="34" charset="-120"/>
              </a:rPr>
              <a:t>Bugs &amp; requests</a:t>
            </a:r>
            <a:endParaRPr lang="en-US" sz="1050" dirty="0"/>
          </a:p>
        </p:txBody>
      </p:sp>
      <p:sp>
        <p:nvSpPr>
          <p:cNvPr id="66" name="shape-1084"/>
          <p:cNvSpPr/>
          <p:nvPr/>
        </p:nvSpPr>
        <p:spPr>
          <a:xfrm flipV="1">
            <a:off x="8220456" y="2148840"/>
            <a:ext cx="667512" cy="1252728"/>
          </a:xfrm>
          <a:prstGeom prst="line">
            <a:avLst/>
          </a:prstGeom>
          <a:noFill/>
          <a:ln w="15875">
            <a:solidFill>
              <a:srgbClr val="A0A0A0"/>
            </a:solidFill>
            <a:prstDash val="solid"/>
            <a:tailEnd type="triangle"/>
          </a:ln>
        </p:spPr>
      </p:sp>
      <p:sp>
        <p:nvSpPr>
          <p:cNvPr id="67" name="shape-1085"/>
          <p:cNvSpPr/>
          <p:nvPr/>
        </p:nvSpPr>
        <p:spPr>
          <a:xfrm>
            <a:off x="8942832" y="1911096"/>
            <a:ext cx="457200" cy="457200"/>
          </a:xfrm>
          <a:prstGeom prst="ellipse">
            <a:avLst/>
          </a:prstGeom>
          <a:solidFill>
            <a:srgbClr val="242424"/>
          </a:solidFill>
          <a:ln w="12700">
            <a:solidFill>
              <a:srgbClr val="242424"/>
            </a:solidFill>
            <a:prstDash val="solid"/>
          </a:ln>
        </p:spPr>
      </p:sp>
      <p:pic>
        <p:nvPicPr>
          <p:cNvPr id="68" name="icon-1086" descr="preencoded.png">    </p:cNvPr>
          <p:cNvPicPr>
            <a:picLocks noChangeAspect="1"/>
          </p:cNvPicPr>
          <p:nvPr/>
        </p:nvPicPr>
        <p:blipFill>
          <a:blip r:embed="rId14"/>
          <a:stretch>
            <a:fillRect/>
          </a:stretch>
        </p:blipFill>
        <p:spPr>
          <a:xfrm>
            <a:off x="9043416" y="2011680"/>
            <a:ext cx="256032" cy="256032"/>
          </a:xfrm>
          <a:prstGeom prst="rect">
            <a:avLst/>
          </a:prstGeom>
        </p:spPr>
      </p:pic>
      <p:sp>
        <p:nvSpPr>
          <p:cNvPr id="69" name="text-1087"/>
          <p:cNvSpPr txBox="1"/>
          <p:nvPr/>
        </p:nvSpPr>
        <p:spPr>
          <a:xfrm>
            <a:off x="9509760" y="1837944"/>
            <a:ext cx="2148840" cy="274320"/>
          </a:xfrm>
          <a:prstGeom prst="rect">
            <a:avLst/>
          </a:prstGeom>
          <a:noFill/>
          <a:ln/>
        </p:spPr>
        <p:txBody>
          <a:bodyPr wrap="square" lIns="0" tIns="0" rIns="0" bIns="0" rtlCol="0" anchor="ctr"/>
          <a:lstStyle/>
          <a:p>
            <a:pPr indent="0" marL="0">
              <a:buNone/>
            </a:pPr>
            <a:r>
              <a:rPr lang="en-US" sz="1250" b="1" dirty="0">
                <a:solidFill>
                  <a:srgbClr val="242424"/>
                </a:solidFill>
                <a:latin typeface="Arial" pitchFamily="34" charset="0"/>
                <a:ea typeface="Arial" pitchFamily="34" charset="-122"/>
                <a:cs typeface="Arial" pitchFamily="34" charset="-120"/>
              </a:rPr>
              <a:t>Benchmarking</a:t>
            </a:r>
            <a:endParaRPr lang="en-US" sz="1250" dirty="0"/>
          </a:p>
        </p:txBody>
      </p:sp>
      <p:sp>
        <p:nvSpPr>
          <p:cNvPr id="70" name="text-1088"/>
          <p:cNvSpPr txBox="1"/>
          <p:nvPr/>
        </p:nvSpPr>
        <p:spPr>
          <a:xfrm>
            <a:off x="9509760" y="2112264"/>
            <a:ext cx="2148840" cy="384048"/>
          </a:xfrm>
          <a:prstGeom prst="rect">
            <a:avLst/>
          </a:prstGeom>
          <a:noFill/>
          <a:ln/>
        </p:spPr>
        <p:txBody>
          <a:bodyPr wrap="square" lIns="0" tIns="0" rIns="0" bIns="0" rtlCol="0" anchor="t"/>
          <a:lstStyle/>
          <a:p>
            <a:pPr indent="0" marL="0">
              <a:buNone/>
            </a:pPr>
            <a:r>
              <a:rPr lang="en-US" sz="1000" dirty="0">
                <a:solidFill>
                  <a:srgbClr val="767676"/>
                </a:solidFill>
                <a:latin typeface="Arial" pitchFamily="34" charset="0"/>
                <a:ea typeface="Arial" pitchFamily="34" charset="-122"/>
                <a:cs typeface="Arial" pitchFamily="34" charset="-120"/>
              </a:rPr>
              <a:t>Scores &amp; GAP to the reference, city by city</a:t>
            </a:r>
            <a:endParaRPr lang="en-US" sz="1000" dirty="0"/>
          </a:p>
        </p:txBody>
      </p:sp>
      <p:sp>
        <p:nvSpPr>
          <p:cNvPr id="71" name="shape-1089"/>
          <p:cNvSpPr/>
          <p:nvPr/>
        </p:nvSpPr>
        <p:spPr>
          <a:xfrm flipV="1">
            <a:off x="8220456" y="2990088"/>
            <a:ext cx="667512" cy="411480"/>
          </a:xfrm>
          <a:prstGeom prst="line">
            <a:avLst/>
          </a:prstGeom>
          <a:noFill/>
          <a:ln w="15875">
            <a:solidFill>
              <a:srgbClr val="A0A0A0"/>
            </a:solidFill>
            <a:prstDash val="solid"/>
            <a:tailEnd type="triangle"/>
          </a:ln>
        </p:spPr>
      </p:sp>
      <p:sp>
        <p:nvSpPr>
          <p:cNvPr id="72" name="shape-1090"/>
          <p:cNvSpPr/>
          <p:nvPr/>
        </p:nvSpPr>
        <p:spPr>
          <a:xfrm>
            <a:off x="8942832" y="2752344"/>
            <a:ext cx="457200" cy="457200"/>
          </a:xfrm>
          <a:prstGeom prst="ellipse">
            <a:avLst/>
          </a:prstGeom>
          <a:solidFill>
            <a:srgbClr val="242424"/>
          </a:solidFill>
          <a:ln w="12700">
            <a:solidFill>
              <a:srgbClr val="242424"/>
            </a:solidFill>
            <a:prstDash val="solid"/>
          </a:ln>
        </p:spPr>
      </p:sp>
      <p:pic>
        <p:nvPicPr>
          <p:cNvPr id="73" name="icon-1091" descr="preencoded.png">    </p:cNvPr>
          <p:cNvPicPr>
            <a:picLocks noChangeAspect="1"/>
          </p:cNvPicPr>
          <p:nvPr/>
        </p:nvPicPr>
        <p:blipFill>
          <a:blip r:embed="rId15"/>
          <a:stretch>
            <a:fillRect/>
          </a:stretch>
        </p:blipFill>
        <p:spPr>
          <a:xfrm>
            <a:off x="9043416" y="2852928"/>
            <a:ext cx="256032" cy="256032"/>
          </a:xfrm>
          <a:prstGeom prst="rect">
            <a:avLst/>
          </a:prstGeom>
        </p:spPr>
      </p:pic>
      <p:sp>
        <p:nvSpPr>
          <p:cNvPr id="74" name="text-1092"/>
          <p:cNvSpPr txBox="1"/>
          <p:nvPr/>
        </p:nvSpPr>
        <p:spPr>
          <a:xfrm>
            <a:off x="9509760" y="2679192"/>
            <a:ext cx="2148840" cy="274320"/>
          </a:xfrm>
          <a:prstGeom prst="rect">
            <a:avLst/>
          </a:prstGeom>
          <a:noFill/>
          <a:ln/>
        </p:spPr>
        <p:txBody>
          <a:bodyPr wrap="square" lIns="0" tIns="0" rIns="0" bIns="0" rtlCol="0" anchor="ctr"/>
          <a:lstStyle/>
          <a:p>
            <a:pPr indent="0" marL="0">
              <a:buNone/>
            </a:pPr>
            <a:r>
              <a:rPr lang="en-US" sz="1250" b="1" dirty="0">
                <a:solidFill>
                  <a:srgbClr val="242424"/>
                </a:solidFill>
                <a:latin typeface="Arial" pitchFamily="34" charset="0"/>
                <a:ea typeface="Arial" pitchFamily="34" charset="-122"/>
                <a:cs typeface="Arial" pitchFamily="34" charset="-120"/>
              </a:rPr>
              <a:t>NQ Calls</a:t>
            </a:r>
            <a:endParaRPr lang="en-US" sz="1250" dirty="0"/>
          </a:p>
        </p:txBody>
      </p:sp>
      <p:sp>
        <p:nvSpPr>
          <p:cNvPr id="75" name="text-1093"/>
          <p:cNvSpPr txBox="1"/>
          <p:nvPr/>
        </p:nvSpPr>
        <p:spPr>
          <a:xfrm>
            <a:off x="9509760" y="2953512"/>
            <a:ext cx="2148840" cy="384048"/>
          </a:xfrm>
          <a:prstGeom prst="rect">
            <a:avLst/>
          </a:prstGeom>
          <a:noFill/>
          <a:ln/>
        </p:spPr>
        <p:txBody>
          <a:bodyPr wrap="square" lIns="0" tIns="0" rIns="0" bIns="0" rtlCol="0" anchor="t"/>
          <a:lstStyle/>
          <a:p>
            <a:pPr indent="0" marL="0">
              <a:buNone/>
            </a:pPr>
            <a:r>
              <a:rPr lang="en-US" sz="1000" dirty="0">
                <a:solidFill>
                  <a:srgbClr val="767676"/>
                </a:solidFill>
                <a:latin typeface="Arial" pitchFamily="34" charset="0"/>
                <a:ea typeface="Arial" pitchFamily="34" charset="-122"/>
                <a:cs typeface="Arial" pitchFamily="34" charset="-120"/>
              </a:rPr>
              <a:t>Every failed call root-caused and closed</a:t>
            </a:r>
            <a:endParaRPr lang="en-US" sz="1000" dirty="0"/>
          </a:p>
        </p:txBody>
      </p:sp>
      <p:sp>
        <p:nvSpPr>
          <p:cNvPr id="76" name="shape-1094"/>
          <p:cNvSpPr/>
          <p:nvPr/>
        </p:nvSpPr>
        <p:spPr>
          <a:xfrm>
            <a:off x="8220456" y="3401568"/>
            <a:ext cx="667512" cy="429768"/>
          </a:xfrm>
          <a:prstGeom prst="line">
            <a:avLst/>
          </a:prstGeom>
          <a:noFill/>
          <a:ln w="15875">
            <a:solidFill>
              <a:srgbClr val="A0A0A0"/>
            </a:solidFill>
            <a:prstDash val="solid"/>
            <a:tailEnd type="triangle"/>
          </a:ln>
        </p:spPr>
      </p:sp>
      <p:sp>
        <p:nvSpPr>
          <p:cNvPr id="77" name="shape-1095"/>
          <p:cNvSpPr/>
          <p:nvPr/>
        </p:nvSpPr>
        <p:spPr>
          <a:xfrm>
            <a:off x="8942832" y="3593592"/>
            <a:ext cx="457200" cy="457200"/>
          </a:xfrm>
          <a:prstGeom prst="ellipse">
            <a:avLst/>
          </a:prstGeom>
          <a:solidFill>
            <a:srgbClr val="242424"/>
          </a:solidFill>
          <a:ln w="12700">
            <a:solidFill>
              <a:srgbClr val="242424"/>
            </a:solidFill>
            <a:prstDash val="solid"/>
          </a:ln>
        </p:spPr>
      </p:sp>
      <p:pic>
        <p:nvPicPr>
          <p:cNvPr id="78" name="icon-1096" descr="preencoded.png">    </p:cNvPr>
          <p:cNvPicPr>
            <a:picLocks noChangeAspect="1"/>
          </p:cNvPicPr>
          <p:nvPr/>
        </p:nvPicPr>
        <p:blipFill>
          <a:blip r:embed="rId16"/>
          <a:stretch>
            <a:fillRect/>
          </a:stretch>
        </p:blipFill>
        <p:spPr>
          <a:xfrm>
            <a:off x="9043416" y="3694176"/>
            <a:ext cx="256032" cy="256032"/>
          </a:xfrm>
          <a:prstGeom prst="rect">
            <a:avLst/>
          </a:prstGeom>
        </p:spPr>
      </p:pic>
      <p:sp>
        <p:nvSpPr>
          <p:cNvPr id="79" name="text-1097"/>
          <p:cNvSpPr txBox="1"/>
          <p:nvPr/>
        </p:nvSpPr>
        <p:spPr>
          <a:xfrm>
            <a:off x="9509760" y="3520440"/>
            <a:ext cx="2148840" cy="274320"/>
          </a:xfrm>
          <a:prstGeom prst="rect">
            <a:avLst/>
          </a:prstGeom>
          <a:noFill/>
          <a:ln/>
        </p:spPr>
        <p:txBody>
          <a:bodyPr wrap="square" lIns="0" tIns="0" rIns="0" bIns="0" rtlCol="0" anchor="ctr"/>
          <a:lstStyle/>
          <a:p>
            <a:pPr indent="0" marL="0">
              <a:buNone/>
            </a:pPr>
            <a:r>
              <a:rPr lang="en-US" sz="1250" b="1" dirty="0">
                <a:solidFill>
                  <a:srgbClr val="242424"/>
                </a:solidFill>
                <a:latin typeface="Arial" pitchFamily="34" charset="0"/>
                <a:ea typeface="Arial" pitchFamily="34" charset="-122"/>
                <a:cs typeface="Arial" pitchFamily="34" charset="-120"/>
              </a:rPr>
              <a:t>Troubleshooting</a:t>
            </a:r>
            <a:endParaRPr lang="en-US" sz="1250" dirty="0"/>
          </a:p>
        </p:txBody>
      </p:sp>
      <p:sp>
        <p:nvSpPr>
          <p:cNvPr id="80" name="text-1098"/>
          <p:cNvSpPr txBox="1"/>
          <p:nvPr/>
        </p:nvSpPr>
        <p:spPr>
          <a:xfrm>
            <a:off x="9509760" y="3794760"/>
            <a:ext cx="2148840" cy="384048"/>
          </a:xfrm>
          <a:prstGeom prst="rect">
            <a:avLst/>
          </a:prstGeom>
          <a:noFill/>
          <a:ln/>
        </p:spPr>
        <p:txBody>
          <a:bodyPr wrap="square" lIns="0" tIns="0" rIns="0" bIns="0" rtlCol="0" anchor="t"/>
          <a:lstStyle/>
          <a:p>
            <a:pPr indent="0" marL="0">
              <a:buNone/>
            </a:pPr>
            <a:r>
              <a:rPr lang="en-US" sz="1000" dirty="0">
                <a:solidFill>
                  <a:srgbClr val="767676"/>
                </a:solidFill>
                <a:latin typeface="Arial" pitchFamily="34" charset="0"/>
                <a:ea typeface="Arial" pitchFamily="34" charset="-122"/>
                <a:cs typeface="Arial" pitchFamily="34" charset="-120"/>
              </a:rPr>
              <a:t>Coverage, interference &amp; serving cells</a:t>
            </a:r>
            <a:endParaRPr lang="en-US" sz="1000" dirty="0"/>
          </a:p>
        </p:txBody>
      </p:sp>
      <p:sp>
        <p:nvSpPr>
          <p:cNvPr id="81" name="shape-1099"/>
          <p:cNvSpPr/>
          <p:nvPr/>
        </p:nvSpPr>
        <p:spPr>
          <a:xfrm>
            <a:off x="8220456" y="3401568"/>
            <a:ext cx="667512" cy="1271016"/>
          </a:xfrm>
          <a:prstGeom prst="line">
            <a:avLst/>
          </a:prstGeom>
          <a:noFill/>
          <a:ln w="15875">
            <a:solidFill>
              <a:srgbClr val="A0A0A0"/>
            </a:solidFill>
            <a:prstDash val="solid"/>
            <a:tailEnd type="triangle"/>
          </a:ln>
        </p:spPr>
      </p:sp>
      <p:sp>
        <p:nvSpPr>
          <p:cNvPr id="82" name="shape-1100"/>
          <p:cNvSpPr/>
          <p:nvPr/>
        </p:nvSpPr>
        <p:spPr>
          <a:xfrm>
            <a:off x="8942832" y="4434840"/>
            <a:ext cx="457200" cy="457200"/>
          </a:xfrm>
          <a:prstGeom prst="ellipse">
            <a:avLst/>
          </a:prstGeom>
          <a:solidFill>
            <a:srgbClr val="242424"/>
          </a:solidFill>
          <a:ln w="12700">
            <a:solidFill>
              <a:srgbClr val="242424"/>
            </a:solidFill>
            <a:prstDash val="solid"/>
          </a:ln>
        </p:spPr>
      </p:sp>
      <p:pic>
        <p:nvPicPr>
          <p:cNvPr id="83" name="icon-1101" descr="preencoded.png">    </p:cNvPr>
          <p:cNvPicPr>
            <a:picLocks noChangeAspect="1"/>
          </p:cNvPicPr>
          <p:nvPr/>
        </p:nvPicPr>
        <p:blipFill>
          <a:blip r:embed="rId17"/>
          <a:stretch>
            <a:fillRect/>
          </a:stretch>
        </p:blipFill>
        <p:spPr>
          <a:xfrm>
            <a:off x="9043416" y="4535424"/>
            <a:ext cx="256032" cy="256032"/>
          </a:xfrm>
          <a:prstGeom prst="rect">
            <a:avLst/>
          </a:prstGeom>
        </p:spPr>
      </p:pic>
      <p:sp>
        <p:nvSpPr>
          <p:cNvPr id="84" name="text-1102"/>
          <p:cNvSpPr txBox="1"/>
          <p:nvPr/>
        </p:nvSpPr>
        <p:spPr>
          <a:xfrm>
            <a:off x="9509760" y="4361688"/>
            <a:ext cx="2148840" cy="274320"/>
          </a:xfrm>
          <a:prstGeom prst="rect">
            <a:avLst/>
          </a:prstGeom>
          <a:noFill/>
          <a:ln/>
        </p:spPr>
        <p:txBody>
          <a:bodyPr wrap="square" lIns="0" tIns="0" rIns="0" bIns="0" rtlCol="0" anchor="ctr"/>
          <a:lstStyle/>
          <a:p>
            <a:pPr indent="0" marL="0">
              <a:buNone/>
            </a:pPr>
            <a:r>
              <a:rPr lang="en-US" sz="1250" b="1" dirty="0">
                <a:solidFill>
                  <a:srgbClr val="242424"/>
                </a:solidFill>
                <a:latin typeface="Arial" pitchFamily="34" charset="0"/>
                <a:ea typeface="Arial" pitchFamily="34" charset="-122"/>
                <a:cs typeface="Arial" pitchFamily="34" charset="-120"/>
              </a:rPr>
              <a:t>Technical &amp; executive</a:t>
            </a:r>
            <a:endParaRPr lang="en-US" sz="1250" dirty="0"/>
          </a:p>
        </p:txBody>
      </p:sp>
      <p:sp>
        <p:nvSpPr>
          <p:cNvPr id="85" name="text-1103"/>
          <p:cNvSpPr txBox="1"/>
          <p:nvPr/>
        </p:nvSpPr>
        <p:spPr>
          <a:xfrm>
            <a:off x="9509760" y="4636008"/>
            <a:ext cx="2148840" cy="384048"/>
          </a:xfrm>
          <a:prstGeom prst="rect">
            <a:avLst/>
          </a:prstGeom>
          <a:noFill/>
          <a:ln/>
        </p:spPr>
        <p:txBody>
          <a:bodyPr wrap="square" lIns="0" tIns="0" rIns="0" bIns="0" rtlCol="0" anchor="t"/>
          <a:lstStyle/>
          <a:p>
            <a:pPr indent="0" marL="0">
              <a:buNone/>
            </a:pPr>
            <a:r>
              <a:rPr lang="en-US" sz="1000" dirty="0">
                <a:solidFill>
                  <a:srgbClr val="767676"/>
                </a:solidFill>
                <a:latin typeface="Arial" pitchFamily="34" charset="0"/>
                <a:ea typeface="Arial" pitchFamily="34" charset="-122"/>
                <a:cs typeface="Arial" pitchFamily="34" charset="-120"/>
              </a:rPr>
              <a:t>PowerPoint &amp; Word in seven themes, scheduled</a:t>
            </a:r>
            <a:endParaRPr lang="en-US" sz="1000" dirty="0"/>
          </a:p>
        </p:txBody>
      </p:sp>
      <p:sp>
        <p:nvSpPr>
          <p:cNvPr id="86" name="text-1104"/>
          <p:cNvSpPr txBox="1"/>
          <p:nvPr/>
        </p:nvSpPr>
        <p:spPr>
          <a:xfrm>
            <a:off x="548640" y="5230368"/>
            <a:ext cx="2743200" cy="237744"/>
          </a:xfrm>
          <a:prstGeom prst="rect">
            <a:avLst/>
          </a:prstGeom>
          <a:noFill/>
          <a:ln/>
        </p:spPr>
        <p:txBody>
          <a:bodyPr wrap="square" lIns="0" tIns="0" rIns="0" bIns="0" rtlCol="0" anchor="ctr"/>
          <a:lstStyle/>
          <a:p>
            <a:pPr indent="0" marL="0">
              <a:buNone/>
            </a:pPr>
            <a:r>
              <a:rPr lang="en-US" sz="1050" b="1" spc="100" kern="0" dirty="0">
                <a:solidFill>
                  <a:srgbClr val="767676"/>
                </a:solidFill>
                <a:latin typeface="Arial" pitchFamily="34" charset="0"/>
                <a:ea typeface="Arial" pitchFamily="34" charset="-122"/>
                <a:cs typeface="Arial" pitchFamily="34" charset="-120"/>
              </a:rPr>
              <a:t>ENTERPRISE PLATFORM</a:t>
            </a:r>
            <a:endParaRPr lang="en-US" sz="1050" dirty="0"/>
          </a:p>
        </p:txBody>
      </p:sp>
      <p:sp>
        <p:nvSpPr>
          <p:cNvPr id="87" name="shape-1105"/>
          <p:cNvSpPr/>
          <p:nvPr/>
        </p:nvSpPr>
        <p:spPr>
          <a:xfrm>
            <a:off x="548640" y="5504688"/>
            <a:ext cx="1609344" cy="347472"/>
          </a:xfrm>
          <a:prstGeom prst="roundRect">
            <a:avLst>
              <a:gd name="adj" fmla="val 26316"/>
            </a:avLst>
          </a:prstGeom>
          <a:solidFill>
            <a:srgbClr val="FFFFFF"/>
          </a:solidFill>
          <a:ln w="12700">
            <a:solidFill>
              <a:srgbClr val="E0E0E0"/>
            </a:solidFill>
            <a:prstDash val="solid"/>
          </a:ln>
        </p:spPr>
      </p:sp>
      <p:pic>
        <p:nvPicPr>
          <p:cNvPr id="88" name="icon-1106" descr="preencoded.png">    </p:cNvPr>
          <p:cNvPicPr>
            <a:picLocks noChangeAspect="1"/>
          </p:cNvPicPr>
          <p:nvPr/>
        </p:nvPicPr>
        <p:blipFill>
          <a:blip r:embed="rId18"/>
          <a:stretch>
            <a:fillRect/>
          </a:stretch>
        </p:blipFill>
        <p:spPr>
          <a:xfrm>
            <a:off x="640080" y="5577840"/>
            <a:ext cx="201168" cy="201168"/>
          </a:xfrm>
          <a:prstGeom prst="rect">
            <a:avLst/>
          </a:prstGeom>
        </p:spPr>
      </p:pic>
      <p:sp>
        <p:nvSpPr>
          <p:cNvPr id="89" name="text-1107"/>
          <p:cNvSpPr txBox="1"/>
          <p:nvPr/>
        </p:nvSpPr>
        <p:spPr>
          <a:xfrm>
            <a:off x="896112" y="5504688"/>
            <a:ext cx="1234440" cy="347472"/>
          </a:xfrm>
          <a:prstGeom prst="rect">
            <a:avLst/>
          </a:prstGeom>
          <a:noFill/>
          <a:ln/>
        </p:spPr>
        <p:txBody>
          <a:bodyPr wrap="square" lIns="0" tIns="0" rIns="0" bIns="0" rtlCol="0" anchor="ctr"/>
          <a:lstStyle/>
          <a:p>
            <a:pPr indent="0" marL="0">
              <a:buNone/>
            </a:pPr>
            <a:r>
              <a:rPr lang="en-US" sz="1000" b="1" dirty="0">
                <a:solidFill>
                  <a:srgbClr val="242424"/>
                </a:solidFill>
                <a:latin typeface="Arial" pitchFamily="34" charset="0"/>
                <a:ea typeface="Arial" pitchFamily="34" charset="-122"/>
                <a:cs typeface="Arial" pitchFamily="34" charset="-120"/>
              </a:rPr>
              <a:t>AWS · Docker</a:t>
            </a:r>
            <a:endParaRPr lang="en-US" sz="1000" dirty="0"/>
          </a:p>
        </p:txBody>
      </p:sp>
      <p:sp>
        <p:nvSpPr>
          <p:cNvPr id="90" name="shape-1108"/>
          <p:cNvSpPr/>
          <p:nvPr/>
        </p:nvSpPr>
        <p:spPr>
          <a:xfrm>
            <a:off x="2249424" y="5504688"/>
            <a:ext cx="1609344" cy="347472"/>
          </a:xfrm>
          <a:prstGeom prst="roundRect">
            <a:avLst>
              <a:gd name="adj" fmla="val 26316"/>
            </a:avLst>
          </a:prstGeom>
          <a:solidFill>
            <a:srgbClr val="FFFFFF"/>
          </a:solidFill>
          <a:ln w="12700">
            <a:solidFill>
              <a:srgbClr val="E0E0E0"/>
            </a:solidFill>
            <a:prstDash val="solid"/>
          </a:ln>
        </p:spPr>
      </p:sp>
      <p:pic>
        <p:nvPicPr>
          <p:cNvPr id="91" name="icon-1109" descr="preencoded.png">    </p:cNvPr>
          <p:cNvPicPr>
            <a:picLocks noChangeAspect="1"/>
          </p:cNvPicPr>
          <p:nvPr/>
        </p:nvPicPr>
        <p:blipFill>
          <a:blip r:embed="rId19"/>
          <a:stretch>
            <a:fillRect/>
          </a:stretch>
        </p:blipFill>
        <p:spPr>
          <a:xfrm>
            <a:off x="2340864" y="5577840"/>
            <a:ext cx="201168" cy="201168"/>
          </a:xfrm>
          <a:prstGeom prst="rect">
            <a:avLst/>
          </a:prstGeom>
        </p:spPr>
      </p:pic>
      <p:sp>
        <p:nvSpPr>
          <p:cNvPr id="92" name="text-1110"/>
          <p:cNvSpPr txBox="1"/>
          <p:nvPr/>
        </p:nvSpPr>
        <p:spPr>
          <a:xfrm>
            <a:off x="2596896" y="5504688"/>
            <a:ext cx="1234440" cy="347472"/>
          </a:xfrm>
          <a:prstGeom prst="rect">
            <a:avLst/>
          </a:prstGeom>
          <a:noFill/>
          <a:ln/>
        </p:spPr>
        <p:txBody>
          <a:bodyPr wrap="square" lIns="0" tIns="0" rIns="0" bIns="0" rtlCol="0" anchor="ctr"/>
          <a:lstStyle/>
          <a:p>
            <a:pPr indent="0" marL="0">
              <a:buNone/>
            </a:pPr>
            <a:r>
              <a:rPr lang="en-US" sz="1000" b="1" dirty="0">
                <a:solidFill>
                  <a:srgbClr val="242424"/>
                </a:solidFill>
                <a:latin typeface="Arial" pitchFamily="34" charset="0"/>
                <a:ea typeface="Arial" pitchFamily="34" charset="-122"/>
                <a:cs typeface="Arial" pitchFamily="34" charset="-120"/>
              </a:rPr>
              <a:t>4 roles · 16 users</a:t>
            </a:r>
            <a:endParaRPr lang="en-US" sz="1000" dirty="0"/>
          </a:p>
        </p:txBody>
      </p:sp>
      <p:sp>
        <p:nvSpPr>
          <p:cNvPr id="93" name="shape-1111"/>
          <p:cNvSpPr/>
          <p:nvPr/>
        </p:nvSpPr>
        <p:spPr>
          <a:xfrm>
            <a:off x="3950208" y="5504688"/>
            <a:ext cx="1609344" cy="347472"/>
          </a:xfrm>
          <a:prstGeom prst="roundRect">
            <a:avLst>
              <a:gd name="adj" fmla="val 26316"/>
            </a:avLst>
          </a:prstGeom>
          <a:solidFill>
            <a:srgbClr val="FFFFFF"/>
          </a:solidFill>
          <a:ln w="12700">
            <a:solidFill>
              <a:srgbClr val="E0E0E0"/>
            </a:solidFill>
            <a:prstDash val="solid"/>
          </a:ln>
        </p:spPr>
      </p:sp>
      <p:pic>
        <p:nvPicPr>
          <p:cNvPr id="94" name="icon-1112" descr="preencoded.png">    </p:cNvPr>
          <p:cNvPicPr>
            <a:picLocks noChangeAspect="1"/>
          </p:cNvPicPr>
          <p:nvPr/>
        </p:nvPicPr>
        <p:blipFill>
          <a:blip r:embed="rId20"/>
          <a:stretch>
            <a:fillRect/>
          </a:stretch>
        </p:blipFill>
        <p:spPr>
          <a:xfrm>
            <a:off x="4041648" y="5577840"/>
            <a:ext cx="201168" cy="201168"/>
          </a:xfrm>
          <a:prstGeom prst="rect">
            <a:avLst/>
          </a:prstGeom>
        </p:spPr>
      </p:pic>
      <p:sp>
        <p:nvSpPr>
          <p:cNvPr id="95" name="text-1113"/>
          <p:cNvSpPr txBox="1"/>
          <p:nvPr/>
        </p:nvSpPr>
        <p:spPr>
          <a:xfrm>
            <a:off x="4297680" y="5504688"/>
            <a:ext cx="1234440" cy="347472"/>
          </a:xfrm>
          <a:prstGeom prst="rect">
            <a:avLst/>
          </a:prstGeom>
          <a:noFill/>
          <a:ln/>
        </p:spPr>
        <p:txBody>
          <a:bodyPr wrap="square" lIns="0" tIns="0" rIns="0" bIns="0" rtlCol="0" anchor="ctr"/>
          <a:lstStyle/>
          <a:p>
            <a:pPr indent="0" marL="0">
              <a:buNone/>
            </a:pPr>
            <a:r>
              <a:rPr lang="en-US" sz="1000" b="1" dirty="0">
                <a:solidFill>
                  <a:srgbClr val="242424"/>
                </a:solidFill>
                <a:latin typeface="Arial" pitchFamily="34" charset="0"/>
                <a:ea typeface="Arial" pitchFamily="34" charset="-122"/>
                <a:cs typeface="Arial" pitchFamily="34" charset="-120"/>
              </a:rPr>
              <a:t>Modules Profiles</a:t>
            </a:r>
            <a:endParaRPr lang="en-US" sz="1000" dirty="0"/>
          </a:p>
        </p:txBody>
      </p:sp>
      <p:sp>
        <p:nvSpPr>
          <p:cNvPr id="96" name="shape-1114"/>
          <p:cNvSpPr/>
          <p:nvPr/>
        </p:nvSpPr>
        <p:spPr>
          <a:xfrm>
            <a:off x="5650992" y="5504688"/>
            <a:ext cx="1609344" cy="347472"/>
          </a:xfrm>
          <a:prstGeom prst="roundRect">
            <a:avLst>
              <a:gd name="adj" fmla="val 26316"/>
            </a:avLst>
          </a:prstGeom>
          <a:solidFill>
            <a:srgbClr val="FFFFFF"/>
          </a:solidFill>
          <a:ln w="12700">
            <a:solidFill>
              <a:srgbClr val="E0E0E0"/>
            </a:solidFill>
            <a:prstDash val="solid"/>
          </a:ln>
        </p:spPr>
      </p:sp>
      <p:pic>
        <p:nvPicPr>
          <p:cNvPr id="97" name="icon-1115" descr="preencoded.png">    </p:cNvPr>
          <p:cNvPicPr>
            <a:picLocks noChangeAspect="1"/>
          </p:cNvPicPr>
          <p:nvPr/>
        </p:nvPicPr>
        <p:blipFill>
          <a:blip r:embed="rId21"/>
          <a:stretch>
            <a:fillRect/>
          </a:stretch>
        </p:blipFill>
        <p:spPr>
          <a:xfrm>
            <a:off x="5742432" y="5577840"/>
            <a:ext cx="201168" cy="201168"/>
          </a:xfrm>
          <a:prstGeom prst="rect">
            <a:avLst/>
          </a:prstGeom>
        </p:spPr>
      </p:pic>
      <p:sp>
        <p:nvSpPr>
          <p:cNvPr id="98" name="text-1116"/>
          <p:cNvSpPr txBox="1"/>
          <p:nvPr/>
        </p:nvSpPr>
        <p:spPr>
          <a:xfrm>
            <a:off x="5998464" y="5504688"/>
            <a:ext cx="1234440" cy="347472"/>
          </a:xfrm>
          <a:prstGeom prst="rect">
            <a:avLst/>
          </a:prstGeom>
          <a:noFill/>
          <a:ln/>
        </p:spPr>
        <p:txBody>
          <a:bodyPr wrap="square" lIns="0" tIns="0" rIns="0" bIns="0" rtlCol="0" anchor="ctr"/>
          <a:lstStyle/>
          <a:p>
            <a:pPr indent="0" marL="0">
              <a:buNone/>
            </a:pPr>
            <a:r>
              <a:rPr lang="en-US" sz="1000" b="1" dirty="0">
                <a:solidFill>
                  <a:srgbClr val="242424"/>
                </a:solidFill>
                <a:latin typeface="Arial" pitchFamily="34" charset="0"/>
                <a:ea typeface="Arial" pitchFamily="34" charset="-122"/>
                <a:cs typeface="Arial" pitchFamily="34" charset="-120"/>
              </a:rPr>
              <a:t>Isolated workspaces</a:t>
            </a:r>
            <a:endParaRPr lang="en-US" sz="1000" dirty="0"/>
          </a:p>
        </p:txBody>
      </p:sp>
      <p:sp>
        <p:nvSpPr>
          <p:cNvPr id="99" name="shape-1117"/>
          <p:cNvSpPr/>
          <p:nvPr/>
        </p:nvSpPr>
        <p:spPr>
          <a:xfrm>
            <a:off x="548640" y="5916168"/>
            <a:ext cx="1609344" cy="347472"/>
          </a:xfrm>
          <a:prstGeom prst="roundRect">
            <a:avLst>
              <a:gd name="adj" fmla="val 26316"/>
            </a:avLst>
          </a:prstGeom>
          <a:solidFill>
            <a:srgbClr val="FFFFFF"/>
          </a:solidFill>
          <a:ln w="12700">
            <a:solidFill>
              <a:srgbClr val="E0E0E0"/>
            </a:solidFill>
            <a:prstDash val="solid"/>
          </a:ln>
        </p:spPr>
      </p:sp>
      <p:pic>
        <p:nvPicPr>
          <p:cNvPr id="100" name="icon-1118" descr="preencoded.png">    </p:cNvPr>
          <p:cNvPicPr>
            <a:picLocks noChangeAspect="1"/>
          </p:cNvPicPr>
          <p:nvPr/>
        </p:nvPicPr>
        <p:blipFill>
          <a:blip r:embed="rId22"/>
          <a:stretch>
            <a:fillRect/>
          </a:stretch>
        </p:blipFill>
        <p:spPr>
          <a:xfrm>
            <a:off x="640080" y="5989320"/>
            <a:ext cx="201168" cy="201168"/>
          </a:xfrm>
          <a:prstGeom prst="rect">
            <a:avLst/>
          </a:prstGeom>
        </p:spPr>
      </p:pic>
      <p:sp>
        <p:nvSpPr>
          <p:cNvPr id="101" name="text-1119"/>
          <p:cNvSpPr txBox="1"/>
          <p:nvPr/>
        </p:nvSpPr>
        <p:spPr>
          <a:xfrm>
            <a:off x="896112" y="5916168"/>
            <a:ext cx="1234440" cy="347472"/>
          </a:xfrm>
          <a:prstGeom prst="rect">
            <a:avLst/>
          </a:prstGeom>
          <a:noFill/>
          <a:ln/>
        </p:spPr>
        <p:txBody>
          <a:bodyPr wrap="square" lIns="0" tIns="0" rIns="0" bIns="0" rtlCol="0" anchor="ctr"/>
          <a:lstStyle/>
          <a:p>
            <a:pPr indent="0" marL="0">
              <a:buNone/>
            </a:pPr>
            <a:r>
              <a:rPr lang="en-US" sz="1000" b="1" dirty="0">
                <a:solidFill>
                  <a:srgbClr val="242424"/>
                </a:solidFill>
                <a:latin typeface="Arial" pitchFamily="34" charset="0"/>
                <a:ea typeface="Arial" pitchFamily="34" charset="-122"/>
                <a:cs typeface="Arial" pitchFamily="34" charset="-120"/>
              </a:rPr>
              <a:t>Automated backups</a:t>
            </a:r>
            <a:endParaRPr lang="en-US" sz="1000" dirty="0"/>
          </a:p>
        </p:txBody>
      </p:sp>
      <p:sp>
        <p:nvSpPr>
          <p:cNvPr id="102" name="shape-1120"/>
          <p:cNvSpPr/>
          <p:nvPr/>
        </p:nvSpPr>
        <p:spPr>
          <a:xfrm>
            <a:off x="2249424" y="5916168"/>
            <a:ext cx="1609344" cy="347472"/>
          </a:xfrm>
          <a:prstGeom prst="roundRect">
            <a:avLst>
              <a:gd name="adj" fmla="val 26316"/>
            </a:avLst>
          </a:prstGeom>
          <a:solidFill>
            <a:srgbClr val="FFFFFF"/>
          </a:solidFill>
          <a:ln w="12700">
            <a:solidFill>
              <a:srgbClr val="E0E0E0"/>
            </a:solidFill>
            <a:prstDash val="solid"/>
          </a:ln>
        </p:spPr>
      </p:sp>
      <p:pic>
        <p:nvPicPr>
          <p:cNvPr id="103" name="icon-1121" descr="preencoded.png">    </p:cNvPr>
          <p:cNvPicPr>
            <a:picLocks noChangeAspect="1"/>
          </p:cNvPicPr>
          <p:nvPr/>
        </p:nvPicPr>
        <p:blipFill>
          <a:blip r:embed="rId23"/>
          <a:stretch>
            <a:fillRect/>
          </a:stretch>
        </p:blipFill>
        <p:spPr>
          <a:xfrm>
            <a:off x="2340864" y="5989320"/>
            <a:ext cx="201168" cy="201168"/>
          </a:xfrm>
          <a:prstGeom prst="rect">
            <a:avLst/>
          </a:prstGeom>
        </p:spPr>
      </p:pic>
      <p:sp>
        <p:nvSpPr>
          <p:cNvPr id="104" name="text-1122"/>
          <p:cNvSpPr txBox="1"/>
          <p:nvPr/>
        </p:nvSpPr>
        <p:spPr>
          <a:xfrm>
            <a:off x="2596896" y="5916168"/>
            <a:ext cx="1234440" cy="347472"/>
          </a:xfrm>
          <a:prstGeom prst="rect">
            <a:avLst/>
          </a:prstGeom>
          <a:noFill/>
          <a:ln/>
        </p:spPr>
        <p:txBody>
          <a:bodyPr wrap="square" lIns="0" tIns="0" rIns="0" bIns="0" rtlCol="0" anchor="ctr"/>
          <a:lstStyle/>
          <a:p>
            <a:pPr indent="0" marL="0">
              <a:buNone/>
            </a:pPr>
            <a:r>
              <a:rPr lang="en-US" sz="1000" b="1" dirty="0">
                <a:solidFill>
                  <a:srgbClr val="242424"/>
                </a:solidFill>
                <a:latin typeface="Arial" pitchFamily="34" charset="0"/>
                <a:ea typeface="Arial" pitchFamily="34" charset="-122"/>
                <a:cs typeface="Arial" pitchFamily="34" charset="-120"/>
              </a:rPr>
              <a:t>Ticket Center</a:t>
            </a:r>
            <a:endParaRPr lang="en-US" sz="1000" dirty="0"/>
          </a:p>
        </p:txBody>
      </p:sp>
      <p:sp>
        <p:nvSpPr>
          <p:cNvPr id="105" name="shape-1123"/>
          <p:cNvSpPr/>
          <p:nvPr/>
        </p:nvSpPr>
        <p:spPr>
          <a:xfrm>
            <a:off x="3950208" y="5916168"/>
            <a:ext cx="1609344" cy="347472"/>
          </a:xfrm>
          <a:prstGeom prst="roundRect">
            <a:avLst>
              <a:gd name="adj" fmla="val 26316"/>
            </a:avLst>
          </a:prstGeom>
          <a:solidFill>
            <a:srgbClr val="FFFFFF"/>
          </a:solidFill>
          <a:ln w="12700">
            <a:solidFill>
              <a:srgbClr val="E0E0E0"/>
            </a:solidFill>
            <a:prstDash val="solid"/>
          </a:ln>
        </p:spPr>
      </p:sp>
      <p:pic>
        <p:nvPicPr>
          <p:cNvPr id="106" name="icon-1124" descr="preencoded.png">    </p:cNvPr>
          <p:cNvPicPr>
            <a:picLocks noChangeAspect="1"/>
          </p:cNvPicPr>
          <p:nvPr/>
        </p:nvPicPr>
        <p:blipFill>
          <a:blip r:embed="rId24"/>
          <a:stretch>
            <a:fillRect/>
          </a:stretch>
        </p:blipFill>
        <p:spPr>
          <a:xfrm>
            <a:off x="4041648" y="5989320"/>
            <a:ext cx="201168" cy="201168"/>
          </a:xfrm>
          <a:prstGeom prst="rect">
            <a:avLst/>
          </a:prstGeom>
        </p:spPr>
      </p:pic>
      <p:sp>
        <p:nvSpPr>
          <p:cNvPr id="107" name="text-1125"/>
          <p:cNvSpPr txBox="1"/>
          <p:nvPr/>
        </p:nvSpPr>
        <p:spPr>
          <a:xfrm>
            <a:off x="4297680" y="5916168"/>
            <a:ext cx="1234440" cy="347472"/>
          </a:xfrm>
          <a:prstGeom prst="rect">
            <a:avLst/>
          </a:prstGeom>
          <a:noFill/>
          <a:ln/>
        </p:spPr>
        <p:txBody>
          <a:bodyPr wrap="square" lIns="0" tIns="0" rIns="0" bIns="0" rtlCol="0" anchor="ctr"/>
          <a:lstStyle/>
          <a:p>
            <a:pPr indent="0" marL="0">
              <a:buNone/>
            </a:pPr>
            <a:r>
              <a:rPr lang="en-US" sz="1000" b="1" dirty="0">
                <a:solidFill>
                  <a:srgbClr val="242424"/>
                </a:solidFill>
                <a:latin typeface="Arial" pitchFamily="34" charset="0"/>
                <a:ea typeface="Arial" pitchFamily="34" charset="-122"/>
                <a:cs typeface="Arial" pitchFamily="34" charset="-120"/>
              </a:rPr>
              <a:t>25-chapter Help</a:t>
            </a:r>
            <a:endParaRPr lang="en-US" sz="1000" dirty="0"/>
          </a:p>
        </p:txBody>
      </p:sp>
      <p:sp>
        <p:nvSpPr>
          <p:cNvPr id="108" name="shape-1126"/>
          <p:cNvSpPr/>
          <p:nvPr/>
        </p:nvSpPr>
        <p:spPr>
          <a:xfrm>
            <a:off x="5650992" y="5916168"/>
            <a:ext cx="1609344" cy="347472"/>
          </a:xfrm>
          <a:prstGeom prst="roundRect">
            <a:avLst>
              <a:gd name="adj" fmla="val 26316"/>
            </a:avLst>
          </a:prstGeom>
          <a:solidFill>
            <a:srgbClr val="FFFFFF"/>
          </a:solidFill>
          <a:ln w="12700">
            <a:solidFill>
              <a:srgbClr val="E0E0E0"/>
            </a:solidFill>
            <a:prstDash val="solid"/>
          </a:ln>
        </p:spPr>
      </p:sp>
      <p:pic>
        <p:nvPicPr>
          <p:cNvPr id="109" name="icon-1127" descr="preencoded.png">    </p:cNvPr>
          <p:cNvPicPr>
            <a:picLocks noChangeAspect="1"/>
          </p:cNvPicPr>
          <p:nvPr/>
        </p:nvPicPr>
        <p:blipFill>
          <a:blip r:embed="rId25"/>
          <a:stretch>
            <a:fillRect/>
          </a:stretch>
        </p:blipFill>
        <p:spPr>
          <a:xfrm>
            <a:off x="5742432" y="5989320"/>
            <a:ext cx="201168" cy="201168"/>
          </a:xfrm>
          <a:prstGeom prst="rect">
            <a:avLst/>
          </a:prstGeom>
        </p:spPr>
      </p:pic>
      <p:sp>
        <p:nvSpPr>
          <p:cNvPr id="110" name="text-1128"/>
          <p:cNvSpPr txBox="1"/>
          <p:nvPr/>
        </p:nvSpPr>
        <p:spPr>
          <a:xfrm>
            <a:off x="5998464" y="5916168"/>
            <a:ext cx="1234440" cy="347472"/>
          </a:xfrm>
          <a:prstGeom prst="rect">
            <a:avLst/>
          </a:prstGeom>
          <a:noFill/>
          <a:ln/>
        </p:spPr>
        <p:txBody>
          <a:bodyPr wrap="square" lIns="0" tIns="0" rIns="0" bIns="0" rtlCol="0" anchor="ctr"/>
          <a:lstStyle/>
          <a:p>
            <a:pPr indent="0" marL="0">
              <a:buNone/>
            </a:pPr>
            <a:r>
              <a:rPr lang="en-US" sz="1000" b="1" dirty="0">
                <a:solidFill>
                  <a:srgbClr val="242424"/>
                </a:solidFill>
                <a:latin typeface="Arial" pitchFamily="34" charset="0"/>
                <a:ea typeface="Arial" pitchFamily="34" charset="-122"/>
                <a:cs typeface="Arial" pitchFamily="34" charset="-120"/>
              </a:rPr>
              <a:t>1,895 tests</a:t>
            </a:r>
            <a:endParaRPr lang="en-US" sz="1000" dirty="0"/>
          </a:p>
        </p:txBody>
      </p:sp>
      <p:sp>
        <p:nvSpPr>
          <p:cNvPr id="111" name="text-1129"/>
          <p:cNvSpPr txBox="1"/>
          <p:nvPr/>
        </p:nvSpPr>
        <p:spPr>
          <a:xfrm>
            <a:off x="7452360" y="5230368"/>
            <a:ext cx="2743200" cy="237744"/>
          </a:xfrm>
          <a:prstGeom prst="rect">
            <a:avLst/>
          </a:prstGeom>
          <a:noFill/>
          <a:ln/>
        </p:spPr>
        <p:txBody>
          <a:bodyPr wrap="square" lIns="0" tIns="0" rIns="0" bIns="0" rtlCol="0" anchor="ctr"/>
          <a:lstStyle/>
          <a:p>
            <a:pPr indent="0" marL="0">
              <a:buNone/>
            </a:pPr>
            <a:r>
              <a:rPr lang="en-US" sz="1050" b="1" spc="100" kern="0" dirty="0">
                <a:solidFill>
                  <a:srgbClr val="767676"/>
                </a:solidFill>
                <a:latin typeface="Arial" pitchFamily="34" charset="0"/>
                <a:ea typeface="Arial" pitchFamily="34" charset="-122"/>
                <a:cs typeface="Arial" pitchFamily="34" charset="-120"/>
              </a:rPr>
              <a:t>ROADMAP</a:t>
            </a:r>
            <a:endParaRPr lang="en-US" sz="1050" dirty="0"/>
          </a:p>
        </p:txBody>
      </p:sp>
      <p:sp>
        <p:nvSpPr>
          <p:cNvPr id="112" name="text-1130"/>
          <p:cNvSpPr txBox="1"/>
          <p:nvPr/>
        </p:nvSpPr>
        <p:spPr>
          <a:xfrm>
            <a:off x="7223760" y="5486400"/>
            <a:ext cx="1097280" cy="182880"/>
          </a:xfrm>
          <a:prstGeom prst="rect">
            <a:avLst/>
          </a:prstGeom>
          <a:noFill/>
          <a:ln/>
        </p:spPr>
        <p:txBody>
          <a:bodyPr wrap="square" lIns="0" tIns="0" rIns="0" bIns="0" rtlCol="0" anchor="ctr"/>
          <a:lstStyle/>
          <a:p>
            <a:pPr algn="ctr" indent="0" marL="0">
              <a:buNone/>
            </a:pPr>
            <a:r>
              <a:rPr lang="en-US" sz="950" b="1" spc="100" kern="0" dirty="0">
                <a:solidFill>
                  <a:srgbClr val="0C9B5B"/>
                </a:solidFill>
                <a:latin typeface="Arial" pitchFamily="34" charset="0"/>
                <a:ea typeface="Arial" pitchFamily="34" charset="-122"/>
                <a:cs typeface="Arial" pitchFamily="34" charset="-120"/>
              </a:rPr>
              <a:t>TODAY</a:t>
            </a:r>
            <a:endParaRPr lang="en-US" sz="950" dirty="0"/>
          </a:p>
        </p:txBody>
      </p:sp>
      <p:sp>
        <p:nvSpPr>
          <p:cNvPr id="113" name="shape-1131"/>
          <p:cNvSpPr/>
          <p:nvPr/>
        </p:nvSpPr>
        <p:spPr>
          <a:xfrm>
            <a:off x="7589520" y="5632704"/>
            <a:ext cx="365760" cy="365760"/>
          </a:xfrm>
          <a:prstGeom prst="ellipse">
            <a:avLst/>
          </a:prstGeom>
          <a:solidFill>
            <a:srgbClr val="FFFFFF"/>
          </a:solidFill>
          <a:ln w="12700">
            <a:solidFill>
              <a:srgbClr val="FFFFFF"/>
            </a:solidFill>
            <a:prstDash val="solid"/>
          </a:ln>
        </p:spPr>
      </p:sp>
      <p:sp>
        <p:nvSpPr>
          <p:cNvPr id="114" name="shape-1132"/>
          <p:cNvSpPr/>
          <p:nvPr/>
        </p:nvSpPr>
        <p:spPr>
          <a:xfrm>
            <a:off x="7626096" y="5669280"/>
            <a:ext cx="292608" cy="292608"/>
          </a:xfrm>
          <a:prstGeom prst="ellipse">
            <a:avLst/>
          </a:prstGeom>
          <a:solidFill>
            <a:srgbClr val="0C9B5B"/>
          </a:solidFill>
          <a:ln w="12700">
            <a:solidFill>
              <a:srgbClr val="0C9B5B"/>
            </a:solidFill>
            <a:prstDash val="solid"/>
          </a:ln>
        </p:spPr>
      </p:sp>
      <p:pic>
        <p:nvPicPr>
          <p:cNvPr id="115" name="icon-1133" descr="preencoded.png">    </p:cNvPr>
          <p:cNvPicPr>
            <a:picLocks noChangeAspect="1"/>
          </p:cNvPicPr>
          <p:nvPr/>
        </p:nvPicPr>
        <p:blipFill>
          <a:blip r:embed="rId26"/>
          <a:stretch>
            <a:fillRect/>
          </a:stretch>
        </p:blipFill>
        <p:spPr>
          <a:xfrm>
            <a:off x="7690470" y="5733654"/>
            <a:ext cx="163860" cy="163860"/>
          </a:xfrm>
          <a:prstGeom prst="rect">
            <a:avLst/>
          </a:prstGeom>
        </p:spPr>
      </p:pic>
      <p:sp>
        <p:nvSpPr>
          <p:cNvPr id="116" name="text-1134"/>
          <p:cNvSpPr txBox="1"/>
          <p:nvPr/>
        </p:nvSpPr>
        <p:spPr>
          <a:xfrm>
            <a:off x="7223760" y="6089904"/>
            <a:ext cx="1097280" cy="365760"/>
          </a:xfrm>
          <a:prstGeom prst="rect">
            <a:avLst/>
          </a:prstGeom>
          <a:noFill/>
          <a:ln/>
        </p:spPr>
        <p:txBody>
          <a:bodyPr wrap="square" lIns="0" tIns="0" rIns="0" bIns="0" rtlCol="0" anchor="t"/>
          <a:lstStyle/>
          <a:p>
            <a:pPr algn="ctr" indent="0" marL="0">
              <a:buNone/>
            </a:pPr>
            <a:r>
              <a:rPr lang="en-US" sz="1000" b="1" dirty="0">
                <a:solidFill>
                  <a:srgbClr val="242424"/>
                </a:solidFill>
                <a:latin typeface="Arial" pitchFamily="34" charset="0"/>
                <a:ea typeface="Arial" pitchFamily="34" charset="-122"/>
                <a:cs typeface="Arial" pitchFamily="34" charset="-120"/>
              </a:rPr>
              <a:t>8 modules live</a:t>
            </a:r>
            <a:endParaRPr lang="en-US" sz="1000" dirty="0"/>
          </a:p>
        </p:txBody>
      </p:sp>
      <p:sp>
        <p:nvSpPr>
          <p:cNvPr id="117" name="text-1135"/>
          <p:cNvSpPr txBox="1"/>
          <p:nvPr/>
        </p:nvSpPr>
        <p:spPr>
          <a:xfrm>
            <a:off x="8366760" y="5486400"/>
            <a:ext cx="1097280" cy="182880"/>
          </a:xfrm>
          <a:prstGeom prst="rect">
            <a:avLst/>
          </a:prstGeom>
          <a:noFill/>
          <a:ln/>
        </p:spPr>
        <p:txBody>
          <a:bodyPr wrap="square" lIns="0" tIns="0" rIns="0" bIns="0" rtlCol="0" anchor="ctr"/>
          <a:lstStyle/>
          <a:p>
            <a:pPr algn="ctr" indent="0" marL="0">
              <a:buNone/>
            </a:pPr>
            <a:r>
              <a:rPr lang="en-US" sz="950" b="1" spc="100" kern="0" dirty="0">
                <a:solidFill>
                  <a:srgbClr val="0082F0"/>
                </a:solidFill>
                <a:latin typeface="Arial" pitchFamily="34" charset="0"/>
                <a:ea typeface="Arial" pitchFamily="34" charset="-122"/>
                <a:cs typeface="Arial" pitchFamily="34" charset="-120"/>
              </a:rPr>
              <a:t>NEXT</a:t>
            </a:r>
            <a:endParaRPr lang="en-US" sz="950" dirty="0"/>
          </a:p>
        </p:txBody>
      </p:sp>
      <p:sp>
        <p:nvSpPr>
          <p:cNvPr id="118" name="shape-1136"/>
          <p:cNvSpPr/>
          <p:nvPr/>
        </p:nvSpPr>
        <p:spPr>
          <a:xfrm>
            <a:off x="8732520" y="5687568"/>
            <a:ext cx="365760" cy="365760"/>
          </a:xfrm>
          <a:prstGeom prst="ellipse">
            <a:avLst/>
          </a:prstGeom>
          <a:solidFill>
            <a:srgbClr val="FFFFFF"/>
          </a:solidFill>
          <a:ln w="12700">
            <a:solidFill>
              <a:srgbClr val="FFFFFF"/>
            </a:solidFill>
            <a:prstDash val="solid"/>
          </a:ln>
        </p:spPr>
      </p:sp>
      <p:sp>
        <p:nvSpPr>
          <p:cNvPr id="119" name="shape-1137"/>
          <p:cNvSpPr/>
          <p:nvPr/>
        </p:nvSpPr>
        <p:spPr>
          <a:xfrm>
            <a:off x="8769096" y="5724144"/>
            <a:ext cx="292608" cy="292608"/>
          </a:xfrm>
          <a:prstGeom prst="ellipse">
            <a:avLst/>
          </a:prstGeom>
          <a:solidFill>
            <a:srgbClr val="0082F0"/>
          </a:solidFill>
          <a:ln w="12700">
            <a:solidFill>
              <a:srgbClr val="0082F0"/>
            </a:solidFill>
            <a:prstDash val="solid"/>
          </a:ln>
        </p:spPr>
      </p:sp>
      <p:pic>
        <p:nvPicPr>
          <p:cNvPr id="120" name="icon-1138" descr="preencoded.png">    </p:cNvPr>
          <p:cNvPicPr>
            <a:picLocks noChangeAspect="1"/>
          </p:cNvPicPr>
          <p:nvPr/>
        </p:nvPicPr>
        <p:blipFill>
          <a:blip r:embed="rId27"/>
          <a:stretch>
            <a:fillRect/>
          </a:stretch>
        </p:blipFill>
        <p:spPr>
          <a:xfrm>
            <a:off x="8833470" y="5788518"/>
            <a:ext cx="163860" cy="163860"/>
          </a:xfrm>
          <a:prstGeom prst="rect">
            <a:avLst/>
          </a:prstGeom>
        </p:spPr>
      </p:pic>
      <p:sp>
        <p:nvSpPr>
          <p:cNvPr id="121" name="text-1139"/>
          <p:cNvSpPr txBox="1"/>
          <p:nvPr/>
        </p:nvSpPr>
        <p:spPr>
          <a:xfrm>
            <a:off x="8366760" y="6089904"/>
            <a:ext cx="1097280" cy="365760"/>
          </a:xfrm>
          <a:prstGeom prst="rect">
            <a:avLst/>
          </a:prstGeom>
          <a:noFill/>
          <a:ln/>
        </p:spPr>
        <p:txBody>
          <a:bodyPr wrap="square" lIns="0" tIns="0" rIns="0" bIns="0" rtlCol="0" anchor="t"/>
          <a:lstStyle/>
          <a:p>
            <a:pPr algn="ctr" indent="0" marL="0">
              <a:buNone/>
            </a:pPr>
            <a:r>
              <a:rPr lang="en-US" sz="1000" b="1" dirty="0">
                <a:solidFill>
                  <a:srgbClr val="242424"/>
                </a:solidFill>
                <a:latin typeface="Arial" pitchFamily="34" charset="0"/>
                <a:ea typeface="Arial" pitchFamily="34" charset="-122"/>
                <a:cs typeface="Arial" pitchFamily="34" charset="-120"/>
              </a:rPr>
              <a:t>Umlaut CDRs, Active Tests</a:t>
            </a:r>
            <a:endParaRPr lang="en-US" sz="1000" dirty="0"/>
          </a:p>
        </p:txBody>
      </p:sp>
      <p:sp>
        <p:nvSpPr>
          <p:cNvPr id="122" name="text-1140"/>
          <p:cNvSpPr txBox="1"/>
          <p:nvPr/>
        </p:nvSpPr>
        <p:spPr>
          <a:xfrm>
            <a:off x="9509760" y="5486400"/>
            <a:ext cx="1097280" cy="182880"/>
          </a:xfrm>
          <a:prstGeom prst="rect">
            <a:avLst/>
          </a:prstGeom>
          <a:noFill/>
          <a:ln/>
        </p:spPr>
        <p:txBody>
          <a:bodyPr wrap="square" lIns="0" tIns="0" rIns="0" bIns="0" rtlCol="0" anchor="ctr"/>
          <a:lstStyle/>
          <a:p>
            <a:pPr algn="ctr" indent="0" marL="0">
              <a:buNone/>
            </a:pPr>
            <a:r>
              <a:rPr lang="en-US" sz="950" b="1" spc="100" kern="0" dirty="0">
                <a:solidFill>
                  <a:srgbClr val="8C60A8"/>
                </a:solidFill>
                <a:latin typeface="Arial" pitchFamily="34" charset="0"/>
                <a:ea typeface="Arial" pitchFamily="34" charset="-122"/>
                <a:cs typeface="Arial" pitchFamily="34" charset="-120"/>
              </a:rPr>
              <a:t>SOON</a:t>
            </a:r>
            <a:endParaRPr lang="en-US" sz="950" dirty="0"/>
          </a:p>
        </p:txBody>
      </p:sp>
      <p:sp>
        <p:nvSpPr>
          <p:cNvPr id="123" name="shape-1141"/>
          <p:cNvSpPr/>
          <p:nvPr/>
        </p:nvSpPr>
        <p:spPr>
          <a:xfrm>
            <a:off x="9875520" y="5669280"/>
            <a:ext cx="365760" cy="365760"/>
          </a:xfrm>
          <a:prstGeom prst="ellipse">
            <a:avLst/>
          </a:prstGeom>
          <a:solidFill>
            <a:srgbClr val="FFFFFF"/>
          </a:solidFill>
          <a:ln w="12700">
            <a:solidFill>
              <a:srgbClr val="FFFFFF"/>
            </a:solidFill>
            <a:prstDash val="solid"/>
          </a:ln>
        </p:spPr>
      </p:sp>
      <p:sp>
        <p:nvSpPr>
          <p:cNvPr id="124" name="shape-1142"/>
          <p:cNvSpPr/>
          <p:nvPr/>
        </p:nvSpPr>
        <p:spPr>
          <a:xfrm>
            <a:off x="9912096" y="5705856"/>
            <a:ext cx="292608" cy="292608"/>
          </a:xfrm>
          <a:prstGeom prst="ellipse">
            <a:avLst/>
          </a:prstGeom>
          <a:solidFill>
            <a:srgbClr val="8C60A8"/>
          </a:solidFill>
          <a:ln w="12700">
            <a:solidFill>
              <a:srgbClr val="8C60A8"/>
            </a:solidFill>
            <a:prstDash val="solid"/>
          </a:ln>
        </p:spPr>
      </p:sp>
      <p:pic>
        <p:nvPicPr>
          <p:cNvPr id="125" name="icon-1143" descr="preencoded.png">    </p:cNvPr>
          <p:cNvPicPr>
            <a:picLocks noChangeAspect="1"/>
          </p:cNvPicPr>
          <p:nvPr/>
        </p:nvPicPr>
        <p:blipFill>
          <a:blip r:embed="rId28"/>
          <a:stretch>
            <a:fillRect/>
          </a:stretch>
        </p:blipFill>
        <p:spPr>
          <a:xfrm>
            <a:off x="9976470" y="5770230"/>
            <a:ext cx="163860" cy="163860"/>
          </a:xfrm>
          <a:prstGeom prst="rect">
            <a:avLst/>
          </a:prstGeom>
        </p:spPr>
      </p:pic>
      <p:sp>
        <p:nvSpPr>
          <p:cNvPr id="126" name="text-1144"/>
          <p:cNvSpPr txBox="1"/>
          <p:nvPr/>
        </p:nvSpPr>
        <p:spPr>
          <a:xfrm>
            <a:off x="9509760" y="6089904"/>
            <a:ext cx="1097280" cy="365760"/>
          </a:xfrm>
          <a:prstGeom prst="rect">
            <a:avLst/>
          </a:prstGeom>
          <a:noFill/>
          <a:ln/>
        </p:spPr>
        <p:txBody>
          <a:bodyPr wrap="square" lIns="0" tIns="0" rIns="0" bIns="0" rtlCol="0" anchor="t"/>
          <a:lstStyle/>
          <a:p>
            <a:pPr algn="ctr" indent="0" marL="0">
              <a:buNone/>
            </a:pPr>
            <a:r>
              <a:rPr lang="en-US" sz="1000" b="1" dirty="0">
                <a:solidFill>
                  <a:srgbClr val="242424"/>
                </a:solidFill>
                <a:latin typeface="Arial" pitchFamily="34" charset="0"/>
                <a:ea typeface="Arial" pitchFamily="34" charset="-122"/>
                <a:cs typeface="Arial" pitchFamily="34" charset="-120"/>
              </a:rPr>
              <a:t>AWS scale-out, speed</a:t>
            </a:r>
            <a:endParaRPr lang="en-US" sz="1000" dirty="0"/>
          </a:p>
        </p:txBody>
      </p:sp>
      <p:sp>
        <p:nvSpPr>
          <p:cNvPr id="127" name="text-1145"/>
          <p:cNvSpPr txBox="1"/>
          <p:nvPr/>
        </p:nvSpPr>
        <p:spPr>
          <a:xfrm>
            <a:off x="10607040" y="5486400"/>
            <a:ext cx="1097280" cy="182880"/>
          </a:xfrm>
          <a:prstGeom prst="rect">
            <a:avLst/>
          </a:prstGeom>
          <a:noFill/>
          <a:ln/>
        </p:spPr>
        <p:txBody>
          <a:bodyPr wrap="square" lIns="0" tIns="0" rIns="0" bIns="0" rtlCol="0" anchor="ctr"/>
          <a:lstStyle/>
          <a:p>
            <a:pPr algn="ctr" indent="0" marL="0">
              <a:buNone/>
            </a:pPr>
            <a:r>
              <a:rPr lang="en-US" sz="950" b="1" spc="100" kern="0" dirty="0">
                <a:solidFill>
                  <a:srgbClr val="E07800"/>
                </a:solidFill>
                <a:latin typeface="Arial" pitchFamily="34" charset="0"/>
                <a:ea typeface="Arial" pitchFamily="34" charset="-122"/>
                <a:cs typeface="Arial" pitchFamily="34" charset="-120"/>
              </a:rPr>
              <a:t>LATER</a:t>
            </a:r>
            <a:endParaRPr lang="en-US" sz="950" dirty="0"/>
          </a:p>
        </p:txBody>
      </p:sp>
      <p:sp>
        <p:nvSpPr>
          <p:cNvPr id="128" name="shape-1146"/>
          <p:cNvSpPr/>
          <p:nvPr/>
        </p:nvSpPr>
        <p:spPr>
          <a:xfrm>
            <a:off x="10972800" y="5669280"/>
            <a:ext cx="365760" cy="365760"/>
          </a:xfrm>
          <a:prstGeom prst="ellipse">
            <a:avLst/>
          </a:prstGeom>
          <a:solidFill>
            <a:srgbClr val="FFFFFF"/>
          </a:solidFill>
          <a:ln w="12700">
            <a:solidFill>
              <a:srgbClr val="FFFFFF"/>
            </a:solidFill>
            <a:prstDash val="solid"/>
          </a:ln>
        </p:spPr>
      </p:sp>
      <p:sp>
        <p:nvSpPr>
          <p:cNvPr id="129" name="shape-1147"/>
          <p:cNvSpPr/>
          <p:nvPr/>
        </p:nvSpPr>
        <p:spPr>
          <a:xfrm>
            <a:off x="11009376" y="5705856"/>
            <a:ext cx="292608" cy="292608"/>
          </a:xfrm>
          <a:prstGeom prst="ellipse">
            <a:avLst/>
          </a:prstGeom>
          <a:solidFill>
            <a:srgbClr val="E07800"/>
          </a:solidFill>
          <a:ln w="12700">
            <a:solidFill>
              <a:srgbClr val="E07800"/>
            </a:solidFill>
            <a:prstDash val="solid"/>
          </a:ln>
        </p:spPr>
      </p:sp>
      <p:pic>
        <p:nvPicPr>
          <p:cNvPr id="130" name="icon-1148" descr="preencoded.png">    </p:cNvPr>
          <p:cNvPicPr>
            <a:picLocks noChangeAspect="1"/>
          </p:cNvPicPr>
          <p:nvPr/>
        </p:nvPicPr>
        <p:blipFill>
          <a:blip r:embed="rId29"/>
          <a:stretch>
            <a:fillRect/>
          </a:stretch>
        </p:blipFill>
        <p:spPr>
          <a:xfrm>
            <a:off x="11073750" y="5770230"/>
            <a:ext cx="163860" cy="163860"/>
          </a:xfrm>
          <a:prstGeom prst="rect">
            <a:avLst/>
          </a:prstGeom>
        </p:spPr>
      </p:pic>
      <p:sp>
        <p:nvSpPr>
          <p:cNvPr id="131" name="text-1149"/>
          <p:cNvSpPr txBox="1"/>
          <p:nvPr/>
        </p:nvSpPr>
        <p:spPr>
          <a:xfrm>
            <a:off x="10607040" y="6089904"/>
            <a:ext cx="1097280" cy="365760"/>
          </a:xfrm>
          <a:prstGeom prst="rect">
            <a:avLst/>
          </a:prstGeom>
          <a:noFill/>
          <a:ln/>
        </p:spPr>
        <p:txBody>
          <a:bodyPr wrap="square" lIns="0" tIns="0" rIns="0" bIns="0" rtlCol="0" anchor="t"/>
          <a:lstStyle/>
          <a:p>
            <a:pPr algn="ctr" indent="0" marL="0">
              <a:buNone/>
            </a:pPr>
            <a:r>
              <a:rPr lang="en-US" sz="1000" b="1" dirty="0">
                <a:solidFill>
                  <a:srgbClr val="242424"/>
                </a:solidFill>
                <a:latin typeface="Arial" pitchFamily="34" charset="0"/>
                <a:ea typeface="Arial" pitchFamily="34" charset="-122"/>
                <a:cs typeface="Arial" pitchFamily="34" charset="-120"/>
              </a:rPr>
              <a:t>PostgreSQL, health</a:t>
            </a:r>
            <a:endParaRPr lang="en-US" sz="1000" dirty="0"/>
          </a:p>
        </p:txBody>
      </p:sp>
      <p:sp>
        <p:nvSpPr>
          <p:cNvPr id="25" name="Slide Number Placeholder 0"/>
          <p:cNvSpPr>
            <a:spLocks noGrp="1"/>
          </p:cNvSpPr>
          <p:nvPr>
            <p:ph type="sldNum" sz="quarter" idx="4294967295"/>
          </p:nvPr>
        </p:nvSpPr>
        <p:spPr>
          <a:xfrm>
            <a:off x="548640" y="640080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67676"/>
                </a:solidFill>
                <a:latin typeface="Arial"/>
                <a:ea typeface="Arial"/>
                <a:cs typeface="Arial"/>
              </a:defRPr>
            </a:lvl1pPr>
          </a:lstStyle>
          <a:p>
            <a:pPr algn="l"/>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ffice Theme">
  <a:themeElements>
    <a:clrScheme name="Ericsson">
      <a:dk1>
        <a:srgbClr val="000000"/>
      </a:dk1>
      <a:lt1>
        <a:srgbClr val="FFFFFF"/>
      </a:lt1>
      <a:dk2>
        <a:srgbClr val="242424"/>
      </a:dk2>
      <a:lt2>
        <a:srgbClr val="F2F2F2"/>
      </a:lt2>
      <a:accent1>
        <a:srgbClr val="0082F0"/>
      </a:accent1>
      <a:accent2>
        <a:srgbClr val="0068BF"/>
      </a:accent2>
      <a:accent3>
        <a:srgbClr val="0FC373"/>
      </a:accent3>
      <a:accent4>
        <a:srgbClr val="FF8C0A"/>
      </a:accent4>
      <a:accent5>
        <a:srgbClr val="AF78D2"/>
      </a:accent5>
      <a:accent6>
        <a:srgbClr val="FF3232"/>
      </a:accent6>
      <a:hlink>
        <a:srgbClr val="0082F0"/>
      </a:hlink>
      <a:folHlink>
        <a:srgbClr val="AF78D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DriveTest Analyzer — Overview</dc:title>
  <dc:subject>DriveTest Analyzer overview</dc:subject>
  <dc:creator>DriveTest Analyzer</dc:creator>
  <cp:lastModifiedBy>DriveTest Analyzer</cp:lastModifiedBy>
  <cp:revision>1</cp:revision>
  <dcterms:created xsi:type="dcterms:W3CDTF">2026-10-21T06:50:10Z</dcterms:created>
  <dcterms:modified xsi:type="dcterms:W3CDTF">2026-10-21T06:50:10Z</dcterms:modified>
</cp:coreProperties>
</file>