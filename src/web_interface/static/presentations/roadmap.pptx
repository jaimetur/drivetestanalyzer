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oadmap" id="{0ba7ce7a-63e3-96c6-9c60-17a46efe2d3f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Today: eight modules in production on the UK workspace, and a first pilot campaign in Germany. Next: adapt the ingestion and scoring to Umlaut CDRs, support the Active Tests community, so that the tool builds the KPI and Scoring reports they produce today, and take Non-Qualified Calls out of Alpha. Soon: scale out on AWS with an external worker queue, and durable analytical caches. Later: PostgreSQL instead of SQLite, a database for hundreds of concurrent users, Smart Orchestrator Logs, and health monitoring: alerts on runs that take too long and automatic checks after every deployment. These are intentions, not dated commitments.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pl/_b6qn8zs2_lc59t589_46cyc0000gn/T/drivetest-presentations-0nCbo0/ericsson-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9688" y="384048"/>
            <a:ext cx="484632" cy="4251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6400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DriveTest Analyzer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84048"/>
            <a:ext cx="104241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6767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NG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pl/_b6qn8zs2_lc59t589_46cyc0000gn/T/drivetest-presentations-0nCbo0/ericsson-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9688" y="384048"/>
            <a:ext cx="484632" cy="4251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6400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DriveTest Analyzer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84048"/>
            <a:ext cx="104241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6767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slideLayout" Target="../slideLayouts/slideLayout4.xml"/><Relationship Id="rId1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oadmap road" descr="/var/folders/pl/_b6qn8zs2_lc59t589_46cyc0000gn/T/drivetest-presentations-0nCbo0/roadmap-r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384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— </a:t>
            </a:r>
            <a:pPr algn="l" indent="0" marL="0">
              <a:buNone/>
            </a:pPr>
            <a:r>
              <a:rPr lang="en-US" sz="3000" b="1" dirty="0">
                <a:solidFill>
                  <a:srgbClr val="006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comes next</a:t>
            </a:r>
            <a:endParaRPr lang="en-US" sz="3000" dirty="0"/>
          </a:p>
        </p:txBody>
      </p:sp>
      <p:sp>
        <p:nvSpPr>
          <p:cNvPr id="4" name="text-1278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Intentions, not commitments, shaped by the teams that use the tool</a:t>
            </a:r>
            <a:endParaRPr lang="en-US" sz="1500" dirty="0"/>
          </a:p>
        </p:txBody>
      </p:sp>
      <p:sp>
        <p:nvSpPr>
          <p:cNvPr id="5" name="shape-1279"/>
          <p:cNvSpPr/>
          <p:nvPr/>
        </p:nvSpPr>
        <p:spPr>
          <a:xfrm>
            <a:off x="1783080" y="3291840"/>
            <a:ext cx="914" cy="265176"/>
          </a:xfrm>
          <a:prstGeom prst="line">
            <a:avLst/>
          </a:prstGeom>
          <a:noFill/>
          <a:ln w="25400">
            <a:solidFill>
              <a:srgbClr val="0C9B5B"/>
            </a:solidFill>
            <a:prstDash val="dash"/>
          </a:ln>
        </p:spPr>
      </p:sp>
      <p:sp>
        <p:nvSpPr>
          <p:cNvPr id="6" name="shape-1280"/>
          <p:cNvSpPr/>
          <p:nvPr/>
        </p:nvSpPr>
        <p:spPr>
          <a:xfrm>
            <a:off x="548640" y="1600200"/>
            <a:ext cx="251460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-1281"/>
          <p:cNvSpPr/>
          <p:nvPr/>
        </p:nvSpPr>
        <p:spPr>
          <a:xfrm>
            <a:off x="731520" y="176479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0C9B5B"/>
          </a:solidFill>
          <a:ln w="12700">
            <a:solidFill>
              <a:srgbClr val="0C9B5B"/>
            </a:solidFill>
            <a:prstDash val="solid"/>
          </a:ln>
        </p:spPr>
      </p:sp>
      <p:sp>
        <p:nvSpPr>
          <p:cNvPr id="8" name="text-1282"/>
          <p:cNvSpPr txBox="1"/>
          <p:nvPr/>
        </p:nvSpPr>
        <p:spPr>
          <a:xfrm>
            <a:off x="731520" y="17647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050" dirty="0"/>
          </a:p>
        </p:txBody>
      </p:sp>
      <p:sp>
        <p:nvSpPr>
          <p:cNvPr id="9" name="shape-1283"/>
          <p:cNvSpPr/>
          <p:nvPr/>
        </p:nvSpPr>
        <p:spPr>
          <a:xfrm>
            <a:off x="731520" y="2203704"/>
            <a:ext cx="384048" cy="384048"/>
          </a:xfrm>
          <a:prstGeom prst="ellipse">
            <a:avLst/>
          </a:prstGeom>
          <a:solidFill>
            <a:srgbClr val="0C9B5B"/>
          </a:solidFill>
          <a:ln w="12700">
            <a:solidFill>
              <a:srgbClr val="0C9B5B"/>
            </a:solidFill>
            <a:prstDash val="solid"/>
          </a:ln>
        </p:spPr>
      </p:sp>
      <p:pic>
        <p:nvPicPr>
          <p:cNvPr id="10" name="icon-128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11" y="2288195"/>
            <a:ext cx="215067" cy="215067"/>
          </a:xfrm>
          <a:prstGeom prst="rect">
            <a:avLst/>
          </a:prstGeom>
        </p:spPr>
      </p:pic>
      <p:sp>
        <p:nvSpPr>
          <p:cNvPr id="11" name="text-1285"/>
          <p:cNvSpPr txBox="1"/>
          <p:nvPr/>
        </p:nvSpPr>
        <p:spPr>
          <a:xfrm>
            <a:off x="1225296" y="2167128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modules live</a:t>
            </a:r>
            <a:endParaRPr lang="en-US" sz="1350" dirty="0"/>
          </a:p>
        </p:txBody>
      </p:sp>
      <p:sp>
        <p:nvSpPr>
          <p:cNvPr id="12" name="text-1286"/>
          <p:cNvSpPr txBox="1"/>
          <p:nvPr/>
        </p:nvSpPr>
        <p:spPr>
          <a:xfrm>
            <a:off x="1225296" y="241401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UK, 9 campaigns</a:t>
            </a:r>
            <a:endParaRPr lang="en-US" sz="1050" dirty="0"/>
          </a:p>
        </p:txBody>
      </p:sp>
      <p:sp>
        <p:nvSpPr>
          <p:cNvPr id="13" name="shape-1287"/>
          <p:cNvSpPr/>
          <p:nvPr/>
        </p:nvSpPr>
        <p:spPr>
          <a:xfrm>
            <a:off x="731520" y="2715768"/>
            <a:ext cx="384048" cy="384048"/>
          </a:xfrm>
          <a:prstGeom prst="ellipse">
            <a:avLst/>
          </a:prstGeom>
          <a:solidFill>
            <a:srgbClr val="0C9B5B"/>
          </a:solidFill>
          <a:ln w="12700">
            <a:solidFill>
              <a:srgbClr val="0C9B5B"/>
            </a:solidFill>
            <a:prstDash val="solid"/>
          </a:ln>
        </p:spPr>
      </p:sp>
      <p:pic>
        <p:nvPicPr>
          <p:cNvPr id="14" name="icon-128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011" y="2800259"/>
            <a:ext cx="215067" cy="215067"/>
          </a:xfrm>
          <a:prstGeom prst="rect">
            <a:avLst/>
          </a:prstGeom>
        </p:spPr>
      </p:pic>
      <p:sp>
        <p:nvSpPr>
          <p:cNvPr id="15" name="text-1289"/>
          <p:cNvSpPr txBox="1"/>
          <p:nvPr/>
        </p:nvSpPr>
        <p:spPr>
          <a:xfrm>
            <a:off x="1225296" y="2679192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 pilot</a:t>
            </a:r>
            <a:endParaRPr lang="en-US" sz="1350" dirty="0"/>
          </a:p>
        </p:txBody>
      </p:sp>
      <p:sp>
        <p:nvSpPr>
          <p:cNvPr id="16" name="text-1290"/>
          <p:cNvSpPr txBox="1"/>
          <p:nvPr/>
        </p:nvSpPr>
        <p:spPr>
          <a:xfrm>
            <a:off x="1225296" y="292608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DE test campaign</a:t>
            </a:r>
            <a:endParaRPr lang="en-US" sz="1050" dirty="0"/>
          </a:p>
        </p:txBody>
      </p:sp>
      <p:sp>
        <p:nvSpPr>
          <p:cNvPr id="17" name="shape-1291"/>
          <p:cNvSpPr/>
          <p:nvPr/>
        </p:nvSpPr>
        <p:spPr>
          <a:xfrm>
            <a:off x="1472184" y="3529584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25000"/>
              </a:srgbClr>
            </a:outerShdw>
          </a:effectLst>
        </p:spPr>
      </p:sp>
      <p:sp>
        <p:nvSpPr>
          <p:cNvPr id="18" name="shape-1292"/>
          <p:cNvSpPr/>
          <p:nvPr/>
        </p:nvSpPr>
        <p:spPr>
          <a:xfrm>
            <a:off x="1527048" y="3584448"/>
            <a:ext cx="512064" cy="512064"/>
          </a:xfrm>
          <a:prstGeom prst="ellipse">
            <a:avLst/>
          </a:prstGeom>
          <a:solidFill>
            <a:srgbClr val="0C9B5B"/>
          </a:solidFill>
          <a:ln w="12700">
            <a:solidFill>
              <a:srgbClr val="0C9B5B"/>
            </a:solidFill>
            <a:prstDash val="solid"/>
          </a:ln>
        </p:spPr>
      </p:sp>
      <p:pic>
        <p:nvPicPr>
          <p:cNvPr id="19" name="icon-129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9702" y="3697102"/>
            <a:ext cx="286756" cy="286756"/>
          </a:xfrm>
          <a:prstGeom prst="rect">
            <a:avLst/>
          </a:prstGeom>
        </p:spPr>
      </p:pic>
      <p:sp>
        <p:nvSpPr>
          <p:cNvPr id="20" name="shape-1294"/>
          <p:cNvSpPr/>
          <p:nvPr/>
        </p:nvSpPr>
        <p:spPr>
          <a:xfrm>
            <a:off x="4160520" y="4123944"/>
            <a:ext cx="914" cy="246888"/>
          </a:xfrm>
          <a:prstGeom prst="line">
            <a:avLst/>
          </a:prstGeom>
          <a:noFill/>
          <a:ln w="25400">
            <a:solidFill>
              <a:srgbClr val="0082F0"/>
            </a:solidFill>
            <a:prstDash val="dash"/>
          </a:ln>
        </p:spPr>
      </p:sp>
      <p:sp>
        <p:nvSpPr>
          <p:cNvPr id="21" name="shape-1295"/>
          <p:cNvSpPr/>
          <p:nvPr/>
        </p:nvSpPr>
        <p:spPr>
          <a:xfrm>
            <a:off x="2606040" y="4370832"/>
            <a:ext cx="310896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-1296"/>
          <p:cNvSpPr/>
          <p:nvPr/>
        </p:nvSpPr>
        <p:spPr>
          <a:xfrm>
            <a:off x="2788920" y="4535424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0082F0"/>
          </a:solidFill>
          <a:ln w="12700">
            <a:solidFill>
              <a:srgbClr val="0082F0"/>
            </a:solidFill>
            <a:prstDash val="solid"/>
          </a:ln>
        </p:spPr>
      </p:sp>
      <p:sp>
        <p:nvSpPr>
          <p:cNvPr id="23" name="text-1297"/>
          <p:cNvSpPr txBox="1"/>
          <p:nvPr/>
        </p:nvSpPr>
        <p:spPr>
          <a:xfrm>
            <a:off x="2788920" y="453542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050" dirty="0"/>
          </a:p>
        </p:txBody>
      </p:sp>
      <p:sp>
        <p:nvSpPr>
          <p:cNvPr id="24" name="shape-1298"/>
          <p:cNvSpPr/>
          <p:nvPr/>
        </p:nvSpPr>
        <p:spPr>
          <a:xfrm>
            <a:off x="2788920" y="4974336"/>
            <a:ext cx="384048" cy="384048"/>
          </a:xfrm>
          <a:prstGeom prst="ellipse">
            <a:avLst/>
          </a:prstGeom>
          <a:solidFill>
            <a:srgbClr val="0082F0"/>
          </a:solidFill>
          <a:ln w="12700">
            <a:solidFill>
              <a:srgbClr val="0082F0"/>
            </a:solidFill>
            <a:prstDash val="solid"/>
          </a:ln>
        </p:spPr>
      </p:sp>
      <p:pic>
        <p:nvPicPr>
          <p:cNvPr id="25" name="icon-129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3411" y="5058827"/>
            <a:ext cx="215067" cy="215067"/>
          </a:xfrm>
          <a:prstGeom prst="rect">
            <a:avLst/>
          </a:prstGeom>
        </p:spPr>
      </p:pic>
      <p:sp>
        <p:nvSpPr>
          <p:cNvPr id="26" name="text-1300"/>
          <p:cNvSpPr txBox="1"/>
          <p:nvPr/>
        </p:nvSpPr>
        <p:spPr>
          <a:xfrm>
            <a:off x="3282696" y="493776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Umlaut CDR adaptation</a:t>
            </a:r>
            <a:endParaRPr lang="en-US" sz="1350" dirty="0"/>
          </a:p>
        </p:txBody>
      </p:sp>
      <p:sp>
        <p:nvSpPr>
          <p:cNvPr id="27" name="text-1301"/>
          <p:cNvSpPr txBox="1"/>
          <p:nvPr/>
        </p:nvSpPr>
        <p:spPr>
          <a:xfrm>
            <a:off x="3282696" y="51846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&amp; score Umlaut CDRs</a:t>
            </a:r>
            <a:endParaRPr lang="en-US" sz="1050" dirty="0"/>
          </a:p>
        </p:txBody>
      </p:sp>
      <p:sp>
        <p:nvSpPr>
          <p:cNvPr id="28" name="shape-1302"/>
          <p:cNvSpPr/>
          <p:nvPr/>
        </p:nvSpPr>
        <p:spPr>
          <a:xfrm>
            <a:off x="2788920" y="5486400"/>
            <a:ext cx="384048" cy="384048"/>
          </a:xfrm>
          <a:prstGeom prst="ellipse">
            <a:avLst/>
          </a:prstGeom>
          <a:solidFill>
            <a:srgbClr val="0082F0"/>
          </a:solidFill>
          <a:ln w="12700">
            <a:solidFill>
              <a:srgbClr val="0082F0"/>
            </a:solidFill>
            <a:prstDash val="solid"/>
          </a:ln>
        </p:spPr>
      </p:sp>
      <p:pic>
        <p:nvPicPr>
          <p:cNvPr id="29" name="icon-130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3411" y="5570891"/>
            <a:ext cx="215067" cy="215067"/>
          </a:xfrm>
          <a:prstGeom prst="rect">
            <a:avLst/>
          </a:prstGeom>
        </p:spPr>
      </p:pic>
      <p:sp>
        <p:nvSpPr>
          <p:cNvPr id="30" name="text-1304"/>
          <p:cNvSpPr txBox="1"/>
          <p:nvPr/>
        </p:nvSpPr>
        <p:spPr>
          <a:xfrm>
            <a:off x="3282696" y="544982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Tests community</a:t>
            </a:r>
            <a:endParaRPr lang="en-US" sz="1350" dirty="0"/>
          </a:p>
        </p:txBody>
      </p:sp>
      <p:sp>
        <p:nvSpPr>
          <p:cNvPr id="31" name="text-1305"/>
          <p:cNvSpPr txBox="1"/>
          <p:nvPr/>
        </p:nvSpPr>
        <p:spPr>
          <a:xfrm>
            <a:off x="3282696" y="56967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their KPI &amp; Scoring reports</a:t>
            </a:r>
            <a:endParaRPr lang="en-US" sz="1050" dirty="0"/>
          </a:p>
        </p:txBody>
      </p:sp>
      <p:sp>
        <p:nvSpPr>
          <p:cNvPr id="32" name="shape-1306"/>
          <p:cNvSpPr/>
          <p:nvPr/>
        </p:nvSpPr>
        <p:spPr>
          <a:xfrm>
            <a:off x="2788920" y="5998464"/>
            <a:ext cx="384048" cy="384048"/>
          </a:xfrm>
          <a:prstGeom prst="ellipse">
            <a:avLst/>
          </a:prstGeom>
          <a:solidFill>
            <a:srgbClr val="0082F0"/>
          </a:solidFill>
          <a:ln w="12700">
            <a:solidFill>
              <a:srgbClr val="0082F0"/>
            </a:solidFill>
            <a:prstDash val="solid"/>
          </a:ln>
        </p:spPr>
      </p:sp>
      <p:pic>
        <p:nvPicPr>
          <p:cNvPr id="33" name="icon-130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3411" y="6082955"/>
            <a:ext cx="215067" cy="215067"/>
          </a:xfrm>
          <a:prstGeom prst="rect">
            <a:avLst/>
          </a:prstGeom>
        </p:spPr>
      </p:pic>
      <p:sp>
        <p:nvSpPr>
          <p:cNvPr id="34" name="text-1308"/>
          <p:cNvSpPr txBox="1"/>
          <p:nvPr/>
        </p:nvSpPr>
        <p:spPr>
          <a:xfrm>
            <a:off x="3282696" y="596188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NQ Calls out of Alpha</a:t>
            </a:r>
            <a:endParaRPr lang="en-US" sz="1350" dirty="0"/>
          </a:p>
        </p:txBody>
      </p:sp>
      <p:sp>
        <p:nvSpPr>
          <p:cNvPr id="35" name="text-1309"/>
          <p:cNvSpPr txBox="1"/>
          <p:nvPr/>
        </p:nvSpPr>
        <p:spPr>
          <a:xfrm>
            <a:off x="3282696" y="62087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Alpha to every team</a:t>
            </a:r>
            <a:endParaRPr lang="en-US" sz="1050" dirty="0"/>
          </a:p>
        </p:txBody>
      </p:sp>
      <p:sp>
        <p:nvSpPr>
          <p:cNvPr id="36" name="shape-1310"/>
          <p:cNvSpPr/>
          <p:nvPr/>
        </p:nvSpPr>
        <p:spPr>
          <a:xfrm>
            <a:off x="3849624" y="3529584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25000"/>
              </a:srgbClr>
            </a:outerShdw>
          </a:effectLst>
        </p:spPr>
      </p:sp>
      <p:sp>
        <p:nvSpPr>
          <p:cNvPr id="37" name="shape-1311"/>
          <p:cNvSpPr/>
          <p:nvPr/>
        </p:nvSpPr>
        <p:spPr>
          <a:xfrm>
            <a:off x="3904488" y="3584448"/>
            <a:ext cx="512064" cy="512064"/>
          </a:xfrm>
          <a:prstGeom prst="ellipse">
            <a:avLst/>
          </a:prstGeom>
          <a:solidFill>
            <a:srgbClr val="0082F0"/>
          </a:solidFill>
          <a:ln w="12700">
            <a:solidFill>
              <a:srgbClr val="0082F0"/>
            </a:solidFill>
            <a:prstDash val="solid"/>
          </a:ln>
        </p:spPr>
      </p:sp>
      <p:pic>
        <p:nvPicPr>
          <p:cNvPr id="38" name="icon-1312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7142" y="3697102"/>
            <a:ext cx="286756" cy="286756"/>
          </a:xfrm>
          <a:prstGeom prst="rect">
            <a:avLst/>
          </a:prstGeom>
        </p:spPr>
      </p:pic>
      <p:sp>
        <p:nvSpPr>
          <p:cNvPr id="39" name="shape-1313"/>
          <p:cNvSpPr/>
          <p:nvPr/>
        </p:nvSpPr>
        <p:spPr>
          <a:xfrm>
            <a:off x="6858000" y="3291840"/>
            <a:ext cx="914" cy="219456"/>
          </a:xfrm>
          <a:prstGeom prst="line">
            <a:avLst/>
          </a:prstGeom>
          <a:noFill/>
          <a:ln w="25400">
            <a:solidFill>
              <a:srgbClr val="8C60A8"/>
            </a:solidFill>
            <a:prstDash val="dash"/>
          </a:ln>
        </p:spPr>
      </p:sp>
      <p:sp>
        <p:nvSpPr>
          <p:cNvPr id="40" name="shape-1314"/>
          <p:cNvSpPr/>
          <p:nvPr/>
        </p:nvSpPr>
        <p:spPr>
          <a:xfrm>
            <a:off x="5257800" y="1600200"/>
            <a:ext cx="320040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shape-1315"/>
          <p:cNvSpPr/>
          <p:nvPr/>
        </p:nvSpPr>
        <p:spPr>
          <a:xfrm>
            <a:off x="5440680" y="1764792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8C60A8"/>
          </a:solidFill>
          <a:ln w="12700">
            <a:solidFill>
              <a:srgbClr val="8C60A8"/>
            </a:solidFill>
            <a:prstDash val="solid"/>
          </a:ln>
        </p:spPr>
      </p:sp>
      <p:sp>
        <p:nvSpPr>
          <p:cNvPr id="42" name="text-1316"/>
          <p:cNvSpPr txBox="1"/>
          <p:nvPr/>
        </p:nvSpPr>
        <p:spPr>
          <a:xfrm>
            <a:off x="5440680" y="176479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SOON</a:t>
            </a:r>
            <a:endParaRPr lang="en-US" sz="1050" dirty="0"/>
          </a:p>
        </p:txBody>
      </p:sp>
      <p:sp>
        <p:nvSpPr>
          <p:cNvPr id="43" name="shape-1317"/>
          <p:cNvSpPr/>
          <p:nvPr/>
        </p:nvSpPr>
        <p:spPr>
          <a:xfrm>
            <a:off x="5440680" y="2203704"/>
            <a:ext cx="384048" cy="384048"/>
          </a:xfrm>
          <a:prstGeom prst="ellipse">
            <a:avLst/>
          </a:prstGeom>
          <a:solidFill>
            <a:srgbClr val="8C60A8"/>
          </a:solidFill>
          <a:ln w="12700">
            <a:solidFill>
              <a:srgbClr val="8C60A8"/>
            </a:solidFill>
            <a:prstDash val="solid"/>
          </a:ln>
        </p:spPr>
      </p:sp>
      <p:pic>
        <p:nvPicPr>
          <p:cNvPr id="44" name="icon-131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25171" y="2288195"/>
            <a:ext cx="215067" cy="215067"/>
          </a:xfrm>
          <a:prstGeom prst="rect">
            <a:avLst/>
          </a:prstGeom>
        </p:spPr>
      </p:pic>
      <p:sp>
        <p:nvSpPr>
          <p:cNvPr id="45" name="text-1319"/>
          <p:cNvSpPr txBox="1"/>
          <p:nvPr/>
        </p:nvSpPr>
        <p:spPr>
          <a:xfrm>
            <a:off x="5934456" y="216712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on AWS</a:t>
            </a:r>
            <a:endParaRPr lang="en-US" sz="1350" dirty="0"/>
          </a:p>
        </p:txBody>
      </p:sp>
      <p:sp>
        <p:nvSpPr>
          <p:cNvPr id="46" name="text-1320"/>
          <p:cNvSpPr txBox="1"/>
          <p:nvPr/>
        </p:nvSpPr>
        <p:spPr>
          <a:xfrm>
            <a:off x="5934456" y="24140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queue, scale-out processing</a:t>
            </a:r>
            <a:endParaRPr lang="en-US" sz="1050" dirty="0"/>
          </a:p>
        </p:txBody>
      </p:sp>
      <p:sp>
        <p:nvSpPr>
          <p:cNvPr id="47" name="shape-1321"/>
          <p:cNvSpPr/>
          <p:nvPr/>
        </p:nvSpPr>
        <p:spPr>
          <a:xfrm>
            <a:off x="5440680" y="2715768"/>
            <a:ext cx="384048" cy="384048"/>
          </a:xfrm>
          <a:prstGeom prst="ellipse">
            <a:avLst/>
          </a:prstGeom>
          <a:solidFill>
            <a:srgbClr val="8C60A8"/>
          </a:solidFill>
          <a:ln w="12700">
            <a:solidFill>
              <a:srgbClr val="8C60A8"/>
            </a:solidFill>
            <a:prstDash val="solid"/>
          </a:ln>
        </p:spPr>
      </p:sp>
      <p:pic>
        <p:nvPicPr>
          <p:cNvPr id="48" name="icon-1322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25171" y="2800259"/>
            <a:ext cx="215067" cy="215067"/>
          </a:xfrm>
          <a:prstGeom prst="rect">
            <a:avLst/>
          </a:prstGeom>
        </p:spPr>
      </p:pic>
      <p:sp>
        <p:nvSpPr>
          <p:cNvPr id="49" name="text-1323"/>
          <p:cNvSpPr txBox="1"/>
          <p:nvPr/>
        </p:nvSpPr>
        <p:spPr>
          <a:xfrm>
            <a:off x="5934456" y="267919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at any size</a:t>
            </a:r>
            <a:endParaRPr lang="en-US" sz="1350" dirty="0"/>
          </a:p>
        </p:txBody>
      </p:sp>
      <p:sp>
        <p:nvSpPr>
          <p:cNvPr id="50" name="text-1324"/>
          <p:cNvSpPr txBox="1"/>
          <p:nvPr/>
        </p:nvSpPr>
        <p:spPr>
          <a:xfrm>
            <a:off x="5934456" y="29260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analytical caches</a:t>
            </a:r>
            <a:endParaRPr lang="en-US" sz="1050" dirty="0"/>
          </a:p>
        </p:txBody>
      </p:sp>
      <p:sp>
        <p:nvSpPr>
          <p:cNvPr id="51" name="shape-1325"/>
          <p:cNvSpPr/>
          <p:nvPr/>
        </p:nvSpPr>
        <p:spPr>
          <a:xfrm>
            <a:off x="6547104" y="3483864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25000"/>
              </a:srgbClr>
            </a:outerShdw>
          </a:effectLst>
        </p:spPr>
      </p:sp>
      <p:sp>
        <p:nvSpPr>
          <p:cNvPr id="52" name="shape-1326"/>
          <p:cNvSpPr/>
          <p:nvPr/>
        </p:nvSpPr>
        <p:spPr>
          <a:xfrm>
            <a:off x="6601968" y="3538728"/>
            <a:ext cx="512064" cy="512064"/>
          </a:xfrm>
          <a:prstGeom prst="ellipse">
            <a:avLst/>
          </a:prstGeom>
          <a:solidFill>
            <a:srgbClr val="8C60A8"/>
          </a:solidFill>
          <a:ln w="12700">
            <a:solidFill>
              <a:srgbClr val="8C60A8"/>
            </a:solidFill>
            <a:prstDash val="solid"/>
          </a:ln>
        </p:spPr>
      </p:sp>
      <p:pic>
        <p:nvPicPr>
          <p:cNvPr id="53" name="icon-1327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14622" y="3651382"/>
            <a:ext cx="286756" cy="286756"/>
          </a:xfrm>
          <a:prstGeom prst="rect">
            <a:avLst/>
          </a:prstGeom>
        </p:spPr>
      </p:pic>
      <p:sp>
        <p:nvSpPr>
          <p:cNvPr id="54" name="shape-1328"/>
          <p:cNvSpPr/>
          <p:nvPr/>
        </p:nvSpPr>
        <p:spPr>
          <a:xfrm>
            <a:off x="9738360" y="3941064"/>
            <a:ext cx="914" cy="219456"/>
          </a:xfrm>
          <a:prstGeom prst="line">
            <a:avLst/>
          </a:prstGeom>
          <a:noFill/>
          <a:ln w="25400">
            <a:solidFill>
              <a:srgbClr val="E07800"/>
            </a:solidFill>
            <a:prstDash val="dash"/>
          </a:ln>
        </p:spPr>
      </p:sp>
      <p:sp>
        <p:nvSpPr>
          <p:cNvPr id="55" name="shape-1329"/>
          <p:cNvSpPr/>
          <p:nvPr/>
        </p:nvSpPr>
        <p:spPr>
          <a:xfrm>
            <a:off x="8138160" y="4160520"/>
            <a:ext cx="320040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6" name="shape-1330"/>
          <p:cNvSpPr/>
          <p:nvPr/>
        </p:nvSpPr>
        <p:spPr>
          <a:xfrm>
            <a:off x="8321040" y="432511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07800"/>
          </a:solidFill>
          <a:ln w="12700">
            <a:solidFill>
              <a:srgbClr val="E07800"/>
            </a:solidFill>
            <a:prstDash val="solid"/>
          </a:ln>
        </p:spPr>
      </p:sp>
      <p:sp>
        <p:nvSpPr>
          <p:cNvPr id="57" name="text-1331"/>
          <p:cNvSpPr txBox="1"/>
          <p:nvPr/>
        </p:nvSpPr>
        <p:spPr>
          <a:xfrm>
            <a:off x="8321040" y="43251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1050" dirty="0"/>
          </a:p>
        </p:txBody>
      </p:sp>
      <p:sp>
        <p:nvSpPr>
          <p:cNvPr id="58" name="shape-1332"/>
          <p:cNvSpPr/>
          <p:nvPr/>
        </p:nvSpPr>
        <p:spPr>
          <a:xfrm>
            <a:off x="8321040" y="4764024"/>
            <a:ext cx="384048" cy="384048"/>
          </a:xfrm>
          <a:prstGeom prst="ellipse">
            <a:avLst/>
          </a:prstGeom>
          <a:solidFill>
            <a:srgbClr val="E07800"/>
          </a:solidFill>
          <a:ln w="12700">
            <a:solidFill>
              <a:srgbClr val="E07800"/>
            </a:solidFill>
            <a:prstDash val="solid"/>
          </a:ln>
        </p:spPr>
      </p:sp>
      <p:pic>
        <p:nvPicPr>
          <p:cNvPr id="59" name="icon-1333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05531" y="4848515"/>
            <a:ext cx="215067" cy="215067"/>
          </a:xfrm>
          <a:prstGeom prst="rect">
            <a:avLst/>
          </a:prstGeom>
        </p:spPr>
      </p:pic>
      <p:sp>
        <p:nvSpPr>
          <p:cNvPr id="60" name="text-1334"/>
          <p:cNvSpPr txBox="1"/>
          <p:nvPr/>
        </p:nvSpPr>
        <p:spPr>
          <a:xfrm>
            <a:off x="8814816" y="472744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database</a:t>
            </a:r>
            <a:endParaRPr lang="en-US" sz="1350" dirty="0"/>
          </a:p>
        </p:txBody>
      </p:sp>
      <p:sp>
        <p:nvSpPr>
          <p:cNvPr id="61" name="text-1335"/>
          <p:cNvSpPr txBox="1"/>
          <p:nvPr/>
        </p:nvSpPr>
        <p:spPr>
          <a:xfrm>
            <a:off x="8814816" y="49743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Hundreds of concurrent users</a:t>
            </a:r>
            <a:endParaRPr lang="en-US" sz="1050" dirty="0"/>
          </a:p>
        </p:txBody>
      </p:sp>
      <p:sp>
        <p:nvSpPr>
          <p:cNvPr id="62" name="shape-1336"/>
          <p:cNvSpPr/>
          <p:nvPr/>
        </p:nvSpPr>
        <p:spPr>
          <a:xfrm>
            <a:off x="8321040" y="5276088"/>
            <a:ext cx="384048" cy="384048"/>
          </a:xfrm>
          <a:prstGeom prst="ellipse">
            <a:avLst/>
          </a:prstGeom>
          <a:solidFill>
            <a:srgbClr val="E07800"/>
          </a:solidFill>
          <a:ln w="12700">
            <a:solidFill>
              <a:srgbClr val="E07800"/>
            </a:solidFill>
            <a:prstDash val="solid"/>
          </a:ln>
        </p:spPr>
      </p:sp>
      <p:pic>
        <p:nvPicPr>
          <p:cNvPr id="63" name="icon-1337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05531" y="5360579"/>
            <a:ext cx="215067" cy="215067"/>
          </a:xfrm>
          <a:prstGeom prst="rect">
            <a:avLst/>
          </a:prstGeom>
        </p:spPr>
      </p:pic>
      <p:sp>
        <p:nvSpPr>
          <p:cNvPr id="64" name="text-1338"/>
          <p:cNvSpPr txBox="1"/>
          <p:nvPr/>
        </p:nvSpPr>
        <p:spPr>
          <a:xfrm>
            <a:off x="8814816" y="523951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Orchestrator Logs</a:t>
            </a:r>
            <a:endParaRPr lang="en-US" sz="1350" dirty="0"/>
          </a:p>
        </p:txBody>
      </p:sp>
      <p:sp>
        <p:nvSpPr>
          <p:cNvPr id="65" name="text-1339"/>
          <p:cNvSpPr txBox="1"/>
          <p:nvPr/>
        </p:nvSpPr>
        <p:spPr>
          <a:xfrm>
            <a:off x="8814816" y="54864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source and its reports</a:t>
            </a:r>
            <a:endParaRPr lang="en-US" sz="1050" dirty="0"/>
          </a:p>
        </p:txBody>
      </p:sp>
      <p:sp>
        <p:nvSpPr>
          <p:cNvPr id="66" name="shape-1340"/>
          <p:cNvSpPr/>
          <p:nvPr/>
        </p:nvSpPr>
        <p:spPr>
          <a:xfrm>
            <a:off x="8321040" y="5788152"/>
            <a:ext cx="384048" cy="384048"/>
          </a:xfrm>
          <a:prstGeom prst="ellipse">
            <a:avLst/>
          </a:prstGeom>
          <a:solidFill>
            <a:srgbClr val="E07800"/>
          </a:solidFill>
          <a:ln w="12700">
            <a:solidFill>
              <a:srgbClr val="E07800"/>
            </a:solidFill>
            <a:prstDash val="solid"/>
          </a:ln>
        </p:spPr>
      </p:sp>
      <p:pic>
        <p:nvPicPr>
          <p:cNvPr id="67" name="icon-1341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05531" y="5872643"/>
            <a:ext cx="215067" cy="215067"/>
          </a:xfrm>
          <a:prstGeom prst="rect">
            <a:avLst/>
          </a:prstGeom>
        </p:spPr>
      </p:pic>
      <p:sp>
        <p:nvSpPr>
          <p:cNvPr id="68" name="text-1342"/>
          <p:cNvSpPr txBox="1"/>
          <p:nvPr/>
        </p:nvSpPr>
        <p:spPr>
          <a:xfrm>
            <a:off x="8814816" y="575157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monitoring</a:t>
            </a:r>
            <a:endParaRPr lang="en-US" sz="1350" dirty="0"/>
          </a:p>
        </p:txBody>
      </p:sp>
      <p:sp>
        <p:nvSpPr>
          <p:cNvPr id="69" name="text-1343"/>
          <p:cNvSpPr txBox="1"/>
          <p:nvPr/>
        </p:nvSpPr>
        <p:spPr>
          <a:xfrm>
            <a:off x="8814816" y="59984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&amp; checks after each deploy</a:t>
            </a:r>
            <a:endParaRPr lang="en-US" sz="1050" dirty="0"/>
          </a:p>
        </p:txBody>
      </p:sp>
      <p:sp>
        <p:nvSpPr>
          <p:cNvPr id="70" name="shape-1344"/>
          <p:cNvSpPr/>
          <p:nvPr/>
        </p:nvSpPr>
        <p:spPr>
          <a:xfrm>
            <a:off x="9427464" y="3346704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25000"/>
              </a:srgbClr>
            </a:outerShdw>
          </a:effectLst>
        </p:spPr>
      </p:sp>
      <p:sp>
        <p:nvSpPr>
          <p:cNvPr id="71" name="shape-1345"/>
          <p:cNvSpPr/>
          <p:nvPr/>
        </p:nvSpPr>
        <p:spPr>
          <a:xfrm>
            <a:off x="9482328" y="3401568"/>
            <a:ext cx="512064" cy="512064"/>
          </a:xfrm>
          <a:prstGeom prst="ellipse">
            <a:avLst/>
          </a:prstGeom>
          <a:solidFill>
            <a:srgbClr val="E07800"/>
          </a:solidFill>
          <a:ln w="12700">
            <a:solidFill>
              <a:srgbClr val="E07800"/>
            </a:solidFill>
            <a:prstDash val="solid"/>
          </a:ln>
        </p:spPr>
      </p:sp>
      <p:pic>
        <p:nvPicPr>
          <p:cNvPr id="72" name="icon-1346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94982" y="3514222"/>
            <a:ext cx="286756" cy="2867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ricsson">
      <a:dk1>
        <a:srgbClr val="000000"/>
      </a:dk1>
      <a:lt1>
        <a:srgbClr val="FFFFFF"/>
      </a:lt1>
      <a:dk2>
        <a:srgbClr val="242424"/>
      </a:dk2>
      <a:lt2>
        <a:srgbClr val="F2F2F2"/>
      </a:lt2>
      <a:accent1>
        <a:srgbClr val="0082F0"/>
      </a:accent1>
      <a:accent2>
        <a:srgbClr val="0068BF"/>
      </a:accent2>
      <a:accent3>
        <a:srgbClr val="0FC373"/>
      </a:accent3>
      <a:accent4>
        <a:srgbClr val="FF8C0A"/>
      </a:accent4>
      <a:accent5>
        <a:srgbClr val="AF78D2"/>
      </a:accent5>
      <a:accent6>
        <a:srgbClr val="FF3232"/>
      </a:accent6>
      <a:hlink>
        <a:srgbClr val="0082F0"/>
      </a:hlink>
      <a:folHlink>
        <a:srgbClr val="AF78D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DriveTest Analyzer — Roadmap</dc:title>
  <dc:subject>DriveTest Analyzer roadmap</dc:subject>
  <dc:creator>DriveTest Analyzer</dc:creator>
  <cp:lastModifiedBy>DriveTest Analyzer</cp:lastModifiedBy>
  <cp:revision>1</cp:revision>
  <dcterms:created xsi:type="dcterms:W3CDTF">2026-10-21T10:43:08Z</dcterms:created>
  <dcterms:modified xsi:type="dcterms:W3CDTF">2026-10-21T10:43:08Z</dcterms:modified>
</cp:coreProperties>
</file>