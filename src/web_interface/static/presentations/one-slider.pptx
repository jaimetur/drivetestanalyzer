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riveTest Analyzer" id="{413d5c7f-a6a7-fad2-91f5-2d59df341f07}">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DriveTest Analyzer in one slide. Data in: CDRs (7.5 M rows in 27 CDRs of 9 campaigns of the UK workspace), network inventories, vendor mappings and regions and clusters. On one shared workspace, eight modules: CDR Analysis, PPT Dashboards, Scoring &amp; GAP Analysis, Network Insights, Non-Qualified Calls (48,138 NQ calls), Reporting, the Builders and the Ticket Center. They serve benchmarking, the NQ team, troubleshooting and technical and executive reporting, on an enterprise platform on AWS with roles, isolated workspaces, automated backups, a Ticket Center, a 25-chapter Help and 1,895 automated tests. Roadmap: Umlaut CDRs and the Active Tests community next, then scale-out on AWS and speed, then PostgreSQL for hundreds of concurrent users and health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var/folders/pl/_b6qn8zs2_lc59t589_46cyc0000gn/T/drivetest-presentations-rNxAPW/ericsson-logo-black.png">    </p:cNvPr>
          <p:cNvPicPr>
            <a:picLocks noChangeAspect="1"/>
          </p:cNvPicPr>
          <p:nvPr/>
        </p:nvPicPr>
        <p:blipFill>
          <a:blip r:embed="rId1"/>
          <a:stretch>
            <a:fillRect/>
          </a:stretch>
        </p:blipFill>
        <p:spPr>
          <a:xfrm>
            <a:off x="11219688" y="384048"/>
            <a:ext cx="484632" cy="425196"/>
          </a:xfrm>
          <a:prstGeom prst="rect">
            <a:avLst/>
          </a:prstGeom>
        </p:spPr>
      </p:pic>
      <p:sp>
        <p:nvSpPr>
          <p:cNvPr id="3" name="Text 0"/>
          <p:cNvSpPr/>
          <p:nvPr/>
        </p:nvSpPr>
        <p:spPr>
          <a:xfrm>
            <a:off x="914400" y="6400800"/>
            <a:ext cx="3657600" cy="256032"/>
          </a:xfrm>
          <a:prstGeom prst="rect">
            <a:avLst/>
          </a:prstGeom>
          <a:noFill/>
          <a:ln/>
        </p:spPr>
        <p:txBody>
          <a:bodyPr wrap="square" lIns="0" tIns="0" rIns="0" bIns="0" rtlCol="0" anchor="ctr"/>
          <a:lstStyle/>
          <a:p>
            <a:pPr indent="0" marL="0">
              <a:buNone/>
            </a:pPr>
            <a:r>
              <a:rPr lang="en-US" sz="900" dirty="0">
                <a:solidFill>
                  <a:srgbClr val="767676"/>
                </a:solidFill>
                <a:latin typeface="Arial" pitchFamily="34" charset="0"/>
                <a:ea typeface="Arial" pitchFamily="34" charset="-122"/>
                <a:cs typeface="Arial" pitchFamily="34" charset="-120"/>
              </a:rPr>
              <a:t>DriveTest Analyzer</a:t>
            </a:r>
            <a:endParaRPr lang="en-US" sz="900" dirty="0"/>
          </a:p>
        </p:txBody>
      </p:sp>
      <p:sp>
        <p:nvSpPr>
          <p:cNvPr id="4" name="Text 1"/>
          <p:cNvSpPr/>
          <p:nvPr>
            <p:ph idx="102" type="title" hasCustomPrompt="1"/>
          </p:nvPr>
        </p:nvSpPr>
        <p:spPr>
          <a:xfrm>
            <a:off x="548640" y="384048"/>
            <a:ext cx="10424160" cy="658368"/>
          </a:xfrm>
          <a:prstGeom prst="rect">
            <a:avLst/>
          </a:prstGeom>
          <a:noFill/>
          <a:ln/>
        </p:spPr>
        <p:txBody>
          <a:bodyPr wrap="square" rtlCol="0"/>
          <a:lstStyle>
            <a:lvl1pPr algn="l" indent="0" marL="0">
              <a:buNone/>
              <a:defRPr lang="en-US" sz="3000" dirty="0">
                <a:solidFill>
                  <a:srgbClr val="000000"/>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INGLE">
    <p:bg>
      <p:bgPr>
        <a:solidFill>
          <a:srgbClr val="FFFFFF"/>
        </a:solidFill>
      </p:bgPr>
    </p:bg>
    <p:spTree>
      <p:nvGrpSpPr>
        <p:cNvPr id="1" name=""/>
        <p:cNvGrpSpPr/>
        <p:nvPr/>
      </p:nvGrpSpPr>
      <p:grpSpPr>
        <a:xfrm>
          <a:off x="0" y="0"/>
          <a:ext cx="0" cy="0"/>
          <a:chOff x="0" y="0"/>
          <a:chExt cx="0" cy="0"/>
        </a:xfrm>
      </p:grpSpPr>
      <p:pic>
        <p:nvPicPr>
          <p:cNvPr id="2" name="Image 0" descr="/var/folders/pl/_b6qn8zs2_lc59t589_46cyc0000gn/T/drivetest-presentations-rNxAPW/ericsson-logo-black.png">    </p:cNvPr>
          <p:cNvPicPr>
            <a:picLocks noChangeAspect="1"/>
          </p:cNvPicPr>
          <p:nvPr/>
        </p:nvPicPr>
        <p:blipFill>
          <a:blip r:embed="rId1"/>
          <a:stretch>
            <a:fillRect/>
          </a:stretch>
        </p:blipFill>
        <p:spPr>
          <a:xfrm>
            <a:off x="11219688" y="384048"/>
            <a:ext cx="484632" cy="425196"/>
          </a:xfrm>
          <a:prstGeom prst="rect">
            <a:avLst/>
          </a:prstGeom>
        </p:spPr>
      </p:pic>
      <p:sp>
        <p:nvSpPr>
          <p:cNvPr id="3" name="Text 0"/>
          <p:cNvSpPr/>
          <p:nvPr/>
        </p:nvSpPr>
        <p:spPr>
          <a:xfrm>
            <a:off x="914400" y="6400800"/>
            <a:ext cx="3657600" cy="256032"/>
          </a:xfrm>
          <a:prstGeom prst="rect">
            <a:avLst/>
          </a:prstGeom>
          <a:noFill/>
          <a:ln/>
        </p:spPr>
        <p:txBody>
          <a:bodyPr wrap="square" lIns="0" tIns="0" rIns="0" bIns="0" rtlCol="0" anchor="ctr"/>
          <a:lstStyle/>
          <a:p>
            <a:pPr indent="0" marL="0">
              <a:buNone/>
            </a:pPr>
            <a:r>
              <a:rPr lang="en-US" sz="900" dirty="0">
                <a:solidFill>
                  <a:srgbClr val="767676"/>
                </a:solidFill>
                <a:latin typeface="Arial" pitchFamily="34" charset="0"/>
                <a:ea typeface="Arial" pitchFamily="34" charset="-122"/>
                <a:cs typeface="Arial" pitchFamily="34" charset="-120"/>
              </a:rPr>
              <a:t>DriveTest Analyzer</a:t>
            </a:r>
            <a:endParaRPr lang="en-US" sz="900" dirty="0"/>
          </a:p>
        </p:txBody>
      </p:sp>
      <p:sp>
        <p:nvSpPr>
          <p:cNvPr id="4" name="Text 1"/>
          <p:cNvSpPr/>
          <p:nvPr>
            <p:ph idx="102" type="title" hasCustomPrompt="1"/>
          </p:nvPr>
        </p:nvSpPr>
        <p:spPr>
          <a:xfrm>
            <a:off x="548640" y="384048"/>
            <a:ext cx="10424160" cy="658368"/>
          </a:xfrm>
          <a:prstGeom prst="rect">
            <a:avLst/>
          </a:prstGeom>
          <a:noFill/>
          <a:ln/>
        </p:spPr>
        <p:txBody>
          <a:bodyPr wrap="square" rtlCol="0"/>
          <a:lstStyle>
            <a:lvl1pPr algn="l" indent="0" marL="0">
              <a:buNone/>
              <a:defRPr lang="en-US" sz="3000" dirty="0">
                <a:solidFill>
                  <a:srgbClr val="000000"/>
                </a:solidFill>
                <a:latin typeface="Arial" pitchFamily="34" charset="0"/>
                <a:ea typeface="Arial" pitchFamily="34" charset="-122"/>
                <a:cs typeface="Arial" pitchFamily="34" charset="-120"/>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image" Target="../media/image-1-21.png"/><Relationship Id="rId22" Type="http://schemas.openxmlformats.org/officeDocument/2006/relationships/image" Target="../media/image-1-22.png"/><Relationship Id="rId23" Type="http://schemas.openxmlformats.org/officeDocument/2006/relationships/image" Target="../media/image-1-23.png"/><Relationship Id="rId24" Type="http://schemas.openxmlformats.org/officeDocument/2006/relationships/image" Target="../media/image-1-24.png"/><Relationship Id="rId25" Type="http://schemas.openxmlformats.org/officeDocument/2006/relationships/image" Target="../media/image-1-25.png"/><Relationship Id="rId26" Type="http://schemas.openxmlformats.org/officeDocument/2006/relationships/image" Target="../media/image-1-26.png"/><Relationship Id="rId27" Type="http://schemas.openxmlformats.org/officeDocument/2006/relationships/image" Target="../media/image-1-27.png"/><Relationship Id="rId28" Type="http://schemas.openxmlformats.org/officeDocument/2006/relationships/image" Target="../media/image-1-28.png"/><Relationship Id="rId29" Type="http://schemas.openxmlformats.org/officeDocument/2006/relationships/image" Target="../media/image-1-29.png"/><Relationship Id="rId30" Type="http://schemas.openxmlformats.org/officeDocument/2006/relationships/slideLayout" Target="../slideLayouts/slideLayout4.xml"/><Relationship Id="rId31"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mall roadmap road" descr="/var/folders/pl/_b6qn8zs2_lc59t589_46cyc0000gn/T/drivetest-presentations-rNxAPW/mini-road.png">    </p:cNvPr>
          <p:cNvPicPr>
            <a:picLocks noChangeAspect="1"/>
          </p:cNvPicPr>
          <p:nvPr/>
        </p:nvPicPr>
        <p:blipFill>
          <a:blip r:embed="rId1"/>
          <a:stretch>
            <a:fillRect/>
          </a:stretch>
        </p:blipFill>
        <p:spPr>
          <a:xfrm>
            <a:off x="0" y="0"/>
            <a:ext cx="12191695" cy="6858000"/>
          </a:xfrm>
          <a:prstGeom prst="rect">
            <a:avLst/>
          </a:prstGeom>
        </p:spPr>
      </p:pic>
      <p:sp>
        <p:nvSpPr>
          <p:cNvPr id="3"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DriveTest Analyzer — </a:t>
            </a:r>
            <a:pPr algn="l" indent="0" marL="0">
              <a:buNone/>
            </a:pPr>
            <a:r>
              <a:rPr lang="en-US" sz="3000" b="1" dirty="0">
                <a:solidFill>
                  <a:srgbClr val="0068BF"/>
                </a:solidFill>
                <a:latin typeface="Arial" pitchFamily="34" charset="0"/>
                <a:ea typeface="Arial" pitchFamily="34" charset="-122"/>
                <a:cs typeface="Arial" pitchFamily="34" charset="-120"/>
              </a:rPr>
              <a:t>CDRs to decisions, in one platform</a:t>
            </a:r>
            <a:endParaRPr lang="en-US" sz="3000" dirty="0"/>
          </a:p>
        </p:txBody>
      </p:sp>
      <p:sp>
        <p:nvSpPr>
          <p:cNvPr id="4" name="text-1150"/>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Benchmarking, NQ Calls, troubleshooting and reporting for every team, on the same data</a:t>
            </a:r>
            <a:endParaRPr lang="en-US" sz="1500" dirty="0"/>
          </a:p>
        </p:txBody>
      </p:sp>
      <p:sp>
        <p:nvSpPr>
          <p:cNvPr id="5" name="text-1151"/>
          <p:cNvSpPr txBox="1"/>
          <p:nvPr/>
        </p:nvSpPr>
        <p:spPr>
          <a:xfrm>
            <a:off x="548640" y="1481328"/>
            <a:ext cx="274320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DATA IN</a:t>
            </a:r>
            <a:endParaRPr lang="en-US" sz="1050" dirty="0"/>
          </a:p>
        </p:txBody>
      </p:sp>
      <p:sp>
        <p:nvSpPr>
          <p:cNvPr id="6" name="text-1152"/>
          <p:cNvSpPr txBox="1"/>
          <p:nvPr/>
        </p:nvSpPr>
        <p:spPr>
          <a:xfrm>
            <a:off x="8915400" y="1481328"/>
            <a:ext cx="274320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BUILT FOR EVERY TEAM</a:t>
            </a:r>
            <a:endParaRPr lang="en-US" sz="1050" dirty="0"/>
          </a:p>
        </p:txBody>
      </p:sp>
      <p:sp>
        <p:nvSpPr>
          <p:cNvPr id="7" name="shape-1153"/>
          <p:cNvSpPr/>
          <p:nvPr/>
        </p:nvSpPr>
        <p:spPr>
          <a:xfrm>
            <a:off x="3154680" y="2148840"/>
            <a:ext cx="731520" cy="1252728"/>
          </a:xfrm>
          <a:prstGeom prst="line">
            <a:avLst/>
          </a:prstGeom>
          <a:noFill/>
          <a:ln w="15875">
            <a:solidFill>
              <a:srgbClr val="A0A0A0"/>
            </a:solidFill>
            <a:prstDash val="solid"/>
            <a:tailEnd type="triangle"/>
          </a:ln>
        </p:spPr>
      </p:sp>
      <p:sp>
        <p:nvSpPr>
          <p:cNvPr id="8" name="shape-1154"/>
          <p:cNvSpPr/>
          <p:nvPr/>
        </p:nvSpPr>
        <p:spPr>
          <a:xfrm>
            <a:off x="548640" y="1783080"/>
            <a:ext cx="2606040" cy="731520"/>
          </a:xfrm>
          <a:prstGeom prst="roundRect">
            <a:avLst>
              <a:gd name="adj" fmla="val 12500"/>
            </a:avLst>
          </a:prstGeom>
          <a:solidFill>
            <a:srgbClr val="F2F2F2"/>
          </a:solidFill>
          <a:ln w="12700">
            <a:solidFill>
              <a:srgbClr val="F2F2F2"/>
            </a:solidFill>
            <a:prstDash val="solid"/>
          </a:ln>
        </p:spPr>
      </p:sp>
      <p:sp>
        <p:nvSpPr>
          <p:cNvPr id="9" name="shape-1155"/>
          <p:cNvSpPr/>
          <p:nvPr/>
        </p:nvSpPr>
        <p:spPr>
          <a:xfrm>
            <a:off x="685800" y="1938528"/>
            <a:ext cx="420624" cy="420624"/>
          </a:xfrm>
          <a:prstGeom prst="ellipse">
            <a:avLst/>
          </a:prstGeom>
          <a:solidFill>
            <a:srgbClr val="0068BF"/>
          </a:solidFill>
          <a:ln w="12700">
            <a:solidFill>
              <a:srgbClr val="0068BF"/>
            </a:solidFill>
            <a:prstDash val="solid"/>
          </a:ln>
        </p:spPr>
      </p:sp>
      <p:pic>
        <p:nvPicPr>
          <p:cNvPr id="10" name="icon-1156" descr="preencoded.png">    </p:cNvPr>
          <p:cNvPicPr>
            <a:picLocks noChangeAspect="1"/>
          </p:cNvPicPr>
          <p:nvPr/>
        </p:nvPicPr>
        <p:blipFill>
          <a:blip r:embed="rId2"/>
          <a:stretch>
            <a:fillRect/>
          </a:stretch>
        </p:blipFill>
        <p:spPr>
          <a:xfrm>
            <a:off x="778337" y="2031065"/>
            <a:ext cx="235549" cy="235549"/>
          </a:xfrm>
          <a:prstGeom prst="rect">
            <a:avLst/>
          </a:prstGeom>
        </p:spPr>
      </p:pic>
      <p:sp>
        <p:nvSpPr>
          <p:cNvPr id="11" name="text-1157"/>
          <p:cNvSpPr txBox="1"/>
          <p:nvPr/>
        </p:nvSpPr>
        <p:spPr>
          <a:xfrm>
            <a:off x="1207008" y="1856232"/>
            <a:ext cx="187452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CDRs</a:t>
            </a:r>
            <a:endParaRPr lang="en-US" sz="1250" dirty="0"/>
          </a:p>
        </p:txBody>
      </p:sp>
      <p:sp>
        <p:nvSpPr>
          <p:cNvPr id="12" name="text-1158"/>
          <p:cNvSpPr txBox="1"/>
          <p:nvPr/>
        </p:nvSpPr>
        <p:spPr>
          <a:xfrm>
            <a:off x="1207008" y="2148840"/>
            <a:ext cx="1874520" cy="274320"/>
          </a:xfrm>
          <a:prstGeom prst="rect">
            <a:avLst/>
          </a:prstGeom>
          <a:noFill/>
          <a:ln/>
        </p:spPr>
        <p:txBody>
          <a:bodyPr wrap="square" lIns="0" tIns="0" rIns="0" bIns="0" rtlCol="0" anchor="ctr"/>
          <a:lstStyle/>
          <a:p>
            <a:pPr indent="0" marL="0">
              <a:buNone/>
            </a:pPr>
            <a:r>
              <a:rPr lang="en-US" sz="1400" b="1" dirty="0">
                <a:solidFill>
                  <a:srgbClr val="0068BF"/>
                </a:solidFill>
                <a:latin typeface="Arial" pitchFamily="34" charset="0"/>
                <a:ea typeface="Arial" pitchFamily="34" charset="-122"/>
                <a:cs typeface="Arial" pitchFamily="34" charset="-120"/>
              </a:rPr>
              <a:t>7.5 M </a:t>
            </a:r>
            <a:pPr indent="0" marL="0">
              <a:buNone/>
            </a:pPr>
            <a:r>
              <a:rPr lang="en-US" sz="1000" dirty="0">
                <a:solidFill>
                  <a:srgbClr val="767676"/>
                </a:solidFill>
                <a:latin typeface="Arial" pitchFamily="34" charset="0"/>
                <a:ea typeface="Arial" pitchFamily="34" charset="-122"/>
                <a:cs typeface="Arial" pitchFamily="34" charset="-120"/>
              </a:rPr>
              <a:t>rows · 27 CDRs</a:t>
            </a:r>
            <a:endParaRPr lang="en-US" sz="1400" dirty="0"/>
          </a:p>
        </p:txBody>
      </p:sp>
      <p:sp>
        <p:nvSpPr>
          <p:cNvPr id="13" name="shape-1159"/>
          <p:cNvSpPr/>
          <p:nvPr/>
        </p:nvSpPr>
        <p:spPr>
          <a:xfrm>
            <a:off x="3154680" y="2990088"/>
            <a:ext cx="731520" cy="411480"/>
          </a:xfrm>
          <a:prstGeom prst="line">
            <a:avLst/>
          </a:prstGeom>
          <a:noFill/>
          <a:ln w="15875">
            <a:solidFill>
              <a:srgbClr val="A0A0A0"/>
            </a:solidFill>
            <a:prstDash val="solid"/>
            <a:tailEnd type="triangle"/>
          </a:ln>
        </p:spPr>
      </p:sp>
      <p:sp>
        <p:nvSpPr>
          <p:cNvPr id="14" name="shape-1160"/>
          <p:cNvSpPr/>
          <p:nvPr/>
        </p:nvSpPr>
        <p:spPr>
          <a:xfrm>
            <a:off x="548640" y="2624328"/>
            <a:ext cx="2606040" cy="731520"/>
          </a:xfrm>
          <a:prstGeom prst="roundRect">
            <a:avLst>
              <a:gd name="adj" fmla="val 12500"/>
            </a:avLst>
          </a:prstGeom>
          <a:solidFill>
            <a:srgbClr val="F2F2F2"/>
          </a:solidFill>
          <a:ln w="12700">
            <a:solidFill>
              <a:srgbClr val="F2F2F2"/>
            </a:solidFill>
            <a:prstDash val="solid"/>
          </a:ln>
        </p:spPr>
      </p:sp>
      <p:sp>
        <p:nvSpPr>
          <p:cNvPr id="15" name="shape-1161"/>
          <p:cNvSpPr/>
          <p:nvPr/>
        </p:nvSpPr>
        <p:spPr>
          <a:xfrm>
            <a:off x="685800" y="2779776"/>
            <a:ext cx="420624" cy="420624"/>
          </a:xfrm>
          <a:prstGeom prst="ellipse">
            <a:avLst/>
          </a:prstGeom>
          <a:solidFill>
            <a:srgbClr val="0C9B5B"/>
          </a:solidFill>
          <a:ln w="12700">
            <a:solidFill>
              <a:srgbClr val="0C9B5B"/>
            </a:solidFill>
            <a:prstDash val="solid"/>
          </a:ln>
        </p:spPr>
      </p:sp>
      <p:pic>
        <p:nvPicPr>
          <p:cNvPr id="16" name="icon-1162" descr="preencoded.png">    </p:cNvPr>
          <p:cNvPicPr>
            <a:picLocks noChangeAspect="1"/>
          </p:cNvPicPr>
          <p:nvPr/>
        </p:nvPicPr>
        <p:blipFill>
          <a:blip r:embed="rId3"/>
          <a:stretch>
            <a:fillRect/>
          </a:stretch>
        </p:blipFill>
        <p:spPr>
          <a:xfrm>
            <a:off x="778337" y="2872313"/>
            <a:ext cx="235549" cy="235549"/>
          </a:xfrm>
          <a:prstGeom prst="rect">
            <a:avLst/>
          </a:prstGeom>
        </p:spPr>
      </p:pic>
      <p:sp>
        <p:nvSpPr>
          <p:cNvPr id="17" name="text-1163"/>
          <p:cNvSpPr txBox="1"/>
          <p:nvPr/>
        </p:nvSpPr>
        <p:spPr>
          <a:xfrm>
            <a:off x="1207008" y="2697480"/>
            <a:ext cx="187452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Network Inventories</a:t>
            </a:r>
            <a:endParaRPr lang="en-US" sz="1250" dirty="0"/>
          </a:p>
        </p:txBody>
      </p:sp>
      <p:sp>
        <p:nvSpPr>
          <p:cNvPr id="18" name="text-1164"/>
          <p:cNvSpPr txBox="1"/>
          <p:nvPr/>
        </p:nvSpPr>
        <p:spPr>
          <a:xfrm>
            <a:off x="1207008" y="2990088"/>
            <a:ext cx="1874520" cy="274320"/>
          </a:xfrm>
          <a:prstGeom prst="rect">
            <a:avLst/>
          </a:prstGeom>
          <a:noFill/>
          <a:ln/>
        </p:spPr>
        <p:txBody>
          <a:bodyPr wrap="square" lIns="0" tIns="0" rIns="0" bIns="0" rtlCol="0" anchor="ctr"/>
          <a:lstStyle/>
          <a:p>
            <a:pPr indent="0" marL="0">
              <a:buNone/>
            </a:pPr>
            <a:r>
              <a:rPr lang="en-US" sz="1400" b="1" dirty="0">
                <a:solidFill>
                  <a:srgbClr val="0068BF"/>
                </a:solidFill>
                <a:latin typeface="Arial" pitchFamily="34" charset="0"/>
                <a:ea typeface="Arial" pitchFamily="34" charset="-122"/>
                <a:cs typeface="Arial" pitchFamily="34" charset="-120"/>
              </a:rPr>
              <a:t>519 k </a:t>
            </a:r>
            <a:pPr indent="0" marL="0">
              <a:buNone/>
            </a:pPr>
            <a:r>
              <a:rPr lang="en-US" sz="1000" dirty="0">
                <a:solidFill>
                  <a:srgbClr val="767676"/>
                </a:solidFill>
                <a:latin typeface="Arial" pitchFamily="34" charset="0"/>
                <a:ea typeface="Arial" pitchFamily="34" charset="-122"/>
                <a:cs typeface="Arial" pitchFamily="34" charset="-120"/>
              </a:rPr>
              <a:t>cell rows</a:t>
            </a:r>
            <a:endParaRPr lang="en-US" sz="1400" dirty="0"/>
          </a:p>
        </p:txBody>
      </p:sp>
      <p:sp>
        <p:nvSpPr>
          <p:cNvPr id="19" name="shape-1165"/>
          <p:cNvSpPr/>
          <p:nvPr/>
        </p:nvSpPr>
        <p:spPr>
          <a:xfrm flipV="1">
            <a:off x="3154680" y="3401568"/>
            <a:ext cx="731520" cy="429768"/>
          </a:xfrm>
          <a:prstGeom prst="line">
            <a:avLst/>
          </a:prstGeom>
          <a:noFill/>
          <a:ln w="15875">
            <a:solidFill>
              <a:srgbClr val="A0A0A0"/>
            </a:solidFill>
            <a:prstDash val="solid"/>
            <a:tailEnd type="triangle"/>
          </a:ln>
        </p:spPr>
      </p:sp>
      <p:sp>
        <p:nvSpPr>
          <p:cNvPr id="20" name="shape-1166"/>
          <p:cNvSpPr/>
          <p:nvPr/>
        </p:nvSpPr>
        <p:spPr>
          <a:xfrm>
            <a:off x="548640" y="3465576"/>
            <a:ext cx="2606040" cy="731520"/>
          </a:xfrm>
          <a:prstGeom prst="roundRect">
            <a:avLst>
              <a:gd name="adj" fmla="val 12500"/>
            </a:avLst>
          </a:prstGeom>
          <a:solidFill>
            <a:srgbClr val="F2F2F2"/>
          </a:solidFill>
          <a:ln w="12700">
            <a:solidFill>
              <a:srgbClr val="F2F2F2"/>
            </a:solidFill>
            <a:prstDash val="solid"/>
          </a:ln>
        </p:spPr>
      </p:sp>
      <p:sp>
        <p:nvSpPr>
          <p:cNvPr id="21" name="shape-1167"/>
          <p:cNvSpPr/>
          <p:nvPr/>
        </p:nvSpPr>
        <p:spPr>
          <a:xfrm>
            <a:off x="685800" y="3621024"/>
            <a:ext cx="420624" cy="420624"/>
          </a:xfrm>
          <a:prstGeom prst="ellipse">
            <a:avLst/>
          </a:prstGeom>
          <a:solidFill>
            <a:srgbClr val="E07800"/>
          </a:solidFill>
          <a:ln w="12700">
            <a:solidFill>
              <a:srgbClr val="E07800"/>
            </a:solidFill>
            <a:prstDash val="solid"/>
          </a:ln>
        </p:spPr>
      </p:sp>
      <p:pic>
        <p:nvPicPr>
          <p:cNvPr id="22" name="icon-1168" descr="preencoded.png">    </p:cNvPr>
          <p:cNvPicPr>
            <a:picLocks noChangeAspect="1"/>
          </p:cNvPicPr>
          <p:nvPr/>
        </p:nvPicPr>
        <p:blipFill>
          <a:blip r:embed="rId4"/>
          <a:stretch>
            <a:fillRect/>
          </a:stretch>
        </p:blipFill>
        <p:spPr>
          <a:xfrm>
            <a:off x="778337" y="3713561"/>
            <a:ext cx="235549" cy="235549"/>
          </a:xfrm>
          <a:prstGeom prst="rect">
            <a:avLst/>
          </a:prstGeom>
        </p:spPr>
      </p:pic>
      <p:sp>
        <p:nvSpPr>
          <p:cNvPr id="23" name="text-1169"/>
          <p:cNvSpPr txBox="1"/>
          <p:nvPr/>
        </p:nvSpPr>
        <p:spPr>
          <a:xfrm>
            <a:off x="1207008" y="3538728"/>
            <a:ext cx="187452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Vendor Mappings</a:t>
            </a:r>
            <a:endParaRPr lang="en-US" sz="1250" dirty="0"/>
          </a:p>
        </p:txBody>
      </p:sp>
      <p:sp>
        <p:nvSpPr>
          <p:cNvPr id="24" name="text-1170"/>
          <p:cNvSpPr txBox="1"/>
          <p:nvPr/>
        </p:nvSpPr>
        <p:spPr>
          <a:xfrm>
            <a:off x="1207008" y="3831336"/>
            <a:ext cx="1874520" cy="274320"/>
          </a:xfrm>
          <a:prstGeom prst="rect">
            <a:avLst/>
          </a:prstGeom>
          <a:noFill/>
          <a:ln/>
        </p:spPr>
        <p:txBody>
          <a:bodyPr wrap="square" lIns="0" tIns="0" rIns="0" bIns="0" rtlCol="0" anchor="ctr"/>
          <a:lstStyle/>
          <a:p>
            <a:pPr indent="0" marL="0">
              <a:buNone/>
            </a:pPr>
            <a:r>
              <a:rPr lang="en-US" sz="1400" b="1" dirty="0">
                <a:solidFill>
                  <a:srgbClr val="0068BF"/>
                </a:solidFill>
                <a:latin typeface="Arial" pitchFamily="34" charset="0"/>
                <a:ea typeface="Arial" pitchFamily="34" charset="-122"/>
                <a:cs typeface="Arial" pitchFamily="34" charset="-120"/>
              </a:rPr>
              <a:t>1.1 M </a:t>
            </a:r>
            <a:pPr indent="0" marL="0">
              <a:buNone/>
            </a:pPr>
            <a:r>
              <a:rPr lang="en-US" sz="1000" dirty="0">
                <a:solidFill>
                  <a:srgbClr val="767676"/>
                </a:solidFill>
                <a:latin typeface="Arial" pitchFamily="34" charset="0"/>
                <a:ea typeface="Arial" pitchFamily="34" charset="-122"/>
                <a:cs typeface="Arial" pitchFamily="34" charset="-120"/>
              </a:rPr>
              <a:t>mapping rows</a:t>
            </a:r>
            <a:endParaRPr lang="en-US" sz="1400" dirty="0"/>
          </a:p>
        </p:txBody>
      </p:sp>
      <p:sp>
        <p:nvSpPr>
          <p:cNvPr id="25" name="shape-1171"/>
          <p:cNvSpPr/>
          <p:nvPr/>
        </p:nvSpPr>
        <p:spPr>
          <a:xfrm flipV="1">
            <a:off x="3154680" y="3401568"/>
            <a:ext cx="731520" cy="1271016"/>
          </a:xfrm>
          <a:prstGeom prst="line">
            <a:avLst/>
          </a:prstGeom>
          <a:noFill/>
          <a:ln w="15875">
            <a:solidFill>
              <a:srgbClr val="A0A0A0"/>
            </a:solidFill>
            <a:prstDash val="solid"/>
            <a:tailEnd type="triangle"/>
          </a:ln>
        </p:spPr>
      </p:sp>
      <p:sp>
        <p:nvSpPr>
          <p:cNvPr id="26" name="shape-1172"/>
          <p:cNvSpPr/>
          <p:nvPr/>
        </p:nvSpPr>
        <p:spPr>
          <a:xfrm>
            <a:off x="548640" y="4306824"/>
            <a:ext cx="2606040" cy="731520"/>
          </a:xfrm>
          <a:prstGeom prst="roundRect">
            <a:avLst>
              <a:gd name="adj" fmla="val 12500"/>
            </a:avLst>
          </a:prstGeom>
          <a:solidFill>
            <a:srgbClr val="F2F2F2"/>
          </a:solidFill>
          <a:ln w="12700">
            <a:solidFill>
              <a:srgbClr val="F2F2F2"/>
            </a:solidFill>
            <a:prstDash val="solid"/>
          </a:ln>
        </p:spPr>
      </p:sp>
      <p:sp>
        <p:nvSpPr>
          <p:cNvPr id="27" name="shape-1173"/>
          <p:cNvSpPr/>
          <p:nvPr/>
        </p:nvSpPr>
        <p:spPr>
          <a:xfrm>
            <a:off x="685800" y="4462272"/>
            <a:ext cx="420624" cy="420624"/>
          </a:xfrm>
          <a:prstGeom prst="ellipse">
            <a:avLst/>
          </a:prstGeom>
          <a:solidFill>
            <a:srgbClr val="8C60A8"/>
          </a:solidFill>
          <a:ln w="12700">
            <a:solidFill>
              <a:srgbClr val="8C60A8"/>
            </a:solidFill>
            <a:prstDash val="solid"/>
          </a:ln>
        </p:spPr>
      </p:sp>
      <p:pic>
        <p:nvPicPr>
          <p:cNvPr id="28" name="icon-1174" descr="preencoded.png">    </p:cNvPr>
          <p:cNvPicPr>
            <a:picLocks noChangeAspect="1"/>
          </p:cNvPicPr>
          <p:nvPr/>
        </p:nvPicPr>
        <p:blipFill>
          <a:blip r:embed="rId5"/>
          <a:stretch>
            <a:fillRect/>
          </a:stretch>
        </p:blipFill>
        <p:spPr>
          <a:xfrm>
            <a:off x="778337" y="4554809"/>
            <a:ext cx="235549" cy="235549"/>
          </a:xfrm>
          <a:prstGeom prst="rect">
            <a:avLst/>
          </a:prstGeom>
        </p:spPr>
      </p:pic>
      <p:sp>
        <p:nvSpPr>
          <p:cNvPr id="29" name="text-1175"/>
          <p:cNvSpPr txBox="1"/>
          <p:nvPr/>
        </p:nvSpPr>
        <p:spPr>
          <a:xfrm>
            <a:off x="1207008" y="4379976"/>
            <a:ext cx="187452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Geographical</a:t>
            </a:r>
            <a:endParaRPr lang="en-US" sz="1250" dirty="0"/>
          </a:p>
        </p:txBody>
      </p:sp>
      <p:sp>
        <p:nvSpPr>
          <p:cNvPr id="30" name="text-1176"/>
          <p:cNvSpPr txBox="1"/>
          <p:nvPr/>
        </p:nvSpPr>
        <p:spPr>
          <a:xfrm>
            <a:off x="1207008" y="4672584"/>
            <a:ext cx="1874520" cy="274320"/>
          </a:xfrm>
          <a:prstGeom prst="rect">
            <a:avLst/>
          </a:prstGeom>
          <a:noFill/>
          <a:ln/>
        </p:spPr>
        <p:txBody>
          <a:bodyPr wrap="square" lIns="0" tIns="0" rIns="0" bIns="0" rtlCol="0" anchor="ctr"/>
          <a:lstStyle/>
          <a:p>
            <a:pPr indent="0" marL="0">
              <a:buNone/>
            </a:pPr>
            <a:r>
              <a:rPr lang="en-US" sz="1400" b="1" dirty="0">
                <a:solidFill>
                  <a:srgbClr val="0068BF"/>
                </a:solidFill>
                <a:latin typeface="Arial" pitchFamily="34" charset="0"/>
                <a:ea typeface="Arial" pitchFamily="34" charset="-122"/>
                <a:cs typeface="Arial" pitchFamily="34" charset="-120"/>
              </a:rPr>
              <a:t>2 levels </a:t>
            </a:r>
            <a:pPr indent="0" marL="0">
              <a:buNone/>
            </a:pPr>
            <a:r>
              <a:rPr lang="en-US" sz="1000" dirty="0">
                <a:solidFill>
                  <a:srgbClr val="767676"/>
                </a:solidFill>
                <a:latin typeface="Arial" pitchFamily="34" charset="0"/>
                <a:ea typeface="Arial" pitchFamily="34" charset="-122"/>
                <a:cs typeface="Arial" pitchFamily="34" charset="-120"/>
              </a:rPr>
              <a:t>Region &amp; Cluster</a:t>
            </a:r>
            <a:endParaRPr lang="en-US" sz="1400" dirty="0"/>
          </a:p>
        </p:txBody>
      </p:sp>
      <p:sp>
        <p:nvSpPr>
          <p:cNvPr id="31" name="shape-1177"/>
          <p:cNvSpPr/>
          <p:nvPr/>
        </p:nvSpPr>
        <p:spPr>
          <a:xfrm>
            <a:off x="3904488" y="2121408"/>
            <a:ext cx="4297680" cy="2560320"/>
          </a:xfrm>
          <a:prstGeom prst="ellipse">
            <a:avLst/>
          </a:prstGeom>
          <a:solidFill>
            <a:srgbClr val="F7FAFD"/>
          </a:solidFill>
          <a:ln w="12700">
            <a:solidFill>
              <a:srgbClr val="E0E0E0"/>
            </a:solidFill>
            <a:prstDash val="dash"/>
          </a:ln>
        </p:spPr>
      </p:sp>
      <p:sp>
        <p:nvSpPr>
          <p:cNvPr id="32" name="shape-1178"/>
          <p:cNvSpPr/>
          <p:nvPr/>
        </p:nvSpPr>
        <p:spPr>
          <a:xfrm>
            <a:off x="5231003" y="2218854"/>
            <a:ext cx="822325" cy="1182714"/>
          </a:xfrm>
          <a:prstGeom prst="line">
            <a:avLst/>
          </a:prstGeom>
          <a:noFill/>
          <a:ln w="15875">
            <a:solidFill>
              <a:srgbClr val="E0E0E0"/>
            </a:solidFill>
            <a:prstDash val="solid"/>
          </a:ln>
        </p:spPr>
      </p:sp>
      <p:sp>
        <p:nvSpPr>
          <p:cNvPr id="33" name="shape-1179"/>
          <p:cNvSpPr/>
          <p:nvPr/>
        </p:nvSpPr>
        <p:spPr>
          <a:xfrm flipV="1">
            <a:off x="6053328" y="2218854"/>
            <a:ext cx="822325" cy="1182714"/>
          </a:xfrm>
          <a:prstGeom prst="line">
            <a:avLst/>
          </a:prstGeom>
          <a:noFill/>
          <a:ln w="15875">
            <a:solidFill>
              <a:srgbClr val="E0E0E0"/>
            </a:solidFill>
            <a:prstDash val="solid"/>
          </a:ln>
        </p:spPr>
      </p:sp>
      <p:sp>
        <p:nvSpPr>
          <p:cNvPr id="34" name="shape-1180"/>
          <p:cNvSpPr/>
          <p:nvPr/>
        </p:nvSpPr>
        <p:spPr>
          <a:xfrm flipV="1">
            <a:off x="6053328" y="2911672"/>
            <a:ext cx="1985269" cy="489896"/>
          </a:xfrm>
          <a:prstGeom prst="line">
            <a:avLst/>
          </a:prstGeom>
          <a:noFill/>
          <a:ln w="15875">
            <a:solidFill>
              <a:srgbClr val="E0E0E0"/>
            </a:solidFill>
            <a:prstDash val="solid"/>
          </a:ln>
        </p:spPr>
      </p:sp>
      <p:sp>
        <p:nvSpPr>
          <p:cNvPr id="35" name="shape-1181"/>
          <p:cNvSpPr/>
          <p:nvPr/>
        </p:nvSpPr>
        <p:spPr>
          <a:xfrm>
            <a:off x="6053328" y="3401568"/>
            <a:ext cx="1985269" cy="489896"/>
          </a:xfrm>
          <a:prstGeom prst="line">
            <a:avLst/>
          </a:prstGeom>
          <a:noFill/>
          <a:ln w="15875">
            <a:solidFill>
              <a:srgbClr val="E0E0E0"/>
            </a:solidFill>
            <a:prstDash val="solid"/>
          </a:ln>
        </p:spPr>
      </p:sp>
      <p:sp>
        <p:nvSpPr>
          <p:cNvPr id="36" name="shape-1182"/>
          <p:cNvSpPr/>
          <p:nvPr/>
        </p:nvSpPr>
        <p:spPr>
          <a:xfrm>
            <a:off x="6053328" y="3401568"/>
            <a:ext cx="822325" cy="1182714"/>
          </a:xfrm>
          <a:prstGeom prst="line">
            <a:avLst/>
          </a:prstGeom>
          <a:noFill/>
          <a:ln w="15875">
            <a:solidFill>
              <a:srgbClr val="E0E0E0"/>
            </a:solidFill>
            <a:prstDash val="solid"/>
          </a:ln>
        </p:spPr>
      </p:sp>
      <p:sp>
        <p:nvSpPr>
          <p:cNvPr id="37" name="shape-1183"/>
          <p:cNvSpPr/>
          <p:nvPr/>
        </p:nvSpPr>
        <p:spPr>
          <a:xfrm flipV="1">
            <a:off x="5231003" y="3401568"/>
            <a:ext cx="822325" cy="1182714"/>
          </a:xfrm>
          <a:prstGeom prst="line">
            <a:avLst/>
          </a:prstGeom>
          <a:noFill/>
          <a:ln w="15875">
            <a:solidFill>
              <a:srgbClr val="E0E0E0"/>
            </a:solidFill>
            <a:prstDash val="solid"/>
          </a:ln>
        </p:spPr>
      </p:sp>
      <p:sp>
        <p:nvSpPr>
          <p:cNvPr id="38" name="shape-1184"/>
          <p:cNvSpPr/>
          <p:nvPr/>
        </p:nvSpPr>
        <p:spPr>
          <a:xfrm flipV="1">
            <a:off x="4068059" y="3401568"/>
            <a:ext cx="1985269" cy="489896"/>
          </a:xfrm>
          <a:prstGeom prst="line">
            <a:avLst/>
          </a:prstGeom>
          <a:noFill/>
          <a:ln w="15875">
            <a:solidFill>
              <a:srgbClr val="E0E0E0"/>
            </a:solidFill>
            <a:prstDash val="solid"/>
          </a:ln>
        </p:spPr>
      </p:sp>
      <p:sp>
        <p:nvSpPr>
          <p:cNvPr id="39" name="shape-1185"/>
          <p:cNvSpPr/>
          <p:nvPr/>
        </p:nvSpPr>
        <p:spPr>
          <a:xfrm>
            <a:off x="4068059" y="2911672"/>
            <a:ext cx="1985269" cy="489896"/>
          </a:xfrm>
          <a:prstGeom prst="line">
            <a:avLst/>
          </a:prstGeom>
          <a:noFill/>
          <a:ln w="15875">
            <a:solidFill>
              <a:srgbClr val="E0E0E0"/>
            </a:solidFill>
            <a:prstDash val="solid"/>
          </a:ln>
        </p:spPr>
      </p:sp>
      <p:sp>
        <p:nvSpPr>
          <p:cNvPr id="40" name="shape-1186"/>
          <p:cNvSpPr/>
          <p:nvPr/>
        </p:nvSpPr>
        <p:spPr>
          <a:xfrm>
            <a:off x="5477256" y="2825496"/>
            <a:ext cx="1152144" cy="1152144"/>
          </a:xfrm>
          <a:prstGeom prst="ellipse">
            <a:avLst/>
          </a:prstGeom>
          <a:solidFill>
            <a:srgbClr val="000000"/>
          </a:solidFill>
          <a:ln w="12700">
            <a:solidFill>
              <a:srgbClr val="000000"/>
            </a:solidFill>
            <a:prstDash val="solid"/>
          </a:ln>
        </p:spPr>
      </p:sp>
      <p:sp>
        <p:nvSpPr>
          <p:cNvPr id="41" name="text-1187"/>
          <p:cNvSpPr txBox="1"/>
          <p:nvPr/>
        </p:nvSpPr>
        <p:spPr>
          <a:xfrm>
            <a:off x="5504688" y="2990088"/>
            <a:ext cx="1097280" cy="82296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Workspace</a:t>
            </a:r>
            <a:endParaRPr lang="en-US" sz="1250" dirty="0"/>
          </a:p>
          <a:p>
            <a:pPr algn="ctr" indent="0" marL="0">
              <a:buNone/>
            </a:pPr>
            <a:r>
              <a:rPr lang="en-US" sz="1000" dirty="0">
                <a:solidFill>
                  <a:srgbClr val="A0A0A0"/>
                </a:solidFill>
                <a:latin typeface="Arial" pitchFamily="34" charset="0"/>
                <a:ea typeface="Arial" pitchFamily="34" charset="-122"/>
                <a:cs typeface="Arial" pitchFamily="34" charset="-120"/>
              </a:rPr>
              <a:t>8 modules</a:t>
            </a:r>
            <a:endParaRPr lang="en-US" sz="1250" dirty="0"/>
          </a:p>
          <a:p>
            <a:pPr algn="ctr" indent="0" marL="0">
              <a:buNone/>
            </a:pPr>
            <a:r>
              <a:rPr lang="en-US" sz="1000" dirty="0">
                <a:solidFill>
                  <a:srgbClr val="A0A0A0"/>
                </a:solidFill>
                <a:latin typeface="Arial" pitchFamily="34" charset="0"/>
                <a:ea typeface="Arial" pitchFamily="34" charset="-122"/>
                <a:cs typeface="Arial" pitchFamily="34" charset="-120"/>
              </a:rPr>
              <a:t>9 campaigns</a:t>
            </a:r>
            <a:endParaRPr lang="en-US" sz="1250" dirty="0"/>
          </a:p>
        </p:txBody>
      </p:sp>
      <p:sp>
        <p:nvSpPr>
          <p:cNvPr id="42" name="shape-1188"/>
          <p:cNvSpPr/>
          <p:nvPr/>
        </p:nvSpPr>
        <p:spPr>
          <a:xfrm>
            <a:off x="4956683" y="1944534"/>
            <a:ext cx="548640" cy="548640"/>
          </a:xfrm>
          <a:prstGeom prst="ellipse">
            <a:avLst/>
          </a:prstGeom>
          <a:solidFill>
            <a:srgbClr val="4D4D4D"/>
          </a:solidFill>
          <a:ln w="12700">
            <a:solidFill>
              <a:srgbClr val="4D4D4D"/>
            </a:solidFill>
            <a:prstDash val="solid"/>
          </a:ln>
        </p:spPr>
      </p:sp>
      <p:pic>
        <p:nvPicPr>
          <p:cNvPr id="43" name="icon-1189" descr="preencoded.png">    </p:cNvPr>
          <p:cNvPicPr>
            <a:picLocks noChangeAspect="1"/>
          </p:cNvPicPr>
          <p:nvPr/>
        </p:nvPicPr>
        <p:blipFill>
          <a:blip r:embed="rId6"/>
          <a:stretch>
            <a:fillRect/>
          </a:stretch>
        </p:blipFill>
        <p:spPr>
          <a:xfrm>
            <a:off x="5077383" y="2065235"/>
            <a:ext cx="307238" cy="307238"/>
          </a:xfrm>
          <a:prstGeom prst="rect">
            <a:avLst/>
          </a:prstGeom>
        </p:spPr>
      </p:pic>
      <p:sp>
        <p:nvSpPr>
          <p:cNvPr id="44" name="text-1190"/>
          <p:cNvSpPr txBox="1"/>
          <p:nvPr/>
        </p:nvSpPr>
        <p:spPr>
          <a:xfrm>
            <a:off x="4499483" y="1523910"/>
            <a:ext cx="1463040" cy="402336"/>
          </a:xfrm>
          <a:prstGeom prst="rect">
            <a:avLst/>
          </a:prstGeom>
          <a:noFill/>
          <a:ln/>
        </p:spPr>
        <p:txBody>
          <a:bodyPr wrap="square" lIns="0" tIns="0" rIns="0" bIns="0" rtlCol="0" anchor="b"/>
          <a:lstStyle/>
          <a:p>
            <a:pPr algn="ctr" indent="0" marL="0">
              <a:buNone/>
            </a:pPr>
            <a:r>
              <a:rPr lang="en-US" sz="1050" b="1" dirty="0">
                <a:solidFill>
                  <a:srgbClr val="242424"/>
                </a:solidFill>
                <a:latin typeface="Arial" pitchFamily="34" charset="0"/>
                <a:ea typeface="Arial" pitchFamily="34" charset="-122"/>
                <a:cs typeface="Arial" pitchFamily="34" charset="-120"/>
              </a:rPr>
              <a:t>CDR Analysis</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KPIs per CDR</a:t>
            </a:r>
            <a:endParaRPr lang="en-US" sz="1050" dirty="0"/>
          </a:p>
        </p:txBody>
      </p:sp>
      <p:sp>
        <p:nvSpPr>
          <p:cNvPr id="45" name="shape-1191"/>
          <p:cNvSpPr/>
          <p:nvPr/>
        </p:nvSpPr>
        <p:spPr>
          <a:xfrm>
            <a:off x="6601333" y="1944534"/>
            <a:ext cx="548640" cy="548640"/>
          </a:xfrm>
          <a:prstGeom prst="ellipse">
            <a:avLst/>
          </a:prstGeom>
          <a:solidFill>
            <a:srgbClr val="E07800"/>
          </a:solidFill>
          <a:ln w="12700">
            <a:solidFill>
              <a:srgbClr val="E07800"/>
            </a:solidFill>
            <a:prstDash val="solid"/>
          </a:ln>
        </p:spPr>
      </p:sp>
      <p:pic>
        <p:nvPicPr>
          <p:cNvPr id="46" name="icon-1192" descr="preencoded.png">    </p:cNvPr>
          <p:cNvPicPr>
            <a:picLocks noChangeAspect="1"/>
          </p:cNvPicPr>
          <p:nvPr/>
        </p:nvPicPr>
        <p:blipFill>
          <a:blip r:embed="rId7"/>
          <a:stretch>
            <a:fillRect/>
          </a:stretch>
        </p:blipFill>
        <p:spPr>
          <a:xfrm>
            <a:off x="6722034" y="2065235"/>
            <a:ext cx="307238" cy="307238"/>
          </a:xfrm>
          <a:prstGeom prst="rect">
            <a:avLst/>
          </a:prstGeom>
        </p:spPr>
      </p:pic>
      <p:sp>
        <p:nvSpPr>
          <p:cNvPr id="47" name="text-1193"/>
          <p:cNvSpPr txBox="1"/>
          <p:nvPr/>
        </p:nvSpPr>
        <p:spPr>
          <a:xfrm>
            <a:off x="6144133" y="1523910"/>
            <a:ext cx="1463040" cy="402336"/>
          </a:xfrm>
          <a:prstGeom prst="rect">
            <a:avLst/>
          </a:prstGeom>
          <a:noFill/>
          <a:ln/>
        </p:spPr>
        <p:txBody>
          <a:bodyPr wrap="square" lIns="0" tIns="0" rIns="0" bIns="0" rtlCol="0" anchor="b"/>
          <a:lstStyle/>
          <a:p>
            <a:pPr algn="ctr" indent="0" marL="0">
              <a:buNone/>
            </a:pPr>
            <a:r>
              <a:rPr lang="en-US" sz="1050" b="1" dirty="0">
                <a:solidFill>
                  <a:srgbClr val="242424"/>
                </a:solidFill>
                <a:latin typeface="Arial" pitchFamily="34" charset="0"/>
                <a:ea typeface="Arial" pitchFamily="34" charset="-122"/>
                <a:cs typeface="Arial" pitchFamily="34" charset="-120"/>
              </a:rPr>
              <a:t>PPT Dashboards</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Template KPI decks</a:t>
            </a:r>
            <a:endParaRPr lang="en-US" sz="1050" dirty="0"/>
          </a:p>
        </p:txBody>
      </p:sp>
      <p:sp>
        <p:nvSpPr>
          <p:cNvPr id="48" name="shape-1194"/>
          <p:cNvSpPr/>
          <p:nvPr/>
        </p:nvSpPr>
        <p:spPr>
          <a:xfrm>
            <a:off x="7764277" y="2637352"/>
            <a:ext cx="548640" cy="548640"/>
          </a:xfrm>
          <a:prstGeom prst="ellipse">
            <a:avLst/>
          </a:prstGeom>
          <a:solidFill>
            <a:srgbClr val="0068BF"/>
          </a:solidFill>
          <a:ln w="12700">
            <a:solidFill>
              <a:srgbClr val="0068BF"/>
            </a:solidFill>
            <a:prstDash val="solid"/>
          </a:ln>
        </p:spPr>
      </p:sp>
      <p:pic>
        <p:nvPicPr>
          <p:cNvPr id="49" name="icon-1195" descr="preencoded.png">    </p:cNvPr>
          <p:cNvPicPr>
            <a:picLocks noChangeAspect="1"/>
          </p:cNvPicPr>
          <p:nvPr/>
        </p:nvPicPr>
        <p:blipFill>
          <a:blip r:embed="rId8"/>
          <a:stretch>
            <a:fillRect/>
          </a:stretch>
        </p:blipFill>
        <p:spPr>
          <a:xfrm>
            <a:off x="7884978" y="2758053"/>
            <a:ext cx="307238" cy="307238"/>
          </a:xfrm>
          <a:prstGeom prst="rect">
            <a:avLst/>
          </a:prstGeom>
        </p:spPr>
      </p:pic>
      <p:sp>
        <p:nvSpPr>
          <p:cNvPr id="50" name="text-1196"/>
          <p:cNvSpPr txBox="1"/>
          <p:nvPr/>
        </p:nvSpPr>
        <p:spPr>
          <a:xfrm>
            <a:off x="7307077" y="2216728"/>
            <a:ext cx="1463040" cy="402336"/>
          </a:xfrm>
          <a:prstGeom prst="rect">
            <a:avLst/>
          </a:prstGeom>
          <a:noFill/>
          <a:ln/>
        </p:spPr>
        <p:txBody>
          <a:bodyPr wrap="square" lIns="0" tIns="0" rIns="0" bIns="0" rtlCol="0" anchor="b"/>
          <a:lstStyle/>
          <a:p>
            <a:pPr algn="ctr" indent="0" marL="0">
              <a:buNone/>
            </a:pPr>
            <a:r>
              <a:rPr lang="en-US" sz="1050" b="1" dirty="0">
                <a:solidFill>
                  <a:srgbClr val="242424"/>
                </a:solidFill>
                <a:latin typeface="Arial" pitchFamily="34" charset="0"/>
                <a:ea typeface="Arial" pitchFamily="34" charset="-122"/>
                <a:cs typeface="Arial" pitchFamily="34" charset="-120"/>
              </a:rPr>
              <a:t>Scoring &amp; GAP</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Best Network · GAP</a:t>
            </a:r>
            <a:endParaRPr lang="en-US" sz="1050" dirty="0"/>
          </a:p>
        </p:txBody>
      </p:sp>
      <p:sp>
        <p:nvSpPr>
          <p:cNvPr id="51" name="shape-1197"/>
          <p:cNvSpPr/>
          <p:nvPr/>
        </p:nvSpPr>
        <p:spPr>
          <a:xfrm>
            <a:off x="7764277" y="3617144"/>
            <a:ext cx="548640" cy="548640"/>
          </a:xfrm>
          <a:prstGeom prst="ellipse">
            <a:avLst/>
          </a:prstGeom>
          <a:solidFill>
            <a:srgbClr val="0C9B5B"/>
          </a:solidFill>
          <a:ln w="12700">
            <a:solidFill>
              <a:srgbClr val="0C9B5B"/>
            </a:solidFill>
            <a:prstDash val="solid"/>
          </a:ln>
        </p:spPr>
      </p:sp>
      <p:pic>
        <p:nvPicPr>
          <p:cNvPr id="52" name="icon-1198" descr="preencoded.png">    </p:cNvPr>
          <p:cNvPicPr>
            <a:picLocks noChangeAspect="1"/>
          </p:cNvPicPr>
          <p:nvPr/>
        </p:nvPicPr>
        <p:blipFill>
          <a:blip r:embed="rId9"/>
          <a:stretch>
            <a:fillRect/>
          </a:stretch>
        </p:blipFill>
        <p:spPr>
          <a:xfrm>
            <a:off x="7884978" y="3737845"/>
            <a:ext cx="307238" cy="307238"/>
          </a:xfrm>
          <a:prstGeom prst="rect">
            <a:avLst/>
          </a:prstGeom>
        </p:spPr>
      </p:pic>
      <p:sp>
        <p:nvSpPr>
          <p:cNvPr id="53" name="text-1199"/>
          <p:cNvSpPr txBox="1"/>
          <p:nvPr/>
        </p:nvSpPr>
        <p:spPr>
          <a:xfrm>
            <a:off x="7307077" y="4184072"/>
            <a:ext cx="1463040" cy="402336"/>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Network Insights</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RSRP · SINR · 5G</a:t>
            </a:r>
            <a:endParaRPr lang="en-US" sz="1050" dirty="0"/>
          </a:p>
        </p:txBody>
      </p:sp>
      <p:sp>
        <p:nvSpPr>
          <p:cNvPr id="54" name="shape-1200"/>
          <p:cNvSpPr/>
          <p:nvPr/>
        </p:nvSpPr>
        <p:spPr>
          <a:xfrm>
            <a:off x="6601333" y="4309962"/>
            <a:ext cx="548640" cy="548640"/>
          </a:xfrm>
          <a:prstGeom prst="ellipse">
            <a:avLst/>
          </a:prstGeom>
          <a:solidFill>
            <a:srgbClr val="D92B2B"/>
          </a:solidFill>
          <a:ln w="12700">
            <a:solidFill>
              <a:srgbClr val="D92B2B"/>
            </a:solidFill>
            <a:prstDash val="solid"/>
          </a:ln>
        </p:spPr>
      </p:sp>
      <p:pic>
        <p:nvPicPr>
          <p:cNvPr id="55" name="icon-1201" descr="preencoded.png">    </p:cNvPr>
          <p:cNvPicPr>
            <a:picLocks noChangeAspect="1"/>
          </p:cNvPicPr>
          <p:nvPr/>
        </p:nvPicPr>
        <p:blipFill>
          <a:blip r:embed="rId10"/>
          <a:stretch>
            <a:fillRect/>
          </a:stretch>
        </p:blipFill>
        <p:spPr>
          <a:xfrm>
            <a:off x="6722034" y="4430662"/>
            <a:ext cx="307238" cy="307238"/>
          </a:xfrm>
          <a:prstGeom prst="rect">
            <a:avLst/>
          </a:prstGeom>
        </p:spPr>
      </p:pic>
      <p:sp>
        <p:nvSpPr>
          <p:cNvPr id="56" name="text-1202"/>
          <p:cNvSpPr txBox="1"/>
          <p:nvPr/>
        </p:nvSpPr>
        <p:spPr>
          <a:xfrm>
            <a:off x="6144133" y="4876890"/>
            <a:ext cx="1463040" cy="402336"/>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NQ Calls</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48 k NQ calls</a:t>
            </a:r>
            <a:endParaRPr lang="en-US" sz="1050" dirty="0"/>
          </a:p>
        </p:txBody>
      </p:sp>
      <p:sp>
        <p:nvSpPr>
          <p:cNvPr id="57" name="shape-1203"/>
          <p:cNvSpPr/>
          <p:nvPr/>
        </p:nvSpPr>
        <p:spPr>
          <a:xfrm>
            <a:off x="4956683" y="4309962"/>
            <a:ext cx="548640" cy="548640"/>
          </a:xfrm>
          <a:prstGeom prst="ellipse">
            <a:avLst/>
          </a:prstGeom>
          <a:solidFill>
            <a:srgbClr val="8C60A8"/>
          </a:solidFill>
          <a:ln w="12700">
            <a:solidFill>
              <a:srgbClr val="8C60A8"/>
            </a:solidFill>
            <a:prstDash val="solid"/>
          </a:ln>
        </p:spPr>
      </p:sp>
      <p:pic>
        <p:nvPicPr>
          <p:cNvPr id="58" name="icon-1204" descr="preencoded.png">    </p:cNvPr>
          <p:cNvPicPr>
            <a:picLocks noChangeAspect="1"/>
          </p:cNvPicPr>
          <p:nvPr/>
        </p:nvPicPr>
        <p:blipFill>
          <a:blip r:embed="rId11"/>
          <a:stretch>
            <a:fillRect/>
          </a:stretch>
        </p:blipFill>
        <p:spPr>
          <a:xfrm>
            <a:off x="5077383" y="4430662"/>
            <a:ext cx="307238" cy="307238"/>
          </a:xfrm>
          <a:prstGeom prst="rect">
            <a:avLst/>
          </a:prstGeom>
        </p:spPr>
      </p:pic>
      <p:sp>
        <p:nvSpPr>
          <p:cNvPr id="59" name="text-1205"/>
          <p:cNvSpPr txBox="1"/>
          <p:nvPr/>
        </p:nvSpPr>
        <p:spPr>
          <a:xfrm>
            <a:off x="4499483" y="4876890"/>
            <a:ext cx="1463040" cy="402336"/>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Reporting</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PPT · Word · email</a:t>
            </a:r>
            <a:endParaRPr lang="en-US" sz="1050" dirty="0"/>
          </a:p>
        </p:txBody>
      </p:sp>
      <p:sp>
        <p:nvSpPr>
          <p:cNvPr id="60" name="shape-1206"/>
          <p:cNvSpPr/>
          <p:nvPr/>
        </p:nvSpPr>
        <p:spPr>
          <a:xfrm>
            <a:off x="3793739" y="3617144"/>
            <a:ext cx="548640" cy="548640"/>
          </a:xfrm>
          <a:prstGeom prst="ellipse">
            <a:avLst/>
          </a:prstGeom>
          <a:solidFill>
            <a:srgbClr val="0082F0"/>
          </a:solidFill>
          <a:ln w="12700">
            <a:solidFill>
              <a:srgbClr val="0082F0"/>
            </a:solidFill>
            <a:prstDash val="solid"/>
          </a:ln>
        </p:spPr>
      </p:sp>
      <p:pic>
        <p:nvPicPr>
          <p:cNvPr id="61" name="icon-1207" descr="preencoded.png">    </p:cNvPr>
          <p:cNvPicPr>
            <a:picLocks noChangeAspect="1"/>
          </p:cNvPicPr>
          <p:nvPr/>
        </p:nvPicPr>
        <p:blipFill>
          <a:blip r:embed="rId12"/>
          <a:stretch>
            <a:fillRect/>
          </a:stretch>
        </p:blipFill>
        <p:spPr>
          <a:xfrm>
            <a:off x="3914440" y="3737845"/>
            <a:ext cx="307238" cy="307238"/>
          </a:xfrm>
          <a:prstGeom prst="rect">
            <a:avLst/>
          </a:prstGeom>
        </p:spPr>
      </p:pic>
      <p:sp>
        <p:nvSpPr>
          <p:cNvPr id="62" name="text-1208"/>
          <p:cNvSpPr txBox="1"/>
          <p:nvPr/>
        </p:nvSpPr>
        <p:spPr>
          <a:xfrm>
            <a:off x="3336539" y="4184072"/>
            <a:ext cx="1463040" cy="402336"/>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Builders</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Charts · SQL</a:t>
            </a:r>
            <a:endParaRPr lang="en-US" sz="1050" dirty="0"/>
          </a:p>
        </p:txBody>
      </p:sp>
      <p:sp>
        <p:nvSpPr>
          <p:cNvPr id="63" name="shape-1209"/>
          <p:cNvSpPr/>
          <p:nvPr/>
        </p:nvSpPr>
        <p:spPr>
          <a:xfrm>
            <a:off x="3793739" y="2637352"/>
            <a:ext cx="548640" cy="548640"/>
          </a:xfrm>
          <a:prstGeom prst="ellipse">
            <a:avLst/>
          </a:prstGeom>
          <a:solidFill>
            <a:srgbClr val="FAD22D"/>
          </a:solidFill>
          <a:ln w="12700">
            <a:solidFill>
              <a:srgbClr val="FAD22D"/>
            </a:solidFill>
            <a:prstDash val="solid"/>
          </a:ln>
        </p:spPr>
      </p:sp>
      <p:pic>
        <p:nvPicPr>
          <p:cNvPr id="64" name="icon-1210" descr="preencoded.png">    </p:cNvPr>
          <p:cNvPicPr>
            <a:picLocks noChangeAspect="1"/>
          </p:cNvPicPr>
          <p:nvPr/>
        </p:nvPicPr>
        <p:blipFill>
          <a:blip r:embed="rId13"/>
          <a:stretch>
            <a:fillRect/>
          </a:stretch>
        </p:blipFill>
        <p:spPr>
          <a:xfrm>
            <a:off x="3914440" y="2758053"/>
            <a:ext cx="307238" cy="307238"/>
          </a:xfrm>
          <a:prstGeom prst="rect">
            <a:avLst/>
          </a:prstGeom>
        </p:spPr>
      </p:pic>
      <p:sp>
        <p:nvSpPr>
          <p:cNvPr id="65" name="text-1211"/>
          <p:cNvSpPr txBox="1"/>
          <p:nvPr/>
        </p:nvSpPr>
        <p:spPr>
          <a:xfrm>
            <a:off x="3336539" y="2216728"/>
            <a:ext cx="1463040" cy="402336"/>
          </a:xfrm>
          <a:prstGeom prst="rect">
            <a:avLst/>
          </a:prstGeom>
          <a:noFill/>
          <a:ln/>
        </p:spPr>
        <p:txBody>
          <a:bodyPr wrap="square" lIns="0" tIns="0" rIns="0" bIns="0" rtlCol="0" anchor="b"/>
          <a:lstStyle/>
          <a:p>
            <a:pPr algn="ctr" indent="0" marL="0">
              <a:buNone/>
            </a:pPr>
            <a:r>
              <a:rPr lang="en-US" sz="1050" b="1" dirty="0">
                <a:solidFill>
                  <a:srgbClr val="242424"/>
                </a:solidFill>
                <a:latin typeface="Arial" pitchFamily="34" charset="0"/>
                <a:ea typeface="Arial" pitchFamily="34" charset="-122"/>
                <a:cs typeface="Arial" pitchFamily="34" charset="-120"/>
              </a:rPr>
              <a:t>Ticket Center</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Bugs &amp; requests</a:t>
            </a:r>
            <a:endParaRPr lang="en-US" sz="1050" dirty="0"/>
          </a:p>
        </p:txBody>
      </p:sp>
      <p:sp>
        <p:nvSpPr>
          <p:cNvPr id="66" name="shape-1212"/>
          <p:cNvSpPr/>
          <p:nvPr/>
        </p:nvSpPr>
        <p:spPr>
          <a:xfrm flipV="1">
            <a:off x="8220456" y="2148840"/>
            <a:ext cx="667512" cy="1252728"/>
          </a:xfrm>
          <a:prstGeom prst="line">
            <a:avLst/>
          </a:prstGeom>
          <a:noFill/>
          <a:ln w="15875">
            <a:solidFill>
              <a:srgbClr val="A0A0A0"/>
            </a:solidFill>
            <a:prstDash val="solid"/>
            <a:tailEnd type="triangle"/>
          </a:ln>
        </p:spPr>
      </p:sp>
      <p:sp>
        <p:nvSpPr>
          <p:cNvPr id="67" name="shape-1213"/>
          <p:cNvSpPr/>
          <p:nvPr/>
        </p:nvSpPr>
        <p:spPr>
          <a:xfrm>
            <a:off x="8942832" y="1911096"/>
            <a:ext cx="457200" cy="457200"/>
          </a:xfrm>
          <a:prstGeom prst="ellipse">
            <a:avLst/>
          </a:prstGeom>
          <a:solidFill>
            <a:srgbClr val="242424"/>
          </a:solidFill>
          <a:ln w="12700">
            <a:solidFill>
              <a:srgbClr val="242424"/>
            </a:solidFill>
            <a:prstDash val="solid"/>
          </a:ln>
        </p:spPr>
      </p:sp>
      <p:pic>
        <p:nvPicPr>
          <p:cNvPr id="68" name="icon-1214" descr="preencoded.png">    </p:cNvPr>
          <p:cNvPicPr>
            <a:picLocks noChangeAspect="1"/>
          </p:cNvPicPr>
          <p:nvPr/>
        </p:nvPicPr>
        <p:blipFill>
          <a:blip r:embed="rId14"/>
          <a:stretch>
            <a:fillRect/>
          </a:stretch>
        </p:blipFill>
        <p:spPr>
          <a:xfrm>
            <a:off x="9043416" y="2011680"/>
            <a:ext cx="256032" cy="256032"/>
          </a:xfrm>
          <a:prstGeom prst="rect">
            <a:avLst/>
          </a:prstGeom>
        </p:spPr>
      </p:pic>
      <p:sp>
        <p:nvSpPr>
          <p:cNvPr id="69" name="text-1215"/>
          <p:cNvSpPr txBox="1"/>
          <p:nvPr/>
        </p:nvSpPr>
        <p:spPr>
          <a:xfrm>
            <a:off x="9509760" y="1837944"/>
            <a:ext cx="214884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Benchmarking</a:t>
            </a:r>
            <a:endParaRPr lang="en-US" sz="1250" dirty="0"/>
          </a:p>
        </p:txBody>
      </p:sp>
      <p:sp>
        <p:nvSpPr>
          <p:cNvPr id="70" name="text-1216"/>
          <p:cNvSpPr txBox="1"/>
          <p:nvPr/>
        </p:nvSpPr>
        <p:spPr>
          <a:xfrm>
            <a:off x="9509760" y="2112264"/>
            <a:ext cx="2148840" cy="384048"/>
          </a:xfrm>
          <a:prstGeom prst="rect">
            <a:avLst/>
          </a:prstGeom>
          <a:noFill/>
          <a:ln/>
        </p:spPr>
        <p:txBody>
          <a:bodyPr wrap="square" lIns="0" tIns="0" rIns="0" bIns="0" rtlCol="0" anchor="t"/>
          <a:lstStyle/>
          <a:p>
            <a:pPr indent="0" marL="0">
              <a:buNone/>
            </a:pPr>
            <a:r>
              <a:rPr lang="en-US" sz="1000" dirty="0">
                <a:solidFill>
                  <a:srgbClr val="767676"/>
                </a:solidFill>
                <a:latin typeface="Arial" pitchFamily="34" charset="0"/>
                <a:ea typeface="Arial" pitchFamily="34" charset="-122"/>
                <a:cs typeface="Arial" pitchFamily="34" charset="-120"/>
              </a:rPr>
              <a:t>Scores &amp; GAP to the reference, city by city</a:t>
            </a:r>
            <a:endParaRPr lang="en-US" sz="1000" dirty="0"/>
          </a:p>
        </p:txBody>
      </p:sp>
      <p:sp>
        <p:nvSpPr>
          <p:cNvPr id="71" name="shape-1217"/>
          <p:cNvSpPr/>
          <p:nvPr/>
        </p:nvSpPr>
        <p:spPr>
          <a:xfrm flipV="1">
            <a:off x="8220456" y="2990088"/>
            <a:ext cx="667512" cy="411480"/>
          </a:xfrm>
          <a:prstGeom prst="line">
            <a:avLst/>
          </a:prstGeom>
          <a:noFill/>
          <a:ln w="15875">
            <a:solidFill>
              <a:srgbClr val="A0A0A0"/>
            </a:solidFill>
            <a:prstDash val="solid"/>
            <a:tailEnd type="triangle"/>
          </a:ln>
        </p:spPr>
      </p:sp>
      <p:sp>
        <p:nvSpPr>
          <p:cNvPr id="72" name="shape-1218"/>
          <p:cNvSpPr/>
          <p:nvPr/>
        </p:nvSpPr>
        <p:spPr>
          <a:xfrm>
            <a:off x="8942832" y="2752344"/>
            <a:ext cx="457200" cy="457200"/>
          </a:xfrm>
          <a:prstGeom prst="ellipse">
            <a:avLst/>
          </a:prstGeom>
          <a:solidFill>
            <a:srgbClr val="242424"/>
          </a:solidFill>
          <a:ln w="12700">
            <a:solidFill>
              <a:srgbClr val="242424"/>
            </a:solidFill>
            <a:prstDash val="solid"/>
          </a:ln>
        </p:spPr>
      </p:sp>
      <p:pic>
        <p:nvPicPr>
          <p:cNvPr id="73" name="icon-1219" descr="preencoded.png">    </p:cNvPr>
          <p:cNvPicPr>
            <a:picLocks noChangeAspect="1"/>
          </p:cNvPicPr>
          <p:nvPr/>
        </p:nvPicPr>
        <p:blipFill>
          <a:blip r:embed="rId15"/>
          <a:stretch>
            <a:fillRect/>
          </a:stretch>
        </p:blipFill>
        <p:spPr>
          <a:xfrm>
            <a:off x="9043416" y="2852928"/>
            <a:ext cx="256032" cy="256032"/>
          </a:xfrm>
          <a:prstGeom prst="rect">
            <a:avLst/>
          </a:prstGeom>
        </p:spPr>
      </p:pic>
      <p:sp>
        <p:nvSpPr>
          <p:cNvPr id="74" name="text-1220"/>
          <p:cNvSpPr txBox="1"/>
          <p:nvPr/>
        </p:nvSpPr>
        <p:spPr>
          <a:xfrm>
            <a:off x="9509760" y="2679192"/>
            <a:ext cx="214884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NQ Calls</a:t>
            </a:r>
            <a:endParaRPr lang="en-US" sz="1250" dirty="0"/>
          </a:p>
        </p:txBody>
      </p:sp>
      <p:sp>
        <p:nvSpPr>
          <p:cNvPr id="75" name="text-1221"/>
          <p:cNvSpPr txBox="1"/>
          <p:nvPr/>
        </p:nvSpPr>
        <p:spPr>
          <a:xfrm>
            <a:off x="9509760" y="2953512"/>
            <a:ext cx="2148840" cy="384048"/>
          </a:xfrm>
          <a:prstGeom prst="rect">
            <a:avLst/>
          </a:prstGeom>
          <a:noFill/>
          <a:ln/>
        </p:spPr>
        <p:txBody>
          <a:bodyPr wrap="square" lIns="0" tIns="0" rIns="0" bIns="0" rtlCol="0" anchor="t"/>
          <a:lstStyle/>
          <a:p>
            <a:pPr indent="0" marL="0">
              <a:buNone/>
            </a:pPr>
            <a:r>
              <a:rPr lang="en-US" sz="1000" dirty="0">
                <a:solidFill>
                  <a:srgbClr val="767676"/>
                </a:solidFill>
                <a:latin typeface="Arial" pitchFamily="34" charset="0"/>
                <a:ea typeface="Arial" pitchFamily="34" charset="-122"/>
                <a:cs typeface="Arial" pitchFamily="34" charset="-120"/>
              </a:rPr>
              <a:t>Every failed call root-caused and closed</a:t>
            </a:r>
            <a:endParaRPr lang="en-US" sz="1000" dirty="0"/>
          </a:p>
        </p:txBody>
      </p:sp>
      <p:sp>
        <p:nvSpPr>
          <p:cNvPr id="76" name="shape-1222"/>
          <p:cNvSpPr/>
          <p:nvPr/>
        </p:nvSpPr>
        <p:spPr>
          <a:xfrm>
            <a:off x="8220456" y="3401568"/>
            <a:ext cx="667512" cy="429768"/>
          </a:xfrm>
          <a:prstGeom prst="line">
            <a:avLst/>
          </a:prstGeom>
          <a:noFill/>
          <a:ln w="15875">
            <a:solidFill>
              <a:srgbClr val="A0A0A0"/>
            </a:solidFill>
            <a:prstDash val="solid"/>
            <a:tailEnd type="triangle"/>
          </a:ln>
        </p:spPr>
      </p:sp>
      <p:sp>
        <p:nvSpPr>
          <p:cNvPr id="77" name="shape-1223"/>
          <p:cNvSpPr/>
          <p:nvPr/>
        </p:nvSpPr>
        <p:spPr>
          <a:xfrm>
            <a:off x="8942832" y="3593592"/>
            <a:ext cx="457200" cy="457200"/>
          </a:xfrm>
          <a:prstGeom prst="ellipse">
            <a:avLst/>
          </a:prstGeom>
          <a:solidFill>
            <a:srgbClr val="242424"/>
          </a:solidFill>
          <a:ln w="12700">
            <a:solidFill>
              <a:srgbClr val="242424"/>
            </a:solidFill>
            <a:prstDash val="solid"/>
          </a:ln>
        </p:spPr>
      </p:sp>
      <p:pic>
        <p:nvPicPr>
          <p:cNvPr id="78" name="icon-1224" descr="preencoded.png">    </p:cNvPr>
          <p:cNvPicPr>
            <a:picLocks noChangeAspect="1"/>
          </p:cNvPicPr>
          <p:nvPr/>
        </p:nvPicPr>
        <p:blipFill>
          <a:blip r:embed="rId16"/>
          <a:stretch>
            <a:fillRect/>
          </a:stretch>
        </p:blipFill>
        <p:spPr>
          <a:xfrm>
            <a:off x="9043416" y="3694176"/>
            <a:ext cx="256032" cy="256032"/>
          </a:xfrm>
          <a:prstGeom prst="rect">
            <a:avLst/>
          </a:prstGeom>
        </p:spPr>
      </p:pic>
      <p:sp>
        <p:nvSpPr>
          <p:cNvPr id="79" name="text-1225"/>
          <p:cNvSpPr txBox="1"/>
          <p:nvPr/>
        </p:nvSpPr>
        <p:spPr>
          <a:xfrm>
            <a:off x="9509760" y="3520440"/>
            <a:ext cx="214884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Troubleshooting</a:t>
            </a:r>
            <a:endParaRPr lang="en-US" sz="1250" dirty="0"/>
          </a:p>
        </p:txBody>
      </p:sp>
      <p:sp>
        <p:nvSpPr>
          <p:cNvPr id="80" name="text-1226"/>
          <p:cNvSpPr txBox="1"/>
          <p:nvPr/>
        </p:nvSpPr>
        <p:spPr>
          <a:xfrm>
            <a:off x="9509760" y="3794760"/>
            <a:ext cx="2148840" cy="384048"/>
          </a:xfrm>
          <a:prstGeom prst="rect">
            <a:avLst/>
          </a:prstGeom>
          <a:noFill/>
          <a:ln/>
        </p:spPr>
        <p:txBody>
          <a:bodyPr wrap="square" lIns="0" tIns="0" rIns="0" bIns="0" rtlCol="0" anchor="t"/>
          <a:lstStyle/>
          <a:p>
            <a:pPr indent="0" marL="0">
              <a:buNone/>
            </a:pPr>
            <a:r>
              <a:rPr lang="en-US" sz="1000" dirty="0">
                <a:solidFill>
                  <a:srgbClr val="767676"/>
                </a:solidFill>
                <a:latin typeface="Arial" pitchFamily="34" charset="0"/>
                <a:ea typeface="Arial" pitchFamily="34" charset="-122"/>
                <a:cs typeface="Arial" pitchFamily="34" charset="-120"/>
              </a:rPr>
              <a:t>Coverage, interference &amp; serving cells</a:t>
            </a:r>
            <a:endParaRPr lang="en-US" sz="1000" dirty="0"/>
          </a:p>
        </p:txBody>
      </p:sp>
      <p:sp>
        <p:nvSpPr>
          <p:cNvPr id="81" name="shape-1227"/>
          <p:cNvSpPr/>
          <p:nvPr/>
        </p:nvSpPr>
        <p:spPr>
          <a:xfrm>
            <a:off x="8220456" y="3401568"/>
            <a:ext cx="667512" cy="1271016"/>
          </a:xfrm>
          <a:prstGeom prst="line">
            <a:avLst/>
          </a:prstGeom>
          <a:noFill/>
          <a:ln w="15875">
            <a:solidFill>
              <a:srgbClr val="A0A0A0"/>
            </a:solidFill>
            <a:prstDash val="solid"/>
            <a:tailEnd type="triangle"/>
          </a:ln>
        </p:spPr>
      </p:sp>
      <p:sp>
        <p:nvSpPr>
          <p:cNvPr id="82" name="shape-1228"/>
          <p:cNvSpPr/>
          <p:nvPr/>
        </p:nvSpPr>
        <p:spPr>
          <a:xfrm>
            <a:off x="8942832" y="4434840"/>
            <a:ext cx="457200" cy="457200"/>
          </a:xfrm>
          <a:prstGeom prst="ellipse">
            <a:avLst/>
          </a:prstGeom>
          <a:solidFill>
            <a:srgbClr val="242424"/>
          </a:solidFill>
          <a:ln w="12700">
            <a:solidFill>
              <a:srgbClr val="242424"/>
            </a:solidFill>
            <a:prstDash val="solid"/>
          </a:ln>
        </p:spPr>
      </p:sp>
      <p:pic>
        <p:nvPicPr>
          <p:cNvPr id="83" name="icon-1229" descr="preencoded.png">    </p:cNvPr>
          <p:cNvPicPr>
            <a:picLocks noChangeAspect="1"/>
          </p:cNvPicPr>
          <p:nvPr/>
        </p:nvPicPr>
        <p:blipFill>
          <a:blip r:embed="rId17"/>
          <a:stretch>
            <a:fillRect/>
          </a:stretch>
        </p:blipFill>
        <p:spPr>
          <a:xfrm>
            <a:off x="9043416" y="4535424"/>
            <a:ext cx="256032" cy="256032"/>
          </a:xfrm>
          <a:prstGeom prst="rect">
            <a:avLst/>
          </a:prstGeom>
        </p:spPr>
      </p:pic>
      <p:sp>
        <p:nvSpPr>
          <p:cNvPr id="84" name="text-1230"/>
          <p:cNvSpPr txBox="1"/>
          <p:nvPr/>
        </p:nvSpPr>
        <p:spPr>
          <a:xfrm>
            <a:off x="9509760" y="4361688"/>
            <a:ext cx="214884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Technical &amp; executive</a:t>
            </a:r>
            <a:endParaRPr lang="en-US" sz="1250" dirty="0"/>
          </a:p>
        </p:txBody>
      </p:sp>
      <p:sp>
        <p:nvSpPr>
          <p:cNvPr id="85" name="text-1231"/>
          <p:cNvSpPr txBox="1"/>
          <p:nvPr/>
        </p:nvSpPr>
        <p:spPr>
          <a:xfrm>
            <a:off x="9509760" y="4636008"/>
            <a:ext cx="2148840" cy="384048"/>
          </a:xfrm>
          <a:prstGeom prst="rect">
            <a:avLst/>
          </a:prstGeom>
          <a:noFill/>
          <a:ln/>
        </p:spPr>
        <p:txBody>
          <a:bodyPr wrap="square" lIns="0" tIns="0" rIns="0" bIns="0" rtlCol="0" anchor="t"/>
          <a:lstStyle/>
          <a:p>
            <a:pPr indent="0" marL="0">
              <a:buNone/>
            </a:pPr>
            <a:r>
              <a:rPr lang="en-US" sz="1000" dirty="0">
                <a:solidFill>
                  <a:srgbClr val="767676"/>
                </a:solidFill>
                <a:latin typeface="Arial" pitchFamily="34" charset="0"/>
                <a:ea typeface="Arial" pitchFamily="34" charset="-122"/>
                <a:cs typeface="Arial" pitchFamily="34" charset="-120"/>
              </a:rPr>
              <a:t>PowerPoint &amp; Word in seven themes, scheduled</a:t>
            </a:r>
            <a:endParaRPr lang="en-US" sz="1000" dirty="0"/>
          </a:p>
        </p:txBody>
      </p:sp>
      <p:sp>
        <p:nvSpPr>
          <p:cNvPr id="86" name="text-1232"/>
          <p:cNvSpPr txBox="1"/>
          <p:nvPr/>
        </p:nvSpPr>
        <p:spPr>
          <a:xfrm>
            <a:off x="548640" y="5230368"/>
            <a:ext cx="274320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ENTERPRISE PLATFORM</a:t>
            </a:r>
            <a:endParaRPr lang="en-US" sz="1050" dirty="0"/>
          </a:p>
        </p:txBody>
      </p:sp>
      <p:sp>
        <p:nvSpPr>
          <p:cNvPr id="87" name="shape-1233"/>
          <p:cNvSpPr/>
          <p:nvPr/>
        </p:nvSpPr>
        <p:spPr>
          <a:xfrm>
            <a:off x="548640" y="5504688"/>
            <a:ext cx="1609344" cy="347472"/>
          </a:xfrm>
          <a:prstGeom prst="roundRect">
            <a:avLst>
              <a:gd name="adj" fmla="val 26316"/>
            </a:avLst>
          </a:prstGeom>
          <a:solidFill>
            <a:srgbClr val="FFFFFF"/>
          </a:solidFill>
          <a:ln w="12700">
            <a:solidFill>
              <a:srgbClr val="E0E0E0"/>
            </a:solidFill>
            <a:prstDash val="solid"/>
          </a:ln>
        </p:spPr>
      </p:sp>
      <p:pic>
        <p:nvPicPr>
          <p:cNvPr id="88" name="icon-1234" descr="preencoded.png">    </p:cNvPr>
          <p:cNvPicPr>
            <a:picLocks noChangeAspect="1"/>
          </p:cNvPicPr>
          <p:nvPr/>
        </p:nvPicPr>
        <p:blipFill>
          <a:blip r:embed="rId18"/>
          <a:stretch>
            <a:fillRect/>
          </a:stretch>
        </p:blipFill>
        <p:spPr>
          <a:xfrm>
            <a:off x="640080" y="5577840"/>
            <a:ext cx="201168" cy="201168"/>
          </a:xfrm>
          <a:prstGeom prst="rect">
            <a:avLst/>
          </a:prstGeom>
        </p:spPr>
      </p:pic>
      <p:sp>
        <p:nvSpPr>
          <p:cNvPr id="89" name="text-1235"/>
          <p:cNvSpPr txBox="1"/>
          <p:nvPr/>
        </p:nvSpPr>
        <p:spPr>
          <a:xfrm>
            <a:off x="896112" y="550468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AWS · Docker</a:t>
            </a:r>
            <a:endParaRPr lang="en-US" sz="1000" dirty="0"/>
          </a:p>
        </p:txBody>
      </p:sp>
      <p:sp>
        <p:nvSpPr>
          <p:cNvPr id="90" name="shape-1236"/>
          <p:cNvSpPr/>
          <p:nvPr/>
        </p:nvSpPr>
        <p:spPr>
          <a:xfrm>
            <a:off x="2249424" y="5504688"/>
            <a:ext cx="1609344" cy="347472"/>
          </a:xfrm>
          <a:prstGeom prst="roundRect">
            <a:avLst>
              <a:gd name="adj" fmla="val 26316"/>
            </a:avLst>
          </a:prstGeom>
          <a:solidFill>
            <a:srgbClr val="FFFFFF"/>
          </a:solidFill>
          <a:ln w="12700">
            <a:solidFill>
              <a:srgbClr val="E0E0E0"/>
            </a:solidFill>
            <a:prstDash val="solid"/>
          </a:ln>
        </p:spPr>
      </p:sp>
      <p:pic>
        <p:nvPicPr>
          <p:cNvPr id="91" name="icon-1237" descr="preencoded.png">    </p:cNvPr>
          <p:cNvPicPr>
            <a:picLocks noChangeAspect="1"/>
          </p:cNvPicPr>
          <p:nvPr/>
        </p:nvPicPr>
        <p:blipFill>
          <a:blip r:embed="rId19"/>
          <a:stretch>
            <a:fillRect/>
          </a:stretch>
        </p:blipFill>
        <p:spPr>
          <a:xfrm>
            <a:off x="2340864" y="5577840"/>
            <a:ext cx="201168" cy="201168"/>
          </a:xfrm>
          <a:prstGeom prst="rect">
            <a:avLst/>
          </a:prstGeom>
        </p:spPr>
      </p:pic>
      <p:sp>
        <p:nvSpPr>
          <p:cNvPr id="92" name="text-1238"/>
          <p:cNvSpPr txBox="1"/>
          <p:nvPr/>
        </p:nvSpPr>
        <p:spPr>
          <a:xfrm>
            <a:off x="2596896" y="550468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4 roles · 16 users</a:t>
            </a:r>
            <a:endParaRPr lang="en-US" sz="1000" dirty="0"/>
          </a:p>
        </p:txBody>
      </p:sp>
      <p:sp>
        <p:nvSpPr>
          <p:cNvPr id="93" name="shape-1239"/>
          <p:cNvSpPr/>
          <p:nvPr/>
        </p:nvSpPr>
        <p:spPr>
          <a:xfrm>
            <a:off x="3950208" y="5504688"/>
            <a:ext cx="1609344" cy="347472"/>
          </a:xfrm>
          <a:prstGeom prst="roundRect">
            <a:avLst>
              <a:gd name="adj" fmla="val 26316"/>
            </a:avLst>
          </a:prstGeom>
          <a:solidFill>
            <a:srgbClr val="FFFFFF"/>
          </a:solidFill>
          <a:ln w="12700">
            <a:solidFill>
              <a:srgbClr val="E0E0E0"/>
            </a:solidFill>
            <a:prstDash val="solid"/>
          </a:ln>
        </p:spPr>
      </p:sp>
      <p:pic>
        <p:nvPicPr>
          <p:cNvPr id="94" name="icon-1240" descr="preencoded.png">    </p:cNvPr>
          <p:cNvPicPr>
            <a:picLocks noChangeAspect="1"/>
          </p:cNvPicPr>
          <p:nvPr/>
        </p:nvPicPr>
        <p:blipFill>
          <a:blip r:embed="rId20"/>
          <a:stretch>
            <a:fillRect/>
          </a:stretch>
        </p:blipFill>
        <p:spPr>
          <a:xfrm>
            <a:off x="4041648" y="5577840"/>
            <a:ext cx="201168" cy="201168"/>
          </a:xfrm>
          <a:prstGeom prst="rect">
            <a:avLst/>
          </a:prstGeom>
        </p:spPr>
      </p:pic>
      <p:sp>
        <p:nvSpPr>
          <p:cNvPr id="95" name="text-1241"/>
          <p:cNvSpPr txBox="1"/>
          <p:nvPr/>
        </p:nvSpPr>
        <p:spPr>
          <a:xfrm>
            <a:off x="4297680" y="550468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Modules Profiles</a:t>
            </a:r>
            <a:endParaRPr lang="en-US" sz="1000" dirty="0"/>
          </a:p>
        </p:txBody>
      </p:sp>
      <p:sp>
        <p:nvSpPr>
          <p:cNvPr id="96" name="shape-1242"/>
          <p:cNvSpPr/>
          <p:nvPr/>
        </p:nvSpPr>
        <p:spPr>
          <a:xfrm>
            <a:off x="5650992" y="5504688"/>
            <a:ext cx="1609344" cy="347472"/>
          </a:xfrm>
          <a:prstGeom prst="roundRect">
            <a:avLst>
              <a:gd name="adj" fmla="val 26316"/>
            </a:avLst>
          </a:prstGeom>
          <a:solidFill>
            <a:srgbClr val="FFFFFF"/>
          </a:solidFill>
          <a:ln w="12700">
            <a:solidFill>
              <a:srgbClr val="E0E0E0"/>
            </a:solidFill>
            <a:prstDash val="solid"/>
          </a:ln>
        </p:spPr>
      </p:sp>
      <p:pic>
        <p:nvPicPr>
          <p:cNvPr id="97" name="icon-1243" descr="preencoded.png">    </p:cNvPr>
          <p:cNvPicPr>
            <a:picLocks noChangeAspect="1"/>
          </p:cNvPicPr>
          <p:nvPr/>
        </p:nvPicPr>
        <p:blipFill>
          <a:blip r:embed="rId21"/>
          <a:stretch>
            <a:fillRect/>
          </a:stretch>
        </p:blipFill>
        <p:spPr>
          <a:xfrm>
            <a:off x="5742432" y="5577840"/>
            <a:ext cx="201168" cy="201168"/>
          </a:xfrm>
          <a:prstGeom prst="rect">
            <a:avLst/>
          </a:prstGeom>
        </p:spPr>
      </p:pic>
      <p:sp>
        <p:nvSpPr>
          <p:cNvPr id="98" name="text-1244"/>
          <p:cNvSpPr txBox="1"/>
          <p:nvPr/>
        </p:nvSpPr>
        <p:spPr>
          <a:xfrm>
            <a:off x="5998464" y="550468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Isolated workspaces</a:t>
            </a:r>
            <a:endParaRPr lang="en-US" sz="1000" dirty="0"/>
          </a:p>
        </p:txBody>
      </p:sp>
      <p:sp>
        <p:nvSpPr>
          <p:cNvPr id="99" name="shape-1245"/>
          <p:cNvSpPr/>
          <p:nvPr/>
        </p:nvSpPr>
        <p:spPr>
          <a:xfrm>
            <a:off x="548640" y="5916168"/>
            <a:ext cx="1609344" cy="347472"/>
          </a:xfrm>
          <a:prstGeom prst="roundRect">
            <a:avLst>
              <a:gd name="adj" fmla="val 26316"/>
            </a:avLst>
          </a:prstGeom>
          <a:solidFill>
            <a:srgbClr val="FFFFFF"/>
          </a:solidFill>
          <a:ln w="12700">
            <a:solidFill>
              <a:srgbClr val="E0E0E0"/>
            </a:solidFill>
            <a:prstDash val="solid"/>
          </a:ln>
        </p:spPr>
      </p:sp>
      <p:pic>
        <p:nvPicPr>
          <p:cNvPr id="100" name="icon-1246" descr="preencoded.png">    </p:cNvPr>
          <p:cNvPicPr>
            <a:picLocks noChangeAspect="1"/>
          </p:cNvPicPr>
          <p:nvPr/>
        </p:nvPicPr>
        <p:blipFill>
          <a:blip r:embed="rId22"/>
          <a:stretch>
            <a:fillRect/>
          </a:stretch>
        </p:blipFill>
        <p:spPr>
          <a:xfrm>
            <a:off x="640080" y="5989320"/>
            <a:ext cx="201168" cy="201168"/>
          </a:xfrm>
          <a:prstGeom prst="rect">
            <a:avLst/>
          </a:prstGeom>
        </p:spPr>
      </p:pic>
      <p:sp>
        <p:nvSpPr>
          <p:cNvPr id="101" name="text-1247"/>
          <p:cNvSpPr txBox="1"/>
          <p:nvPr/>
        </p:nvSpPr>
        <p:spPr>
          <a:xfrm>
            <a:off x="896112" y="591616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Automated backups</a:t>
            </a:r>
            <a:endParaRPr lang="en-US" sz="1000" dirty="0"/>
          </a:p>
        </p:txBody>
      </p:sp>
      <p:sp>
        <p:nvSpPr>
          <p:cNvPr id="102" name="shape-1248"/>
          <p:cNvSpPr/>
          <p:nvPr/>
        </p:nvSpPr>
        <p:spPr>
          <a:xfrm>
            <a:off x="2249424" y="5916168"/>
            <a:ext cx="1609344" cy="347472"/>
          </a:xfrm>
          <a:prstGeom prst="roundRect">
            <a:avLst>
              <a:gd name="adj" fmla="val 26316"/>
            </a:avLst>
          </a:prstGeom>
          <a:solidFill>
            <a:srgbClr val="FFFFFF"/>
          </a:solidFill>
          <a:ln w="12700">
            <a:solidFill>
              <a:srgbClr val="E0E0E0"/>
            </a:solidFill>
            <a:prstDash val="solid"/>
          </a:ln>
        </p:spPr>
      </p:sp>
      <p:pic>
        <p:nvPicPr>
          <p:cNvPr id="103" name="icon-1249" descr="preencoded.png">    </p:cNvPr>
          <p:cNvPicPr>
            <a:picLocks noChangeAspect="1"/>
          </p:cNvPicPr>
          <p:nvPr/>
        </p:nvPicPr>
        <p:blipFill>
          <a:blip r:embed="rId23"/>
          <a:stretch>
            <a:fillRect/>
          </a:stretch>
        </p:blipFill>
        <p:spPr>
          <a:xfrm>
            <a:off x="2340864" y="5989320"/>
            <a:ext cx="201168" cy="201168"/>
          </a:xfrm>
          <a:prstGeom prst="rect">
            <a:avLst/>
          </a:prstGeom>
        </p:spPr>
      </p:pic>
      <p:sp>
        <p:nvSpPr>
          <p:cNvPr id="104" name="text-1250"/>
          <p:cNvSpPr txBox="1"/>
          <p:nvPr/>
        </p:nvSpPr>
        <p:spPr>
          <a:xfrm>
            <a:off x="2596896" y="591616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Ticket Center</a:t>
            </a:r>
            <a:endParaRPr lang="en-US" sz="1000" dirty="0"/>
          </a:p>
        </p:txBody>
      </p:sp>
      <p:sp>
        <p:nvSpPr>
          <p:cNvPr id="105" name="shape-1251"/>
          <p:cNvSpPr/>
          <p:nvPr/>
        </p:nvSpPr>
        <p:spPr>
          <a:xfrm>
            <a:off x="3950208" y="5916168"/>
            <a:ext cx="1609344" cy="347472"/>
          </a:xfrm>
          <a:prstGeom prst="roundRect">
            <a:avLst>
              <a:gd name="adj" fmla="val 26316"/>
            </a:avLst>
          </a:prstGeom>
          <a:solidFill>
            <a:srgbClr val="FFFFFF"/>
          </a:solidFill>
          <a:ln w="12700">
            <a:solidFill>
              <a:srgbClr val="E0E0E0"/>
            </a:solidFill>
            <a:prstDash val="solid"/>
          </a:ln>
        </p:spPr>
      </p:sp>
      <p:pic>
        <p:nvPicPr>
          <p:cNvPr id="106" name="icon-1252" descr="preencoded.png">    </p:cNvPr>
          <p:cNvPicPr>
            <a:picLocks noChangeAspect="1"/>
          </p:cNvPicPr>
          <p:nvPr/>
        </p:nvPicPr>
        <p:blipFill>
          <a:blip r:embed="rId24"/>
          <a:stretch>
            <a:fillRect/>
          </a:stretch>
        </p:blipFill>
        <p:spPr>
          <a:xfrm>
            <a:off x="4041648" y="5989320"/>
            <a:ext cx="201168" cy="201168"/>
          </a:xfrm>
          <a:prstGeom prst="rect">
            <a:avLst/>
          </a:prstGeom>
        </p:spPr>
      </p:pic>
      <p:sp>
        <p:nvSpPr>
          <p:cNvPr id="107" name="text-1253"/>
          <p:cNvSpPr txBox="1"/>
          <p:nvPr/>
        </p:nvSpPr>
        <p:spPr>
          <a:xfrm>
            <a:off x="4297680" y="591616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25-chapter Help</a:t>
            </a:r>
            <a:endParaRPr lang="en-US" sz="1000" dirty="0"/>
          </a:p>
        </p:txBody>
      </p:sp>
      <p:sp>
        <p:nvSpPr>
          <p:cNvPr id="108" name="shape-1254"/>
          <p:cNvSpPr/>
          <p:nvPr/>
        </p:nvSpPr>
        <p:spPr>
          <a:xfrm>
            <a:off x="5650992" y="5916168"/>
            <a:ext cx="1609344" cy="347472"/>
          </a:xfrm>
          <a:prstGeom prst="roundRect">
            <a:avLst>
              <a:gd name="adj" fmla="val 26316"/>
            </a:avLst>
          </a:prstGeom>
          <a:solidFill>
            <a:srgbClr val="FFFFFF"/>
          </a:solidFill>
          <a:ln w="12700">
            <a:solidFill>
              <a:srgbClr val="E0E0E0"/>
            </a:solidFill>
            <a:prstDash val="solid"/>
          </a:ln>
        </p:spPr>
      </p:sp>
      <p:pic>
        <p:nvPicPr>
          <p:cNvPr id="109" name="icon-1255" descr="preencoded.png">    </p:cNvPr>
          <p:cNvPicPr>
            <a:picLocks noChangeAspect="1"/>
          </p:cNvPicPr>
          <p:nvPr/>
        </p:nvPicPr>
        <p:blipFill>
          <a:blip r:embed="rId25"/>
          <a:stretch>
            <a:fillRect/>
          </a:stretch>
        </p:blipFill>
        <p:spPr>
          <a:xfrm>
            <a:off x="5742432" y="5989320"/>
            <a:ext cx="201168" cy="201168"/>
          </a:xfrm>
          <a:prstGeom prst="rect">
            <a:avLst/>
          </a:prstGeom>
        </p:spPr>
      </p:pic>
      <p:sp>
        <p:nvSpPr>
          <p:cNvPr id="110" name="text-1256"/>
          <p:cNvSpPr txBox="1"/>
          <p:nvPr/>
        </p:nvSpPr>
        <p:spPr>
          <a:xfrm>
            <a:off x="5998464" y="591616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1,895 tests</a:t>
            </a:r>
            <a:endParaRPr lang="en-US" sz="1000" dirty="0"/>
          </a:p>
        </p:txBody>
      </p:sp>
      <p:sp>
        <p:nvSpPr>
          <p:cNvPr id="111" name="text-1257"/>
          <p:cNvSpPr txBox="1"/>
          <p:nvPr/>
        </p:nvSpPr>
        <p:spPr>
          <a:xfrm>
            <a:off x="7452360" y="5230368"/>
            <a:ext cx="274320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ROADMAP</a:t>
            </a:r>
            <a:endParaRPr lang="en-US" sz="1050" dirty="0"/>
          </a:p>
        </p:txBody>
      </p:sp>
      <p:sp>
        <p:nvSpPr>
          <p:cNvPr id="112" name="text-1258"/>
          <p:cNvSpPr txBox="1"/>
          <p:nvPr/>
        </p:nvSpPr>
        <p:spPr>
          <a:xfrm>
            <a:off x="7223760" y="5486400"/>
            <a:ext cx="1097280" cy="182880"/>
          </a:xfrm>
          <a:prstGeom prst="rect">
            <a:avLst/>
          </a:prstGeom>
          <a:noFill/>
          <a:ln/>
        </p:spPr>
        <p:txBody>
          <a:bodyPr wrap="square" lIns="0" tIns="0" rIns="0" bIns="0" rtlCol="0" anchor="ctr"/>
          <a:lstStyle/>
          <a:p>
            <a:pPr algn="ctr" indent="0" marL="0">
              <a:buNone/>
            </a:pPr>
            <a:r>
              <a:rPr lang="en-US" sz="950" b="1" spc="100" kern="0" dirty="0">
                <a:solidFill>
                  <a:srgbClr val="0C9B5B"/>
                </a:solidFill>
                <a:latin typeface="Arial" pitchFamily="34" charset="0"/>
                <a:ea typeface="Arial" pitchFamily="34" charset="-122"/>
                <a:cs typeface="Arial" pitchFamily="34" charset="-120"/>
              </a:rPr>
              <a:t>TODAY</a:t>
            </a:r>
            <a:endParaRPr lang="en-US" sz="950" dirty="0"/>
          </a:p>
        </p:txBody>
      </p:sp>
      <p:sp>
        <p:nvSpPr>
          <p:cNvPr id="113" name="shape-1259"/>
          <p:cNvSpPr/>
          <p:nvPr/>
        </p:nvSpPr>
        <p:spPr>
          <a:xfrm>
            <a:off x="7589520" y="5632704"/>
            <a:ext cx="365760" cy="365760"/>
          </a:xfrm>
          <a:prstGeom prst="ellipse">
            <a:avLst/>
          </a:prstGeom>
          <a:solidFill>
            <a:srgbClr val="FFFFFF"/>
          </a:solidFill>
          <a:ln w="12700">
            <a:solidFill>
              <a:srgbClr val="FFFFFF"/>
            </a:solidFill>
            <a:prstDash val="solid"/>
          </a:ln>
        </p:spPr>
      </p:sp>
      <p:sp>
        <p:nvSpPr>
          <p:cNvPr id="114" name="shape-1260"/>
          <p:cNvSpPr/>
          <p:nvPr/>
        </p:nvSpPr>
        <p:spPr>
          <a:xfrm>
            <a:off x="7626096" y="5669280"/>
            <a:ext cx="292608" cy="292608"/>
          </a:xfrm>
          <a:prstGeom prst="ellipse">
            <a:avLst/>
          </a:prstGeom>
          <a:solidFill>
            <a:srgbClr val="0C9B5B"/>
          </a:solidFill>
          <a:ln w="12700">
            <a:solidFill>
              <a:srgbClr val="0C9B5B"/>
            </a:solidFill>
            <a:prstDash val="solid"/>
          </a:ln>
        </p:spPr>
      </p:sp>
      <p:pic>
        <p:nvPicPr>
          <p:cNvPr id="115" name="icon-1261" descr="preencoded.png">    </p:cNvPr>
          <p:cNvPicPr>
            <a:picLocks noChangeAspect="1"/>
          </p:cNvPicPr>
          <p:nvPr/>
        </p:nvPicPr>
        <p:blipFill>
          <a:blip r:embed="rId26"/>
          <a:stretch>
            <a:fillRect/>
          </a:stretch>
        </p:blipFill>
        <p:spPr>
          <a:xfrm>
            <a:off x="7690470" y="5733654"/>
            <a:ext cx="163860" cy="163860"/>
          </a:xfrm>
          <a:prstGeom prst="rect">
            <a:avLst/>
          </a:prstGeom>
        </p:spPr>
      </p:pic>
      <p:sp>
        <p:nvSpPr>
          <p:cNvPr id="116" name="text-1262"/>
          <p:cNvSpPr txBox="1"/>
          <p:nvPr/>
        </p:nvSpPr>
        <p:spPr>
          <a:xfrm>
            <a:off x="7223760" y="6089904"/>
            <a:ext cx="1097280" cy="365760"/>
          </a:xfrm>
          <a:prstGeom prst="rect">
            <a:avLst/>
          </a:prstGeom>
          <a:noFill/>
          <a:ln/>
        </p:spPr>
        <p:txBody>
          <a:bodyPr wrap="square" lIns="0" tIns="0" rIns="0" bIns="0" rtlCol="0" anchor="t"/>
          <a:lstStyle/>
          <a:p>
            <a:pPr algn="ctr" indent="0" marL="0">
              <a:buNone/>
            </a:pPr>
            <a:r>
              <a:rPr lang="en-US" sz="1000" b="1" dirty="0">
                <a:solidFill>
                  <a:srgbClr val="242424"/>
                </a:solidFill>
                <a:latin typeface="Arial" pitchFamily="34" charset="0"/>
                <a:ea typeface="Arial" pitchFamily="34" charset="-122"/>
                <a:cs typeface="Arial" pitchFamily="34" charset="-120"/>
              </a:rPr>
              <a:t>8 modules live</a:t>
            </a:r>
            <a:endParaRPr lang="en-US" sz="1000" dirty="0"/>
          </a:p>
        </p:txBody>
      </p:sp>
      <p:sp>
        <p:nvSpPr>
          <p:cNvPr id="117" name="text-1263"/>
          <p:cNvSpPr txBox="1"/>
          <p:nvPr/>
        </p:nvSpPr>
        <p:spPr>
          <a:xfrm>
            <a:off x="8366760" y="5486400"/>
            <a:ext cx="1097280" cy="182880"/>
          </a:xfrm>
          <a:prstGeom prst="rect">
            <a:avLst/>
          </a:prstGeom>
          <a:noFill/>
          <a:ln/>
        </p:spPr>
        <p:txBody>
          <a:bodyPr wrap="square" lIns="0" tIns="0" rIns="0" bIns="0" rtlCol="0" anchor="ctr"/>
          <a:lstStyle/>
          <a:p>
            <a:pPr algn="ctr" indent="0" marL="0">
              <a:buNone/>
            </a:pPr>
            <a:r>
              <a:rPr lang="en-US" sz="950" b="1" spc="100" kern="0" dirty="0">
                <a:solidFill>
                  <a:srgbClr val="0082F0"/>
                </a:solidFill>
                <a:latin typeface="Arial" pitchFamily="34" charset="0"/>
                <a:ea typeface="Arial" pitchFamily="34" charset="-122"/>
                <a:cs typeface="Arial" pitchFamily="34" charset="-120"/>
              </a:rPr>
              <a:t>NEXT</a:t>
            </a:r>
            <a:endParaRPr lang="en-US" sz="950" dirty="0"/>
          </a:p>
        </p:txBody>
      </p:sp>
      <p:sp>
        <p:nvSpPr>
          <p:cNvPr id="118" name="shape-1264"/>
          <p:cNvSpPr/>
          <p:nvPr/>
        </p:nvSpPr>
        <p:spPr>
          <a:xfrm>
            <a:off x="8732520" y="5687568"/>
            <a:ext cx="365760" cy="365760"/>
          </a:xfrm>
          <a:prstGeom prst="ellipse">
            <a:avLst/>
          </a:prstGeom>
          <a:solidFill>
            <a:srgbClr val="FFFFFF"/>
          </a:solidFill>
          <a:ln w="12700">
            <a:solidFill>
              <a:srgbClr val="FFFFFF"/>
            </a:solidFill>
            <a:prstDash val="solid"/>
          </a:ln>
        </p:spPr>
      </p:sp>
      <p:sp>
        <p:nvSpPr>
          <p:cNvPr id="119" name="shape-1265"/>
          <p:cNvSpPr/>
          <p:nvPr/>
        </p:nvSpPr>
        <p:spPr>
          <a:xfrm>
            <a:off x="8769096" y="5724144"/>
            <a:ext cx="292608" cy="292608"/>
          </a:xfrm>
          <a:prstGeom prst="ellipse">
            <a:avLst/>
          </a:prstGeom>
          <a:solidFill>
            <a:srgbClr val="0082F0"/>
          </a:solidFill>
          <a:ln w="12700">
            <a:solidFill>
              <a:srgbClr val="0082F0"/>
            </a:solidFill>
            <a:prstDash val="solid"/>
          </a:ln>
        </p:spPr>
      </p:sp>
      <p:pic>
        <p:nvPicPr>
          <p:cNvPr id="120" name="icon-1266" descr="preencoded.png">    </p:cNvPr>
          <p:cNvPicPr>
            <a:picLocks noChangeAspect="1"/>
          </p:cNvPicPr>
          <p:nvPr/>
        </p:nvPicPr>
        <p:blipFill>
          <a:blip r:embed="rId27"/>
          <a:stretch>
            <a:fillRect/>
          </a:stretch>
        </p:blipFill>
        <p:spPr>
          <a:xfrm>
            <a:off x="8833470" y="5788518"/>
            <a:ext cx="163860" cy="163860"/>
          </a:xfrm>
          <a:prstGeom prst="rect">
            <a:avLst/>
          </a:prstGeom>
        </p:spPr>
      </p:pic>
      <p:sp>
        <p:nvSpPr>
          <p:cNvPr id="121" name="text-1267"/>
          <p:cNvSpPr txBox="1"/>
          <p:nvPr/>
        </p:nvSpPr>
        <p:spPr>
          <a:xfrm>
            <a:off x="8366760" y="6089904"/>
            <a:ext cx="1097280" cy="365760"/>
          </a:xfrm>
          <a:prstGeom prst="rect">
            <a:avLst/>
          </a:prstGeom>
          <a:noFill/>
          <a:ln/>
        </p:spPr>
        <p:txBody>
          <a:bodyPr wrap="square" lIns="0" tIns="0" rIns="0" bIns="0" rtlCol="0" anchor="t"/>
          <a:lstStyle/>
          <a:p>
            <a:pPr algn="ctr" indent="0" marL="0">
              <a:buNone/>
            </a:pPr>
            <a:r>
              <a:rPr lang="en-US" sz="1000" b="1" dirty="0">
                <a:solidFill>
                  <a:srgbClr val="242424"/>
                </a:solidFill>
                <a:latin typeface="Arial" pitchFamily="34" charset="0"/>
                <a:ea typeface="Arial" pitchFamily="34" charset="-122"/>
                <a:cs typeface="Arial" pitchFamily="34" charset="-120"/>
              </a:rPr>
              <a:t>Umlaut CDRs, Active Tests</a:t>
            </a:r>
            <a:endParaRPr lang="en-US" sz="1000" dirty="0"/>
          </a:p>
        </p:txBody>
      </p:sp>
      <p:sp>
        <p:nvSpPr>
          <p:cNvPr id="122" name="text-1268"/>
          <p:cNvSpPr txBox="1"/>
          <p:nvPr/>
        </p:nvSpPr>
        <p:spPr>
          <a:xfrm>
            <a:off x="9509760" y="5486400"/>
            <a:ext cx="1097280" cy="182880"/>
          </a:xfrm>
          <a:prstGeom prst="rect">
            <a:avLst/>
          </a:prstGeom>
          <a:noFill/>
          <a:ln/>
        </p:spPr>
        <p:txBody>
          <a:bodyPr wrap="square" lIns="0" tIns="0" rIns="0" bIns="0" rtlCol="0" anchor="ctr"/>
          <a:lstStyle/>
          <a:p>
            <a:pPr algn="ctr" indent="0" marL="0">
              <a:buNone/>
            </a:pPr>
            <a:r>
              <a:rPr lang="en-US" sz="950" b="1" spc="100" kern="0" dirty="0">
                <a:solidFill>
                  <a:srgbClr val="8C60A8"/>
                </a:solidFill>
                <a:latin typeface="Arial" pitchFamily="34" charset="0"/>
                <a:ea typeface="Arial" pitchFamily="34" charset="-122"/>
                <a:cs typeface="Arial" pitchFamily="34" charset="-120"/>
              </a:rPr>
              <a:t>SOON</a:t>
            </a:r>
            <a:endParaRPr lang="en-US" sz="950" dirty="0"/>
          </a:p>
        </p:txBody>
      </p:sp>
      <p:sp>
        <p:nvSpPr>
          <p:cNvPr id="123" name="shape-1269"/>
          <p:cNvSpPr/>
          <p:nvPr/>
        </p:nvSpPr>
        <p:spPr>
          <a:xfrm>
            <a:off x="9875520" y="5669280"/>
            <a:ext cx="365760" cy="365760"/>
          </a:xfrm>
          <a:prstGeom prst="ellipse">
            <a:avLst/>
          </a:prstGeom>
          <a:solidFill>
            <a:srgbClr val="FFFFFF"/>
          </a:solidFill>
          <a:ln w="12700">
            <a:solidFill>
              <a:srgbClr val="FFFFFF"/>
            </a:solidFill>
            <a:prstDash val="solid"/>
          </a:ln>
        </p:spPr>
      </p:sp>
      <p:sp>
        <p:nvSpPr>
          <p:cNvPr id="124" name="shape-1270"/>
          <p:cNvSpPr/>
          <p:nvPr/>
        </p:nvSpPr>
        <p:spPr>
          <a:xfrm>
            <a:off x="9912096" y="5705856"/>
            <a:ext cx="292608" cy="292608"/>
          </a:xfrm>
          <a:prstGeom prst="ellipse">
            <a:avLst/>
          </a:prstGeom>
          <a:solidFill>
            <a:srgbClr val="8C60A8"/>
          </a:solidFill>
          <a:ln w="12700">
            <a:solidFill>
              <a:srgbClr val="8C60A8"/>
            </a:solidFill>
            <a:prstDash val="solid"/>
          </a:ln>
        </p:spPr>
      </p:sp>
      <p:pic>
        <p:nvPicPr>
          <p:cNvPr id="125" name="icon-1271" descr="preencoded.png">    </p:cNvPr>
          <p:cNvPicPr>
            <a:picLocks noChangeAspect="1"/>
          </p:cNvPicPr>
          <p:nvPr/>
        </p:nvPicPr>
        <p:blipFill>
          <a:blip r:embed="rId28"/>
          <a:stretch>
            <a:fillRect/>
          </a:stretch>
        </p:blipFill>
        <p:spPr>
          <a:xfrm>
            <a:off x="9976470" y="5770230"/>
            <a:ext cx="163860" cy="163860"/>
          </a:xfrm>
          <a:prstGeom prst="rect">
            <a:avLst/>
          </a:prstGeom>
        </p:spPr>
      </p:pic>
      <p:sp>
        <p:nvSpPr>
          <p:cNvPr id="126" name="text-1272"/>
          <p:cNvSpPr txBox="1"/>
          <p:nvPr/>
        </p:nvSpPr>
        <p:spPr>
          <a:xfrm>
            <a:off x="9509760" y="6089904"/>
            <a:ext cx="1097280" cy="365760"/>
          </a:xfrm>
          <a:prstGeom prst="rect">
            <a:avLst/>
          </a:prstGeom>
          <a:noFill/>
          <a:ln/>
        </p:spPr>
        <p:txBody>
          <a:bodyPr wrap="square" lIns="0" tIns="0" rIns="0" bIns="0" rtlCol="0" anchor="t"/>
          <a:lstStyle/>
          <a:p>
            <a:pPr algn="ctr" indent="0" marL="0">
              <a:buNone/>
            </a:pPr>
            <a:r>
              <a:rPr lang="en-US" sz="1000" b="1" dirty="0">
                <a:solidFill>
                  <a:srgbClr val="242424"/>
                </a:solidFill>
                <a:latin typeface="Arial" pitchFamily="34" charset="0"/>
                <a:ea typeface="Arial" pitchFamily="34" charset="-122"/>
                <a:cs typeface="Arial" pitchFamily="34" charset="-120"/>
              </a:rPr>
              <a:t>AWS scale-out, speed</a:t>
            </a:r>
            <a:endParaRPr lang="en-US" sz="1000" dirty="0"/>
          </a:p>
        </p:txBody>
      </p:sp>
      <p:sp>
        <p:nvSpPr>
          <p:cNvPr id="127" name="text-1273"/>
          <p:cNvSpPr txBox="1"/>
          <p:nvPr/>
        </p:nvSpPr>
        <p:spPr>
          <a:xfrm>
            <a:off x="10607040" y="5486400"/>
            <a:ext cx="1097280" cy="182880"/>
          </a:xfrm>
          <a:prstGeom prst="rect">
            <a:avLst/>
          </a:prstGeom>
          <a:noFill/>
          <a:ln/>
        </p:spPr>
        <p:txBody>
          <a:bodyPr wrap="square" lIns="0" tIns="0" rIns="0" bIns="0" rtlCol="0" anchor="ctr"/>
          <a:lstStyle/>
          <a:p>
            <a:pPr algn="ctr" indent="0" marL="0">
              <a:buNone/>
            </a:pPr>
            <a:r>
              <a:rPr lang="en-US" sz="950" b="1" spc="100" kern="0" dirty="0">
                <a:solidFill>
                  <a:srgbClr val="E07800"/>
                </a:solidFill>
                <a:latin typeface="Arial" pitchFamily="34" charset="0"/>
                <a:ea typeface="Arial" pitchFamily="34" charset="-122"/>
                <a:cs typeface="Arial" pitchFamily="34" charset="-120"/>
              </a:rPr>
              <a:t>LATER</a:t>
            </a:r>
            <a:endParaRPr lang="en-US" sz="950" dirty="0"/>
          </a:p>
        </p:txBody>
      </p:sp>
      <p:sp>
        <p:nvSpPr>
          <p:cNvPr id="128" name="shape-1274"/>
          <p:cNvSpPr/>
          <p:nvPr/>
        </p:nvSpPr>
        <p:spPr>
          <a:xfrm>
            <a:off x="10972800" y="5669280"/>
            <a:ext cx="365760" cy="365760"/>
          </a:xfrm>
          <a:prstGeom prst="ellipse">
            <a:avLst/>
          </a:prstGeom>
          <a:solidFill>
            <a:srgbClr val="FFFFFF"/>
          </a:solidFill>
          <a:ln w="12700">
            <a:solidFill>
              <a:srgbClr val="FFFFFF"/>
            </a:solidFill>
            <a:prstDash val="solid"/>
          </a:ln>
        </p:spPr>
      </p:sp>
      <p:sp>
        <p:nvSpPr>
          <p:cNvPr id="129" name="shape-1275"/>
          <p:cNvSpPr/>
          <p:nvPr/>
        </p:nvSpPr>
        <p:spPr>
          <a:xfrm>
            <a:off x="11009376" y="5705856"/>
            <a:ext cx="292608" cy="292608"/>
          </a:xfrm>
          <a:prstGeom prst="ellipse">
            <a:avLst/>
          </a:prstGeom>
          <a:solidFill>
            <a:srgbClr val="E07800"/>
          </a:solidFill>
          <a:ln w="12700">
            <a:solidFill>
              <a:srgbClr val="E07800"/>
            </a:solidFill>
            <a:prstDash val="solid"/>
          </a:ln>
        </p:spPr>
      </p:sp>
      <p:pic>
        <p:nvPicPr>
          <p:cNvPr id="130" name="icon-1276" descr="preencoded.png">    </p:cNvPr>
          <p:cNvPicPr>
            <a:picLocks noChangeAspect="1"/>
          </p:cNvPicPr>
          <p:nvPr/>
        </p:nvPicPr>
        <p:blipFill>
          <a:blip r:embed="rId29"/>
          <a:stretch>
            <a:fillRect/>
          </a:stretch>
        </p:blipFill>
        <p:spPr>
          <a:xfrm>
            <a:off x="11073750" y="5770230"/>
            <a:ext cx="163860" cy="163860"/>
          </a:xfrm>
          <a:prstGeom prst="rect">
            <a:avLst/>
          </a:prstGeom>
        </p:spPr>
      </p:pic>
      <p:sp>
        <p:nvSpPr>
          <p:cNvPr id="131" name="text-1277"/>
          <p:cNvSpPr txBox="1"/>
          <p:nvPr/>
        </p:nvSpPr>
        <p:spPr>
          <a:xfrm>
            <a:off x="10607040" y="6089904"/>
            <a:ext cx="1097280" cy="365760"/>
          </a:xfrm>
          <a:prstGeom prst="rect">
            <a:avLst/>
          </a:prstGeom>
          <a:noFill/>
          <a:ln/>
        </p:spPr>
        <p:txBody>
          <a:bodyPr wrap="square" lIns="0" tIns="0" rIns="0" bIns="0" rtlCol="0" anchor="t"/>
          <a:lstStyle/>
          <a:p>
            <a:pPr algn="ctr" indent="0" marL="0">
              <a:buNone/>
            </a:pPr>
            <a:r>
              <a:rPr lang="en-US" sz="1000" b="1" dirty="0">
                <a:solidFill>
                  <a:srgbClr val="242424"/>
                </a:solidFill>
                <a:latin typeface="Arial" pitchFamily="34" charset="0"/>
                <a:ea typeface="Arial" pitchFamily="34" charset="-122"/>
                <a:cs typeface="Arial" pitchFamily="34" charset="-120"/>
              </a:rPr>
              <a:t>PostgreSQL, health</a:t>
            </a:r>
            <a:endParaRPr lang="en-US" sz="1000" dirty="0"/>
          </a:p>
        </p:txBody>
      </p:sp>
    </p:spTree>
  </p:cSld>
  <p:clrMapOvr>
    <a:masterClrMapping/>
  </p:clrMapOvr>
</p:sld>
</file>

<file path=ppt/theme/theme1.xml><?xml version="1.0" encoding="utf-8"?>
<a:theme xmlns:a="http://schemas.openxmlformats.org/drawingml/2006/main" name="Office Theme">
  <a:themeElements>
    <a:clrScheme name="Ericsson">
      <a:dk1>
        <a:srgbClr val="000000"/>
      </a:dk1>
      <a:lt1>
        <a:srgbClr val="FFFFFF"/>
      </a:lt1>
      <a:dk2>
        <a:srgbClr val="242424"/>
      </a:dk2>
      <a:lt2>
        <a:srgbClr val="F2F2F2"/>
      </a:lt2>
      <a:accent1>
        <a:srgbClr val="0082F0"/>
      </a:accent1>
      <a:accent2>
        <a:srgbClr val="0068BF"/>
      </a:accent2>
      <a:accent3>
        <a:srgbClr val="0FC373"/>
      </a:accent3>
      <a:accent4>
        <a:srgbClr val="FF8C0A"/>
      </a:accent4>
      <a:accent5>
        <a:srgbClr val="AF78D2"/>
      </a:accent5>
      <a:accent6>
        <a:srgbClr val="FF3232"/>
      </a:accent6>
      <a:hlink>
        <a:srgbClr val="0082F0"/>
      </a:hlink>
      <a:folHlink>
        <a:srgbClr val="AF78D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DriveTest Analyzer — One-slider</dc:title>
  <dc:subject>DriveTest Analyzer at a glance</dc:subject>
  <dc:creator>DriveTest Analyzer</dc:creator>
  <cp:lastModifiedBy>DriveTest Analyzer</cp:lastModifiedBy>
  <cp:revision>1</cp:revision>
  <dcterms:created xsi:type="dcterms:W3CDTF">2026-10-21T06:50:11Z</dcterms:created>
  <dcterms:modified xsi:type="dcterms:W3CDTF">2026-10-21T06:50:11Z</dcterms:modified>
</cp:coreProperties>
</file>