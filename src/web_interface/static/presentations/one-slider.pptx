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Lst>
  <p:notesMasterIdLst>
    <p:notesMasterId r:id="rId3"/>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DriveTest Analyzer" id="{f3895372-e3d6-12ba-a808-429032789f22}">
          <p14:sldIdLst>
            <p14:sldId id="256"/>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notesMaster" Target="notesMasters/notesMaster1.xml"/><Relationship Id="rId4" Type="http://schemas.openxmlformats.org/officeDocument/2006/relationships/presProps" Target="presProps.xml"/><Relationship Id="rId5" Type="http://schemas.openxmlformats.org/officeDocument/2006/relationships/viewProps" Target="viewProps.xml"/><Relationship Id="rId6" Type="http://schemas.openxmlformats.org/officeDocument/2006/relationships/theme" Target="theme/theme1.xml"/><Relationship Id="rId7"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DriveTest Analyzer in one slide. Data in: CDRs (3.8 M Data and Voice calls in 27 CDRs of 9 campaigns of the UK workspace), network inventories, vendor mappings and regions and clusters. On one shared workspace, eight modules: CDR Analysis, PPT Dashboards, Scoring &amp; GAP Analysis, Network Insights, Non-Qualified Calls (48,138 NQ calls), Reporting, the Builders and the Ticket Center. They serve benchmarking, the NQ team, troubleshooting and technical and executive reporting, on an enterprise platform on AWS with roles, isolated workspaces, automated backups, a Ticket Center, a 25-chapter Help and 1,895 automated tests. Roadmap: Umlaut CDRs and the Active Tests community next, then scale-out on AWS and speed, then PostgreSQL for hundreds of concurrent users and health monitoring.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image" Target="../media/image-1003-1.png"/><Relationship Id="rId2"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image" Target="../media/image-1004-1.png"/><Relationship Id="rId2"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COVER">
    <p:bg>
      <p:bgPr>
        <a:solidFill>
          <a:srgbClr val="000000"/>
        </a:solidFill>
      </p:bgPr>
    </p:bg>
    <p:spTree>
      <p:nvGrpSpPr>
        <p:cNvPr id="1" name=""/>
        <p:cNvGrpSpPr/>
        <p:nvPr/>
      </p:nvGrpSpPr>
      <p:grpSpPr>
        <a:xfrm>
          <a:off x="0" y="0"/>
          <a:ext cx="0" cy="0"/>
          <a:chOff x="0" y="0"/>
          <a:chExt cx="0" cy="0"/>
        </a:xfrm>
      </p:grpSpPr>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CONTENT">
    <p:bg>
      <p:bgPr>
        <a:solidFill>
          <a:srgbClr val="FFFFFF"/>
        </a:solidFill>
      </p:bgPr>
    </p:bg>
    <p:spTree>
      <p:nvGrpSpPr>
        <p:cNvPr id="1" name=""/>
        <p:cNvGrpSpPr/>
        <p:nvPr/>
      </p:nvGrpSpPr>
      <p:grpSpPr>
        <a:xfrm>
          <a:off x="0" y="0"/>
          <a:ext cx="0" cy="0"/>
          <a:chOff x="0" y="0"/>
          <a:chExt cx="0" cy="0"/>
        </a:xfrm>
      </p:grpSpPr>
      <p:pic>
        <p:nvPicPr>
          <p:cNvPr id="2" name="Image 0" descr="/var/folders/pl/_b6qn8zs2_lc59t589_46cyc0000gn/T/drivetest-presentations-0nCbo0/ericsson-logo-black.png">    </p:cNvPr>
          <p:cNvPicPr>
            <a:picLocks noChangeAspect="1"/>
          </p:cNvPicPr>
          <p:nvPr/>
        </p:nvPicPr>
        <p:blipFill>
          <a:blip r:embed="rId1"/>
          <a:stretch>
            <a:fillRect/>
          </a:stretch>
        </p:blipFill>
        <p:spPr>
          <a:xfrm>
            <a:off x="11219688" y="384048"/>
            <a:ext cx="484632" cy="425196"/>
          </a:xfrm>
          <a:prstGeom prst="rect">
            <a:avLst/>
          </a:prstGeom>
        </p:spPr>
      </p:pic>
      <p:sp>
        <p:nvSpPr>
          <p:cNvPr id="3" name="Text 0"/>
          <p:cNvSpPr/>
          <p:nvPr/>
        </p:nvSpPr>
        <p:spPr>
          <a:xfrm>
            <a:off x="914400" y="6400800"/>
            <a:ext cx="3657600" cy="256032"/>
          </a:xfrm>
          <a:prstGeom prst="rect">
            <a:avLst/>
          </a:prstGeom>
          <a:noFill/>
          <a:ln/>
        </p:spPr>
        <p:txBody>
          <a:bodyPr wrap="square" lIns="0" tIns="0" rIns="0" bIns="0" rtlCol="0" anchor="ctr"/>
          <a:lstStyle/>
          <a:p>
            <a:pPr indent="0" marL="0">
              <a:buNone/>
            </a:pPr>
            <a:r>
              <a:rPr lang="en-US" sz="900" dirty="0">
                <a:solidFill>
                  <a:srgbClr val="767676"/>
                </a:solidFill>
                <a:latin typeface="Arial" pitchFamily="34" charset="0"/>
                <a:ea typeface="Arial" pitchFamily="34" charset="-122"/>
                <a:cs typeface="Arial" pitchFamily="34" charset="-120"/>
              </a:rPr>
              <a:t>DriveTest Analyzer</a:t>
            </a:r>
            <a:endParaRPr lang="en-US" sz="900" dirty="0"/>
          </a:p>
        </p:txBody>
      </p:sp>
      <p:sp>
        <p:nvSpPr>
          <p:cNvPr id="4" name="Text 1"/>
          <p:cNvSpPr/>
          <p:nvPr>
            <p:ph idx="102" type="title" hasCustomPrompt="1"/>
          </p:nvPr>
        </p:nvSpPr>
        <p:spPr>
          <a:xfrm>
            <a:off x="548640" y="384048"/>
            <a:ext cx="10424160" cy="658368"/>
          </a:xfrm>
          <a:prstGeom prst="rect">
            <a:avLst/>
          </a:prstGeom>
          <a:noFill/>
          <a:ln/>
        </p:spPr>
        <p:txBody>
          <a:bodyPr wrap="square" rtlCol="0"/>
          <a:lstStyle>
            <a:lvl1pPr algn="l" indent="0" marL="0">
              <a:buNone/>
              <a:defRPr lang="en-US" sz="3000" dirty="0">
                <a:solidFill>
                  <a:srgbClr val="000000"/>
                </a:solidFill>
                <a:latin typeface="Arial" pitchFamily="34" charset="0"/>
                <a:ea typeface="Arial" pitchFamily="34" charset="-122"/>
                <a:cs typeface="Arial" pitchFamily="34" charset="-120"/>
              </a:defRPr>
            </a:lvl1pPr>
          </a:lstStyle>
          <a:p>
            <a:pPr algn="l" indent="0" marL="0">
              <a:buNone/>
            </a:pPr>
            <a:endParaRPr lang="en-US" sz="3000" dirty="0"/>
          </a:p>
        </p:txBody>
      </p:sp>
      <p:sp>
        <p:nvSpPr>
          <p:cNvPr id="25" name="Slide Number Placeholder 0"/>
          <p:cNvSpPr>
            <a:spLocks noGrp="1"/>
          </p:cNvSpPr>
          <p:nvPr>
            <p:ph type="sldNum" sz="quarter" idx="4294967295"/>
          </p:nvPr>
        </p:nvSpPr>
        <p:spPr>
          <a:xfrm>
            <a:off x="548640" y="6400800"/>
            <a:ext cx="365760" cy="256032"/>
          </a:xfrm>
          <a:prstGeom prst="rect">
            <a:avLst/>
          </a:prstGeom>
          <a:extLst>
            <a:ext uri="{C572A759-6A51-4108-AA02-DFA0A04FC94B}">
              <ma14:wrappingTextBoxFlag xmlns:ma14="http://schemas.microsoft.com/office/mac/drawingml/2011/main" val="0"/>
            </a:ext>
          </a:extLst>
        </p:spPr>
        <p:txBody>
          <a:bodyPr/>
          <a:lstStyle>
            <a:lvl1pPr>
              <a:defRPr sz="900">
                <a:solidFill>
                  <a:srgbClr val="767676"/>
                </a:solidFill>
                <a:latin typeface="Arial"/>
                <a:ea typeface="Arial"/>
                <a:cs typeface="Arial"/>
              </a:defRPr>
            </a:lvl1pPr>
          </a:lstStyle>
          <a:p>
            <a:pPr algn="l"/>
            <a:fld id="{F7021451-1387-4CA6-816F-3879F97B5CBC}" type="slidenum">
              <a:rPr b="0" lang="en-US"/>
              <a:t>1003</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SINGLE">
    <p:bg>
      <p:bgPr>
        <a:solidFill>
          <a:srgbClr val="FFFFFF"/>
        </a:solidFill>
      </p:bgPr>
    </p:bg>
    <p:spTree>
      <p:nvGrpSpPr>
        <p:cNvPr id="1" name=""/>
        <p:cNvGrpSpPr/>
        <p:nvPr/>
      </p:nvGrpSpPr>
      <p:grpSpPr>
        <a:xfrm>
          <a:off x="0" y="0"/>
          <a:ext cx="0" cy="0"/>
          <a:chOff x="0" y="0"/>
          <a:chExt cx="0" cy="0"/>
        </a:xfrm>
      </p:grpSpPr>
      <p:pic>
        <p:nvPicPr>
          <p:cNvPr id="2" name="Image 0" descr="/var/folders/pl/_b6qn8zs2_lc59t589_46cyc0000gn/T/drivetest-presentations-0nCbo0/ericsson-logo-black.png">    </p:cNvPr>
          <p:cNvPicPr>
            <a:picLocks noChangeAspect="1"/>
          </p:cNvPicPr>
          <p:nvPr/>
        </p:nvPicPr>
        <p:blipFill>
          <a:blip r:embed="rId1"/>
          <a:stretch>
            <a:fillRect/>
          </a:stretch>
        </p:blipFill>
        <p:spPr>
          <a:xfrm>
            <a:off x="11219688" y="384048"/>
            <a:ext cx="484632" cy="425196"/>
          </a:xfrm>
          <a:prstGeom prst="rect">
            <a:avLst/>
          </a:prstGeom>
        </p:spPr>
      </p:pic>
      <p:sp>
        <p:nvSpPr>
          <p:cNvPr id="3" name="Text 0"/>
          <p:cNvSpPr/>
          <p:nvPr/>
        </p:nvSpPr>
        <p:spPr>
          <a:xfrm>
            <a:off x="914400" y="6400800"/>
            <a:ext cx="3657600" cy="256032"/>
          </a:xfrm>
          <a:prstGeom prst="rect">
            <a:avLst/>
          </a:prstGeom>
          <a:noFill/>
          <a:ln/>
        </p:spPr>
        <p:txBody>
          <a:bodyPr wrap="square" lIns="0" tIns="0" rIns="0" bIns="0" rtlCol="0" anchor="ctr"/>
          <a:lstStyle/>
          <a:p>
            <a:pPr indent="0" marL="0">
              <a:buNone/>
            </a:pPr>
            <a:r>
              <a:rPr lang="en-US" sz="900" dirty="0">
                <a:solidFill>
                  <a:srgbClr val="767676"/>
                </a:solidFill>
                <a:latin typeface="Arial" pitchFamily="34" charset="0"/>
                <a:ea typeface="Arial" pitchFamily="34" charset="-122"/>
                <a:cs typeface="Arial" pitchFamily="34" charset="-120"/>
              </a:rPr>
              <a:t>DriveTest Analyzer</a:t>
            </a:r>
            <a:endParaRPr lang="en-US" sz="900" dirty="0"/>
          </a:p>
        </p:txBody>
      </p:sp>
      <p:sp>
        <p:nvSpPr>
          <p:cNvPr id="4" name="Text 1"/>
          <p:cNvSpPr/>
          <p:nvPr>
            <p:ph idx="102" type="title" hasCustomPrompt="1"/>
          </p:nvPr>
        </p:nvSpPr>
        <p:spPr>
          <a:xfrm>
            <a:off x="548640" y="384048"/>
            <a:ext cx="10424160" cy="658368"/>
          </a:xfrm>
          <a:prstGeom prst="rect">
            <a:avLst/>
          </a:prstGeom>
          <a:noFill/>
          <a:ln/>
        </p:spPr>
        <p:txBody>
          <a:bodyPr wrap="square" rtlCol="0"/>
          <a:lstStyle>
            <a:lvl1pPr algn="l" indent="0" marL="0">
              <a:buNone/>
              <a:defRPr lang="en-US" sz="3000" dirty="0">
                <a:solidFill>
                  <a:srgbClr val="000000"/>
                </a:solidFill>
                <a:latin typeface="Arial" pitchFamily="34" charset="0"/>
                <a:ea typeface="Arial" pitchFamily="34" charset="-122"/>
                <a:cs typeface="Arial" pitchFamily="34" charset="-120"/>
              </a:defRPr>
            </a:lvl1pPr>
          </a:lstStyle>
          <a:p>
            <a:pPr algn="l" indent="0" marL="0">
              <a:buNone/>
            </a:pPr>
            <a:endParaRPr lang="en-US" sz="3000" dirty="0"/>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548640" y="6400800"/>
            <a:ext cx="365760" cy="256032"/>
          </a:xfrm>
          <a:prstGeom prst="rect">
            <a:avLst/>
          </a:prstGeom>
          <a:extLst>
            <a:ext uri="{C572A759-6A51-4108-AA02-DFA0A04FC94B}">
              <ma14:wrappingTextBoxFlag xmlns:ma14="http://schemas.microsoft.com/office/mac/drawingml/2011/main" val="0"/>
            </a:ext>
          </a:extLst>
        </p:spPr>
        <p:txBody>
          <a:bodyPr/>
          <a:lstStyle>
            <a:lvl1pPr>
              <a:defRPr sz="900">
                <a:solidFill>
                  <a:srgbClr val="767676"/>
                </a:solidFill>
                <a:latin typeface="Arial"/>
                <a:ea typeface="Arial"/>
                <a:cs typeface="Arial"/>
              </a:defRPr>
            </a:lvl1pPr>
          </a:lstStyle>
          <a:p>
            <a:pPr algn="l"/>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image" Target="../media/image-1-2.png"/><Relationship Id="rId3" Type="http://schemas.openxmlformats.org/officeDocument/2006/relationships/image" Target="../media/image-1-3.png"/><Relationship Id="rId4" Type="http://schemas.openxmlformats.org/officeDocument/2006/relationships/image" Target="../media/image-1-4.png"/><Relationship Id="rId5" Type="http://schemas.openxmlformats.org/officeDocument/2006/relationships/image" Target="../media/image-1-5.png"/><Relationship Id="rId6" Type="http://schemas.openxmlformats.org/officeDocument/2006/relationships/image" Target="../media/image-1-6.png"/><Relationship Id="rId7" Type="http://schemas.openxmlformats.org/officeDocument/2006/relationships/image" Target="../media/image-1-7.png"/><Relationship Id="rId8" Type="http://schemas.openxmlformats.org/officeDocument/2006/relationships/image" Target="../media/image-1-8.png"/><Relationship Id="rId9" Type="http://schemas.openxmlformats.org/officeDocument/2006/relationships/image" Target="../media/image-1-9.png"/><Relationship Id="rId10" Type="http://schemas.openxmlformats.org/officeDocument/2006/relationships/image" Target="../media/image-1-10.png"/><Relationship Id="rId11" Type="http://schemas.openxmlformats.org/officeDocument/2006/relationships/image" Target="../media/image-1-11.png"/><Relationship Id="rId12" Type="http://schemas.openxmlformats.org/officeDocument/2006/relationships/image" Target="../media/image-1-12.png"/><Relationship Id="rId13" Type="http://schemas.openxmlformats.org/officeDocument/2006/relationships/image" Target="../media/image-1-13.png"/><Relationship Id="rId14" Type="http://schemas.openxmlformats.org/officeDocument/2006/relationships/image" Target="../media/image-1-14.png"/><Relationship Id="rId15" Type="http://schemas.openxmlformats.org/officeDocument/2006/relationships/image" Target="../media/image-1-15.png"/><Relationship Id="rId16" Type="http://schemas.openxmlformats.org/officeDocument/2006/relationships/image" Target="../media/image-1-16.png"/><Relationship Id="rId17" Type="http://schemas.openxmlformats.org/officeDocument/2006/relationships/image" Target="../media/image-1-17.png"/><Relationship Id="rId18" Type="http://schemas.openxmlformats.org/officeDocument/2006/relationships/image" Target="../media/image-1-18.png"/><Relationship Id="rId19" Type="http://schemas.openxmlformats.org/officeDocument/2006/relationships/image" Target="../media/image-1-19.png"/><Relationship Id="rId20" Type="http://schemas.openxmlformats.org/officeDocument/2006/relationships/image" Target="../media/image-1-20.png"/><Relationship Id="rId21" Type="http://schemas.openxmlformats.org/officeDocument/2006/relationships/image" Target="../media/image-1-21.png"/><Relationship Id="rId22" Type="http://schemas.openxmlformats.org/officeDocument/2006/relationships/image" Target="../media/image-1-22.png"/><Relationship Id="rId23" Type="http://schemas.openxmlformats.org/officeDocument/2006/relationships/image" Target="../media/image-1-23.png"/><Relationship Id="rId24" Type="http://schemas.openxmlformats.org/officeDocument/2006/relationships/image" Target="../media/image-1-24.png"/><Relationship Id="rId25" Type="http://schemas.openxmlformats.org/officeDocument/2006/relationships/image" Target="../media/image-1-25.png"/><Relationship Id="rId26" Type="http://schemas.openxmlformats.org/officeDocument/2006/relationships/image" Target="../media/image-1-26.png"/><Relationship Id="rId27" Type="http://schemas.openxmlformats.org/officeDocument/2006/relationships/image" Target="../media/image-1-27.png"/><Relationship Id="rId28" Type="http://schemas.openxmlformats.org/officeDocument/2006/relationships/image" Target="../media/image-1-28.png"/><Relationship Id="rId29" Type="http://schemas.openxmlformats.org/officeDocument/2006/relationships/image" Target="../media/image-1-29.png"/><Relationship Id="rId30" Type="http://schemas.openxmlformats.org/officeDocument/2006/relationships/slideLayout" Target="../slideLayouts/slideLayout4.xml"/><Relationship Id="rId31" Type="http://schemas.openxmlformats.org/officeDocument/2006/relationships/notesSlide" Target="../notesSlides/notesSlide1.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pic>
        <p:nvPicPr>
          <p:cNvPr id="2" name="Small roadmap road" descr="/var/folders/pl/_b6qn8zs2_lc59t589_46cyc0000gn/T/drivetest-presentations-0nCbo0/mini-road.png">    </p:cNvPr>
          <p:cNvPicPr>
            <a:picLocks noChangeAspect="1"/>
          </p:cNvPicPr>
          <p:nvPr/>
        </p:nvPicPr>
        <p:blipFill>
          <a:blip r:embed="rId1"/>
          <a:stretch>
            <a:fillRect/>
          </a:stretch>
        </p:blipFill>
        <p:spPr>
          <a:xfrm>
            <a:off x="0" y="0"/>
            <a:ext cx="12191695" cy="6858000"/>
          </a:xfrm>
          <a:prstGeom prst="rect">
            <a:avLst/>
          </a:prstGeom>
        </p:spPr>
      </p:pic>
      <p:sp>
        <p:nvSpPr>
          <p:cNvPr id="3" name="Text 1"/>
          <p:cNvSpPr/>
          <p:nvPr>
            <p:ph idx="102" type="title" hasCustomPrompt="1"/>
          </p:nvPr>
        </p:nvSpPr>
        <p:spPr>
          <a:xfrm>
            <a:off x="548640" y="384048"/>
            <a:ext cx="10424160" cy="658368"/>
          </a:xfrm>
          <a:prstGeom prst="rect">
            <a:avLst/>
          </a:prstGeom>
          <a:noFill/>
          <a:ln/>
        </p:spPr>
        <p:txBody>
          <a:bodyPr wrap="square" lIns="0" tIns="0" rIns="0" bIns="0" rtlCol="0" anchor="ctr"/>
          <a:lstStyle/>
          <a:p>
            <a:pPr algn="l" indent="0" marL="0">
              <a:buNone/>
            </a:pPr>
            <a:r>
              <a:rPr lang="en-US" sz="3000" dirty="0">
                <a:solidFill>
                  <a:srgbClr val="000000"/>
                </a:solidFill>
                <a:latin typeface="Arial" pitchFamily="34" charset="0"/>
                <a:ea typeface="Arial" pitchFamily="34" charset="-122"/>
                <a:cs typeface="Arial" pitchFamily="34" charset="-120"/>
              </a:rPr>
              <a:t>DriveTest Analyzer — </a:t>
            </a:r>
            <a:pPr algn="l" indent="0" marL="0">
              <a:buNone/>
            </a:pPr>
            <a:r>
              <a:rPr lang="en-US" sz="3000" b="1" dirty="0">
                <a:solidFill>
                  <a:srgbClr val="0068BF"/>
                </a:solidFill>
                <a:latin typeface="Arial" pitchFamily="34" charset="0"/>
                <a:ea typeface="Arial" pitchFamily="34" charset="-122"/>
                <a:cs typeface="Arial" pitchFamily="34" charset="-120"/>
              </a:rPr>
              <a:t>CDRs to decisions, in one platform</a:t>
            </a:r>
            <a:endParaRPr lang="en-US" sz="3000" dirty="0"/>
          </a:p>
        </p:txBody>
      </p:sp>
      <p:sp>
        <p:nvSpPr>
          <p:cNvPr id="4" name="text-1150"/>
          <p:cNvSpPr txBox="1"/>
          <p:nvPr/>
        </p:nvSpPr>
        <p:spPr>
          <a:xfrm>
            <a:off x="548640" y="1024128"/>
            <a:ext cx="11064240" cy="365760"/>
          </a:xfrm>
          <a:prstGeom prst="rect">
            <a:avLst/>
          </a:prstGeom>
          <a:noFill/>
          <a:ln/>
        </p:spPr>
        <p:txBody>
          <a:bodyPr wrap="square" lIns="0" tIns="0" rIns="0" bIns="0" rtlCol="0" anchor="ctr"/>
          <a:lstStyle/>
          <a:p>
            <a:pPr indent="0" marL="0">
              <a:buNone/>
            </a:pPr>
            <a:r>
              <a:rPr lang="en-US" sz="1500" dirty="0">
                <a:solidFill>
                  <a:srgbClr val="767676"/>
                </a:solidFill>
                <a:latin typeface="Arial" pitchFamily="34" charset="0"/>
                <a:ea typeface="Arial" pitchFamily="34" charset="-122"/>
                <a:cs typeface="Arial" pitchFamily="34" charset="-120"/>
              </a:rPr>
              <a:t>Benchmarking, NQ Calls, troubleshooting and reporting for every team, on the same data</a:t>
            </a:r>
            <a:endParaRPr lang="en-US" sz="1500" dirty="0"/>
          </a:p>
        </p:txBody>
      </p:sp>
      <p:sp>
        <p:nvSpPr>
          <p:cNvPr id="5" name="text-1151"/>
          <p:cNvSpPr txBox="1"/>
          <p:nvPr/>
        </p:nvSpPr>
        <p:spPr>
          <a:xfrm>
            <a:off x="548640" y="1481328"/>
            <a:ext cx="2743200" cy="237744"/>
          </a:xfrm>
          <a:prstGeom prst="rect">
            <a:avLst/>
          </a:prstGeom>
          <a:noFill/>
          <a:ln/>
        </p:spPr>
        <p:txBody>
          <a:bodyPr wrap="square" lIns="0" tIns="0" rIns="0" bIns="0" rtlCol="0" anchor="ctr"/>
          <a:lstStyle/>
          <a:p>
            <a:pPr indent="0" marL="0">
              <a:buNone/>
            </a:pPr>
            <a:r>
              <a:rPr lang="en-US" sz="1050" b="1" spc="100" kern="0" dirty="0">
                <a:solidFill>
                  <a:srgbClr val="767676"/>
                </a:solidFill>
                <a:latin typeface="Arial" pitchFamily="34" charset="0"/>
                <a:ea typeface="Arial" pitchFamily="34" charset="-122"/>
                <a:cs typeface="Arial" pitchFamily="34" charset="-120"/>
              </a:rPr>
              <a:t>DATA IN</a:t>
            </a:r>
            <a:endParaRPr lang="en-US" sz="1050" dirty="0"/>
          </a:p>
        </p:txBody>
      </p:sp>
      <p:sp>
        <p:nvSpPr>
          <p:cNvPr id="6" name="text-1152"/>
          <p:cNvSpPr txBox="1"/>
          <p:nvPr/>
        </p:nvSpPr>
        <p:spPr>
          <a:xfrm>
            <a:off x="8915400" y="1481328"/>
            <a:ext cx="2743200" cy="237744"/>
          </a:xfrm>
          <a:prstGeom prst="rect">
            <a:avLst/>
          </a:prstGeom>
          <a:noFill/>
          <a:ln/>
        </p:spPr>
        <p:txBody>
          <a:bodyPr wrap="square" lIns="0" tIns="0" rIns="0" bIns="0" rtlCol="0" anchor="ctr"/>
          <a:lstStyle/>
          <a:p>
            <a:pPr indent="0" marL="0">
              <a:buNone/>
            </a:pPr>
            <a:r>
              <a:rPr lang="en-US" sz="1050" b="1" spc="100" kern="0" dirty="0">
                <a:solidFill>
                  <a:srgbClr val="767676"/>
                </a:solidFill>
                <a:latin typeface="Arial" pitchFamily="34" charset="0"/>
                <a:ea typeface="Arial" pitchFamily="34" charset="-122"/>
                <a:cs typeface="Arial" pitchFamily="34" charset="-120"/>
              </a:rPr>
              <a:t>BUILT FOR EVERY TEAM</a:t>
            </a:r>
            <a:endParaRPr lang="en-US" sz="1050" dirty="0"/>
          </a:p>
        </p:txBody>
      </p:sp>
      <p:sp>
        <p:nvSpPr>
          <p:cNvPr id="7" name="shape-1153"/>
          <p:cNvSpPr/>
          <p:nvPr/>
        </p:nvSpPr>
        <p:spPr>
          <a:xfrm>
            <a:off x="3154680" y="2148840"/>
            <a:ext cx="731520" cy="1252728"/>
          </a:xfrm>
          <a:prstGeom prst="line">
            <a:avLst/>
          </a:prstGeom>
          <a:noFill/>
          <a:ln w="15875">
            <a:solidFill>
              <a:srgbClr val="A0A0A0"/>
            </a:solidFill>
            <a:prstDash val="solid"/>
            <a:tailEnd type="triangle"/>
          </a:ln>
        </p:spPr>
      </p:sp>
      <p:sp>
        <p:nvSpPr>
          <p:cNvPr id="8" name="shape-1154"/>
          <p:cNvSpPr/>
          <p:nvPr/>
        </p:nvSpPr>
        <p:spPr>
          <a:xfrm>
            <a:off x="548640" y="1783080"/>
            <a:ext cx="2606040" cy="731520"/>
          </a:xfrm>
          <a:prstGeom prst="roundRect">
            <a:avLst>
              <a:gd name="adj" fmla="val 12500"/>
            </a:avLst>
          </a:prstGeom>
          <a:solidFill>
            <a:srgbClr val="F2F2F2"/>
          </a:solidFill>
          <a:ln w="12700">
            <a:solidFill>
              <a:srgbClr val="F2F2F2"/>
            </a:solidFill>
            <a:prstDash val="solid"/>
          </a:ln>
        </p:spPr>
      </p:sp>
      <p:sp>
        <p:nvSpPr>
          <p:cNvPr id="9" name="shape-1155"/>
          <p:cNvSpPr/>
          <p:nvPr/>
        </p:nvSpPr>
        <p:spPr>
          <a:xfrm>
            <a:off x="685800" y="1938528"/>
            <a:ext cx="420624" cy="420624"/>
          </a:xfrm>
          <a:prstGeom prst="ellipse">
            <a:avLst/>
          </a:prstGeom>
          <a:solidFill>
            <a:srgbClr val="0068BF"/>
          </a:solidFill>
          <a:ln w="12700">
            <a:solidFill>
              <a:srgbClr val="0068BF"/>
            </a:solidFill>
            <a:prstDash val="solid"/>
          </a:ln>
        </p:spPr>
      </p:sp>
      <p:pic>
        <p:nvPicPr>
          <p:cNvPr id="10" name="icon-1156" descr="preencoded.png">    </p:cNvPr>
          <p:cNvPicPr>
            <a:picLocks noChangeAspect="1"/>
          </p:cNvPicPr>
          <p:nvPr/>
        </p:nvPicPr>
        <p:blipFill>
          <a:blip r:embed="rId2"/>
          <a:stretch>
            <a:fillRect/>
          </a:stretch>
        </p:blipFill>
        <p:spPr>
          <a:xfrm>
            <a:off x="778337" y="2031065"/>
            <a:ext cx="235549" cy="235549"/>
          </a:xfrm>
          <a:prstGeom prst="rect">
            <a:avLst/>
          </a:prstGeom>
        </p:spPr>
      </p:pic>
      <p:sp>
        <p:nvSpPr>
          <p:cNvPr id="11" name="text-1157"/>
          <p:cNvSpPr txBox="1"/>
          <p:nvPr/>
        </p:nvSpPr>
        <p:spPr>
          <a:xfrm>
            <a:off x="1207008" y="1856232"/>
            <a:ext cx="1874520" cy="274320"/>
          </a:xfrm>
          <a:prstGeom prst="rect">
            <a:avLst/>
          </a:prstGeom>
          <a:noFill/>
          <a:ln/>
        </p:spPr>
        <p:txBody>
          <a:bodyPr wrap="square" lIns="0" tIns="0" rIns="0" bIns="0" rtlCol="0" anchor="ctr"/>
          <a:lstStyle/>
          <a:p>
            <a:pPr indent="0" marL="0">
              <a:buNone/>
            </a:pPr>
            <a:r>
              <a:rPr lang="en-US" sz="1250" b="1" dirty="0">
                <a:solidFill>
                  <a:srgbClr val="242424"/>
                </a:solidFill>
                <a:latin typeface="Arial" pitchFamily="34" charset="0"/>
                <a:ea typeface="Arial" pitchFamily="34" charset="-122"/>
                <a:cs typeface="Arial" pitchFamily="34" charset="-120"/>
              </a:rPr>
              <a:t>CDRs</a:t>
            </a:r>
            <a:endParaRPr lang="en-US" sz="1250" dirty="0"/>
          </a:p>
        </p:txBody>
      </p:sp>
      <p:sp>
        <p:nvSpPr>
          <p:cNvPr id="12" name="text-1158"/>
          <p:cNvSpPr txBox="1"/>
          <p:nvPr/>
        </p:nvSpPr>
        <p:spPr>
          <a:xfrm>
            <a:off x="1207008" y="2148840"/>
            <a:ext cx="1874520" cy="274320"/>
          </a:xfrm>
          <a:prstGeom prst="rect">
            <a:avLst/>
          </a:prstGeom>
          <a:noFill/>
          <a:ln/>
        </p:spPr>
        <p:txBody>
          <a:bodyPr wrap="square" lIns="0" tIns="0" rIns="0" bIns="0" rtlCol="0" anchor="ctr"/>
          <a:lstStyle/>
          <a:p>
            <a:pPr indent="0" marL="0">
              <a:buNone/>
            </a:pPr>
            <a:r>
              <a:rPr lang="en-US" sz="1400" b="1" dirty="0">
                <a:solidFill>
                  <a:srgbClr val="0068BF"/>
                </a:solidFill>
                <a:latin typeface="Arial" pitchFamily="34" charset="0"/>
                <a:ea typeface="Arial" pitchFamily="34" charset="-122"/>
                <a:cs typeface="Arial" pitchFamily="34" charset="-120"/>
              </a:rPr>
              <a:t>3.8 M </a:t>
            </a:r>
            <a:pPr indent="0" marL="0">
              <a:buNone/>
            </a:pPr>
            <a:r>
              <a:rPr lang="en-US" sz="1000" dirty="0">
                <a:solidFill>
                  <a:srgbClr val="767676"/>
                </a:solidFill>
                <a:latin typeface="Arial" pitchFamily="34" charset="0"/>
                <a:ea typeface="Arial" pitchFamily="34" charset="-122"/>
                <a:cs typeface="Arial" pitchFamily="34" charset="-120"/>
              </a:rPr>
              <a:t>calls · 27 CDRs</a:t>
            </a:r>
            <a:endParaRPr lang="en-US" sz="1400" dirty="0"/>
          </a:p>
        </p:txBody>
      </p:sp>
      <p:sp>
        <p:nvSpPr>
          <p:cNvPr id="13" name="shape-1159"/>
          <p:cNvSpPr/>
          <p:nvPr/>
        </p:nvSpPr>
        <p:spPr>
          <a:xfrm>
            <a:off x="3154680" y="2990088"/>
            <a:ext cx="731520" cy="411480"/>
          </a:xfrm>
          <a:prstGeom prst="line">
            <a:avLst/>
          </a:prstGeom>
          <a:noFill/>
          <a:ln w="15875">
            <a:solidFill>
              <a:srgbClr val="A0A0A0"/>
            </a:solidFill>
            <a:prstDash val="solid"/>
            <a:tailEnd type="triangle"/>
          </a:ln>
        </p:spPr>
      </p:sp>
      <p:sp>
        <p:nvSpPr>
          <p:cNvPr id="14" name="shape-1160"/>
          <p:cNvSpPr/>
          <p:nvPr/>
        </p:nvSpPr>
        <p:spPr>
          <a:xfrm>
            <a:off x="548640" y="2624328"/>
            <a:ext cx="2606040" cy="731520"/>
          </a:xfrm>
          <a:prstGeom prst="roundRect">
            <a:avLst>
              <a:gd name="adj" fmla="val 12500"/>
            </a:avLst>
          </a:prstGeom>
          <a:solidFill>
            <a:srgbClr val="F2F2F2"/>
          </a:solidFill>
          <a:ln w="12700">
            <a:solidFill>
              <a:srgbClr val="F2F2F2"/>
            </a:solidFill>
            <a:prstDash val="solid"/>
          </a:ln>
        </p:spPr>
      </p:sp>
      <p:sp>
        <p:nvSpPr>
          <p:cNvPr id="15" name="shape-1161"/>
          <p:cNvSpPr/>
          <p:nvPr/>
        </p:nvSpPr>
        <p:spPr>
          <a:xfrm>
            <a:off x="685800" y="2779776"/>
            <a:ext cx="420624" cy="420624"/>
          </a:xfrm>
          <a:prstGeom prst="ellipse">
            <a:avLst/>
          </a:prstGeom>
          <a:solidFill>
            <a:srgbClr val="0C9B5B"/>
          </a:solidFill>
          <a:ln w="12700">
            <a:solidFill>
              <a:srgbClr val="0C9B5B"/>
            </a:solidFill>
            <a:prstDash val="solid"/>
          </a:ln>
        </p:spPr>
      </p:sp>
      <p:pic>
        <p:nvPicPr>
          <p:cNvPr id="16" name="icon-1162" descr="preencoded.png">    </p:cNvPr>
          <p:cNvPicPr>
            <a:picLocks noChangeAspect="1"/>
          </p:cNvPicPr>
          <p:nvPr/>
        </p:nvPicPr>
        <p:blipFill>
          <a:blip r:embed="rId3"/>
          <a:stretch>
            <a:fillRect/>
          </a:stretch>
        </p:blipFill>
        <p:spPr>
          <a:xfrm>
            <a:off x="778337" y="2872313"/>
            <a:ext cx="235549" cy="235549"/>
          </a:xfrm>
          <a:prstGeom prst="rect">
            <a:avLst/>
          </a:prstGeom>
        </p:spPr>
      </p:pic>
      <p:sp>
        <p:nvSpPr>
          <p:cNvPr id="17" name="text-1163"/>
          <p:cNvSpPr txBox="1"/>
          <p:nvPr/>
        </p:nvSpPr>
        <p:spPr>
          <a:xfrm>
            <a:off x="1207008" y="2697480"/>
            <a:ext cx="1874520" cy="274320"/>
          </a:xfrm>
          <a:prstGeom prst="rect">
            <a:avLst/>
          </a:prstGeom>
          <a:noFill/>
          <a:ln/>
        </p:spPr>
        <p:txBody>
          <a:bodyPr wrap="square" lIns="0" tIns="0" rIns="0" bIns="0" rtlCol="0" anchor="ctr"/>
          <a:lstStyle/>
          <a:p>
            <a:pPr indent="0" marL="0">
              <a:buNone/>
            </a:pPr>
            <a:r>
              <a:rPr lang="en-US" sz="1250" b="1" dirty="0">
                <a:solidFill>
                  <a:srgbClr val="242424"/>
                </a:solidFill>
                <a:latin typeface="Arial" pitchFamily="34" charset="0"/>
                <a:ea typeface="Arial" pitchFamily="34" charset="-122"/>
                <a:cs typeface="Arial" pitchFamily="34" charset="-120"/>
              </a:rPr>
              <a:t>Network Inventories</a:t>
            </a:r>
            <a:endParaRPr lang="en-US" sz="1250" dirty="0"/>
          </a:p>
        </p:txBody>
      </p:sp>
      <p:sp>
        <p:nvSpPr>
          <p:cNvPr id="18" name="text-1164"/>
          <p:cNvSpPr txBox="1"/>
          <p:nvPr/>
        </p:nvSpPr>
        <p:spPr>
          <a:xfrm>
            <a:off x="1207008" y="2990088"/>
            <a:ext cx="1874520" cy="274320"/>
          </a:xfrm>
          <a:prstGeom prst="rect">
            <a:avLst/>
          </a:prstGeom>
          <a:noFill/>
          <a:ln/>
        </p:spPr>
        <p:txBody>
          <a:bodyPr wrap="square" lIns="0" tIns="0" rIns="0" bIns="0" rtlCol="0" anchor="ctr"/>
          <a:lstStyle/>
          <a:p>
            <a:pPr indent="0" marL="0">
              <a:buNone/>
            </a:pPr>
            <a:r>
              <a:rPr lang="en-US" sz="1400" b="1" dirty="0">
                <a:solidFill>
                  <a:srgbClr val="0068BF"/>
                </a:solidFill>
                <a:latin typeface="Arial" pitchFamily="34" charset="0"/>
                <a:ea typeface="Arial" pitchFamily="34" charset="-122"/>
                <a:cs typeface="Arial" pitchFamily="34" charset="-120"/>
              </a:rPr>
              <a:t>519 k </a:t>
            </a:r>
            <a:pPr indent="0" marL="0">
              <a:buNone/>
            </a:pPr>
            <a:r>
              <a:rPr lang="en-US" sz="1000" dirty="0">
                <a:solidFill>
                  <a:srgbClr val="767676"/>
                </a:solidFill>
                <a:latin typeface="Arial" pitchFamily="34" charset="0"/>
                <a:ea typeface="Arial" pitchFamily="34" charset="-122"/>
                <a:cs typeface="Arial" pitchFamily="34" charset="-120"/>
              </a:rPr>
              <a:t>cell rows</a:t>
            </a:r>
            <a:endParaRPr lang="en-US" sz="1400" dirty="0"/>
          </a:p>
        </p:txBody>
      </p:sp>
      <p:sp>
        <p:nvSpPr>
          <p:cNvPr id="19" name="shape-1165"/>
          <p:cNvSpPr/>
          <p:nvPr/>
        </p:nvSpPr>
        <p:spPr>
          <a:xfrm flipV="1">
            <a:off x="3154680" y="3401568"/>
            <a:ext cx="731520" cy="429768"/>
          </a:xfrm>
          <a:prstGeom prst="line">
            <a:avLst/>
          </a:prstGeom>
          <a:noFill/>
          <a:ln w="15875">
            <a:solidFill>
              <a:srgbClr val="A0A0A0"/>
            </a:solidFill>
            <a:prstDash val="solid"/>
            <a:tailEnd type="triangle"/>
          </a:ln>
        </p:spPr>
      </p:sp>
      <p:sp>
        <p:nvSpPr>
          <p:cNvPr id="20" name="shape-1166"/>
          <p:cNvSpPr/>
          <p:nvPr/>
        </p:nvSpPr>
        <p:spPr>
          <a:xfrm>
            <a:off x="548640" y="3465576"/>
            <a:ext cx="2606040" cy="731520"/>
          </a:xfrm>
          <a:prstGeom prst="roundRect">
            <a:avLst>
              <a:gd name="adj" fmla="val 12500"/>
            </a:avLst>
          </a:prstGeom>
          <a:solidFill>
            <a:srgbClr val="F2F2F2"/>
          </a:solidFill>
          <a:ln w="12700">
            <a:solidFill>
              <a:srgbClr val="F2F2F2"/>
            </a:solidFill>
            <a:prstDash val="solid"/>
          </a:ln>
        </p:spPr>
      </p:sp>
      <p:sp>
        <p:nvSpPr>
          <p:cNvPr id="21" name="shape-1167"/>
          <p:cNvSpPr/>
          <p:nvPr/>
        </p:nvSpPr>
        <p:spPr>
          <a:xfrm>
            <a:off x="685800" y="3621024"/>
            <a:ext cx="420624" cy="420624"/>
          </a:xfrm>
          <a:prstGeom prst="ellipse">
            <a:avLst/>
          </a:prstGeom>
          <a:solidFill>
            <a:srgbClr val="E07800"/>
          </a:solidFill>
          <a:ln w="12700">
            <a:solidFill>
              <a:srgbClr val="E07800"/>
            </a:solidFill>
            <a:prstDash val="solid"/>
          </a:ln>
        </p:spPr>
      </p:sp>
      <p:pic>
        <p:nvPicPr>
          <p:cNvPr id="22" name="icon-1168" descr="preencoded.png">    </p:cNvPr>
          <p:cNvPicPr>
            <a:picLocks noChangeAspect="1"/>
          </p:cNvPicPr>
          <p:nvPr/>
        </p:nvPicPr>
        <p:blipFill>
          <a:blip r:embed="rId4"/>
          <a:stretch>
            <a:fillRect/>
          </a:stretch>
        </p:blipFill>
        <p:spPr>
          <a:xfrm>
            <a:off x="778337" y="3713561"/>
            <a:ext cx="235549" cy="235549"/>
          </a:xfrm>
          <a:prstGeom prst="rect">
            <a:avLst/>
          </a:prstGeom>
        </p:spPr>
      </p:pic>
      <p:sp>
        <p:nvSpPr>
          <p:cNvPr id="23" name="text-1169"/>
          <p:cNvSpPr txBox="1"/>
          <p:nvPr/>
        </p:nvSpPr>
        <p:spPr>
          <a:xfrm>
            <a:off x="1207008" y="3538728"/>
            <a:ext cx="1874520" cy="274320"/>
          </a:xfrm>
          <a:prstGeom prst="rect">
            <a:avLst/>
          </a:prstGeom>
          <a:noFill/>
          <a:ln/>
        </p:spPr>
        <p:txBody>
          <a:bodyPr wrap="square" lIns="0" tIns="0" rIns="0" bIns="0" rtlCol="0" anchor="ctr"/>
          <a:lstStyle/>
          <a:p>
            <a:pPr indent="0" marL="0">
              <a:buNone/>
            </a:pPr>
            <a:r>
              <a:rPr lang="en-US" sz="1250" b="1" dirty="0">
                <a:solidFill>
                  <a:srgbClr val="242424"/>
                </a:solidFill>
                <a:latin typeface="Arial" pitchFamily="34" charset="0"/>
                <a:ea typeface="Arial" pitchFamily="34" charset="-122"/>
                <a:cs typeface="Arial" pitchFamily="34" charset="-120"/>
              </a:rPr>
              <a:t>Vendor Mappings</a:t>
            </a:r>
            <a:endParaRPr lang="en-US" sz="1250" dirty="0"/>
          </a:p>
        </p:txBody>
      </p:sp>
      <p:sp>
        <p:nvSpPr>
          <p:cNvPr id="24" name="text-1170"/>
          <p:cNvSpPr txBox="1"/>
          <p:nvPr/>
        </p:nvSpPr>
        <p:spPr>
          <a:xfrm>
            <a:off x="1207008" y="3831336"/>
            <a:ext cx="1874520" cy="274320"/>
          </a:xfrm>
          <a:prstGeom prst="rect">
            <a:avLst/>
          </a:prstGeom>
          <a:noFill/>
          <a:ln/>
        </p:spPr>
        <p:txBody>
          <a:bodyPr wrap="square" lIns="0" tIns="0" rIns="0" bIns="0" rtlCol="0" anchor="ctr"/>
          <a:lstStyle/>
          <a:p>
            <a:pPr indent="0" marL="0">
              <a:buNone/>
            </a:pPr>
            <a:r>
              <a:rPr lang="en-US" sz="1400" b="1" dirty="0">
                <a:solidFill>
                  <a:srgbClr val="0068BF"/>
                </a:solidFill>
                <a:latin typeface="Arial" pitchFamily="34" charset="0"/>
                <a:ea typeface="Arial" pitchFamily="34" charset="-122"/>
                <a:cs typeface="Arial" pitchFamily="34" charset="-120"/>
              </a:rPr>
              <a:t>1.1 M </a:t>
            </a:r>
            <a:pPr indent="0" marL="0">
              <a:buNone/>
            </a:pPr>
            <a:r>
              <a:rPr lang="en-US" sz="1000" dirty="0">
                <a:solidFill>
                  <a:srgbClr val="767676"/>
                </a:solidFill>
                <a:latin typeface="Arial" pitchFamily="34" charset="0"/>
                <a:ea typeface="Arial" pitchFamily="34" charset="-122"/>
                <a:cs typeface="Arial" pitchFamily="34" charset="-120"/>
              </a:rPr>
              <a:t>mapping rows</a:t>
            </a:r>
            <a:endParaRPr lang="en-US" sz="1400" dirty="0"/>
          </a:p>
        </p:txBody>
      </p:sp>
      <p:sp>
        <p:nvSpPr>
          <p:cNvPr id="25" name="shape-1171"/>
          <p:cNvSpPr/>
          <p:nvPr/>
        </p:nvSpPr>
        <p:spPr>
          <a:xfrm flipV="1">
            <a:off x="3154680" y="3401568"/>
            <a:ext cx="731520" cy="1271016"/>
          </a:xfrm>
          <a:prstGeom prst="line">
            <a:avLst/>
          </a:prstGeom>
          <a:noFill/>
          <a:ln w="15875">
            <a:solidFill>
              <a:srgbClr val="A0A0A0"/>
            </a:solidFill>
            <a:prstDash val="solid"/>
            <a:tailEnd type="triangle"/>
          </a:ln>
        </p:spPr>
      </p:sp>
      <p:sp>
        <p:nvSpPr>
          <p:cNvPr id="26" name="shape-1172"/>
          <p:cNvSpPr/>
          <p:nvPr/>
        </p:nvSpPr>
        <p:spPr>
          <a:xfrm>
            <a:off x="548640" y="4306824"/>
            <a:ext cx="2606040" cy="731520"/>
          </a:xfrm>
          <a:prstGeom prst="roundRect">
            <a:avLst>
              <a:gd name="adj" fmla="val 12500"/>
            </a:avLst>
          </a:prstGeom>
          <a:solidFill>
            <a:srgbClr val="F2F2F2"/>
          </a:solidFill>
          <a:ln w="12700">
            <a:solidFill>
              <a:srgbClr val="F2F2F2"/>
            </a:solidFill>
            <a:prstDash val="solid"/>
          </a:ln>
        </p:spPr>
      </p:sp>
      <p:sp>
        <p:nvSpPr>
          <p:cNvPr id="27" name="shape-1173"/>
          <p:cNvSpPr/>
          <p:nvPr/>
        </p:nvSpPr>
        <p:spPr>
          <a:xfrm>
            <a:off x="685800" y="4462272"/>
            <a:ext cx="420624" cy="420624"/>
          </a:xfrm>
          <a:prstGeom prst="ellipse">
            <a:avLst/>
          </a:prstGeom>
          <a:solidFill>
            <a:srgbClr val="8C60A8"/>
          </a:solidFill>
          <a:ln w="12700">
            <a:solidFill>
              <a:srgbClr val="8C60A8"/>
            </a:solidFill>
            <a:prstDash val="solid"/>
          </a:ln>
        </p:spPr>
      </p:sp>
      <p:pic>
        <p:nvPicPr>
          <p:cNvPr id="28" name="icon-1174" descr="preencoded.png">    </p:cNvPr>
          <p:cNvPicPr>
            <a:picLocks noChangeAspect="1"/>
          </p:cNvPicPr>
          <p:nvPr/>
        </p:nvPicPr>
        <p:blipFill>
          <a:blip r:embed="rId5"/>
          <a:stretch>
            <a:fillRect/>
          </a:stretch>
        </p:blipFill>
        <p:spPr>
          <a:xfrm>
            <a:off x="778337" y="4554809"/>
            <a:ext cx="235549" cy="235549"/>
          </a:xfrm>
          <a:prstGeom prst="rect">
            <a:avLst/>
          </a:prstGeom>
        </p:spPr>
      </p:pic>
      <p:sp>
        <p:nvSpPr>
          <p:cNvPr id="29" name="text-1175"/>
          <p:cNvSpPr txBox="1"/>
          <p:nvPr/>
        </p:nvSpPr>
        <p:spPr>
          <a:xfrm>
            <a:off x="1207008" y="4379976"/>
            <a:ext cx="1874520" cy="274320"/>
          </a:xfrm>
          <a:prstGeom prst="rect">
            <a:avLst/>
          </a:prstGeom>
          <a:noFill/>
          <a:ln/>
        </p:spPr>
        <p:txBody>
          <a:bodyPr wrap="square" lIns="0" tIns="0" rIns="0" bIns="0" rtlCol="0" anchor="ctr"/>
          <a:lstStyle/>
          <a:p>
            <a:pPr indent="0" marL="0">
              <a:buNone/>
            </a:pPr>
            <a:r>
              <a:rPr lang="en-US" sz="1250" b="1" dirty="0">
                <a:solidFill>
                  <a:srgbClr val="242424"/>
                </a:solidFill>
                <a:latin typeface="Arial" pitchFamily="34" charset="0"/>
                <a:ea typeface="Arial" pitchFamily="34" charset="-122"/>
                <a:cs typeface="Arial" pitchFamily="34" charset="-120"/>
              </a:rPr>
              <a:t>Geographical</a:t>
            </a:r>
            <a:endParaRPr lang="en-US" sz="1250" dirty="0"/>
          </a:p>
        </p:txBody>
      </p:sp>
      <p:sp>
        <p:nvSpPr>
          <p:cNvPr id="30" name="text-1176"/>
          <p:cNvSpPr txBox="1"/>
          <p:nvPr/>
        </p:nvSpPr>
        <p:spPr>
          <a:xfrm>
            <a:off x="1207008" y="4672584"/>
            <a:ext cx="1874520" cy="274320"/>
          </a:xfrm>
          <a:prstGeom prst="rect">
            <a:avLst/>
          </a:prstGeom>
          <a:noFill/>
          <a:ln/>
        </p:spPr>
        <p:txBody>
          <a:bodyPr wrap="square" lIns="0" tIns="0" rIns="0" bIns="0" rtlCol="0" anchor="ctr"/>
          <a:lstStyle/>
          <a:p>
            <a:pPr indent="0" marL="0">
              <a:buNone/>
            </a:pPr>
            <a:r>
              <a:rPr lang="en-US" sz="1400" b="1" dirty="0">
                <a:solidFill>
                  <a:srgbClr val="0068BF"/>
                </a:solidFill>
                <a:latin typeface="Arial" pitchFamily="34" charset="0"/>
                <a:ea typeface="Arial" pitchFamily="34" charset="-122"/>
                <a:cs typeface="Arial" pitchFamily="34" charset="-120"/>
              </a:rPr>
              <a:t>2 levels </a:t>
            </a:r>
            <a:pPr indent="0" marL="0">
              <a:buNone/>
            </a:pPr>
            <a:r>
              <a:rPr lang="en-US" sz="1000" dirty="0">
                <a:solidFill>
                  <a:srgbClr val="767676"/>
                </a:solidFill>
                <a:latin typeface="Arial" pitchFamily="34" charset="0"/>
                <a:ea typeface="Arial" pitchFamily="34" charset="-122"/>
                <a:cs typeface="Arial" pitchFamily="34" charset="-120"/>
              </a:rPr>
              <a:t>Region &amp; Cluster</a:t>
            </a:r>
            <a:endParaRPr lang="en-US" sz="1400" dirty="0"/>
          </a:p>
        </p:txBody>
      </p:sp>
      <p:sp>
        <p:nvSpPr>
          <p:cNvPr id="31" name="shape-1177"/>
          <p:cNvSpPr/>
          <p:nvPr/>
        </p:nvSpPr>
        <p:spPr>
          <a:xfrm>
            <a:off x="3904488" y="2121408"/>
            <a:ext cx="4297680" cy="2560320"/>
          </a:xfrm>
          <a:prstGeom prst="ellipse">
            <a:avLst/>
          </a:prstGeom>
          <a:solidFill>
            <a:srgbClr val="F7FAFD"/>
          </a:solidFill>
          <a:ln w="12700">
            <a:solidFill>
              <a:srgbClr val="E0E0E0"/>
            </a:solidFill>
            <a:prstDash val="dash"/>
          </a:ln>
        </p:spPr>
      </p:sp>
      <p:sp>
        <p:nvSpPr>
          <p:cNvPr id="32" name="shape-1178"/>
          <p:cNvSpPr/>
          <p:nvPr/>
        </p:nvSpPr>
        <p:spPr>
          <a:xfrm>
            <a:off x="5231003" y="2218854"/>
            <a:ext cx="822325" cy="1182714"/>
          </a:xfrm>
          <a:prstGeom prst="line">
            <a:avLst/>
          </a:prstGeom>
          <a:noFill/>
          <a:ln w="15875">
            <a:solidFill>
              <a:srgbClr val="E0E0E0"/>
            </a:solidFill>
            <a:prstDash val="solid"/>
          </a:ln>
        </p:spPr>
      </p:sp>
      <p:sp>
        <p:nvSpPr>
          <p:cNvPr id="33" name="shape-1179"/>
          <p:cNvSpPr/>
          <p:nvPr/>
        </p:nvSpPr>
        <p:spPr>
          <a:xfrm flipV="1">
            <a:off x="6053328" y="2218854"/>
            <a:ext cx="822325" cy="1182714"/>
          </a:xfrm>
          <a:prstGeom prst="line">
            <a:avLst/>
          </a:prstGeom>
          <a:noFill/>
          <a:ln w="15875">
            <a:solidFill>
              <a:srgbClr val="E0E0E0"/>
            </a:solidFill>
            <a:prstDash val="solid"/>
          </a:ln>
        </p:spPr>
      </p:sp>
      <p:sp>
        <p:nvSpPr>
          <p:cNvPr id="34" name="shape-1180"/>
          <p:cNvSpPr/>
          <p:nvPr/>
        </p:nvSpPr>
        <p:spPr>
          <a:xfrm flipV="1">
            <a:off x="6053328" y="2911672"/>
            <a:ext cx="1985269" cy="489896"/>
          </a:xfrm>
          <a:prstGeom prst="line">
            <a:avLst/>
          </a:prstGeom>
          <a:noFill/>
          <a:ln w="15875">
            <a:solidFill>
              <a:srgbClr val="E0E0E0"/>
            </a:solidFill>
            <a:prstDash val="solid"/>
          </a:ln>
        </p:spPr>
      </p:sp>
      <p:sp>
        <p:nvSpPr>
          <p:cNvPr id="35" name="shape-1181"/>
          <p:cNvSpPr/>
          <p:nvPr/>
        </p:nvSpPr>
        <p:spPr>
          <a:xfrm>
            <a:off x="6053328" y="3401568"/>
            <a:ext cx="1985269" cy="489896"/>
          </a:xfrm>
          <a:prstGeom prst="line">
            <a:avLst/>
          </a:prstGeom>
          <a:noFill/>
          <a:ln w="15875">
            <a:solidFill>
              <a:srgbClr val="E0E0E0"/>
            </a:solidFill>
            <a:prstDash val="solid"/>
          </a:ln>
        </p:spPr>
      </p:sp>
      <p:sp>
        <p:nvSpPr>
          <p:cNvPr id="36" name="shape-1182"/>
          <p:cNvSpPr/>
          <p:nvPr/>
        </p:nvSpPr>
        <p:spPr>
          <a:xfrm>
            <a:off x="6053328" y="3401568"/>
            <a:ext cx="822325" cy="1182714"/>
          </a:xfrm>
          <a:prstGeom prst="line">
            <a:avLst/>
          </a:prstGeom>
          <a:noFill/>
          <a:ln w="15875">
            <a:solidFill>
              <a:srgbClr val="E0E0E0"/>
            </a:solidFill>
            <a:prstDash val="solid"/>
          </a:ln>
        </p:spPr>
      </p:sp>
      <p:sp>
        <p:nvSpPr>
          <p:cNvPr id="37" name="shape-1183"/>
          <p:cNvSpPr/>
          <p:nvPr/>
        </p:nvSpPr>
        <p:spPr>
          <a:xfrm flipV="1">
            <a:off x="5231003" y="3401568"/>
            <a:ext cx="822325" cy="1182714"/>
          </a:xfrm>
          <a:prstGeom prst="line">
            <a:avLst/>
          </a:prstGeom>
          <a:noFill/>
          <a:ln w="15875">
            <a:solidFill>
              <a:srgbClr val="E0E0E0"/>
            </a:solidFill>
            <a:prstDash val="solid"/>
          </a:ln>
        </p:spPr>
      </p:sp>
      <p:sp>
        <p:nvSpPr>
          <p:cNvPr id="38" name="shape-1184"/>
          <p:cNvSpPr/>
          <p:nvPr/>
        </p:nvSpPr>
        <p:spPr>
          <a:xfrm flipV="1">
            <a:off x="4068059" y="3401568"/>
            <a:ext cx="1985269" cy="489896"/>
          </a:xfrm>
          <a:prstGeom prst="line">
            <a:avLst/>
          </a:prstGeom>
          <a:noFill/>
          <a:ln w="15875">
            <a:solidFill>
              <a:srgbClr val="E0E0E0"/>
            </a:solidFill>
            <a:prstDash val="solid"/>
          </a:ln>
        </p:spPr>
      </p:sp>
      <p:sp>
        <p:nvSpPr>
          <p:cNvPr id="39" name="shape-1185"/>
          <p:cNvSpPr/>
          <p:nvPr/>
        </p:nvSpPr>
        <p:spPr>
          <a:xfrm>
            <a:off x="4068059" y="2911672"/>
            <a:ext cx="1985269" cy="489896"/>
          </a:xfrm>
          <a:prstGeom prst="line">
            <a:avLst/>
          </a:prstGeom>
          <a:noFill/>
          <a:ln w="15875">
            <a:solidFill>
              <a:srgbClr val="E0E0E0"/>
            </a:solidFill>
            <a:prstDash val="solid"/>
          </a:ln>
        </p:spPr>
      </p:sp>
      <p:sp>
        <p:nvSpPr>
          <p:cNvPr id="40" name="shape-1186"/>
          <p:cNvSpPr/>
          <p:nvPr/>
        </p:nvSpPr>
        <p:spPr>
          <a:xfrm>
            <a:off x="5477256" y="2825496"/>
            <a:ext cx="1152144" cy="1152144"/>
          </a:xfrm>
          <a:prstGeom prst="ellipse">
            <a:avLst/>
          </a:prstGeom>
          <a:solidFill>
            <a:srgbClr val="000000"/>
          </a:solidFill>
          <a:ln w="12700">
            <a:solidFill>
              <a:srgbClr val="000000"/>
            </a:solidFill>
            <a:prstDash val="solid"/>
          </a:ln>
        </p:spPr>
      </p:sp>
      <p:sp>
        <p:nvSpPr>
          <p:cNvPr id="41" name="text-1187"/>
          <p:cNvSpPr txBox="1"/>
          <p:nvPr/>
        </p:nvSpPr>
        <p:spPr>
          <a:xfrm>
            <a:off x="5504688" y="2990088"/>
            <a:ext cx="1097280" cy="822960"/>
          </a:xfrm>
          <a:prstGeom prst="rect">
            <a:avLst/>
          </a:prstGeom>
          <a:noFill/>
          <a:ln/>
        </p:spPr>
        <p:txBody>
          <a:bodyPr wrap="square" lIns="0" tIns="0" rIns="0" bIns="0" rtlCol="0" anchor="ctr"/>
          <a:lstStyle/>
          <a:p>
            <a:pPr algn="ctr" indent="0" marL="0">
              <a:buNone/>
            </a:pPr>
            <a:r>
              <a:rPr lang="en-US" sz="1250" b="1" dirty="0">
                <a:solidFill>
                  <a:srgbClr val="FFFFFF"/>
                </a:solidFill>
                <a:latin typeface="Arial" pitchFamily="34" charset="0"/>
                <a:ea typeface="Arial" pitchFamily="34" charset="-122"/>
                <a:cs typeface="Arial" pitchFamily="34" charset="-120"/>
              </a:rPr>
              <a:t>Workspace</a:t>
            </a:r>
            <a:endParaRPr lang="en-US" sz="1250" dirty="0"/>
          </a:p>
          <a:p>
            <a:pPr algn="ctr" indent="0" marL="0">
              <a:buNone/>
            </a:pPr>
            <a:r>
              <a:rPr lang="en-US" sz="1000" dirty="0">
                <a:solidFill>
                  <a:srgbClr val="A0A0A0"/>
                </a:solidFill>
                <a:latin typeface="Arial" pitchFamily="34" charset="0"/>
                <a:ea typeface="Arial" pitchFamily="34" charset="-122"/>
                <a:cs typeface="Arial" pitchFamily="34" charset="-120"/>
              </a:rPr>
              <a:t>8 modules</a:t>
            </a:r>
            <a:endParaRPr lang="en-US" sz="1250" dirty="0"/>
          </a:p>
          <a:p>
            <a:pPr algn="ctr" indent="0" marL="0">
              <a:buNone/>
            </a:pPr>
            <a:r>
              <a:rPr lang="en-US" sz="1000" dirty="0">
                <a:solidFill>
                  <a:srgbClr val="A0A0A0"/>
                </a:solidFill>
                <a:latin typeface="Arial" pitchFamily="34" charset="0"/>
                <a:ea typeface="Arial" pitchFamily="34" charset="-122"/>
                <a:cs typeface="Arial" pitchFamily="34" charset="-120"/>
              </a:rPr>
              <a:t>9 campaigns</a:t>
            </a:r>
            <a:endParaRPr lang="en-US" sz="1250" dirty="0"/>
          </a:p>
        </p:txBody>
      </p:sp>
      <p:sp>
        <p:nvSpPr>
          <p:cNvPr id="42" name="shape-1188"/>
          <p:cNvSpPr/>
          <p:nvPr/>
        </p:nvSpPr>
        <p:spPr>
          <a:xfrm>
            <a:off x="4956683" y="1944534"/>
            <a:ext cx="548640" cy="548640"/>
          </a:xfrm>
          <a:prstGeom prst="ellipse">
            <a:avLst/>
          </a:prstGeom>
          <a:solidFill>
            <a:srgbClr val="4D4D4D"/>
          </a:solidFill>
          <a:ln w="12700">
            <a:solidFill>
              <a:srgbClr val="4D4D4D"/>
            </a:solidFill>
            <a:prstDash val="solid"/>
          </a:ln>
        </p:spPr>
      </p:sp>
      <p:pic>
        <p:nvPicPr>
          <p:cNvPr id="43" name="icon-1189" descr="preencoded.png">    </p:cNvPr>
          <p:cNvPicPr>
            <a:picLocks noChangeAspect="1"/>
          </p:cNvPicPr>
          <p:nvPr/>
        </p:nvPicPr>
        <p:blipFill>
          <a:blip r:embed="rId6"/>
          <a:stretch>
            <a:fillRect/>
          </a:stretch>
        </p:blipFill>
        <p:spPr>
          <a:xfrm>
            <a:off x="5077383" y="2065235"/>
            <a:ext cx="307238" cy="307238"/>
          </a:xfrm>
          <a:prstGeom prst="rect">
            <a:avLst/>
          </a:prstGeom>
        </p:spPr>
      </p:pic>
      <p:sp>
        <p:nvSpPr>
          <p:cNvPr id="44" name="text-1190"/>
          <p:cNvSpPr txBox="1"/>
          <p:nvPr/>
        </p:nvSpPr>
        <p:spPr>
          <a:xfrm>
            <a:off x="4499483" y="1523910"/>
            <a:ext cx="1463040" cy="402336"/>
          </a:xfrm>
          <a:prstGeom prst="rect">
            <a:avLst/>
          </a:prstGeom>
          <a:noFill/>
          <a:ln/>
        </p:spPr>
        <p:txBody>
          <a:bodyPr wrap="square" lIns="0" tIns="0" rIns="0" bIns="0" rtlCol="0" anchor="b"/>
          <a:lstStyle/>
          <a:p>
            <a:pPr algn="ctr" indent="0" marL="0">
              <a:buNone/>
            </a:pPr>
            <a:r>
              <a:rPr lang="en-US" sz="1050" b="1" dirty="0">
                <a:solidFill>
                  <a:srgbClr val="242424"/>
                </a:solidFill>
                <a:latin typeface="Arial" pitchFamily="34" charset="0"/>
                <a:ea typeface="Arial" pitchFamily="34" charset="-122"/>
                <a:cs typeface="Arial" pitchFamily="34" charset="-120"/>
              </a:rPr>
              <a:t>CDR Analysis</a:t>
            </a:r>
            <a:endParaRPr lang="en-US" sz="1050" dirty="0"/>
          </a:p>
          <a:p>
            <a:pPr algn="ctr" indent="0" marL="0">
              <a:buNone/>
            </a:pPr>
            <a:r>
              <a:rPr lang="en-US" sz="1000" dirty="0">
                <a:solidFill>
                  <a:srgbClr val="767676"/>
                </a:solidFill>
                <a:latin typeface="Arial" pitchFamily="34" charset="0"/>
                <a:ea typeface="Arial" pitchFamily="34" charset="-122"/>
                <a:cs typeface="Arial" pitchFamily="34" charset="-120"/>
              </a:rPr>
              <a:t>KPIs per CDR</a:t>
            </a:r>
            <a:endParaRPr lang="en-US" sz="1050" dirty="0"/>
          </a:p>
        </p:txBody>
      </p:sp>
      <p:sp>
        <p:nvSpPr>
          <p:cNvPr id="45" name="shape-1191"/>
          <p:cNvSpPr/>
          <p:nvPr/>
        </p:nvSpPr>
        <p:spPr>
          <a:xfrm>
            <a:off x="6601333" y="1944534"/>
            <a:ext cx="548640" cy="548640"/>
          </a:xfrm>
          <a:prstGeom prst="ellipse">
            <a:avLst/>
          </a:prstGeom>
          <a:solidFill>
            <a:srgbClr val="E07800"/>
          </a:solidFill>
          <a:ln w="12700">
            <a:solidFill>
              <a:srgbClr val="E07800"/>
            </a:solidFill>
            <a:prstDash val="solid"/>
          </a:ln>
        </p:spPr>
      </p:sp>
      <p:pic>
        <p:nvPicPr>
          <p:cNvPr id="46" name="icon-1192" descr="preencoded.png">    </p:cNvPr>
          <p:cNvPicPr>
            <a:picLocks noChangeAspect="1"/>
          </p:cNvPicPr>
          <p:nvPr/>
        </p:nvPicPr>
        <p:blipFill>
          <a:blip r:embed="rId7"/>
          <a:stretch>
            <a:fillRect/>
          </a:stretch>
        </p:blipFill>
        <p:spPr>
          <a:xfrm>
            <a:off x="6722034" y="2065235"/>
            <a:ext cx="307238" cy="307238"/>
          </a:xfrm>
          <a:prstGeom prst="rect">
            <a:avLst/>
          </a:prstGeom>
        </p:spPr>
      </p:pic>
      <p:sp>
        <p:nvSpPr>
          <p:cNvPr id="47" name="text-1193"/>
          <p:cNvSpPr txBox="1"/>
          <p:nvPr/>
        </p:nvSpPr>
        <p:spPr>
          <a:xfrm>
            <a:off x="6144133" y="1523910"/>
            <a:ext cx="1463040" cy="402336"/>
          </a:xfrm>
          <a:prstGeom prst="rect">
            <a:avLst/>
          </a:prstGeom>
          <a:noFill/>
          <a:ln/>
        </p:spPr>
        <p:txBody>
          <a:bodyPr wrap="square" lIns="0" tIns="0" rIns="0" bIns="0" rtlCol="0" anchor="b"/>
          <a:lstStyle/>
          <a:p>
            <a:pPr algn="ctr" indent="0" marL="0">
              <a:buNone/>
            </a:pPr>
            <a:r>
              <a:rPr lang="en-US" sz="1050" b="1" dirty="0">
                <a:solidFill>
                  <a:srgbClr val="242424"/>
                </a:solidFill>
                <a:latin typeface="Arial" pitchFamily="34" charset="0"/>
                <a:ea typeface="Arial" pitchFamily="34" charset="-122"/>
                <a:cs typeface="Arial" pitchFamily="34" charset="-120"/>
              </a:rPr>
              <a:t>PPT Dashboards</a:t>
            </a:r>
            <a:endParaRPr lang="en-US" sz="1050" dirty="0"/>
          </a:p>
          <a:p>
            <a:pPr algn="ctr" indent="0" marL="0">
              <a:buNone/>
            </a:pPr>
            <a:r>
              <a:rPr lang="en-US" sz="1000" dirty="0">
                <a:solidFill>
                  <a:srgbClr val="767676"/>
                </a:solidFill>
                <a:latin typeface="Arial" pitchFamily="34" charset="0"/>
                <a:ea typeface="Arial" pitchFamily="34" charset="-122"/>
                <a:cs typeface="Arial" pitchFamily="34" charset="-120"/>
              </a:rPr>
              <a:t>Template KPI decks</a:t>
            </a:r>
            <a:endParaRPr lang="en-US" sz="1050" dirty="0"/>
          </a:p>
        </p:txBody>
      </p:sp>
      <p:sp>
        <p:nvSpPr>
          <p:cNvPr id="48" name="shape-1194"/>
          <p:cNvSpPr/>
          <p:nvPr/>
        </p:nvSpPr>
        <p:spPr>
          <a:xfrm>
            <a:off x="7764277" y="2637352"/>
            <a:ext cx="548640" cy="548640"/>
          </a:xfrm>
          <a:prstGeom prst="ellipse">
            <a:avLst/>
          </a:prstGeom>
          <a:solidFill>
            <a:srgbClr val="0068BF"/>
          </a:solidFill>
          <a:ln w="12700">
            <a:solidFill>
              <a:srgbClr val="0068BF"/>
            </a:solidFill>
            <a:prstDash val="solid"/>
          </a:ln>
        </p:spPr>
      </p:sp>
      <p:pic>
        <p:nvPicPr>
          <p:cNvPr id="49" name="icon-1195" descr="preencoded.png">    </p:cNvPr>
          <p:cNvPicPr>
            <a:picLocks noChangeAspect="1"/>
          </p:cNvPicPr>
          <p:nvPr/>
        </p:nvPicPr>
        <p:blipFill>
          <a:blip r:embed="rId8"/>
          <a:stretch>
            <a:fillRect/>
          </a:stretch>
        </p:blipFill>
        <p:spPr>
          <a:xfrm>
            <a:off x="7884978" y="2758053"/>
            <a:ext cx="307238" cy="307238"/>
          </a:xfrm>
          <a:prstGeom prst="rect">
            <a:avLst/>
          </a:prstGeom>
        </p:spPr>
      </p:pic>
      <p:sp>
        <p:nvSpPr>
          <p:cNvPr id="50" name="text-1196"/>
          <p:cNvSpPr txBox="1"/>
          <p:nvPr/>
        </p:nvSpPr>
        <p:spPr>
          <a:xfrm>
            <a:off x="7307077" y="2216728"/>
            <a:ext cx="1463040" cy="402336"/>
          </a:xfrm>
          <a:prstGeom prst="rect">
            <a:avLst/>
          </a:prstGeom>
          <a:noFill/>
          <a:ln/>
        </p:spPr>
        <p:txBody>
          <a:bodyPr wrap="square" lIns="0" tIns="0" rIns="0" bIns="0" rtlCol="0" anchor="b"/>
          <a:lstStyle/>
          <a:p>
            <a:pPr algn="ctr" indent="0" marL="0">
              <a:buNone/>
            </a:pPr>
            <a:r>
              <a:rPr lang="en-US" sz="1050" b="1" dirty="0">
                <a:solidFill>
                  <a:srgbClr val="242424"/>
                </a:solidFill>
                <a:latin typeface="Arial" pitchFamily="34" charset="0"/>
                <a:ea typeface="Arial" pitchFamily="34" charset="-122"/>
                <a:cs typeface="Arial" pitchFamily="34" charset="-120"/>
              </a:rPr>
              <a:t>Scoring &amp; GAP</a:t>
            </a:r>
            <a:endParaRPr lang="en-US" sz="1050" dirty="0"/>
          </a:p>
          <a:p>
            <a:pPr algn="ctr" indent="0" marL="0">
              <a:buNone/>
            </a:pPr>
            <a:r>
              <a:rPr lang="en-US" sz="1000" dirty="0">
                <a:solidFill>
                  <a:srgbClr val="767676"/>
                </a:solidFill>
                <a:latin typeface="Arial" pitchFamily="34" charset="0"/>
                <a:ea typeface="Arial" pitchFamily="34" charset="-122"/>
                <a:cs typeface="Arial" pitchFamily="34" charset="-120"/>
              </a:rPr>
              <a:t>Best Network · GAP</a:t>
            </a:r>
            <a:endParaRPr lang="en-US" sz="1050" dirty="0"/>
          </a:p>
        </p:txBody>
      </p:sp>
      <p:sp>
        <p:nvSpPr>
          <p:cNvPr id="51" name="shape-1197"/>
          <p:cNvSpPr/>
          <p:nvPr/>
        </p:nvSpPr>
        <p:spPr>
          <a:xfrm>
            <a:off x="7764277" y="3617144"/>
            <a:ext cx="548640" cy="548640"/>
          </a:xfrm>
          <a:prstGeom prst="ellipse">
            <a:avLst/>
          </a:prstGeom>
          <a:solidFill>
            <a:srgbClr val="0C9B5B"/>
          </a:solidFill>
          <a:ln w="12700">
            <a:solidFill>
              <a:srgbClr val="0C9B5B"/>
            </a:solidFill>
            <a:prstDash val="solid"/>
          </a:ln>
        </p:spPr>
      </p:sp>
      <p:pic>
        <p:nvPicPr>
          <p:cNvPr id="52" name="icon-1198" descr="preencoded.png">    </p:cNvPr>
          <p:cNvPicPr>
            <a:picLocks noChangeAspect="1"/>
          </p:cNvPicPr>
          <p:nvPr/>
        </p:nvPicPr>
        <p:blipFill>
          <a:blip r:embed="rId9"/>
          <a:stretch>
            <a:fillRect/>
          </a:stretch>
        </p:blipFill>
        <p:spPr>
          <a:xfrm>
            <a:off x="7884978" y="3737845"/>
            <a:ext cx="307238" cy="307238"/>
          </a:xfrm>
          <a:prstGeom prst="rect">
            <a:avLst/>
          </a:prstGeom>
        </p:spPr>
      </p:pic>
      <p:sp>
        <p:nvSpPr>
          <p:cNvPr id="53" name="text-1199"/>
          <p:cNvSpPr txBox="1"/>
          <p:nvPr/>
        </p:nvSpPr>
        <p:spPr>
          <a:xfrm>
            <a:off x="7307077" y="4184072"/>
            <a:ext cx="1463040" cy="402336"/>
          </a:xfrm>
          <a:prstGeom prst="rect">
            <a:avLst/>
          </a:prstGeom>
          <a:noFill/>
          <a:ln/>
        </p:spPr>
        <p:txBody>
          <a:bodyPr wrap="square" lIns="0" tIns="0" rIns="0" bIns="0" rtlCol="0" anchor="t"/>
          <a:lstStyle/>
          <a:p>
            <a:pPr algn="ctr" indent="0" marL="0">
              <a:buNone/>
            </a:pPr>
            <a:r>
              <a:rPr lang="en-US" sz="1050" b="1" dirty="0">
                <a:solidFill>
                  <a:srgbClr val="242424"/>
                </a:solidFill>
                <a:latin typeface="Arial" pitchFamily="34" charset="0"/>
                <a:ea typeface="Arial" pitchFamily="34" charset="-122"/>
                <a:cs typeface="Arial" pitchFamily="34" charset="-120"/>
              </a:rPr>
              <a:t>Network Insights</a:t>
            </a:r>
            <a:endParaRPr lang="en-US" sz="1050" dirty="0"/>
          </a:p>
          <a:p>
            <a:pPr algn="ctr" indent="0" marL="0">
              <a:buNone/>
            </a:pPr>
            <a:r>
              <a:rPr lang="en-US" sz="1000" dirty="0">
                <a:solidFill>
                  <a:srgbClr val="767676"/>
                </a:solidFill>
                <a:latin typeface="Arial" pitchFamily="34" charset="0"/>
                <a:ea typeface="Arial" pitchFamily="34" charset="-122"/>
                <a:cs typeface="Arial" pitchFamily="34" charset="-120"/>
              </a:rPr>
              <a:t>RSRP · SINR · 5G</a:t>
            </a:r>
            <a:endParaRPr lang="en-US" sz="1050" dirty="0"/>
          </a:p>
        </p:txBody>
      </p:sp>
      <p:sp>
        <p:nvSpPr>
          <p:cNvPr id="54" name="shape-1200"/>
          <p:cNvSpPr/>
          <p:nvPr/>
        </p:nvSpPr>
        <p:spPr>
          <a:xfrm>
            <a:off x="6601333" y="4309962"/>
            <a:ext cx="548640" cy="548640"/>
          </a:xfrm>
          <a:prstGeom prst="ellipse">
            <a:avLst/>
          </a:prstGeom>
          <a:solidFill>
            <a:srgbClr val="D92B2B"/>
          </a:solidFill>
          <a:ln w="12700">
            <a:solidFill>
              <a:srgbClr val="D92B2B"/>
            </a:solidFill>
            <a:prstDash val="solid"/>
          </a:ln>
        </p:spPr>
      </p:sp>
      <p:pic>
        <p:nvPicPr>
          <p:cNvPr id="55" name="icon-1201" descr="preencoded.png">    </p:cNvPr>
          <p:cNvPicPr>
            <a:picLocks noChangeAspect="1"/>
          </p:cNvPicPr>
          <p:nvPr/>
        </p:nvPicPr>
        <p:blipFill>
          <a:blip r:embed="rId10"/>
          <a:stretch>
            <a:fillRect/>
          </a:stretch>
        </p:blipFill>
        <p:spPr>
          <a:xfrm>
            <a:off x="6722034" y="4430662"/>
            <a:ext cx="307238" cy="307238"/>
          </a:xfrm>
          <a:prstGeom prst="rect">
            <a:avLst/>
          </a:prstGeom>
        </p:spPr>
      </p:pic>
      <p:sp>
        <p:nvSpPr>
          <p:cNvPr id="56" name="text-1202"/>
          <p:cNvSpPr txBox="1"/>
          <p:nvPr/>
        </p:nvSpPr>
        <p:spPr>
          <a:xfrm>
            <a:off x="6144133" y="4876890"/>
            <a:ext cx="1463040" cy="402336"/>
          </a:xfrm>
          <a:prstGeom prst="rect">
            <a:avLst/>
          </a:prstGeom>
          <a:noFill/>
          <a:ln/>
        </p:spPr>
        <p:txBody>
          <a:bodyPr wrap="square" lIns="0" tIns="0" rIns="0" bIns="0" rtlCol="0" anchor="t"/>
          <a:lstStyle/>
          <a:p>
            <a:pPr algn="ctr" indent="0" marL="0">
              <a:buNone/>
            </a:pPr>
            <a:r>
              <a:rPr lang="en-US" sz="1050" b="1" dirty="0">
                <a:solidFill>
                  <a:srgbClr val="242424"/>
                </a:solidFill>
                <a:latin typeface="Arial" pitchFamily="34" charset="0"/>
                <a:ea typeface="Arial" pitchFamily="34" charset="-122"/>
                <a:cs typeface="Arial" pitchFamily="34" charset="-120"/>
              </a:rPr>
              <a:t>NQ Calls</a:t>
            </a:r>
            <a:endParaRPr lang="en-US" sz="1050" dirty="0"/>
          </a:p>
          <a:p>
            <a:pPr algn="ctr" indent="0" marL="0">
              <a:buNone/>
            </a:pPr>
            <a:r>
              <a:rPr lang="en-US" sz="1000" dirty="0">
                <a:solidFill>
                  <a:srgbClr val="767676"/>
                </a:solidFill>
                <a:latin typeface="Arial" pitchFamily="34" charset="0"/>
                <a:ea typeface="Arial" pitchFamily="34" charset="-122"/>
                <a:cs typeface="Arial" pitchFamily="34" charset="-120"/>
              </a:rPr>
              <a:t>48 k NQ calls</a:t>
            </a:r>
            <a:endParaRPr lang="en-US" sz="1050" dirty="0"/>
          </a:p>
        </p:txBody>
      </p:sp>
      <p:sp>
        <p:nvSpPr>
          <p:cNvPr id="57" name="shape-1203"/>
          <p:cNvSpPr/>
          <p:nvPr/>
        </p:nvSpPr>
        <p:spPr>
          <a:xfrm>
            <a:off x="4956683" y="4309962"/>
            <a:ext cx="548640" cy="548640"/>
          </a:xfrm>
          <a:prstGeom prst="ellipse">
            <a:avLst/>
          </a:prstGeom>
          <a:solidFill>
            <a:srgbClr val="8C60A8"/>
          </a:solidFill>
          <a:ln w="12700">
            <a:solidFill>
              <a:srgbClr val="8C60A8"/>
            </a:solidFill>
            <a:prstDash val="solid"/>
          </a:ln>
        </p:spPr>
      </p:sp>
      <p:pic>
        <p:nvPicPr>
          <p:cNvPr id="58" name="icon-1204" descr="preencoded.png">    </p:cNvPr>
          <p:cNvPicPr>
            <a:picLocks noChangeAspect="1"/>
          </p:cNvPicPr>
          <p:nvPr/>
        </p:nvPicPr>
        <p:blipFill>
          <a:blip r:embed="rId11"/>
          <a:stretch>
            <a:fillRect/>
          </a:stretch>
        </p:blipFill>
        <p:spPr>
          <a:xfrm>
            <a:off x="5077383" y="4430662"/>
            <a:ext cx="307238" cy="307238"/>
          </a:xfrm>
          <a:prstGeom prst="rect">
            <a:avLst/>
          </a:prstGeom>
        </p:spPr>
      </p:pic>
      <p:sp>
        <p:nvSpPr>
          <p:cNvPr id="59" name="text-1205"/>
          <p:cNvSpPr txBox="1"/>
          <p:nvPr/>
        </p:nvSpPr>
        <p:spPr>
          <a:xfrm>
            <a:off x="4499483" y="4876890"/>
            <a:ext cx="1463040" cy="402336"/>
          </a:xfrm>
          <a:prstGeom prst="rect">
            <a:avLst/>
          </a:prstGeom>
          <a:noFill/>
          <a:ln/>
        </p:spPr>
        <p:txBody>
          <a:bodyPr wrap="square" lIns="0" tIns="0" rIns="0" bIns="0" rtlCol="0" anchor="t"/>
          <a:lstStyle/>
          <a:p>
            <a:pPr algn="ctr" indent="0" marL="0">
              <a:buNone/>
            </a:pPr>
            <a:r>
              <a:rPr lang="en-US" sz="1050" b="1" dirty="0">
                <a:solidFill>
                  <a:srgbClr val="242424"/>
                </a:solidFill>
                <a:latin typeface="Arial" pitchFamily="34" charset="0"/>
                <a:ea typeface="Arial" pitchFamily="34" charset="-122"/>
                <a:cs typeface="Arial" pitchFamily="34" charset="-120"/>
              </a:rPr>
              <a:t>Reporting</a:t>
            </a:r>
            <a:endParaRPr lang="en-US" sz="1050" dirty="0"/>
          </a:p>
          <a:p>
            <a:pPr algn="ctr" indent="0" marL="0">
              <a:buNone/>
            </a:pPr>
            <a:r>
              <a:rPr lang="en-US" sz="1000" dirty="0">
                <a:solidFill>
                  <a:srgbClr val="767676"/>
                </a:solidFill>
                <a:latin typeface="Arial" pitchFamily="34" charset="0"/>
                <a:ea typeface="Arial" pitchFamily="34" charset="-122"/>
                <a:cs typeface="Arial" pitchFamily="34" charset="-120"/>
              </a:rPr>
              <a:t>PPT · Word · email</a:t>
            </a:r>
            <a:endParaRPr lang="en-US" sz="1050" dirty="0"/>
          </a:p>
        </p:txBody>
      </p:sp>
      <p:sp>
        <p:nvSpPr>
          <p:cNvPr id="60" name="shape-1206"/>
          <p:cNvSpPr/>
          <p:nvPr/>
        </p:nvSpPr>
        <p:spPr>
          <a:xfrm>
            <a:off x="3793739" y="3617144"/>
            <a:ext cx="548640" cy="548640"/>
          </a:xfrm>
          <a:prstGeom prst="ellipse">
            <a:avLst/>
          </a:prstGeom>
          <a:solidFill>
            <a:srgbClr val="0082F0"/>
          </a:solidFill>
          <a:ln w="12700">
            <a:solidFill>
              <a:srgbClr val="0082F0"/>
            </a:solidFill>
            <a:prstDash val="solid"/>
          </a:ln>
        </p:spPr>
      </p:sp>
      <p:pic>
        <p:nvPicPr>
          <p:cNvPr id="61" name="icon-1207" descr="preencoded.png">    </p:cNvPr>
          <p:cNvPicPr>
            <a:picLocks noChangeAspect="1"/>
          </p:cNvPicPr>
          <p:nvPr/>
        </p:nvPicPr>
        <p:blipFill>
          <a:blip r:embed="rId12"/>
          <a:stretch>
            <a:fillRect/>
          </a:stretch>
        </p:blipFill>
        <p:spPr>
          <a:xfrm>
            <a:off x="3914440" y="3737845"/>
            <a:ext cx="307238" cy="307238"/>
          </a:xfrm>
          <a:prstGeom prst="rect">
            <a:avLst/>
          </a:prstGeom>
        </p:spPr>
      </p:pic>
      <p:sp>
        <p:nvSpPr>
          <p:cNvPr id="62" name="text-1208"/>
          <p:cNvSpPr txBox="1"/>
          <p:nvPr/>
        </p:nvSpPr>
        <p:spPr>
          <a:xfrm>
            <a:off x="3336539" y="4184072"/>
            <a:ext cx="1463040" cy="402336"/>
          </a:xfrm>
          <a:prstGeom prst="rect">
            <a:avLst/>
          </a:prstGeom>
          <a:noFill/>
          <a:ln/>
        </p:spPr>
        <p:txBody>
          <a:bodyPr wrap="square" lIns="0" tIns="0" rIns="0" bIns="0" rtlCol="0" anchor="t"/>
          <a:lstStyle/>
          <a:p>
            <a:pPr algn="ctr" indent="0" marL="0">
              <a:buNone/>
            </a:pPr>
            <a:r>
              <a:rPr lang="en-US" sz="1050" b="1" dirty="0">
                <a:solidFill>
                  <a:srgbClr val="242424"/>
                </a:solidFill>
                <a:latin typeface="Arial" pitchFamily="34" charset="0"/>
                <a:ea typeface="Arial" pitchFamily="34" charset="-122"/>
                <a:cs typeface="Arial" pitchFamily="34" charset="-120"/>
              </a:rPr>
              <a:t>Builders</a:t>
            </a:r>
            <a:endParaRPr lang="en-US" sz="1050" dirty="0"/>
          </a:p>
          <a:p>
            <a:pPr algn="ctr" indent="0" marL="0">
              <a:buNone/>
            </a:pPr>
            <a:r>
              <a:rPr lang="en-US" sz="1000" dirty="0">
                <a:solidFill>
                  <a:srgbClr val="767676"/>
                </a:solidFill>
                <a:latin typeface="Arial" pitchFamily="34" charset="0"/>
                <a:ea typeface="Arial" pitchFamily="34" charset="-122"/>
                <a:cs typeface="Arial" pitchFamily="34" charset="-120"/>
              </a:rPr>
              <a:t>Charts · SQL</a:t>
            </a:r>
            <a:endParaRPr lang="en-US" sz="1050" dirty="0"/>
          </a:p>
        </p:txBody>
      </p:sp>
      <p:sp>
        <p:nvSpPr>
          <p:cNvPr id="63" name="shape-1209"/>
          <p:cNvSpPr/>
          <p:nvPr/>
        </p:nvSpPr>
        <p:spPr>
          <a:xfrm>
            <a:off x="3793739" y="2637352"/>
            <a:ext cx="548640" cy="548640"/>
          </a:xfrm>
          <a:prstGeom prst="ellipse">
            <a:avLst/>
          </a:prstGeom>
          <a:solidFill>
            <a:srgbClr val="FAD22D"/>
          </a:solidFill>
          <a:ln w="12700">
            <a:solidFill>
              <a:srgbClr val="FAD22D"/>
            </a:solidFill>
            <a:prstDash val="solid"/>
          </a:ln>
        </p:spPr>
      </p:sp>
      <p:pic>
        <p:nvPicPr>
          <p:cNvPr id="64" name="icon-1210" descr="preencoded.png">    </p:cNvPr>
          <p:cNvPicPr>
            <a:picLocks noChangeAspect="1"/>
          </p:cNvPicPr>
          <p:nvPr/>
        </p:nvPicPr>
        <p:blipFill>
          <a:blip r:embed="rId13"/>
          <a:stretch>
            <a:fillRect/>
          </a:stretch>
        </p:blipFill>
        <p:spPr>
          <a:xfrm>
            <a:off x="3914440" y="2758053"/>
            <a:ext cx="307238" cy="307238"/>
          </a:xfrm>
          <a:prstGeom prst="rect">
            <a:avLst/>
          </a:prstGeom>
        </p:spPr>
      </p:pic>
      <p:sp>
        <p:nvSpPr>
          <p:cNvPr id="65" name="text-1211"/>
          <p:cNvSpPr txBox="1"/>
          <p:nvPr/>
        </p:nvSpPr>
        <p:spPr>
          <a:xfrm>
            <a:off x="3336539" y="2216728"/>
            <a:ext cx="1463040" cy="402336"/>
          </a:xfrm>
          <a:prstGeom prst="rect">
            <a:avLst/>
          </a:prstGeom>
          <a:noFill/>
          <a:ln/>
        </p:spPr>
        <p:txBody>
          <a:bodyPr wrap="square" lIns="0" tIns="0" rIns="0" bIns="0" rtlCol="0" anchor="b"/>
          <a:lstStyle/>
          <a:p>
            <a:pPr algn="ctr" indent="0" marL="0">
              <a:buNone/>
            </a:pPr>
            <a:r>
              <a:rPr lang="en-US" sz="1050" b="1" dirty="0">
                <a:solidFill>
                  <a:srgbClr val="242424"/>
                </a:solidFill>
                <a:latin typeface="Arial" pitchFamily="34" charset="0"/>
                <a:ea typeface="Arial" pitchFamily="34" charset="-122"/>
                <a:cs typeface="Arial" pitchFamily="34" charset="-120"/>
              </a:rPr>
              <a:t>Ticket Center</a:t>
            </a:r>
            <a:endParaRPr lang="en-US" sz="1050" dirty="0"/>
          </a:p>
          <a:p>
            <a:pPr algn="ctr" indent="0" marL="0">
              <a:buNone/>
            </a:pPr>
            <a:r>
              <a:rPr lang="en-US" sz="1000" dirty="0">
                <a:solidFill>
                  <a:srgbClr val="767676"/>
                </a:solidFill>
                <a:latin typeface="Arial" pitchFamily="34" charset="0"/>
                <a:ea typeface="Arial" pitchFamily="34" charset="-122"/>
                <a:cs typeface="Arial" pitchFamily="34" charset="-120"/>
              </a:rPr>
              <a:t>Bugs &amp; requests</a:t>
            </a:r>
            <a:endParaRPr lang="en-US" sz="1050" dirty="0"/>
          </a:p>
        </p:txBody>
      </p:sp>
      <p:sp>
        <p:nvSpPr>
          <p:cNvPr id="66" name="shape-1212"/>
          <p:cNvSpPr/>
          <p:nvPr/>
        </p:nvSpPr>
        <p:spPr>
          <a:xfrm flipV="1">
            <a:off x="8220456" y="2148840"/>
            <a:ext cx="667512" cy="1252728"/>
          </a:xfrm>
          <a:prstGeom prst="line">
            <a:avLst/>
          </a:prstGeom>
          <a:noFill/>
          <a:ln w="15875">
            <a:solidFill>
              <a:srgbClr val="A0A0A0"/>
            </a:solidFill>
            <a:prstDash val="solid"/>
            <a:tailEnd type="triangle"/>
          </a:ln>
        </p:spPr>
      </p:sp>
      <p:sp>
        <p:nvSpPr>
          <p:cNvPr id="67" name="shape-1213"/>
          <p:cNvSpPr/>
          <p:nvPr/>
        </p:nvSpPr>
        <p:spPr>
          <a:xfrm>
            <a:off x="8942832" y="1911096"/>
            <a:ext cx="457200" cy="457200"/>
          </a:xfrm>
          <a:prstGeom prst="ellipse">
            <a:avLst/>
          </a:prstGeom>
          <a:solidFill>
            <a:srgbClr val="242424"/>
          </a:solidFill>
          <a:ln w="12700">
            <a:solidFill>
              <a:srgbClr val="242424"/>
            </a:solidFill>
            <a:prstDash val="solid"/>
          </a:ln>
        </p:spPr>
      </p:sp>
      <p:pic>
        <p:nvPicPr>
          <p:cNvPr id="68" name="icon-1214" descr="preencoded.png">    </p:cNvPr>
          <p:cNvPicPr>
            <a:picLocks noChangeAspect="1"/>
          </p:cNvPicPr>
          <p:nvPr/>
        </p:nvPicPr>
        <p:blipFill>
          <a:blip r:embed="rId14"/>
          <a:stretch>
            <a:fillRect/>
          </a:stretch>
        </p:blipFill>
        <p:spPr>
          <a:xfrm>
            <a:off x="9043416" y="2011680"/>
            <a:ext cx="256032" cy="256032"/>
          </a:xfrm>
          <a:prstGeom prst="rect">
            <a:avLst/>
          </a:prstGeom>
        </p:spPr>
      </p:pic>
      <p:sp>
        <p:nvSpPr>
          <p:cNvPr id="69" name="text-1215"/>
          <p:cNvSpPr txBox="1"/>
          <p:nvPr/>
        </p:nvSpPr>
        <p:spPr>
          <a:xfrm>
            <a:off x="9509760" y="1837944"/>
            <a:ext cx="2148840" cy="274320"/>
          </a:xfrm>
          <a:prstGeom prst="rect">
            <a:avLst/>
          </a:prstGeom>
          <a:noFill/>
          <a:ln/>
        </p:spPr>
        <p:txBody>
          <a:bodyPr wrap="square" lIns="0" tIns="0" rIns="0" bIns="0" rtlCol="0" anchor="ctr"/>
          <a:lstStyle/>
          <a:p>
            <a:pPr indent="0" marL="0">
              <a:buNone/>
            </a:pPr>
            <a:r>
              <a:rPr lang="en-US" sz="1250" b="1" dirty="0">
                <a:solidFill>
                  <a:srgbClr val="242424"/>
                </a:solidFill>
                <a:latin typeface="Arial" pitchFamily="34" charset="0"/>
                <a:ea typeface="Arial" pitchFamily="34" charset="-122"/>
                <a:cs typeface="Arial" pitchFamily="34" charset="-120"/>
              </a:rPr>
              <a:t>Benchmarking</a:t>
            </a:r>
            <a:endParaRPr lang="en-US" sz="1250" dirty="0"/>
          </a:p>
        </p:txBody>
      </p:sp>
      <p:sp>
        <p:nvSpPr>
          <p:cNvPr id="70" name="text-1216"/>
          <p:cNvSpPr txBox="1"/>
          <p:nvPr/>
        </p:nvSpPr>
        <p:spPr>
          <a:xfrm>
            <a:off x="9509760" y="2112264"/>
            <a:ext cx="2148840" cy="384048"/>
          </a:xfrm>
          <a:prstGeom prst="rect">
            <a:avLst/>
          </a:prstGeom>
          <a:noFill/>
          <a:ln/>
        </p:spPr>
        <p:txBody>
          <a:bodyPr wrap="square" lIns="0" tIns="0" rIns="0" bIns="0" rtlCol="0" anchor="t"/>
          <a:lstStyle/>
          <a:p>
            <a:pPr indent="0" marL="0">
              <a:buNone/>
            </a:pPr>
            <a:r>
              <a:rPr lang="en-US" sz="1000" dirty="0">
                <a:solidFill>
                  <a:srgbClr val="767676"/>
                </a:solidFill>
                <a:latin typeface="Arial" pitchFamily="34" charset="0"/>
                <a:ea typeface="Arial" pitchFamily="34" charset="-122"/>
                <a:cs typeface="Arial" pitchFamily="34" charset="-120"/>
              </a:rPr>
              <a:t>Scores &amp; GAP to the reference, city by city</a:t>
            </a:r>
            <a:endParaRPr lang="en-US" sz="1000" dirty="0"/>
          </a:p>
        </p:txBody>
      </p:sp>
      <p:sp>
        <p:nvSpPr>
          <p:cNvPr id="71" name="shape-1217"/>
          <p:cNvSpPr/>
          <p:nvPr/>
        </p:nvSpPr>
        <p:spPr>
          <a:xfrm flipV="1">
            <a:off x="8220456" y="2990088"/>
            <a:ext cx="667512" cy="411480"/>
          </a:xfrm>
          <a:prstGeom prst="line">
            <a:avLst/>
          </a:prstGeom>
          <a:noFill/>
          <a:ln w="15875">
            <a:solidFill>
              <a:srgbClr val="A0A0A0"/>
            </a:solidFill>
            <a:prstDash val="solid"/>
            <a:tailEnd type="triangle"/>
          </a:ln>
        </p:spPr>
      </p:sp>
      <p:sp>
        <p:nvSpPr>
          <p:cNvPr id="72" name="shape-1218"/>
          <p:cNvSpPr/>
          <p:nvPr/>
        </p:nvSpPr>
        <p:spPr>
          <a:xfrm>
            <a:off x="8942832" y="2752344"/>
            <a:ext cx="457200" cy="457200"/>
          </a:xfrm>
          <a:prstGeom prst="ellipse">
            <a:avLst/>
          </a:prstGeom>
          <a:solidFill>
            <a:srgbClr val="242424"/>
          </a:solidFill>
          <a:ln w="12700">
            <a:solidFill>
              <a:srgbClr val="242424"/>
            </a:solidFill>
            <a:prstDash val="solid"/>
          </a:ln>
        </p:spPr>
      </p:sp>
      <p:pic>
        <p:nvPicPr>
          <p:cNvPr id="73" name="icon-1219" descr="preencoded.png">    </p:cNvPr>
          <p:cNvPicPr>
            <a:picLocks noChangeAspect="1"/>
          </p:cNvPicPr>
          <p:nvPr/>
        </p:nvPicPr>
        <p:blipFill>
          <a:blip r:embed="rId15"/>
          <a:stretch>
            <a:fillRect/>
          </a:stretch>
        </p:blipFill>
        <p:spPr>
          <a:xfrm>
            <a:off x="9043416" y="2852928"/>
            <a:ext cx="256032" cy="256032"/>
          </a:xfrm>
          <a:prstGeom prst="rect">
            <a:avLst/>
          </a:prstGeom>
        </p:spPr>
      </p:pic>
      <p:sp>
        <p:nvSpPr>
          <p:cNvPr id="74" name="text-1220"/>
          <p:cNvSpPr txBox="1"/>
          <p:nvPr/>
        </p:nvSpPr>
        <p:spPr>
          <a:xfrm>
            <a:off x="9509760" y="2679192"/>
            <a:ext cx="2148840" cy="274320"/>
          </a:xfrm>
          <a:prstGeom prst="rect">
            <a:avLst/>
          </a:prstGeom>
          <a:noFill/>
          <a:ln/>
        </p:spPr>
        <p:txBody>
          <a:bodyPr wrap="square" lIns="0" tIns="0" rIns="0" bIns="0" rtlCol="0" anchor="ctr"/>
          <a:lstStyle/>
          <a:p>
            <a:pPr indent="0" marL="0">
              <a:buNone/>
            </a:pPr>
            <a:r>
              <a:rPr lang="en-US" sz="1250" b="1" dirty="0">
                <a:solidFill>
                  <a:srgbClr val="242424"/>
                </a:solidFill>
                <a:latin typeface="Arial" pitchFamily="34" charset="0"/>
                <a:ea typeface="Arial" pitchFamily="34" charset="-122"/>
                <a:cs typeface="Arial" pitchFamily="34" charset="-120"/>
              </a:rPr>
              <a:t>NQ Calls</a:t>
            </a:r>
            <a:endParaRPr lang="en-US" sz="1250" dirty="0"/>
          </a:p>
        </p:txBody>
      </p:sp>
      <p:sp>
        <p:nvSpPr>
          <p:cNvPr id="75" name="text-1221"/>
          <p:cNvSpPr txBox="1"/>
          <p:nvPr/>
        </p:nvSpPr>
        <p:spPr>
          <a:xfrm>
            <a:off x="9509760" y="2953512"/>
            <a:ext cx="2148840" cy="384048"/>
          </a:xfrm>
          <a:prstGeom prst="rect">
            <a:avLst/>
          </a:prstGeom>
          <a:noFill/>
          <a:ln/>
        </p:spPr>
        <p:txBody>
          <a:bodyPr wrap="square" lIns="0" tIns="0" rIns="0" bIns="0" rtlCol="0" anchor="t"/>
          <a:lstStyle/>
          <a:p>
            <a:pPr indent="0" marL="0">
              <a:buNone/>
            </a:pPr>
            <a:r>
              <a:rPr lang="en-US" sz="1000" dirty="0">
                <a:solidFill>
                  <a:srgbClr val="767676"/>
                </a:solidFill>
                <a:latin typeface="Arial" pitchFamily="34" charset="0"/>
                <a:ea typeface="Arial" pitchFamily="34" charset="-122"/>
                <a:cs typeface="Arial" pitchFamily="34" charset="-120"/>
              </a:rPr>
              <a:t>Every failed call root-caused and closed</a:t>
            </a:r>
            <a:endParaRPr lang="en-US" sz="1000" dirty="0"/>
          </a:p>
        </p:txBody>
      </p:sp>
      <p:sp>
        <p:nvSpPr>
          <p:cNvPr id="76" name="shape-1222"/>
          <p:cNvSpPr/>
          <p:nvPr/>
        </p:nvSpPr>
        <p:spPr>
          <a:xfrm>
            <a:off x="8220456" y="3401568"/>
            <a:ext cx="667512" cy="429768"/>
          </a:xfrm>
          <a:prstGeom prst="line">
            <a:avLst/>
          </a:prstGeom>
          <a:noFill/>
          <a:ln w="15875">
            <a:solidFill>
              <a:srgbClr val="A0A0A0"/>
            </a:solidFill>
            <a:prstDash val="solid"/>
            <a:tailEnd type="triangle"/>
          </a:ln>
        </p:spPr>
      </p:sp>
      <p:sp>
        <p:nvSpPr>
          <p:cNvPr id="77" name="shape-1223"/>
          <p:cNvSpPr/>
          <p:nvPr/>
        </p:nvSpPr>
        <p:spPr>
          <a:xfrm>
            <a:off x="8942832" y="3593592"/>
            <a:ext cx="457200" cy="457200"/>
          </a:xfrm>
          <a:prstGeom prst="ellipse">
            <a:avLst/>
          </a:prstGeom>
          <a:solidFill>
            <a:srgbClr val="242424"/>
          </a:solidFill>
          <a:ln w="12700">
            <a:solidFill>
              <a:srgbClr val="242424"/>
            </a:solidFill>
            <a:prstDash val="solid"/>
          </a:ln>
        </p:spPr>
      </p:sp>
      <p:pic>
        <p:nvPicPr>
          <p:cNvPr id="78" name="icon-1224" descr="preencoded.png">    </p:cNvPr>
          <p:cNvPicPr>
            <a:picLocks noChangeAspect="1"/>
          </p:cNvPicPr>
          <p:nvPr/>
        </p:nvPicPr>
        <p:blipFill>
          <a:blip r:embed="rId16"/>
          <a:stretch>
            <a:fillRect/>
          </a:stretch>
        </p:blipFill>
        <p:spPr>
          <a:xfrm>
            <a:off x="9043416" y="3694176"/>
            <a:ext cx="256032" cy="256032"/>
          </a:xfrm>
          <a:prstGeom prst="rect">
            <a:avLst/>
          </a:prstGeom>
        </p:spPr>
      </p:pic>
      <p:sp>
        <p:nvSpPr>
          <p:cNvPr id="79" name="text-1225"/>
          <p:cNvSpPr txBox="1"/>
          <p:nvPr/>
        </p:nvSpPr>
        <p:spPr>
          <a:xfrm>
            <a:off x="9509760" y="3520440"/>
            <a:ext cx="2148840" cy="274320"/>
          </a:xfrm>
          <a:prstGeom prst="rect">
            <a:avLst/>
          </a:prstGeom>
          <a:noFill/>
          <a:ln/>
        </p:spPr>
        <p:txBody>
          <a:bodyPr wrap="square" lIns="0" tIns="0" rIns="0" bIns="0" rtlCol="0" anchor="ctr"/>
          <a:lstStyle/>
          <a:p>
            <a:pPr indent="0" marL="0">
              <a:buNone/>
            </a:pPr>
            <a:r>
              <a:rPr lang="en-US" sz="1250" b="1" dirty="0">
                <a:solidFill>
                  <a:srgbClr val="242424"/>
                </a:solidFill>
                <a:latin typeface="Arial" pitchFamily="34" charset="0"/>
                <a:ea typeface="Arial" pitchFamily="34" charset="-122"/>
                <a:cs typeface="Arial" pitchFamily="34" charset="-120"/>
              </a:rPr>
              <a:t>Troubleshooting</a:t>
            </a:r>
            <a:endParaRPr lang="en-US" sz="1250" dirty="0"/>
          </a:p>
        </p:txBody>
      </p:sp>
      <p:sp>
        <p:nvSpPr>
          <p:cNvPr id="80" name="text-1226"/>
          <p:cNvSpPr txBox="1"/>
          <p:nvPr/>
        </p:nvSpPr>
        <p:spPr>
          <a:xfrm>
            <a:off x="9509760" y="3794760"/>
            <a:ext cx="2148840" cy="384048"/>
          </a:xfrm>
          <a:prstGeom prst="rect">
            <a:avLst/>
          </a:prstGeom>
          <a:noFill/>
          <a:ln/>
        </p:spPr>
        <p:txBody>
          <a:bodyPr wrap="square" lIns="0" tIns="0" rIns="0" bIns="0" rtlCol="0" anchor="t"/>
          <a:lstStyle/>
          <a:p>
            <a:pPr indent="0" marL="0">
              <a:buNone/>
            </a:pPr>
            <a:r>
              <a:rPr lang="en-US" sz="1000" dirty="0">
                <a:solidFill>
                  <a:srgbClr val="767676"/>
                </a:solidFill>
                <a:latin typeface="Arial" pitchFamily="34" charset="0"/>
                <a:ea typeface="Arial" pitchFamily="34" charset="-122"/>
                <a:cs typeface="Arial" pitchFamily="34" charset="-120"/>
              </a:rPr>
              <a:t>Coverage, interference &amp; serving cells</a:t>
            </a:r>
            <a:endParaRPr lang="en-US" sz="1000" dirty="0"/>
          </a:p>
        </p:txBody>
      </p:sp>
      <p:sp>
        <p:nvSpPr>
          <p:cNvPr id="81" name="shape-1227"/>
          <p:cNvSpPr/>
          <p:nvPr/>
        </p:nvSpPr>
        <p:spPr>
          <a:xfrm>
            <a:off x="8220456" y="3401568"/>
            <a:ext cx="667512" cy="1271016"/>
          </a:xfrm>
          <a:prstGeom prst="line">
            <a:avLst/>
          </a:prstGeom>
          <a:noFill/>
          <a:ln w="15875">
            <a:solidFill>
              <a:srgbClr val="A0A0A0"/>
            </a:solidFill>
            <a:prstDash val="solid"/>
            <a:tailEnd type="triangle"/>
          </a:ln>
        </p:spPr>
      </p:sp>
      <p:sp>
        <p:nvSpPr>
          <p:cNvPr id="82" name="shape-1228"/>
          <p:cNvSpPr/>
          <p:nvPr/>
        </p:nvSpPr>
        <p:spPr>
          <a:xfrm>
            <a:off x="8942832" y="4434840"/>
            <a:ext cx="457200" cy="457200"/>
          </a:xfrm>
          <a:prstGeom prst="ellipse">
            <a:avLst/>
          </a:prstGeom>
          <a:solidFill>
            <a:srgbClr val="242424"/>
          </a:solidFill>
          <a:ln w="12700">
            <a:solidFill>
              <a:srgbClr val="242424"/>
            </a:solidFill>
            <a:prstDash val="solid"/>
          </a:ln>
        </p:spPr>
      </p:sp>
      <p:pic>
        <p:nvPicPr>
          <p:cNvPr id="83" name="icon-1229" descr="preencoded.png">    </p:cNvPr>
          <p:cNvPicPr>
            <a:picLocks noChangeAspect="1"/>
          </p:cNvPicPr>
          <p:nvPr/>
        </p:nvPicPr>
        <p:blipFill>
          <a:blip r:embed="rId17"/>
          <a:stretch>
            <a:fillRect/>
          </a:stretch>
        </p:blipFill>
        <p:spPr>
          <a:xfrm>
            <a:off x="9043416" y="4535424"/>
            <a:ext cx="256032" cy="256032"/>
          </a:xfrm>
          <a:prstGeom prst="rect">
            <a:avLst/>
          </a:prstGeom>
        </p:spPr>
      </p:pic>
      <p:sp>
        <p:nvSpPr>
          <p:cNvPr id="84" name="text-1230"/>
          <p:cNvSpPr txBox="1"/>
          <p:nvPr/>
        </p:nvSpPr>
        <p:spPr>
          <a:xfrm>
            <a:off x="9509760" y="4361688"/>
            <a:ext cx="2148840" cy="274320"/>
          </a:xfrm>
          <a:prstGeom prst="rect">
            <a:avLst/>
          </a:prstGeom>
          <a:noFill/>
          <a:ln/>
        </p:spPr>
        <p:txBody>
          <a:bodyPr wrap="square" lIns="0" tIns="0" rIns="0" bIns="0" rtlCol="0" anchor="ctr"/>
          <a:lstStyle/>
          <a:p>
            <a:pPr indent="0" marL="0">
              <a:buNone/>
            </a:pPr>
            <a:r>
              <a:rPr lang="en-US" sz="1250" b="1" dirty="0">
                <a:solidFill>
                  <a:srgbClr val="242424"/>
                </a:solidFill>
                <a:latin typeface="Arial" pitchFamily="34" charset="0"/>
                <a:ea typeface="Arial" pitchFamily="34" charset="-122"/>
                <a:cs typeface="Arial" pitchFamily="34" charset="-120"/>
              </a:rPr>
              <a:t>Technical &amp; executive</a:t>
            </a:r>
            <a:endParaRPr lang="en-US" sz="1250" dirty="0"/>
          </a:p>
        </p:txBody>
      </p:sp>
      <p:sp>
        <p:nvSpPr>
          <p:cNvPr id="85" name="text-1231"/>
          <p:cNvSpPr txBox="1"/>
          <p:nvPr/>
        </p:nvSpPr>
        <p:spPr>
          <a:xfrm>
            <a:off x="9509760" y="4636008"/>
            <a:ext cx="2148840" cy="384048"/>
          </a:xfrm>
          <a:prstGeom prst="rect">
            <a:avLst/>
          </a:prstGeom>
          <a:noFill/>
          <a:ln/>
        </p:spPr>
        <p:txBody>
          <a:bodyPr wrap="square" lIns="0" tIns="0" rIns="0" bIns="0" rtlCol="0" anchor="t"/>
          <a:lstStyle/>
          <a:p>
            <a:pPr indent="0" marL="0">
              <a:buNone/>
            </a:pPr>
            <a:r>
              <a:rPr lang="en-US" sz="1000" dirty="0">
                <a:solidFill>
                  <a:srgbClr val="767676"/>
                </a:solidFill>
                <a:latin typeface="Arial" pitchFamily="34" charset="0"/>
                <a:ea typeface="Arial" pitchFamily="34" charset="-122"/>
                <a:cs typeface="Arial" pitchFamily="34" charset="-120"/>
              </a:rPr>
              <a:t>PowerPoint &amp; Word in seven themes, scheduled</a:t>
            </a:r>
            <a:endParaRPr lang="en-US" sz="1000" dirty="0"/>
          </a:p>
        </p:txBody>
      </p:sp>
      <p:sp>
        <p:nvSpPr>
          <p:cNvPr id="86" name="text-1232"/>
          <p:cNvSpPr txBox="1"/>
          <p:nvPr/>
        </p:nvSpPr>
        <p:spPr>
          <a:xfrm>
            <a:off x="548640" y="5230368"/>
            <a:ext cx="2743200" cy="237744"/>
          </a:xfrm>
          <a:prstGeom prst="rect">
            <a:avLst/>
          </a:prstGeom>
          <a:noFill/>
          <a:ln/>
        </p:spPr>
        <p:txBody>
          <a:bodyPr wrap="square" lIns="0" tIns="0" rIns="0" bIns="0" rtlCol="0" anchor="ctr"/>
          <a:lstStyle/>
          <a:p>
            <a:pPr indent="0" marL="0">
              <a:buNone/>
            </a:pPr>
            <a:r>
              <a:rPr lang="en-US" sz="1050" b="1" spc="100" kern="0" dirty="0">
                <a:solidFill>
                  <a:srgbClr val="767676"/>
                </a:solidFill>
                <a:latin typeface="Arial" pitchFamily="34" charset="0"/>
                <a:ea typeface="Arial" pitchFamily="34" charset="-122"/>
                <a:cs typeface="Arial" pitchFamily="34" charset="-120"/>
              </a:rPr>
              <a:t>ENTERPRISE PLATFORM</a:t>
            </a:r>
            <a:endParaRPr lang="en-US" sz="1050" dirty="0"/>
          </a:p>
        </p:txBody>
      </p:sp>
      <p:sp>
        <p:nvSpPr>
          <p:cNvPr id="87" name="shape-1233"/>
          <p:cNvSpPr/>
          <p:nvPr/>
        </p:nvSpPr>
        <p:spPr>
          <a:xfrm>
            <a:off x="548640" y="5504688"/>
            <a:ext cx="1609344" cy="347472"/>
          </a:xfrm>
          <a:prstGeom prst="roundRect">
            <a:avLst>
              <a:gd name="adj" fmla="val 26316"/>
            </a:avLst>
          </a:prstGeom>
          <a:solidFill>
            <a:srgbClr val="FFFFFF"/>
          </a:solidFill>
          <a:ln w="12700">
            <a:solidFill>
              <a:srgbClr val="E0E0E0"/>
            </a:solidFill>
            <a:prstDash val="solid"/>
          </a:ln>
        </p:spPr>
      </p:sp>
      <p:pic>
        <p:nvPicPr>
          <p:cNvPr id="88" name="icon-1234" descr="preencoded.png">    </p:cNvPr>
          <p:cNvPicPr>
            <a:picLocks noChangeAspect="1"/>
          </p:cNvPicPr>
          <p:nvPr/>
        </p:nvPicPr>
        <p:blipFill>
          <a:blip r:embed="rId18"/>
          <a:stretch>
            <a:fillRect/>
          </a:stretch>
        </p:blipFill>
        <p:spPr>
          <a:xfrm>
            <a:off x="640080" y="5577840"/>
            <a:ext cx="201168" cy="201168"/>
          </a:xfrm>
          <a:prstGeom prst="rect">
            <a:avLst/>
          </a:prstGeom>
        </p:spPr>
      </p:pic>
      <p:sp>
        <p:nvSpPr>
          <p:cNvPr id="89" name="text-1235"/>
          <p:cNvSpPr txBox="1"/>
          <p:nvPr/>
        </p:nvSpPr>
        <p:spPr>
          <a:xfrm>
            <a:off x="896112" y="5504688"/>
            <a:ext cx="1234440" cy="347472"/>
          </a:xfrm>
          <a:prstGeom prst="rect">
            <a:avLst/>
          </a:prstGeom>
          <a:noFill/>
          <a:ln/>
        </p:spPr>
        <p:txBody>
          <a:bodyPr wrap="square" lIns="0" tIns="0" rIns="0" bIns="0" rtlCol="0" anchor="ctr"/>
          <a:lstStyle/>
          <a:p>
            <a:pPr indent="0" marL="0">
              <a:buNone/>
            </a:pPr>
            <a:r>
              <a:rPr lang="en-US" sz="1000" b="1" dirty="0">
                <a:solidFill>
                  <a:srgbClr val="242424"/>
                </a:solidFill>
                <a:latin typeface="Arial" pitchFamily="34" charset="0"/>
                <a:ea typeface="Arial" pitchFamily="34" charset="-122"/>
                <a:cs typeface="Arial" pitchFamily="34" charset="-120"/>
              </a:rPr>
              <a:t>AWS · Docker</a:t>
            </a:r>
            <a:endParaRPr lang="en-US" sz="1000" dirty="0"/>
          </a:p>
        </p:txBody>
      </p:sp>
      <p:sp>
        <p:nvSpPr>
          <p:cNvPr id="90" name="shape-1236"/>
          <p:cNvSpPr/>
          <p:nvPr/>
        </p:nvSpPr>
        <p:spPr>
          <a:xfrm>
            <a:off x="2249424" y="5504688"/>
            <a:ext cx="1609344" cy="347472"/>
          </a:xfrm>
          <a:prstGeom prst="roundRect">
            <a:avLst>
              <a:gd name="adj" fmla="val 26316"/>
            </a:avLst>
          </a:prstGeom>
          <a:solidFill>
            <a:srgbClr val="FFFFFF"/>
          </a:solidFill>
          <a:ln w="12700">
            <a:solidFill>
              <a:srgbClr val="E0E0E0"/>
            </a:solidFill>
            <a:prstDash val="solid"/>
          </a:ln>
        </p:spPr>
      </p:sp>
      <p:pic>
        <p:nvPicPr>
          <p:cNvPr id="91" name="icon-1237" descr="preencoded.png">    </p:cNvPr>
          <p:cNvPicPr>
            <a:picLocks noChangeAspect="1"/>
          </p:cNvPicPr>
          <p:nvPr/>
        </p:nvPicPr>
        <p:blipFill>
          <a:blip r:embed="rId19"/>
          <a:stretch>
            <a:fillRect/>
          </a:stretch>
        </p:blipFill>
        <p:spPr>
          <a:xfrm>
            <a:off x="2340864" y="5577840"/>
            <a:ext cx="201168" cy="201168"/>
          </a:xfrm>
          <a:prstGeom prst="rect">
            <a:avLst/>
          </a:prstGeom>
        </p:spPr>
      </p:pic>
      <p:sp>
        <p:nvSpPr>
          <p:cNvPr id="92" name="text-1238"/>
          <p:cNvSpPr txBox="1"/>
          <p:nvPr/>
        </p:nvSpPr>
        <p:spPr>
          <a:xfrm>
            <a:off x="2596896" y="5504688"/>
            <a:ext cx="1234440" cy="347472"/>
          </a:xfrm>
          <a:prstGeom prst="rect">
            <a:avLst/>
          </a:prstGeom>
          <a:noFill/>
          <a:ln/>
        </p:spPr>
        <p:txBody>
          <a:bodyPr wrap="square" lIns="0" tIns="0" rIns="0" bIns="0" rtlCol="0" anchor="ctr"/>
          <a:lstStyle/>
          <a:p>
            <a:pPr indent="0" marL="0">
              <a:buNone/>
            </a:pPr>
            <a:r>
              <a:rPr lang="en-US" sz="1000" b="1" dirty="0">
                <a:solidFill>
                  <a:srgbClr val="242424"/>
                </a:solidFill>
                <a:latin typeface="Arial" pitchFamily="34" charset="0"/>
                <a:ea typeface="Arial" pitchFamily="34" charset="-122"/>
                <a:cs typeface="Arial" pitchFamily="34" charset="-120"/>
              </a:rPr>
              <a:t>4 roles · 16 users</a:t>
            </a:r>
            <a:endParaRPr lang="en-US" sz="1000" dirty="0"/>
          </a:p>
        </p:txBody>
      </p:sp>
      <p:sp>
        <p:nvSpPr>
          <p:cNvPr id="93" name="shape-1239"/>
          <p:cNvSpPr/>
          <p:nvPr/>
        </p:nvSpPr>
        <p:spPr>
          <a:xfrm>
            <a:off x="3950208" y="5504688"/>
            <a:ext cx="1609344" cy="347472"/>
          </a:xfrm>
          <a:prstGeom prst="roundRect">
            <a:avLst>
              <a:gd name="adj" fmla="val 26316"/>
            </a:avLst>
          </a:prstGeom>
          <a:solidFill>
            <a:srgbClr val="FFFFFF"/>
          </a:solidFill>
          <a:ln w="12700">
            <a:solidFill>
              <a:srgbClr val="E0E0E0"/>
            </a:solidFill>
            <a:prstDash val="solid"/>
          </a:ln>
        </p:spPr>
      </p:sp>
      <p:pic>
        <p:nvPicPr>
          <p:cNvPr id="94" name="icon-1240" descr="preencoded.png">    </p:cNvPr>
          <p:cNvPicPr>
            <a:picLocks noChangeAspect="1"/>
          </p:cNvPicPr>
          <p:nvPr/>
        </p:nvPicPr>
        <p:blipFill>
          <a:blip r:embed="rId20"/>
          <a:stretch>
            <a:fillRect/>
          </a:stretch>
        </p:blipFill>
        <p:spPr>
          <a:xfrm>
            <a:off x="4041648" y="5577840"/>
            <a:ext cx="201168" cy="201168"/>
          </a:xfrm>
          <a:prstGeom prst="rect">
            <a:avLst/>
          </a:prstGeom>
        </p:spPr>
      </p:pic>
      <p:sp>
        <p:nvSpPr>
          <p:cNvPr id="95" name="text-1241"/>
          <p:cNvSpPr txBox="1"/>
          <p:nvPr/>
        </p:nvSpPr>
        <p:spPr>
          <a:xfrm>
            <a:off x="4297680" y="5504688"/>
            <a:ext cx="1234440" cy="347472"/>
          </a:xfrm>
          <a:prstGeom prst="rect">
            <a:avLst/>
          </a:prstGeom>
          <a:noFill/>
          <a:ln/>
        </p:spPr>
        <p:txBody>
          <a:bodyPr wrap="square" lIns="0" tIns="0" rIns="0" bIns="0" rtlCol="0" anchor="ctr"/>
          <a:lstStyle/>
          <a:p>
            <a:pPr indent="0" marL="0">
              <a:buNone/>
            </a:pPr>
            <a:r>
              <a:rPr lang="en-US" sz="1000" b="1" dirty="0">
                <a:solidFill>
                  <a:srgbClr val="242424"/>
                </a:solidFill>
                <a:latin typeface="Arial" pitchFamily="34" charset="0"/>
                <a:ea typeface="Arial" pitchFamily="34" charset="-122"/>
                <a:cs typeface="Arial" pitchFamily="34" charset="-120"/>
              </a:rPr>
              <a:t>Modules Profiles</a:t>
            </a:r>
            <a:endParaRPr lang="en-US" sz="1000" dirty="0"/>
          </a:p>
        </p:txBody>
      </p:sp>
      <p:sp>
        <p:nvSpPr>
          <p:cNvPr id="96" name="shape-1242"/>
          <p:cNvSpPr/>
          <p:nvPr/>
        </p:nvSpPr>
        <p:spPr>
          <a:xfrm>
            <a:off x="5650992" y="5504688"/>
            <a:ext cx="1609344" cy="347472"/>
          </a:xfrm>
          <a:prstGeom prst="roundRect">
            <a:avLst>
              <a:gd name="adj" fmla="val 26316"/>
            </a:avLst>
          </a:prstGeom>
          <a:solidFill>
            <a:srgbClr val="FFFFFF"/>
          </a:solidFill>
          <a:ln w="12700">
            <a:solidFill>
              <a:srgbClr val="E0E0E0"/>
            </a:solidFill>
            <a:prstDash val="solid"/>
          </a:ln>
        </p:spPr>
      </p:sp>
      <p:pic>
        <p:nvPicPr>
          <p:cNvPr id="97" name="icon-1243" descr="preencoded.png">    </p:cNvPr>
          <p:cNvPicPr>
            <a:picLocks noChangeAspect="1"/>
          </p:cNvPicPr>
          <p:nvPr/>
        </p:nvPicPr>
        <p:blipFill>
          <a:blip r:embed="rId21"/>
          <a:stretch>
            <a:fillRect/>
          </a:stretch>
        </p:blipFill>
        <p:spPr>
          <a:xfrm>
            <a:off x="5742432" y="5577840"/>
            <a:ext cx="201168" cy="201168"/>
          </a:xfrm>
          <a:prstGeom prst="rect">
            <a:avLst/>
          </a:prstGeom>
        </p:spPr>
      </p:pic>
      <p:sp>
        <p:nvSpPr>
          <p:cNvPr id="98" name="text-1244"/>
          <p:cNvSpPr txBox="1"/>
          <p:nvPr/>
        </p:nvSpPr>
        <p:spPr>
          <a:xfrm>
            <a:off x="5998464" y="5504688"/>
            <a:ext cx="1234440" cy="347472"/>
          </a:xfrm>
          <a:prstGeom prst="rect">
            <a:avLst/>
          </a:prstGeom>
          <a:noFill/>
          <a:ln/>
        </p:spPr>
        <p:txBody>
          <a:bodyPr wrap="square" lIns="0" tIns="0" rIns="0" bIns="0" rtlCol="0" anchor="ctr"/>
          <a:lstStyle/>
          <a:p>
            <a:pPr indent="0" marL="0">
              <a:buNone/>
            </a:pPr>
            <a:r>
              <a:rPr lang="en-US" sz="1000" b="1" dirty="0">
                <a:solidFill>
                  <a:srgbClr val="242424"/>
                </a:solidFill>
                <a:latin typeface="Arial" pitchFamily="34" charset="0"/>
                <a:ea typeface="Arial" pitchFamily="34" charset="-122"/>
                <a:cs typeface="Arial" pitchFamily="34" charset="-120"/>
              </a:rPr>
              <a:t>Isolated workspaces</a:t>
            </a:r>
            <a:endParaRPr lang="en-US" sz="1000" dirty="0"/>
          </a:p>
        </p:txBody>
      </p:sp>
      <p:sp>
        <p:nvSpPr>
          <p:cNvPr id="99" name="shape-1245"/>
          <p:cNvSpPr/>
          <p:nvPr/>
        </p:nvSpPr>
        <p:spPr>
          <a:xfrm>
            <a:off x="548640" y="5916168"/>
            <a:ext cx="1609344" cy="347472"/>
          </a:xfrm>
          <a:prstGeom prst="roundRect">
            <a:avLst>
              <a:gd name="adj" fmla="val 26316"/>
            </a:avLst>
          </a:prstGeom>
          <a:solidFill>
            <a:srgbClr val="FFFFFF"/>
          </a:solidFill>
          <a:ln w="12700">
            <a:solidFill>
              <a:srgbClr val="E0E0E0"/>
            </a:solidFill>
            <a:prstDash val="solid"/>
          </a:ln>
        </p:spPr>
      </p:sp>
      <p:pic>
        <p:nvPicPr>
          <p:cNvPr id="100" name="icon-1246" descr="preencoded.png">    </p:cNvPr>
          <p:cNvPicPr>
            <a:picLocks noChangeAspect="1"/>
          </p:cNvPicPr>
          <p:nvPr/>
        </p:nvPicPr>
        <p:blipFill>
          <a:blip r:embed="rId22"/>
          <a:stretch>
            <a:fillRect/>
          </a:stretch>
        </p:blipFill>
        <p:spPr>
          <a:xfrm>
            <a:off x="640080" y="5989320"/>
            <a:ext cx="201168" cy="201168"/>
          </a:xfrm>
          <a:prstGeom prst="rect">
            <a:avLst/>
          </a:prstGeom>
        </p:spPr>
      </p:pic>
      <p:sp>
        <p:nvSpPr>
          <p:cNvPr id="101" name="text-1247"/>
          <p:cNvSpPr txBox="1"/>
          <p:nvPr/>
        </p:nvSpPr>
        <p:spPr>
          <a:xfrm>
            <a:off x="896112" y="5916168"/>
            <a:ext cx="1234440" cy="347472"/>
          </a:xfrm>
          <a:prstGeom prst="rect">
            <a:avLst/>
          </a:prstGeom>
          <a:noFill/>
          <a:ln/>
        </p:spPr>
        <p:txBody>
          <a:bodyPr wrap="square" lIns="0" tIns="0" rIns="0" bIns="0" rtlCol="0" anchor="ctr"/>
          <a:lstStyle/>
          <a:p>
            <a:pPr indent="0" marL="0">
              <a:buNone/>
            </a:pPr>
            <a:r>
              <a:rPr lang="en-US" sz="1000" b="1" dirty="0">
                <a:solidFill>
                  <a:srgbClr val="242424"/>
                </a:solidFill>
                <a:latin typeface="Arial" pitchFamily="34" charset="0"/>
                <a:ea typeface="Arial" pitchFamily="34" charset="-122"/>
                <a:cs typeface="Arial" pitchFamily="34" charset="-120"/>
              </a:rPr>
              <a:t>Automated backups</a:t>
            </a:r>
            <a:endParaRPr lang="en-US" sz="1000" dirty="0"/>
          </a:p>
        </p:txBody>
      </p:sp>
      <p:sp>
        <p:nvSpPr>
          <p:cNvPr id="102" name="shape-1248"/>
          <p:cNvSpPr/>
          <p:nvPr/>
        </p:nvSpPr>
        <p:spPr>
          <a:xfrm>
            <a:off x="2249424" y="5916168"/>
            <a:ext cx="1609344" cy="347472"/>
          </a:xfrm>
          <a:prstGeom prst="roundRect">
            <a:avLst>
              <a:gd name="adj" fmla="val 26316"/>
            </a:avLst>
          </a:prstGeom>
          <a:solidFill>
            <a:srgbClr val="FFFFFF"/>
          </a:solidFill>
          <a:ln w="12700">
            <a:solidFill>
              <a:srgbClr val="E0E0E0"/>
            </a:solidFill>
            <a:prstDash val="solid"/>
          </a:ln>
        </p:spPr>
      </p:sp>
      <p:pic>
        <p:nvPicPr>
          <p:cNvPr id="103" name="icon-1249" descr="preencoded.png">    </p:cNvPr>
          <p:cNvPicPr>
            <a:picLocks noChangeAspect="1"/>
          </p:cNvPicPr>
          <p:nvPr/>
        </p:nvPicPr>
        <p:blipFill>
          <a:blip r:embed="rId23"/>
          <a:stretch>
            <a:fillRect/>
          </a:stretch>
        </p:blipFill>
        <p:spPr>
          <a:xfrm>
            <a:off x="2340864" y="5989320"/>
            <a:ext cx="201168" cy="201168"/>
          </a:xfrm>
          <a:prstGeom prst="rect">
            <a:avLst/>
          </a:prstGeom>
        </p:spPr>
      </p:pic>
      <p:sp>
        <p:nvSpPr>
          <p:cNvPr id="104" name="text-1250"/>
          <p:cNvSpPr txBox="1"/>
          <p:nvPr/>
        </p:nvSpPr>
        <p:spPr>
          <a:xfrm>
            <a:off x="2596896" y="5916168"/>
            <a:ext cx="1234440" cy="347472"/>
          </a:xfrm>
          <a:prstGeom prst="rect">
            <a:avLst/>
          </a:prstGeom>
          <a:noFill/>
          <a:ln/>
        </p:spPr>
        <p:txBody>
          <a:bodyPr wrap="square" lIns="0" tIns="0" rIns="0" bIns="0" rtlCol="0" anchor="ctr"/>
          <a:lstStyle/>
          <a:p>
            <a:pPr indent="0" marL="0">
              <a:buNone/>
            </a:pPr>
            <a:r>
              <a:rPr lang="en-US" sz="1000" b="1" dirty="0">
                <a:solidFill>
                  <a:srgbClr val="242424"/>
                </a:solidFill>
                <a:latin typeface="Arial" pitchFamily="34" charset="0"/>
                <a:ea typeface="Arial" pitchFamily="34" charset="-122"/>
                <a:cs typeface="Arial" pitchFamily="34" charset="-120"/>
              </a:rPr>
              <a:t>Ticket Center</a:t>
            </a:r>
            <a:endParaRPr lang="en-US" sz="1000" dirty="0"/>
          </a:p>
        </p:txBody>
      </p:sp>
      <p:sp>
        <p:nvSpPr>
          <p:cNvPr id="105" name="shape-1251"/>
          <p:cNvSpPr/>
          <p:nvPr/>
        </p:nvSpPr>
        <p:spPr>
          <a:xfrm>
            <a:off x="3950208" y="5916168"/>
            <a:ext cx="1609344" cy="347472"/>
          </a:xfrm>
          <a:prstGeom prst="roundRect">
            <a:avLst>
              <a:gd name="adj" fmla="val 26316"/>
            </a:avLst>
          </a:prstGeom>
          <a:solidFill>
            <a:srgbClr val="FFFFFF"/>
          </a:solidFill>
          <a:ln w="12700">
            <a:solidFill>
              <a:srgbClr val="E0E0E0"/>
            </a:solidFill>
            <a:prstDash val="solid"/>
          </a:ln>
        </p:spPr>
      </p:sp>
      <p:pic>
        <p:nvPicPr>
          <p:cNvPr id="106" name="icon-1252" descr="preencoded.png">    </p:cNvPr>
          <p:cNvPicPr>
            <a:picLocks noChangeAspect="1"/>
          </p:cNvPicPr>
          <p:nvPr/>
        </p:nvPicPr>
        <p:blipFill>
          <a:blip r:embed="rId24"/>
          <a:stretch>
            <a:fillRect/>
          </a:stretch>
        </p:blipFill>
        <p:spPr>
          <a:xfrm>
            <a:off x="4041648" y="5989320"/>
            <a:ext cx="201168" cy="201168"/>
          </a:xfrm>
          <a:prstGeom prst="rect">
            <a:avLst/>
          </a:prstGeom>
        </p:spPr>
      </p:pic>
      <p:sp>
        <p:nvSpPr>
          <p:cNvPr id="107" name="text-1253"/>
          <p:cNvSpPr txBox="1"/>
          <p:nvPr/>
        </p:nvSpPr>
        <p:spPr>
          <a:xfrm>
            <a:off x="4297680" y="5916168"/>
            <a:ext cx="1234440" cy="347472"/>
          </a:xfrm>
          <a:prstGeom prst="rect">
            <a:avLst/>
          </a:prstGeom>
          <a:noFill/>
          <a:ln/>
        </p:spPr>
        <p:txBody>
          <a:bodyPr wrap="square" lIns="0" tIns="0" rIns="0" bIns="0" rtlCol="0" anchor="ctr"/>
          <a:lstStyle/>
          <a:p>
            <a:pPr indent="0" marL="0">
              <a:buNone/>
            </a:pPr>
            <a:r>
              <a:rPr lang="en-US" sz="1000" b="1" dirty="0">
                <a:solidFill>
                  <a:srgbClr val="242424"/>
                </a:solidFill>
                <a:latin typeface="Arial" pitchFamily="34" charset="0"/>
                <a:ea typeface="Arial" pitchFamily="34" charset="-122"/>
                <a:cs typeface="Arial" pitchFamily="34" charset="-120"/>
              </a:rPr>
              <a:t>25-chapter Help</a:t>
            </a:r>
            <a:endParaRPr lang="en-US" sz="1000" dirty="0"/>
          </a:p>
        </p:txBody>
      </p:sp>
      <p:sp>
        <p:nvSpPr>
          <p:cNvPr id="108" name="shape-1254"/>
          <p:cNvSpPr/>
          <p:nvPr/>
        </p:nvSpPr>
        <p:spPr>
          <a:xfrm>
            <a:off x="5650992" y="5916168"/>
            <a:ext cx="1609344" cy="347472"/>
          </a:xfrm>
          <a:prstGeom prst="roundRect">
            <a:avLst>
              <a:gd name="adj" fmla="val 26316"/>
            </a:avLst>
          </a:prstGeom>
          <a:solidFill>
            <a:srgbClr val="FFFFFF"/>
          </a:solidFill>
          <a:ln w="12700">
            <a:solidFill>
              <a:srgbClr val="E0E0E0"/>
            </a:solidFill>
            <a:prstDash val="solid"/>
          </a:ln>
        </p:spPr>
      </p:sp>
      <p:pic>
        <p:nvPicPr>
          <p:cNvPr id="109" name="icon-1255" descr="preencoded.png">    </p:cNvPr>
          <p:cNvPicPr>
            <a:picLocks noChangeAspect="1"/>
          </p:cNvPicPr>
          <p:nvPr/>
        </p:nvPicPr>
        <p:blipFill>
          <a:blip r:embed="rId25"/>
          <a:stretch>
            <a:fillRect/>
          </a:stretch>
        </p:blipFill>
        <p:spPr>
          <a:xfrm>
            <a:off x="5742432" y="5989320"/>
            <a:ext cx="201168" cy="201168"/>
          </a:xfrm>
          <a:prstGeom prst="rect">
            <a:avLst/>
          </a:prstGeom>
        </p:spPr>
      </p:pic>
      <p:sp>
        <p:nvSpPr>
          <p:cNvPr id="110" name="text-1256"/>
          <p:cNvSpPr txBox="1"/>
          <p:nvPr/>
        </p:nvSpPr>
        <p:spPr>
          <a:xfrm>
            <a:off x="5998464" y="5916168"/>
            <a:ext cx="1234440" cy="347472"/>
          </a:xfrm>
          <a:prstGeom prst="rect">
            <a:avLst/>
          </a:prstGeom>
          <a:noFill/>
          <a:ln/>
        </p:spPr>
        <p:txBody>
          <a:bodyPr wrap="square" lIns="0" tIns="0" rIns="0" bIns="0" rtlCol="0" anchor="ctr"/>
          <a:lstStyle/>
          <a:p>
            <a:pPr indent="0" marL="0">
              <a:buNone/>
            </a:pPr>
            <a:r>
              <a:rPr lang="en-US" sz="1000" b="1" dirty="0">
                <a:solidFill>
                  <a:srgbClr val="242424"/>
                </a:solidFill>
                <a:latin typeface="Arial" pitchFamily="34" charset="0"/>
                <a:ea typeface="Arial" pitchFamily="34" charset="-122"/>
                <a:cs typeface="Arial" pitchFamily="34" charset="-120"/>
              </a:rPr>
              <a:t>1,895 tests</a:t>
            </a:r>
            <a:endParaRPr lang="en-US" sz="1000" dirty="0"/>
          </a:p>
        </p:txBody>
      </p:sp>
      <p:sp>
        <p:nvSpPr>
          <p:cNvPr id="111" name="text-1257"/>
          <p:cNvSpPr txBox="1"/>
          <p:nvPr/>
        </p:nvSpPr>
        <p:spPr>
          <a:xfrm>
            <a:off x="7452360" y="5230368"/>
            <a:ext cx="2743200" cy="237744"/>
          </a:xfrm>
          <a:prstGeom prst="rect">
            <a:avLst/>
          </a:prstGeom>
          <a:noFill/>
          <a:ln/>
        </p:spPr>
        <p:txBody>
          <a:bodyPr wrap="square" lIns="0" tIns="0" rIns="0" bIns="0" rtlCol="0" anchor="ctr"/>
          <a:lstStyle/>
          <a:p>
            <a:pPr indent="0" marL="0">
              <a:buNone/>
            </a:pPr>
            <a:r>
              <a:rPr lang="en-US" sz="1050" b="1" spc="100" kern="0" dirty="0">
                <a:solidFill>
                  <a:srgbClr val="767676"/>
                </a:solidFill>
                <a:latin typeface="Arial" pitchFamily="34" charset="0"/>
                <a:ea typeface="Arial" pitchFamily="34" charset="-122"/>
                <a:cs typeface="Arial" pitchFamily="34" charset="-120"/>
              </a:rPr>
              <a:t>ROADMAP</a:t>
            </a:r>
            <a:endParaRPr lang="en-US" sz="1050" dirty="0"/>
          </a:p>
        </p:txBody>
      </p:sp>
      <p:sp>
        <p:nvSpPr>
          <p:cNvPr id="112" name="text-1258"/>
          <p:cNvSpPr txBox="1"/>
          <p:nvPr/>
        </p:nvSpPr>
        <p:spPr>
          <a:xfrm>
            <a:off x="7223760" y="5486400"/>
            <a:ext cx="1097280" cy="182880"/>
          </a:xfrm>
          <a:prstGeom prst="rect">
            <a:avLst/>
          </a:prstGeom>
          <a:noFill/>
          <a:ln/>
        </p:spPr>
        <p:txBody>
          <a:bodyPr wrap="square" lIns="0" tIns="0" rIns="0" bIns="0" rtlCol="0" anchor="ctr"/>
          <a:lstStyle/>
          <a:p>
            <a:pPr algn="ctr" indent="0" marL="0">
              <a:buNone/>
            </a:pPr>
            <a:r>
              <a:rPr lang="en-US" sz="950" b="1" spc="100" kern="0" dirty="0">
                <a:solidFill>
                  <a:srgbClr val="0C9B5B"/>
                </a:solidFill>
                <a:latin typeface="Arial" pitchFamily="34" charset="0"/>
                <a:ea typeface="Arial" pitchFamily="34" charset="-122"/>
                <a:cs typeface="Arial" pitchFamily="34" charset="-120"/>
              </a:rPr>
              <a:t>TODAY</a:t>
            </a:r>
            <a:endParaRPr lang="en-US" sz="950" dirty="0"/>
          </a:p>
        </p:txBody>
      </p:sp>
      <p:sp>
        <p:nvSpPr>
          <p:cNvPr id="113" name="shape-1259"/>
          <p:cNvSpPr/>
          <p:nvPr/>
        </p:nvSpPr>
        <p:spPr>
          <a:xfrm>
            <a:off x="7589520" y="5632704"/>
            <a:ext cx="365760" cy="365760"/>
          </a:xfrm>
          <a:prstGeom prst="ellipse">
            <a:avLst/>
          </a:prstGeom>
          <a:solidFill>
            <a:srgbClr val="FFFFFF"/>
          </a:solidFill>
          <a:ln w="12700">
            <a:solidFill>
              <a:srgbClr val="FFFFFF"/>
            </a:solidFill>
            <a:prstDash val="solid"/>
          </a:ln>
        </p:spPr>
      </p:sp>
      <p:sp>
        <p:nvSpPr>
          <p:cNvPr id="114" name="shape-1260"/>
          <p:cNvSpPr/>
          <p:nvPr/>
        </p:nvSpPr>
        <p:spPr>
          <a:xfrm>
            <a:off x="7626096" y="5669280"/>
            <a:ext cx="292608" cy="292608"/>
          </a:xfrm>
          <a:prstGeom prst="ellipse">
            <a:avLst/>
          </a:prstGeom>
          <a:solidFill>
            <a:srgbClr val="0C9B5B"/>
          </a:solidFill>
          <a:ln w="12700">
            <a:solidFill>
              <a:srgbClr val="0C9B5B"/>
            </a:solidFill>
            <a:prstDash val="solid"/>
          </a:ln>
        </p:spPr>
      </p:sp>
      <p:pic>
        <p:nvPicPr>
          <p:cNvPr id="115" name="icon-1261" descr="preencoded.png">    </p:cNvPr>
          <p:cNvPicPr>
            <a:picLocks noChangeAspect="1"/>
          </p:cNvPicPr>
          <p:nvPr/>
        </p:nvPicPr>
        <p:blipFill>
          <a:blip r:embed="rId26"/>
          <a:stretch>
            <a:fillRect/>
          </a:stretch>
        </p:blipFill>
        <p:spPr>
          <a:xfrm>
            <a:off x="7690470" y="5733654"/>
            <a:ext cx="163860" cy="163860"/>
          </a:xfrm>
          <a:prstGeom prst="rect">
            <a:avLst/>
          </a:prstGeom>
        </p:spPr>
      </p:pic>
      <p:sp>
        <p:nvSpPr>
          <p:cNvPr id="116" name="text-1262"/>
          <p:cNvSpPr txBox="1"/>
          <p:nvPr/>
        </p:nvSpPr>
        <p:spPr>
          <a:xfrm>
            <a:off x="7223760" y="6089904"/>
            <a:ext cx="1097280" cy="365760"/>
          </a:xfrm>
          <a:prstGeom prst="rect">
            <a:avLst/>
          </a:prstGeom>
          <a:noFill/>
          <a:ln/>
        </p:spPr>
        <p:txBody>
          <a:bodyPr wrap="square" lIns="0" tIns="0" rIns="0" bIns="0" rtlCol="0" anchor="t"/>
          <a:lstStyle/>
          <a:p>
            <a:pPr algn="ctr" indent="0" marL="0">
              <a:buNone/>
            </a:pPr>
            <a:r>
              <a:rPr lang="en-US" sz="1000" b="1" dirty="0">
                <a:solidFill>
                  <a:srgbClr val="242424"/>
                </a:solidFill>
                <a:latin typeface="Arial" pitchFamily="34" charset="0"/>
                <a:ea typeface="Arial" pitchFamily="34" charset="-122"/>
                <a:cs typeface="Arial" pitchFamily="34" charset="-120"/>
              </a:rPr>
              <a:t>8 modules live</a:t>
            </a:r>
            <a:endParaRPr lang="en-US" sz="1000" dirty="0"/>
          </a:p>
        </p:txBody>
      </p:sp>
      <p:sp>
        <p:nvSpPr>
          <p:cNvPr id="117" name="text-1263"/>
          <p:cNvSpPr txBox="1"/>
          <p:nvPr/>
        </p:nvSpPr>
        <p:spPr>
          <a:xfrm>
            <a:off x="8366760" y="5486400"/>
            <a:ext cx="1097280" cy="182880"/>
          </a:xfrm>
          <a:prstGeom prst="rect">
            <a:avLst/>
          </a:prstGeom>
          <a:noFill/>
          <a:ln/>
        </p:spPr>
        <p:txBody>
          <a:bodyPr wrap="square" lIns="0" tIns="0" rIns="0" bIns="0" rtlCol="0" anchor="ctr"/>
          <a:lstStyle/>
          <a:p>
            <a:pPr algn="ctr" indent="0" marL="0">
              <a:buNone/>
            </a:pPr>
            <a:r>
              <a:rPr lang="en-US" sz="950" b="1" spc="100" kern="0" dirty="0">
                <a:solidFill>
                  <a:srgbClr val="0082F0"/>
                </a:solidFill>
                <a:latin typeface="Arial" pitchFamily="34" charset="0"/>
                <a:ea typeface="Arial" pitchFamily="34" charset="-122"/>
                <a:cs typeface="Arial" pitchFamily="34" charset="-120"/>
              </a:rPr>
              <a:t>NEXT</a:t>
            </a:r>
            <a:endParaRPr lang="en-US" sz="950" dirty="0"/>
          </a:p>
        </p:txBody>
      </p:sp>
      <p:sp>
        <p:nvSpPr>
          <p:cNvPr id="118" name="shape-1264"/>
          <p:cNvSpPr/>
          <p:nvPr/>
        </p:nvSpPr>
        <p:spPr>
          <a:xfrm>
            <a:off x="8732520" y="5687568"/>
            <a:ext cx="365760" cy="365760"/>
          </a:xfrm>
          <a:prstGeom prst="ellipse">
            <a:avLst/>
          </a:prstGeom>
          <a:solidFill>
            <a:srgbClr val="FFFFFF"/>
          </a:solidFill>
          <a:ln w="12700">
            <a:solidFill>
              <a:srgbClr val="FFFFFF"/>
            </a:solidFill>
            <a:prstDash val="solid"/>
          </a:ln>
        </p:spPr>
      </p:sp>
      <p:sp>
        <p:nvSpPr>
          <p:cNvPr id="119" name="shape-1265"/>
          <p:cNvSpPr/>
          <p:nvPr/>
        </p:nvSpPr>
        <p:spPr>
          <a:xfrm>
            <a:off x="8769096" y="5724144"/>
            <a:ext cx="292608" cy="292608"/>
          </a:xfrm>
          <a:prstGeom prst="ellipse">
            <a:avLst/>
          </a:prstGeom>
          <a:solidFill>
            <a:srgbClr val="0082F0"/>
          </a:solidFill>
          <a:ln w="12700">
            <a:solidFill>
              <a:srgbClr val="0082F0"/>
            </a:solidFill>
            <a:prstDash val="solid"/>
          </a:ln>
        </p:spPr>
      </p:sp>
      <p:pic>
        <p:nvPicPr>
          <p:cNvPr id="120" name="icon-1266" descr="preencoded.png">    </p:cNvPr>
          <p:cNvPicPr>
            <a:picLocks noChangeAspect="1"/>
          </p:cNvPicPr>
          <p:nvPr/>
        </p:nvPicPr>
        <p:blipFill>
          <a:blip r:embed="rId27"/>
          <a:stretch>
            <a:fillRect/>
          </a:stretch>
        </p:blipFill>
        <p:spPr>
          <a:xfrm>
            <a:off x="8833470" y="5788518"/>
            <a:ext cx="163860" cy="163860"/>
          </a:xfrm>
          <a:prstGeom prst="rect">
            <a:avLst/>
          </a:prstGeom>
        </p:spPr>
      </p:pic>
      <p:sp>
        <p:nvSpPr>
          <p:cNvPr id="121" name="text-1267"/>
          <p:cNvSpPr txBox="1"/>
          <p:nvPr/>
        </p:nvSpPr>
        <p:spPr>
          <a:xfrm>
            <a:off x="8366760" y="6089904"/>
            <a:ext cx="1097280" cy="365760"/>
          </a:xfrm>
          <a:prstGeom prst="rect">
            <a:avLst/>
          </a:prstGeom>
          <a:noFill/>
          <a:ln/>
        </p:spPr>
        <p:txBody>
          <a:bodyPr wrap="square" lIns="0" tIns="0" rIns="0" bIns="0" rtlCol="0" anchor="t"/>
          <a:lstStyle/>
          <a:p>
            <a:pPr algn="ctr" indent="0" marL="0">
              <a:buNone/>
            </a:pPr>
            <a:r>
              <a:rPr lang="en-US" sz="1000" b="1" dirty="0">
                <a:solidFill>
                  <a:srgbClr val="242424"/>
                </a:solidFill>
                <a:latin typeface="Arial" pitchFamily="34" charset="0"/>
                <a:ea typeface="Arial" pitchFamily="34" charset="-122"/>
                <a:cs typeface="Arial" pitchFamily="34" charset="-120"/>
              </a:rPr>
              <a:t>Umlaut CDRs, Active Tests</a:t>
            </a:r>
            <a:endParaRPr lang="en-US" sz="1000" dirty="0"/>
          </a:p>
        </p:txBody>
      </p:sp>
      <p:sp>
        <p:nvSpPr>
          <p:cNvPr id="122" name="text-1268"/>
          <p:cNvSpPr txBox="1"/>
          <p:nvPr/>
        </p:nvSpPr>
        <p:spPr>
          <a:xfrm>
            <a:off x="9509760" y="5486400"/>
            <a:ext cx="1097280" cy="182880"/>
          </a:xfrm>
          <a:prstGeom prst="rect">
            <a:avLst/>
          </a:prstGeom>
          <a:noFill/>
          <a:ln/>
        </p:spPr>
        <p:txBody>
          <a:bodyPr wrap="square" lIns="0" tIns="0" rIns="0" bIns="0" rtlCol="0" anchor="ctr"/>
          <a:lstStyle/>
          <a:p>
            <a:pPr algn="ctr" indent="0" marL="0">
              <a:buNone/>
            </a:pPr>
            <a:r>
              <a:rPr lang="en-US" sz="950" b="1" spc="100" kern="0" dirty="0">
                <a:solidFill>
                  <a:srgbClr val="8C60A8"/>
                </a:solidFill>
                <a:latin typeface="Arial" pitchFamily="34" charset="0"/>
                <a:ea typeface="Arial" pitchFamily="34" charset="-122"/>
                <a:cs typeface="Arial" pitchFamily="34" charset="-120"/>
              </a:rPr>
              <a:t>SOON</a:t>
            </a:r>
            <a:endParaRPr lang="en-US" sz="950" dirty="0"/>
          </a:p>
        </p:txBody>
      </p:sp>
      <p:sp>
        <p:nvSpPr>
          <p:cNvPr id="123" name="shape-1269"/>
          <p:cNvSpPr/>
          <p:nvPr/>
        </p:nvSpPr>
        <p:spPr>
          <a:xfrm>
            <a:off x="9875520" y="5669280"/>
            <a:ext cx="365760" cy="365760"/>
          </a:xfrm>
          <a:prstGeom prst="ellipse">
            <a:avLst/>
          </a:prstGeom>
          <a:solidFill>
            <a:srgbClr val="FFFFFF"/>
          </a:solidFill>
          <a:ln w="12700">
            <a:solidFill>
              <a:srgbClr val="FFFFFF"/>
            </a:solidFill>
            <a:prstDash val="solid"/>
          </a:ln>
        </p:spPr>
      </p:sp>
      <p:sp>
        <p:nvSpPr>
          <p:cNvPr id="124" name="shape-1270"/>
          <p:cNvSpPr/>
          <p:nvPr/>
        </p:nvSpPr>
        <p:spPr>
          <a:xfrm>
            <a:off x="9912096" y="5705856"/>
            <a:ext cx="292608" cy="292608"/>
          </a:xfrm>
          <a:prstGeom prst="ellipse">
            <a:avLst/>
          </a:prstGeom>
          <a:solidFill>
            <a:srgbClr val="8C60A8"/>
          </a:solidFill>
          <a:ln w="12700">
            <a:solidFill>
              <a:srgbClr val="8C60A8"/>
            </a:solidFill>
            <a:prstDash val="solid"/>
          </a:ln>
        </p:spPr>
      </p:sp>
      <p:pic>
        <p:nvPicPr>
          <p:cNvPr id="125" name="icon-1271" descr="preencoded.png">    </p:cNvPr>
          <p:cNvPicPr>
            <a:picLocks noChangeAspect="1"/>
          </p:cNvPicPr>
          <p:nvPr/>
        </p:nvPicPr>
        <p:blipFill>
          <a:blip r:embed="rId28"/>
          <a:stretch>
            <a:fillRect/>
          </a:stretch>
        </p:blipFill>
        <p:spPr>
          <a:xfrm>
            <a:off x="9976470" y="5770230"/>
            <a:ext cx="163860" cy="163860"/>
          </a:xfrm>
          <a:prstGeom prst="rect">
            <a:avLst/>
          </a:prstGeom>
        </p:spPr>
      </p:pic>
      <p:sp>
        <p:nvSpPr>
          <p:cNvPr id="126" name="text-1272"/>
          <p:cNvSpPr txBox="1"/>
          <p:nvPr/>
        </p:nvSpPr>
        <p:spPr>
          <a:xfrm>
            <a:off x="9509760" y="6089904"/>
            <a:ext cx="1097280" cy="365760"/>
          </a:xfrm>
          <a:prstGeom prst="rect">
            <a:avLst/>
          </a:prstGeom>
          <a:noFill/>
          <a:ln/>
        </p:spPr>
        <p:txBody>
          <a:bodyPr wrap="square" lIns="0" tIns="0" rIns="0" bIns="0" rtlCol="0" anchor="t"/>
          <a:lstStyle/>
          <a:p>
            <a:pPr algn="ctr" indent="0" marL="0">
              <a:buNone/>
            </a:pPr>
            <a:r>
              <a:rPr lang="en-US" sz="1000" b="1" dirty="0">
                <a:solidFill>
                  <a:srgbClr val="242424"/>
                </a:solidFill>
                <a:latin typeface="Arial" pitchFamily="34" charset="0"/>
                <a:ea typeface="Arial" pitchFamily="34" charset="-122"/>
                <a:cs typeface="Arial" pitchFamily="34" charset="-120"/>
              </a:rPr>
              <a:t>AWS scale-out, speed</a:t>
            </a:r>
            <a:endParaRPr lang="en-US" sz="1000" dirty="0"/>
          </a:p>
        </p:txBody>
      </p:sp>
      <p:sp>
        <p:nvSpPr>
          <p:cNvPr id="127" name="text-1273"/>
          <p:cNvSpPr txBox="1"/>
          <p:nvPr/>
        </p:nvSpPr>
        <p:spPr>
          <a:xfrm>
            <a:off x="10607040" y="5486400"/>
            <a:ext cx="1097280" cy="182880"/>
          </a:xfrm>
          <a:prstGeom prst="rect">
            <a:avLst/>
          </a:prstGeom>
          <a:noFill/>
          <a:ln/>
        </p:spPr>
        <p:txBody>
          <a:bodyPr wrap="square" lIns="0" tIns="0" rIns="0" bIns="0" rtlCol="0" anchor="ctr"/>
          <a:lstStyle/>
          <a:p>
            <a:pPr algn="ctr" indent="0" marL="0">
              <a:buNone/>
            </a:pPr>
            <a:r>
              <a:rPr lang="en-US" sz="950" b="1" spc="100" kern="0" dirty="0">
                <a:solidFill>
                  <a:srgbClr val="E07800"/>
                </a:solidFill>
                <a:latin typeface="Arial" pitchFamily="34" charset="0"/>
                <a:ea typeface="Arial" pitchFamily="34" charset="-122"/>
                <a:cs typeface="Arial" pitchFamily="34" charset="-120"/>
              </a:rPr>
              <a:t>LATER</a:t>
            </a:r>
            <a:endParaRPr lang="en-US" sz="950" dirty="0"/>
          </a:p>
        </p:txBody>
      </p:sp>
      <p:sp>
        <p:nvSpPr>
          <p:cNvPr id="128" name="shape-1274"/>
          <p:cNvSpPr/>
          <p:nvPr/>
        </p:nvSpPr>
        <p:spPr>
          <a:xfrm>
            <a:off x="10972800" y="5669280"/>
            <a:ext cx="365760" cy="365760"/>
          </a:xfrm>
          <a:prstGeom prst="ellipse">
            <a:avLst/>
          </a:prstGeom>
          <a:solidFill>
            <a:srgbClr val="FFFFFF"/>
          </a:solidFill>
          <a:ln w="12700">
            <a:solidFill>
              <a:srgbClr val="FFFFFF"/>
            </a:solidFill>
            <a:prstDash val="solid"/>
          </a:ln>
        </p:spPr>
      </p:sp>
      <p:sp>
        <p:nvSpPr>
          <p:cNvPr id="129" name="shape-1275"/>
          <p:cNvSpPr/>
          <p:nvPr/>
        </p:nvSpPr>
        <p:spPr>
          <a:xfrm>
            <a:off x="11009376" y="5705856"/>
            <a:ext cx="292608" cy="292608"/>
          </a:xfrm>
          <a:prstGeom prst="ellipse">
            <a:avLst/>
          </a:prstGeom>
          <a:solidFill>
            <a:srgbClr val="E07800"/>
          </a:solidFill>
          <a:ln w="12700">
            <a:solidFill>
              <a:srgbClr val="E07800"/>
            </a:solidFill>
            <a:prstDash val="solid"/>
          </a:ln>
        </p:spPr>
      </p:sp>
      <p:pic>
        <p:nvPicPr>
          <p:cNvPr id="130" name="icon-1276" descr="preencoded.png">    </p:cNvPr>
          <p:cNvPicPr>
            <a:picLocks noChangeAspect="1"/>
          </p:cNvPicPr>
          <p:nvPr/>
        </p:nvPicPr>
        <p:blipFill>
          <a:blip r:embed="rId29"/>
          <a:stretch>
            <a:fillRect/>
          </a:stretch>
        </p:blipFill>
        <p:spPr>
          <a:xfrm>
            <a:off x="11073750" y="5770230"/>
            <a:ext cx="163860" cy="163860"/>
          </a:xfrm>
          <a:prstGeom prst="rect">
            <a:avLst/>
          </a:prstGeom>
        </p:spPr>
      </p:pic>
      <p:sp>
        <p:nvSpPr>
          <p:cNvPr id="131" name="text-1277"/>
          <p:cNvSpPr txBox="1"/>
          <p:nvPr/>
        </p:nvSpPr>
        <p:spPr>
          <a:xfrm>
            <a:off x="10607040" y="6089904"/>
            <a:ext cx="1097280" cy="365760"/>
          </a:xfrm>
          <a:prstGeom prst="rect">
            <a:avLst/>
          </a:prstGeom>
          <a:noFill/>
          <a:ln/>
        </p:spPr>
        <p:txBody>
          <a:bodyPr wrap="square" lIns="0" tIns="0" rIns="0" bIns="0" rtlCol="0" anchor="t"/>
          <a:lstStyle/>
          <a:p>
            <a:pPr algn="ctr" indent="0" marL="0">
              <a:buNone/>
            </a:pPr>
            <a:r>
              <a:rPr lang="en-US" sz="1000" b="1" dirty="0">
                <a:solidFill>
                  <a:srgbClr val="242424"/>
                </a:solidFill>
                <a:latin typeface="Arial" pitchFamily="34" charset="0"/>
                <a:ea typeface="Arial" pitchFamily="34" charset="-122"/>
                <a:cs typeface="Arial" pitchFamily="34" charset="-120"/>
              </a:rPr>
              <a:t>PostgreSQL, health</a:t>
            </a:r>
            <a:endParaRPr lang="en-US" sz="1000" dirty="0"/>
          </a:p>
        </p:txBody>
      </p:sp>
    </p:spTree>
  </p:cSld>
  <p:clrMapOvr>
    <a:masterClrMapping/>
  </p:clrMapOvr>
</p:sld>
</file>

<file path=ppt/theme/theme1.xml><?xml version="1.0" encoding="utf-8"?>
<a:theme xmlns:a="http://schemas.openxmlformats.org/drawingml/2006/main" name="Office Theme">
  <a:themeElements>
    <a:clrScheme name="Ericsson">
      <a:dk1>
        <a:srgbClr val="000000"/>
      </a:dk1>
      <a:lt1>
        <a:srgbClr val="FFFFFF"/>
      </a:lt1>
      <a:dk2>
        <a:srgbClr val="242424"/>
      </a:dk2>
      <a:lt2>
        <a:srgbClr val="F2F2F2"/>
      </a:lt2>
      <a:accent1>
        <a:srgbClr val="0082F0"/>
      </a:accent1>
      <a:accent2>
        <a:srgbClr val="0068BF"/>
      </a:accent2>
      <a:accent3>
        <a:srgbClr val="0FC373"/>
      </a:accent3>
      <a:accent4>
        <a:srgbClr val="FF8C0A"/>
      </a:accent4>
      <a:accent5>
        <a:srgbClr val="AF78D2"/>
      </a:accent5>
      <a:accent6>
        <a:srgbClr val="FF3232"/>
      </a:accent6>
      <a:hlink>
        <a:srgbClr val="0082F0"/>
      </a:hlink>
      <a:folHlink>
        <a:srgbClr val="AF78D2"/>
      </a:folHlink>
    </a:clrScheme>
    <a:fontScheme name="Office">
      <a:majorFont>
        <a:latin typeface="Arial"/>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rial"/>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Slides>
  <Notes>1</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vt:i4>
      </vt:variant>
    </vt:vector>
  </HeadingPairs>
  <TitlesOfParts>
    <vt:vector size="4" baseType="lpstr">
      <vt:lpstr>Arial</vt:lpstr>
      <vt:lpstr>Calibri</vt:lpstr>
      <vt:lpstr>Office Theme</vt:lpstr>
      <vt:lpstr>Slide 1</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DriveTest Analyzer — One-slider</dc:title>
  <dc:subject>DriveTest Analyzer at a glance</dc:subject>
  <dc:creator>DriveTest Analyzer</dc:creator>
  <cp:lastModifiedBy>DriveTest Analyzer</cp:lastModifiedBy>
  <cp:revision>1</cp:revision>
  <dcterms:created xsi:type="dcterms:W3CDTF">2026-10-21T10:43:08Z</dcterms:created>
  <dcterms:modified xsi:type="dcterms:W3CDTF">2026-10-21T10:43:08Z</dcterms:modified>
</cp:coreProperties>
</file>